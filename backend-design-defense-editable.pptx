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zh-CN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zh-CN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单击以编辑标题文本格式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zh-CN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点击以编辑提纲文本格式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第二提纲级别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第三提纲级别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第四提纲级别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第五提纲级别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第六提纲级别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第七提纲级别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"/>
          <p:cNvSpPr txBox="1"/>
          <p:nvPr/>
        </p:nvSpPr>
        <p:spPr>
          <a:xfrm>
            <a:off x="747720" y="1644120"/>
            <a:ext cx="5304240" cy="53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3480" b="0" u="none" strike="noStrike">
                <a:solidFill>
                  <a:srgbClr val="224466"/>
                </a:solidFill>
                <a:effectLst/>
                <a:uFillTx/>
                <a:latin typeface="NotoSansSC"/>
                <a:ea typeface="NotoSansSC"/>
              </a:rPr>
              <a:t>酒店预订平台后端设计⽅法</a:t>
            </a:r>
            <a:endParaRPr lang="en-US" sz="34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"/>
          <p:cNvSpPr/>
          <p:nvPr/>
        </p:nvSpPr>
        <p:spPr>
          <a:xfrm>
            <a:off x="1047600" y="3419280"/>
            <a:ext cx="95400" cy="95760"/>
          </a:xfrm>
          <a:custGeom>
            <a:avLst/>
            <a:gdLst/>
            <a:ahLst/>
            <a:rect l="0" t="0" r="r" b="b"/>
            <a:pathLst>
              <a:path w="265" h="266">
                <a:moveTo>
                  <a:pt x="265" y="132"/>
                </a:moveTo>
                <a:cubicBezTo>
                  <a:pt x="265" y="151"/>
                  <a:pt x="262" y="168"/>
                  <a:pt x="255" y="184"/>
                </a:cubicBezTo>
                <a:cubicBezTo>
                  <a:pt x="249" y="200"/>
                  <a:pt x="239" y="214"/>
                  <a:pt x="227" y="227"/>
                </a:cubicBezTo>
                <a:cubicBezTo>
                  <a:pt x="214" y="239"/>
                  <a:pt x="200" y="249"/>
                  <a:pt x="184" y="256"/>
                </a:cubicBezTo>
                <a:cubicBezTo>
                  <a:pt x="168" y="262"/>
                  <a:pt x="151" y="266"/>
                  <a:pt x="133" y="266"/>
                </a:cubicBezTo>
                <a:cubicBezTo>
                  <a:pt x="115" y="266"/>
                  <a:pt x="98" y="262"/>
                  <a:pt x="82" y="256"/>
                </a:cubicBezTo>
                <a:cubicBezTo>
                  <a:pt x="65" y="249"/>
                  <a:pt x="51" y="239"/>
                  <a:pt x="39" y="227"/>
                </a:cubicBezTo>
                <a:cubicBezTo>
                  <a:pt x="26" y="214"/>
                  <a:pt x="17" y="200"/>
                  <a:pt x="10" y="184"/>
                </a:cubicBezTo>
                <a:cubicBezTo>
                  <a:pt x="3" y="168"/>
                  <a:pt x="0" y="151"/>
                  <a:pt x="0" y="132"/>
                </a:cubicBezTo>
                <a:cubicBezTo>
                  <a:pt x="0" y="115"/>
                  <a:pt x="3" y="98"/>
                  <a:pt x="10" y="82"/>
                </a:cubicBezTo>
                <a:cubicBezTo>
                  <a:pt x="17" y="65"/>
                  <a:pt x="26" y="51"/>
                  <a:pt x="39" y="39"/>
                </a:cubicBezTo>
                <a:cubicBezTo>
                  <a:pt x="51" y="26"/>
                  <a:pt x="65" y="17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1" y="0"/>
                  <a:pt x="168" y="3"/>
                  <a:pt x="184" y="10"/>
                </a:cubicBezTo>
                <a:cubicBezTo>
                  <a:pt x="200" y="17"/>
                  <a:pt x="214" y="26"/>
                  <a:pt x="227" y="39"/>
                </a:cubicBezTo>
                <a:cubicBezTo>
                  <a:pt x="239" y="51"/>
                  <a:pt x="249" y="65"/>
                  <a:pt x="255" y="82"/>
                </a:cubicBezTo>
                <a:cubicBezTo>
                  <a:pt x="262" y="98"/>
                  <a:pt x="265" y="115"/>
                  <a:pt x="265" y="132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"/>
          <p:cNvSpPr txBox="1"/>
          <p:nvPr/>
        </p:nvSpPr>
        <p:spPr>
          <a:xfrm>
            <a:off x="747720" y="2517840"/>
            <a:ext cx="6823800" cy="47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830" b="1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Hotel Booking Platform Backend Design</a:t>
            </a:r>
            <a:endParaRPr lang="en-US" sz="28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"/>
          <p:cNvSpPr txBox="1"/>
          <p:nvPr/>
        </p:nvSpPr>
        <p:spPr>
          <a:xfrm>
            <a:off x="1300320" y="3286080"/>
            <a:ext cx="11041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技术栈：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"/>
          <p:cNvSpPr/>
          <p:nvPr/>
        </p:nvSpPr>
        <p:spPr>
          <a:xfrm>
            <a:off x="1047600" y="3904920"/>
            <a:ext cx="95400" cy="95760"/>
          </a:xfrm>
          <a:custGeom>
            <a:avLst/>
            <a:gdLst/>
            <a:ahLst/>
            <a:rect l="0" t="0" r="r" b="b"/>
            <a:pathLst>
              <a:path w="265" h="266">
                <a:moveTo>
                  <a:pt x="265" y="134"/>
                </a:moveTo>
                <a:cubicBezTo>
                  <a:pt x="265" y="151"/>
                  <a:pt x="262" y="168"/>
                  <a:pt x="255" y="184"/>
                </a:cubicBezTo>
                <a:cubicBezTo>
                  <a:pt x="249" y="201"/>
                  <a:pt x="239" y="215"/>
                  <a:pt x="227" y="227"/>
                </a:cubicBezTo>
                <a:cubicBezTo>
                  <a:pt x="214" y="240"/>
                  <a:pt x="200" y="249"/>
                  <a:pt x="184" y="256"/>
                </a:cubicBezTo>
                <a:cubicBezTo>
                  <a:pt x="168" y="263"/>
                  <a:pt x="151" y="266"/>
                  <a:pt x="133" y="266"/>
                </a:cubicBezTo>
                <a:cubicBezTo>
                  <a:pt x="115" y="266"/>
                  <a:pt x="98" y="263"/>
                  <a:pt x="82" y="256"/>
                </a:cubicBezTo>
                <a:cubicBezTo>
                  <a:pt x="65" y="249"/>
                  <a:pt x="51" y="240"/>
                  <a:pt x="39" y="227"/>
                </a:cubicBezTo>
                <a:cubicBezTo>
                  <a:pt x="26" y="215"/>
                  <a:pt x="17" y="201"/>
                  <a:pt x="10" y="184"/>
                </a:cubicBezTo>
                <a:cubicBezTo>
                  <a:pt x="3" y="168"/>
                  <a:pt x="0" y="151"/>
                  <a:pt x="0" y="134"/>
                </a:cubicBezTo>
                <a:cubicBezTo>
                  <a:pt x="0" y="116"/>
                  <a:pt x="3" y="98"/>
                  <a:pt x="10" y="82"/>
                </a:cubicBezTo>
                <a:cubicBezTo>
                  <a:pt x="17" y="66"/>
                  <a:pt x="26" y="52"/>
                  <a:pt x="39" y="39"/>
                </a:cubicBezTo>
                <a:cubicBezTo>
                  <a:pt x="51" y="27"/>
                  <a:pt x="65" y="17"/>
                  <a:pt x="82" y="10"/>
                </a:cubicBezTo>
                <a:cubicBezTo>
                  <a:pt x="98" y="4"/>
                  <a:pt x="115" y="0"/>
                  <a:pt x="133" y="0"/>
                </a:cubicBezTo>
                <a:cubicBezTo>
                  <a:pt x="151" y="0"/>
                  <a:pt x="168" y="4"/>
                  <a:pt x="184" y="10"/>
                </a:cubicBezTo>
                <a:cubicBezTo>
                  <a:pt x="200" y="17"/>
                  <a:pt x="214" y="27"/>
                  <a:pt x="227" y="39"/>
                </a:cubicBezTo>
                <a:cubicBezTo>
                  <a:pt x="239" y="52"/>
                  <a:pt x="249" y="66"/>
                  <a:pt x="255" y="82"/>
                </a:cubicBezTo>
                <a:cubicBezTo>
                  <a:pt x="262" y="98"/>
                  <a:pt x="265" y="116"/>
                  <a:pt x="265" y="134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"/>
          <p:cNvSpPr txBox="1"/>
          <p:nvPr/>
        </p:nvSpPr>
        <p:spPr>
          <a:xfrm>
            <a:off x="2405160" y="3264480"/>
            <a:ext cx="522108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Node.js + Express + MongoDB(Mongoose)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"/>
          <p:cNvSpPr/>
          <p:nvPr/>
        </p:nvSpPr>
        <p:spPr>
          <a:xfrm>
            <a:off x="1047600" y="4381200"/>
            <a:ext cx="95400" cy="95760"/>
          </a:xfrm>
          <a:custGeom>
            <a:avLst/>
            <a:gdLst/>
            <a:ahLst/>
            <a:rect l="0" t="0" r="r" b="b"/>
            <a:pathLst>
              <a:path w="265" h="266">
                <a:moveTo>
                  <a:pt x="265" y="134"/>
                </a:moveTo>
                <a:cubicBezTo>
                  <a:pt x="265" y="151"/>
                  <a:pt x="262" y="168"/>
                  <a:pt x="255" y="184"/>
                </a:cubicBezTo>
                <a:cubicBezTo>
                  <a:pt x="249" y="200"/>
                  <a:pt x="239" y="215"/>
                  <a:pt x="227" y="227"/>
                </a:cubicBezTo>
                <a:cubicBezTo>
                  <a:pt x="214" y="240"/>
                  <a:pt x="200" y="249"/>
                  <a:pt x="184" y="256"/>
                </a:cubicBezTo>
                <a:cubicBezTo>
                  <a:pt x="168" y="263"/>
                  <a:pt x="151" y="266"/>
                  <a:pt x="133" y="266"/>
                </a:cubicBezTo>
                <a:cubicBezTo>
                  <a:pt x="115" y="266"/>
                  <a:pt x="98" y="263"/>
                  <a:pt x="82" y="256"/>
                </a:cubicBezTo>
                <a:cubicBezTo>
                  <a:pt x="65" y="249"/>
                  <a:pt x="51" y="240"/>
                  <a:pt x="39" y="227"/>
                </a:cubicBezTo>
                <a:cubicBezTo>
                  <a:pt x="26" y="215"/>
                  <a:pt x="17" y="200"/>
                  <a:pt x="10" y="184"/>
                </a:cubicBezTo>
                <a:cubicBezTo>
                  <a:pt x="3" y="168"/>
                  <a:pt x="0" y="151"/>
                  <a:pt x="0" y="134"/>
                </a:cubicBezTo>
                <a:cubicBezTo>
                  <a:pt x="0" y="116"/>
                  <a:pt x="3" y="98"/>
                  <a:pt x="10" y="82"/>
                </a:cubicBezTo>
                <a:cubicBezTo>
                  <a:pt x="17" y="66"/>
                  <a:pt x="26" y="51"/>
                  <a:pt x="39" y="39"/>
                </a:cubicBezTo>
                <a:cubicBezTo>
                  <a:pt x="51" y="27"/>
                  <a:pt x="65" y="17"/>
                  <a:pt x="82" y="10"/>
                </a:cubicBezTo>
                <a:cubicBezTo>
                  <a:pt x="98" y="4"/>
                  <a:pt x="115" y="0"/>
                  <a:pt x="133" y="0"/>
                </a:cubicBezTo>
                <a:cubicBezTo>
                  <a:pt x="151" y="0"/>
                  <a:pt x="168" y="4"/>
                  <a:pt x="184" y="10"/>
                </a:cubicBezTo>
                <a:cubicBezTo>
                  <a:pt x="200" y="17"/>
                  <a:pt x="214" y="27"/>
                  <a:pt x="227" y="39"/>
                </a:cubicBezTo>
                <a:cubicBezTo>
                  <a:pt x="239" y="51"/>
                  <a:pt x="249" y="66"/>
                  <a:pt x="255" y="82"/>
                </a:cubicBezTo>
                <a:cubicBezTo>
                  <a:pt x="262" y="98"/>
                  <a:pt x="265" y="116"/>
                  <a:pt x="265" y="134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"/>
          <p:cNvSpPr txBox="1"/>
          <p:nvPr/>
        </p:nvSpPr>
        <p:spPr>
          <a:xfrm>
            <a:off x="1300320" y="3771720"/>
            <a:ext cx="634500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关键词：认证授权、并发控制、可维护性、可观测性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"/>
          <p:cNvSpPr txBox="1"/>
          <p:nvPr/>
        </p:nvSpPr>
        <p:spPr>
          <a:xfrm>
            <a:off x="1300320" y="4248000"/>
            <a:ext cx="82836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⽇期：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"/>
          <p:cNvSpPr txBox="1"/>
          <p:nvPr/>
        </p:nvSpPr>
        <p:spPr>
          <a:xfrm>
            <a:off x="2128680" y="4226400"/>
            <a:ext cx="141084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2026-03-04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"/>
          <p:cNvSpPr txBox="1"/>
          <p:nvPr/>
        </p:nvSpPr>
        <p:spPr>
          <a:xfrm>
            <a:off x="11783160" y="6335280"/>
            <a:ext cx="22824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SegoeUI"/>
                <a:ea typeface="SegoeUI"/>
              </a:rPr>
              <a:t>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"/>
          <p:cNvSpPr txBox="1"/>
          <p:nvPr/>
        </p:nvSpPr>
        <p:spPr>
          <a:xfrm>
            <a:off x="747720" y="904320"/>
            <a:ext cx="496800" cy="58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480" b="1" u="none" strike="noStrike">
                <a:solidFill>
                  <a:srgbClr val="224466"/>
                </a:solidFill>
                <a:effectLst/>
                <a:uFillTx/>
                <a:latin typeface="SegoeUI"/>
                <a:ea typeface="SegoeUI"/>
              </a:rPr>
              <a:t>1. </a:t>
            </a:r>
            <a:endParaRPr lang="en-US" sz="34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"/>
          <p:cNvSpPr txBox="1"/>
          <p:nvPr/>
        </p:nvSpPr>
        <p:spPr>
          <a:xfrm>
            <a:off x="1153800" y="939240"/>
            <a:ext cx="3094560" cy="53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3480" b="0" u="none" strike="noStrike">
                <a:solidFill>
                  <a:srgbClr val="224466"/>
                </a:solidFill>
                <a:effectLst/>
                <a:uFillTx/>
                <a:latin typeface="NotoSansSC"/>
                <a:ea typeface="NotoSansSC"/>
              </a:rPr>
              <a:t>设计⽬标与约束</a:t>
            </a:r>
            <a:endParaRPr lang="en-US" sz="34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"/>
          <p:cNvSpPr/>
          <p:nvPr/>
        </p:nvSpPr>
        <p:spPr>
          <a:xfrm>
            <a:off x="1047600" y="2504880"/>
            <a:ext cx="95400" cy="95760"/>
          </a:xfrm>
          <a:custGeom>
            <a:avLst/>
            <a:gdLst/>
            <a:ahLst/>
            <a:rect l="0" t="0" r="r" b="b"/>
            <a:pathLst>
              <a:path w="265" h="266">
                <a:moveTo>
                  <a:pt x="265" y="133"/>
                </a:moveTo>
                <a:cubicBezTo>
                  <a:pt x="265" y="151"/>
                  <a:pt x="262" y="168"/>
                  <a:pt x="255" y="184"/>
                </a:cubicBezTo>
                <a:cubicBezTo>
                  <a:pt x="249" y="200"/>
                  <a:pt x="239" y="214"/>
                  <a:pt x="227" y="227"/>
                </a:cubicBezTo>
                <a:cubicBezTo>
                  <a:pt x="214" y="239"/>
                  <a:pt x="200" y="249"/>
                  <a:pt x="184" y="256"/>
                </a:cubicBezTo>
                <a:cubicBezTo>
                  <a:pt x="168" y="262"/>
                  <a:pt x="151" y="266"/>
                  <a:pt x="133" y="266"/>
                </a:cubicBezTo>
                <a:cubicBezTo>
                  <a:pt x="115" y="266"/>
                  <a:pt x="98" y="262"/>
                  <a:pt x="82" y="256"/>
                </a:cubicBezTo>
                <a:cubicBezTo>
                  <a:pt x="65" y="249"/>
                  <a:pt x="51" y="239"/>
                  <a:pt x="39" y="227"/>
                </a:cubicBezTo>
                <a:cubicBezTo>
                  <a:pt x="26" y="214"/>
                  <a:pt x="17" y="200"/>
                  <a:pt x="10" y="184"/>
                </a:cubicBezTo>
                <a:cubicBezTo>
                  <a:pt x="3" y="168"/>
                  <a:pt x="0" y="151"/>
                  <a:pt x="0" y="133"/>
                </a:cubicBezTo>
                <a:cubicBezTo>
                  <a:pt x="0" y="116"/>
                  <a:pt x="3" y="99"/>
                  <a:pt x="10" y="83"/>
                </a:cubicBezTo>
                <a:cubicBezTo>
                  <a:pt x="17" y="66"/>
                  <a:pt x="26" y="52"/>
                  <a:pt x="39" y="40"/>
                </a:cubicBezTo>
                <a:cubicBezTo>
                  <a:pt x="51" y="26"/>
                  <a:pt x="65" y="17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1" y="0"/>
                  <a:pt x="168" y="3"/>
                  <a:pt x="184" y="10"/>
                </a:cubicBezTo>
                <a:cubicBezTo>
                  <a:pt x="200" y="17"/>
                  <a:pt x="214" y="26"/>
                  <a:pt x="227" y="40"/>
                </a:cubicBezTo>
                <a:cubicBezTo>
                  <a:pt x="239" y="52"/>
                  <a:pt x="249" y="66"/>
                  <a:pt x="255" y="83"/>
                </a:cubicBezTo>
                <a:cubicBezTo>
                  <a:pt x="262" y="99"/>
                  <a:pt x="265" y="116"/>
                  <a:pt x="265" y="133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"/>
          <p:cNvSpPr txBox="1"/>
          <p:nvPr/>
        </p:nvSpPr>
        <p:spPr>
          <a:xfrm>
            <a:off x="747720" y="1800360"/>
            <a:ext cx="11041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业务⽬标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"/>
          <p:cNvSpPr txBox="1"/>
          <p:nvPr/>
        </p:nvSpPr>
        <p:spPr>
          <a:xfrm>
            <a:off x="1300320" y="2371680"/>
            <a:ext cx="5522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覆盖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"/>
          <p:cNvSpPr txBox="1"/>
          <p:nvPr/>
        </p:nvSpPr>
        <p:spPr>
          <a:xfrm>
            <a:off x="1852560" y="2350080"/>
            <a:ext cx="27576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“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"/>
          <p:cNvSpPr txBox="1"/>
          <p:nvPr/>
        </p:nvSpPr>
        <p:spPr>
          <a:xfrm>
            <a:off x="1956600" y="2371680"/>
            <a:ext cx="11041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查询酒店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"/>
          <p:cNvSpPr txBox="1"/>
          <p:nvPr/>
        </p:nvSpPr>
        <p:spPr>
          <a:xfrm>
            <a:off x="3061800" y="2350080"/>
            <a:ext cx="38988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→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"/>
          <p:cNvSpPr txBox="1"/>
          <p:nvPr/>
        </p:nvSpPr>
        <p:spPr>
          <a:xfrm>
            <a:off x="3451320" y="2371680"/>
            <a:ext cx="5522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下单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"/>
          <p:cNvSpPr txBox="1"/>
          <p:nvPr/>
        </p:nvSpPr>
        <p:spPr>
          <a:xfrm>
            <a:off x="4003920" y="2350080"/>
            <a:ext cx="38988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→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"/>
          <p:cNvSpPr txBox="1"/>
          <p:nvPr/>
        </p:nvSpPr>
        <p:spPr>
          <a:xfrm>
            <a:off x="4393440" y="2371680"/>
            <a:ext cx="5522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⽀付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"/>
          <p:cNvSpPr txBox="1"/>
          <p:nvPr/>
        </p:nvSpPr>
        <p:spPr>
          <a:xfrm>
            <a:off x="4945680" y="2350080"/>
            <a:ext cx="38988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→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"/>
          <p:cNvSpPr txBox="1"/>
          <p:nvPr/>
        </p:nvSpPr>
        <p:spPr>
          <a:xfrm>
            <a:off x="5335560" y="2371680"/>
            <a:ext cx="11041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订单管理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"/>
          <p:cNvSpPr txBox="1"/>
          <p:nvPr/>
        </p:nvSpPr>
        <p:spPr>
          <a:xfrm>
            <a:off x="6440400" y="2350080"/>
            <a:ext cx="27576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”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"/>
          <p:cNvSpPr/>
          <p:nvPr/>
        </p:nvSpPr>
        <p:spPr>
          <a:xfrm>
            <a:off x="1047600" y="2981160"/>
            <a:ext cx="95400" cy="95760"/>
          </a:xfrm>
          <a:custGeom>
            <a:avLst/>
            <a:gdLst/>
            <a:ahLst/>
            <a:rect l="0" t="0" r="r" b="b"/>
            <a:pathLst>
              <a:path w="265" h="266">
                <a:moveTo>
                  <a:pt x="265" y="133"/>
                </a:moveTo>
                <a:cubicBezTo>
                  <a:pt x="265" y="151"/>
                  <a:pt x="262" y="168"/>
                  <a:pt x="255" y="184"/>
                </a:cubicBezTo>
                <a:cubicBezTo>
                  <a:pt x="249" y="200"/>
                  <a:pt x="239" y="214"/>
                  <a:pt x="227" y="227"/>
                </a:cubicBezTo>
                <a:cubicBezTo>
                  <a:pt x="214" y="239"/>
                  <a:pt x="200" y="249"/>
                  <a:pt x="184" y="255"/>
                </a:cubicBezTo>
                <a:cubicBezTo>
                  <a:pt x="168" y="262"/>
                  <a:pt x="151" y="266"/>
                  <a:pt x="133" y="266"/>
                </a:cubicBezTo>
                <a:cubicBezTo>
                  <a:pt x="115" y="266"/>
                  <a:pt x="98" y="262"/>
                  <a:pt x="82" y="255"/>
                </a:cubicBezTo>
                <a:cubicBezTo>
                  <a:pt x="65" y="249"/>
                  <a:pt x="51" y="239"/>
                  <a:pt x="39" y="227"/>
                </a:cubicBezTo>
                <a:cubicBezTo>
                  <a:pt x="26" y="214"/>
                  <a:pt x="17" y="200"/>
                  <a:pt x="10" y="184"/>
                </a:cubicBezTo>
                <a:cubicBezTo>
                  <a:pt x="3" y="168"/>
                  <a:pt x="0" y="151"/>
                  <a:pt x="0" y="133"/>
                </a:cubicBezTo>
                <a:cubicBezTo>
                  <a:pt x="0" y="116"/>
                  <a:pt x="3" y="99"/>
                  <a:pt x="10" y="83"/>
                </a:cubicBezTo>
                <a:cubicBezTo>
                  <a:pt x="17" y="66"/>
                  <a:pt x="26" y="52"/>
                  <a:pt x="39" y="40"/>
                </a:cubicBezTo>
                <a:cubicBezTo>
                  <a:pt x="51" y="26"/>
                  <a:pt x="65" y="17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1" y="0"/>
                  <a:pt x="168" y="3"/>
                  <a:pt x="184" y="10"/>
                </a:cubicBezTo>
                <a:cubicBezTo>
                  <a:pt x="200" y="17"/>
                  <a:pt x="214" y="26"/>
                  <a:pt x="227" y="40"/>
                </a:cubicBezTo>
                <a:cubicBezTo>
                  <a:pt x="239" y="52"/>
                  <a:pt x="249" y="66"/>
                  <a:pt x="255" y="83"/>
                </a:cubicBezTo>
                <a:cubicBezTo>
                  <a:pt x="262" y="99"/>
                  <a:pt x="265" y="116"/>
                  <a:pt x="265" y="133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"/>
          <p:cNvSpPr txBox="1"/>
          <p:nvPr/>
        </p:nvSpPr>
        <p:spPr>
          <a:xfrm>
            <a:off x="6544440" y="2371680"/>
            <a:ext cx="5522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闭环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"/>
          <p:cNvSpPr txBox="1"/>
          <p:nvPr/>
        </p:nvSpPr>
        <p:spPr>
          <a:xfrm>
            <a:off x="1300320" y="2847960"/>
            <a:ext cx="5522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⽀持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"/>
          <p:cNvSpPr txBox="1"/>
          <p:nvPr/>
        </p:nvSpPr>
        <p:spPr>
          <a:xfrm>
            <a:off x="1852560" y="2826000"/>
            <a:ext cx="209268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Admin / Client /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"/>
          <p:cNvSpPr txBox="1"/>
          <p:nvPr/>
        </p:nvSpPr>
        <p:spPr>
          <a:xfrm>
            <a:off x="3947400" y="2847960"/>
            <a:ext cx="24832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⼩程序多端统⼀后端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"/>
          <p:cNvSpPr/>
          <p:nvPr/>
        </p:nvSpPr>
        <p:spPr>
          <a:xfrm>
            <a:off x="1047600" y="4114440"/>
            <a:ext cx="95400" cy="95760"/>
          </a:xfrm>
          <a:custGeom>
            <a:avLst/>
            <a:gdLst/>
            <a:ahLst/>
            <a:rect l="0" t="0" r="r" b="b"/>
            <a:pathLst>
              <a:path w="265" h="266">
                <a:moveTo>
                  <a:pt x="265" y="134"/>
                </a:moveTo>
                <a:cubicBezTo>
                  <a:pt x="265" y="151"/>
                  <a:pt x="262" y="168"/>
                  <a:pt x="255" y="184"/>
                </a:cubicBezTo>
                <a:cubicBezTo>
                  <a:pt x="249" y="201"/>
                  <a:pt x="239" y="215"/>
                  <a:pt x="227" y="227"/>
                </a:cubicBezTo>
                <a:cubicBezTo>
                  <a:pt x="214" y="240"/>
                  <a:pt x="200" y="249"/>
                  <a:pt x="184" y="256"/>
                </a:cubicBezTo>
                <a:cubicBezTo>
                  <a:pt x="168" y="263"/>
                  <a:pt x="151" y="266"/>
                  <a:pt x="133" y="266"/>
                </a:cubicBezTo>
                <a:cubicBezTo>
                  <a:pt x="115" y="266"/>
                  <a:pt x="98" y="263"/>
                  <a:pt x="82" y="256"/>
                </a:cubicBezTo>
                <a:cubicBezTo>
                  <a:pt x="65" y="249"/>
                  <a:pt x="51" y="240"/>
                  <a:pt x="39" y="227"/>
                </a:cubicBezTo>
                <a:cubicBezTo>
                  <a:pt x="26" y="215"/>
                  <a:pt x="17" y="201"/>
                  <a:pt x="10" y="184"/>
                </a:cubicBezTo>
                <a:cubicBezTo>
                  <a:pt x="3" y="168"/>
                  <a:pt x="0" y="151"/>
                  <a:pt x="0" y="134"/>
                </a:cubicBezTo>
                <a:cubicBezTo>
                  <a:pt x="0" y="116"/>
                  <a:pt x="3" y="99"/>
                  <a:pt x="10" y="83"/>
                </a:cubicBezTo>
                <a:cubicBezTo>
                  <a:pt x="17" y="67"/>
                  <a:pt x="26" y="52"/>
                  <a:pt x="39" y="39"/>
                </a:cubicBezTo>
                <a:cubicBezTo>
                  <a:pt x="51" y="27"/>
                  <a:pt x="65" y="17"/>
                  <a:pt x="82" y="11"/>
                </a:cubicBezTo>
                <a:cubicBezTo>
                  <a:pt x="98" y="4"/>
                  <a:pt x="115" y="0"/>
                  <a:pt x="133" y="0"/>
                </a:cubicBezTo>
                <a:cubicBezTo>
                  <a:pt x="151" y="0"/>
                  <a:pt x="168" y="4"/>
                  <a:pt x="184" y="11"/>
                </a:cubicBezTo>
                <a:cubicBezTo>
                  <a:pt x="200" y="17"/>
                  <a:pt x="214" y="27"/>
                  <a:pt x="227" y="39"/>
                </a:cubicBezTo>
                <a:cubicBezTo>
                  <a:pt x="239" y="52"/>
                  <a:pt x="249" y="67"/>
                  <a:pt x="255" y="83"/>
                </a:cubicBezTo>
                <a:cubicBezTo>
                  <a:pt x="262" y="99"/>
                  <a:pt x="265" y="116"/>
                  <a:pt x="265" y="134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"/>
          <p:cNvSpPr txBox="1"/>
          <p:nvPr/>
        </p:nvSpPr>
        <p:spPr>
          <a:xfrm>
            <a:off x="747720" y="3419640"/>
            <a:ext cx="11041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架构约束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"/>
          <p:cNvSpPr/>
          <p:nvPr/>
        </p:nvSpPr>
        <p:spPr>
          <a:xfrm>
            <a:off x="1047600" y="4600440"/>
            <a:ext cx="95400" cy="95400"/>
          </a:xfrm>
          <a:custGeom>
            <a:avLst/>
            <a:gdLst/>
            <a:ahLst/>
            <a:rect l="0" t="0" r="r" b="b"/>
            <a:pathLst>
              <a:path w="265" h="265">
                <a:moveTo>
                  <a:pt x="265" y="133"/>
                </a:moveTo>
                <a:cubicBezTo>
                  <a:pt x="265" y="151"/>
                  <a:pt x="262" y="168"/>
                  <a:pt x="255" y="184"/>
                </a:cubicBezTo>
                <a:cubicBezTo>
                  <a:pt x="249" y="200"/>
                  <a:pt x="239" y="214"/>
                  <a:pt x="227" y="227"/>
                </a:cubicBezTo>
                <a:cubicBezTo>
                  <a:pt x="214" y="239"/>
                  <a:pt x="200" y="249"/>
                  <a:pt x="184" y="255"/>
                </a:cubicBezTo>
                <a:cubicBezTo>
                  <a:pt x="168" y="262"/>
                  <a:pt x="151" y="265"/>
                  <a:pt x="133" y="265"/>
                </a:cubicBezTo>
                <a:cubicBezTo>
                  <a:pt x="115" y="265"/>
                  <a:pt x="98" y="262"/>
                  <a:pt x="82" y="255"/>
                </a:cubicBezTo>
                <a:cubicBezTo>
                  <a:pt x="65" y="249"/>
                  <a:pt x="51" y="239"/>
                  <a:pt x="39" y="227"/>
                </a:cubicBezTo>
                <a:cubicBezTo>
                  <a:pt x="26" y="214"/>
                  <a:pt x="17" y="200"/>
                  <a:pt x="10" y="184"/>
                </a:cubicBezTo>
                <a:cubicBezTo>
                  <a:pt x="3" y="168"/>
                  <a:pt x="0" y="151"/>
                  <a:pt x="0" y="133"/>
                </a:cubicBezTo>
                <a:cubicBezTo>
                  <a:pt x="0" y="116"/>
                  <a:pt x="3" y="99"/>
                  <a:pt x="10" y="83"/>
                </a:cubicBezTo>
                <a:cubicBezTo>
                  <a:pt x="17" y="66"/>
                  <a:pt x="26" y="52"/>
                  <a:pt x="39" y="40"/>
                </a:cubicBezTo>
                <a:cubicBezTo>
                  <a:pt x="51" y="27"/>
                  <a:pt x="65" y="17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1" y="0"/>
                  <a:pt x="168" y="3"/>
                  <a:pt x="184" y="10"/>
                </a:cubicBezTo>
                <a:cubicBezTo>
                  <a:pt x="200" y="17"/>
                  <a:pt x="214" y="27"/>
                  <a:pt x="227" y="40"/>
                </a:cubicBezTo>
                <a:cubicBezTo>
                  <a:pt x="239" y="52"/>
                  <a:pt x="249" y="66"/>
                  <a:pt x="255" y="83"/>
                </a:cubicBezTo>
                <a:cubicBezTo>
                  <a:pt x="262" y="99"/>
                  <a:pt x="265" y="116"/>
                  <a:pt x="265" y="133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"/>
          <p:cNvSpPr txBox="1"/>
          <p:nvPr/>
        </p:nvSpPr>
        <p:spPr>
          <a:xfrm>
            <a:off x="1300320" y="3981600"/>
            <a:ext cx="22075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⾼并发下避免超卖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"/>
          <p:cNvSpPr txBox="1"/>
          <p:nvPr/>
        </p:nvSpPr>
        <p:spPr>
          <a:xfrm>
            <a:off x="1300320" y="4467240"/>
            <a:ext cx="33109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⻆⾊权限边界清晰（管理员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"/>
          <p:cNvSpPr txBox="1"/>
          <p:nvPr/>
        </p:nvSpPr>
        <p:spPr>
          <a:xfrm>
            <a:off x="4614840" y="4445280"/>
            <a:ext cx="27576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/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"/>
          <p:cNvSpPr txBox="1"/>
          <p:nvPr/>
        </p:nvSpPr>
        <p:spPr>
          <a:xfrm>
            <a:off x="4873680" y="4467240"/>
            <a:ext cx="5522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商⼾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"/>
          <p:cNvSpPr txBox="1"/>
          <p:nvPr/>
        </p:nvSpPr>
        <p:spPr>
          <a:xfrm>
            <a:off x="5426280" y="4445280"/>
            <a:ext cx="27576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/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"/>
          <p:cNvSpPr/>
          <p:nvPr/>
        </p:nvSpPr>
        <p:spPr>
          <a:xfrm>
            <a:off x="1047600" y="5086080"/>
            <a:ext cx="95400" cy="95760"/>
          </a:xfrm>
          <a:custGeom>
            <a:avLst/>
            <a:gdLst/>
            <a:ahLst/>
            <a:rect l="0" t="0" r="r" b="b"/>
            <a:pathLst>
              <a:path w="265" h="266">
                <a:moveTo>
                  <a:pt x="265" y="133"/>
                </a:moveTo>
                <a:cubicBezTo>
                  <a:pt x="265" y="150"/>
                  <a:pt x="262" y="167"/>
                  <a:pt x="255" y="183"/>
                </a:cubicBezTo>
                <a:cubicBezTo>
                  <a:pt x="249" y="199"/>
                  <a:pt x="239" y="214"/>
                  <a:pt x="227" y="226"/>
                </a:cubicBezTo>
                <a:cubicBezTo>
                  <a:pt x="214" y="238"/>
                  <a:pt x="200" y="248"/>
                  <a:pt x="184" y="255"/>
                </a:cubicBezTo>
                <a:cubicBezTo>
                  <a:pt x="168" y="262"/>
                  <a:pt x="151" y="266"/>
                  <a:pt x="133" y="266"/>
                </a:cubicBezTo>
                <a:cubicBezTo>
                  <a:pt x="115" y="266"/>
                  <a:pt x="98" y="262"/>
                  <a:pt x="82" y="255"/>
                </a:cubicBezTo>
                <a:cubicBezTo>
                  <a:pt x="65" y="248"/>
                  <a:pt x="51" y="238"/>
                  <a:pt x="39" y="226"/>
                </a:cubicBezTo>
                <a:cubicBezTo>
                  <a:pt x="26" y="214"/>
                  <a:pt x="17" y="199"/>
                  <a:pt x="10" y="183"/>
                </a:cubicBezTo>
                <a:cubicBezTo>
                  <a:pt x="3" y="167"/>
                  <a:pt x="0" y="150"/>
                  <a:pt x="0" y="133"/>
                </a:cubicBezTo>
                <a:cubicBezTo>
                  <a:pt x="0" y="115"/>
                  <a:pt x="3" y="98"/>
                  <a:pt x="10" y="82"/>
                </a:cubicBezTo>
                <a:cubicBezTo>
                  <a:pt x="17" y="66"/>
                  <a:pt x="26" y="51"/>
                  <a:pt x="39" y="39"/>
                </a:cubicBezTo>
                <a:cubicBezTo>
                  <a:pt x="51" y="27"/>
                  <a:pt x="65" y="17"/>
                  <a:pt x="82" y="10"/>
                </a:cubicBezTo>
                <a:cubicBezTo>
                  <a:pt x="98" y="4"/>
                  <a:pt x="115" y="0"/>
                  <a:pt x="133" y="0"/>
                </a:cubicBezTo>
                <a:cubicBezTo>
                  <a:pt x="151" y="0"/>
                  <a:pt x="168" y="4"/>
                  <a:pt x="184" y="10"/>
                </a:cubicBezTo>
                <a:cubicBezTo>
                  <a:pt x="200" y="17"/>
                  <a:pt x="214" y="27"/>
                  <a:pt x="227" y="39"/>
                </a:cubicBezTo>
                <a:cubicBezTo>
                  <a:pt x="239" y="51"/>
                  <a:pt x="249" y="66"/>
                  <a:pt x="255" y="82"/>
                </a:cubicBezTo>
                <a:cubicBezTo>
                  <a:pt x="262" y="98"/>
                  <a:pt x="265" y="115"/>
                  <a:pt x="265" y="133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"/>
          <p:cNvSpPr txBox="1"/>
          <p:nvPr/>
        </p:nvSpPr>
        <p:spPr>
          <a:xfrm>
            <a:off x="5685120" y="4467240"/>
            <a:ext cx="82836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⽤⼾）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"/>
          <p:cNvSpPr txBox="1"/>
          <p:nvPr/>
        </p:nvSpPr>
        <p:spPr>
          <a:xfrm>
            <a:off x="1300320" y="4952880"/>
            <a:ext cx="413856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便于演进：从内存数据平滑迁移到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"/>
          <p:cNvSpPr txBox="1"/>
          <p:nvPr/>
        </p:nvSpPr>
        <p:spPr>
          <a:xfrm>
            <a:off x="5443560" y="4931280"/>
            <a:ext cx="131724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MongoDB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"/>
          <p:cNvSpPr txBox="1"/>
          <p:nvPr/>
        </p:nvSpPr>
        <p:spPr>
          <a:xfrm>
            <a:off x="11783160" y="6335280"/>
            <a:ext cx="22824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SegoeUI"/>
                <a:ea typeface="SegoeUI"/>
              </a:rPr>
              <a:t>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"/>
          <p:cNvSpPr/>
          <p:nvPr/>
        </p:nvSpPr>
        <p:spPr>
          <a:xfrm>
            <a:off x="757080" y="4433760"/>
            <a:ext cx="10687320" cy="1400400"/>
          </a:xfrm>
          <a:custGeom>
            <a:avLst/>
            <a:gdLst/>
            <a:ahLst/>
            <a:rect l="0" t="0" r="r" b="b"/>
            <a:pathLst>
              <a:path w="29687" h="3890">
                <a:moveTo>
                  <a:pt x="0" y="3745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2"/>
                  <a:pt x="24" y="65"/>
                </a:cubicBezTo>
                <a:cubicBezTo>
                  <a:pt x="30" y="57"/>
                  <a:pt x="36" y="49"/>
                  <a:pt x="43" y="42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7"/>
                  <a:pt x="29597" y="11"/>
                </a:cubicBezTo>
                <a:cubicBezTo>
                  <a:pt x="29606" y="15"/>
                  <a:pt x="29615" y="19"/>
                  <a:pt x="29623" y="24"/>
                </a:cubicBezTo>
                <a:cubicBezTo>
                  <a:pt x="29630" y="30"/>
                  <a:pt x="29638" y="36"/>
                  <a:pt x="29645" y="42"/>
                </a:cubicBezTo>
                <a:cubicBezTo>
                  <a:pt x="29651" y="49"/>
                  <a:pt x="29657" y="57"/>
                  <a:pt x="29663" y="65"/>
                </a:cubicBezTo>
                <a:cubicBezTo>
                  <a:pt x="29668" y="72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3745"/>
                </a:lnTo>
                <a:cubicBezTo>
                  <a:pt x="29687" y="3754"/>
                  <a:pt x="29686" y="3764"/>
                  <a:pt x="29684" y="3773"/>
                </a:cubicBezTo>
                <a:cubicBezTo>
                  <a:pt x="29683" y="3782"/>
                  <a:pt x="29680" y="3792"/>
                  <a:pt x="29676" y="3800"/>
                </a:cubicBezTo>
                <a:cubicBezTo>
                  <a:pt x="29672" y="3809"/>
                  <a:pt x="29668" y="3818"/>
                  <a:pt x="29663" y="3826"/>
                </a:cubicBezTo>
                <a:cubicBezTo>
                  <a:pt x="29657" y="3833"/>
                  <a:pt x="29651" y="3841"/>
                  <a:pt x="29645" y="3848"/>
                </a:cubicBezTo>
                <a:cubicBezTo>
                  <a:pt x="29638" y="3854"/>
                  <a:pt x="29630" y="3860"/>
                  <a:pt x="29623" y="3866"/>
                </a:cubicBezTo>
                <a:cubicBezTo>
                  <a:pt x="29615" y="3871"/>
                  <a:pt x="29606" y="3875"/>
                  <a:pt x="29597" y="3879"/>
                </a:cubicBezTo>
                <a:cubicBezTo>
                  <a:pt x="29589" y="3883"/>
                  <a:pt x="29579" y="3886"/>
                  <a:pt x="29570" y="3887"/>
                </a:cubicBezTo>
                <a:cubicBezTo>
                  <a:pt x="29561" y="3889"/>
                  <a:pt x="29551" y="3890"/>
                  <a:pt x="29542" y="3890"/>
                </a:cubicBezTo>
                <a:lnTo>
                  <a:pt x="145" y="3890"/>
                </a:lnTo>
                <a:cubicBezTo>
                  <a:pt x="136" y="3890"/>
                  <a:pt x="126" y="3889"/>
                  <a:pt x="117" y="3887"/>
                </a:cubicBezTo>
                <a:cubicBezTo>
                  <a:pt x="108" y="3886"/>
                  <a:pt x="99" y="3883"/>
                  <a:pt x="90" y="3879"/>
                </a:cubicBezTo>
                <a:cubicBezTo>
                  <a:pt x="81" y="3875"/>
                  <a:pt x="73" y="3871"/>
                  <a:pt x="65" y="3866"/>
                </a:cubicBezTo>
                <a:cubicBezTo>
                  <a:pt x="57" y="3860"/>
                  <a:pt x="49" y="3854"/>
                  <a:pt x="43" y="3848"/>
                </a:cubicBezTo>
                <a:cubicBezTo>
                  <a:pt x="36" y="3841"/>
                  <a:pt x="30" y="3833"/>
                  <a:pt x="24" y="3826"/>
                </a:cubicBezTo>
                <a:cubicBezTo>
                  <a:pt x="19" y="3818"/>
                  <a:pt x="15" y="3809"/>
                  <a:pt x="11" y="3800"/>
                </a:cubicBezTo>
                <a:cubicBezTo>
                  <a:pt x="7" y="3792"/>
                  <a:pt x="5" y="3782"/>
                  <a:pt x="3" y="3773"/>
                </a:cubicBezTo>
                <a:cubicBezTo>
                  <a:pt x="1" y="3764"/>
                  <a:pt x="0" y="3754"/>
                  <a:pt x="0" y="3745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"/>
          <p:cNvSpPr/>
          <p:nvPr/>
        </p:nvSpPr>
        <p:spPr>
          <a:xfrm>
            <a:off x="757080" y="4433760"/>
            <a:ext cx="10687320" cy="1400400"/>
          </a:xfrm>
          <a:custGeom>
            <a:avLst/>
            <a:gdLst/>
            <a:ahLst/>
            <a:rect l="0" t="0" r="r" b="b"/>
            <a:pathLst>
              <a:path w="29687" h="3890">
                <a:moveTo>
                  <a:pt x="0" y="3745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2"/>
                  <a:pt x="24" y="65"/>
                </a:cubicBezTo>
                <a:cubicBezTo>
                  <a:pt x="30" y="57"/>
                  <a:pt x="36" y="49"/>
                  <a:pt x="43" y="42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7"/>
                  <a:pt x="29597" y="11"/>
                </a:cubicBezTo>
                <a:cubicBezTo>
                  <a:pt x="29606" y="15"/>
                  <a:pt x="29615" y="19"/>
                  <a:pt x="29623" y="24"/>
                </a:cubicBezTo>
                <a:cubicBezTo>
                  <a:pt x="29630" y="30"/>
                  <a:pt x="29638" y="36"/>
                  <a:pt x="29645" y="42"/>
                </a:cubicBezTo>
                <a:cubicBezTo>
                  <a:pt x="29651" y="49"/>
                  <a:pt x="29657" y="57"/>
                  <a:pt x="29663" y="65"/>
                </a:cubicBezTo>
                <a:cubicBezTo>
                  <a:pt x="29668" y="72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3745"/>
                </a:lnTo>
                <a:cubicBezTo>
                  <a:pt x="29687" y="3754"/>
                  <a:pt x="29686" y="3764"/>
                  <a:pt x="29684" y="3773"/>
                </a:cubicBezTo>
                <a:cubicBezTo>
                  <a:pt x="29683" y="3782"/>
                  <a:pt x="29680" y="3792"/>
                  <a:pt x="29676" y="3800"/>
                </a:cubicBezTo>
                <a:cubicBezTo>
                  <a:pt x="29672" y="3809"/>
                  <a:pt x="29668" y="3818"/>
                  <a:pt x="29663" y="3826"/>
                </a:cubicBezTo>
                <a:cubicBezTo>
                  <a:pt x="29657" y="3833"/>
                  <a:pt x="29651" y="3841"/>
                  <a:pt x="29645" y="3848"/>
                </a:cubicBezTo>
                <a:cubicBezTo>
                  <a:pt x="29638" y="3854"/>
                  <a:pt x="29630" y="3860"/>
                  <a:pt x="29623" y="3866"/>
                </a:cubicBezTo>
                <a:cubicBezTo>
                  <a:pt x="29615" y="3871"/>
                  <a:pt x="29606" y="3875"/>
                  <a:pt x="29597" y="3879"/>
                </a:cubicBezTo>
                <a:cubicBezTo>
                  <a:pt x="29589" y="3883"/>
                  <a:pt x="29579" y="3886"/>
                  <a:pt x="29570" y="3887"/>
                </a:cubicBezTo>
                <a:cubicBezTo>
                  <a:pt x="29561" y="3889"/>
                  <a:pt x="29551" y="3890"/>
                  <a:pt x="29542" y="3890"/>
                </a:cubicBezTo>
                <a:lnTo>
                  <a:pt x="145" y="3890"/>
                </a:lnTo>
                <a:cubicBezTo>
                  <a:pt x="136" y="3890"/>
                  <a:pt x="126" y="3889"/>
                  <a:pt x="117" y="3887"/>
                </a:cubicBezTo>
                <a:cubicBezTo>
                  <a:pt x="108" y="3886"/>
                  <a:pt x="99" y="3883"/>
                  <a:pt x="90" y="3879"/>
                </a:cubicBezTo>
                <a:cubicBezTo>
                  <a:pt x="81" y="3875"/>
                  <a:pt x="73" y="3871"/>
                  <a:pt x="65" y="3866"/>
                </a:cubicBezTo>
                <a:cubicBezTo>
                  <a:pt x="57" y="3860"/>
                  <a:pt x="49" y="3854"/>
                  <a:pt x="43" y="3848"/>
                </a:cubicBezTo>
                <a:cubicBezTo>
                  <a:pt x="36" y="3841"/>
                  <a:pt x="30" y="3833"/>
                  <a:pt x="24" y="3826"/>
                </a:cubicBezTo>
                <a:cubicBezTo>
                  <a:pt x="19" y="3818"/>
                  <a:pt x="15" y="3809"/>
                  <a:pt x="11" y="3800"/>
                </a:cubicBezTo>
                <a:cubicBezTo>
                  <a:pt x="7" y="3792"/>
                  <a:pt x="5" y="3782"/>
                  <a:pt x="3" y="3773"/>
                </a:cubicBezTo>
                <a:cubicBezTo>
                  <a:pt x="1" y="3764"/>
                  <a:pt x="0" y="3754"/>
                  <a:pt x="0" y="3745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"/>
          <p:cNvSpPr txBox="1"/>
          <p:nvPr/>
        </p:nvSpPr>
        <p:spPr>
          <a:xfrm>
            <a:off x="747720" y="399600"/>
            <a:ext cx="496800" cy="58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480" b="1" u="none" strike="noStrike">
                <a:solidFill>
                  <a:srgbClr val="224466"/>
                </a:solidFill>
                <a:effectLst/>
                <a:uFillTx/>
                <a:latin typeface="SegoeUI"/>
                <a:ea typeface="SegoeUI"/>
              </a:rPr>
              <a:t>2. </a:t>
            </a:r>
            <a:endParaRPr lang="en-US" sz="34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"/>
          <p:cNvSpPr txBox="1"/>
          <p:nvPr/>
        </p:nvSpPr>
        <p:spPr>
          <a:xfrm>
            <a:off x="1221120" y="434160"/>
            <a:ext cx="2652480" cy="53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3480" b="0" u="none" strike="noStrike">
                <a:solidFill>
                  <a:srgbClr val="224466"/>
                </a:solidFill>
                <a:effectLst/>
                <a:uFillTx/>
                <a:latin typeface="NotoSansSC"/>
                <a:ea typeface="NotoSansSC"/>
              </a:rPr>
              <a:t>总体架构设计</a:t>
            </a:r>
            <a:endParaRPr lang="en-US" sz="34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"/>
          <p:cNvSpPr txBox="1"/>
          <p:nvPr/>
        </p:nvSpPr>
        <p:spPr>
          <a:xfrm>
            <a:off x="747720" y="1295280"/>
            <a:ext cx="13798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前后端分离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"/>
          <p:cNvSpPr txBox="1"/>
          <p:nvPr/>
        </p:nvSpPr>
        <p:spPr>
          <a:xfrm>
            <a:off x="2128680" y="1273680"/>
            <a:ext cx="34812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+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"/>
          <p:cNvSpPr txBox="1"/>
          <p:nvPr/>
        </p:nvSpPr>
        <p:spPr>
          <a:xfrm>
            <a:off x="2472480" y="1295280"/>
            <a:ext cx="11041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多端复⽤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"/>
          <p:cNvSpPr/>
          <p:nvPr/>
        </p:nvSpPr>
        <p:spPr>
          <a:xfrm>
            <a:off x="1047600" y="1990440"/>
            <a:ext cx="95400" cy="95760"/>
          </a:xfrm>
          <a:custGeom>
            <a:avLst/>
            <a:gdLst/>
            <a:ahLst/>
            <a:rect l="0" t="0" r="r" b="b"/>
            <a:pathLst>
              <a:path w="265" h="266">
                <a:moveTo>
                  <a:pt x="265" y="133"/>
                </a:moveTo>
                <a:cubicBezTo>
                  <a:pt x="265" y="151"/>
                  <a:pt x="262" y="168"/>
                  <a:pt x="255" y="184"/>
                </a:cubicBezTo>
                <a:cubicBezTo>
                  <a:pt x="249" y="200"/>
                  <a:pt x="239" y="215"/>
                  <a:pt x="227" y="227"/>
                </a:cubicBezTo>
                <a:cubicBezTo>
                  <a:pt x="214" y="240"/>
                  <a:pt x="200" y="249"/>
                  <a:pt x="184" y="256"/>
                </a:cubicBezTo>
                <a:cubicBezTo>
                  <a:pt x="168" y="263"/>
                  <a:pt x="151" y="266"/>
                  <a:pt x="133" y="266"/>
                </a:cubicBezTo>
                <a:cubicBezTo>
                  <a:pt x="115" y="266"/>
                  <a:pt x="98" y="263"/>
                  <a:pt x="82" y="256"/>
                </a:cubicBezTo>
                <a:cubicBezTo>
                  <a:pt x="65" y="249"/>
                  <a:pt x="51" y="240"/>
                  <a:pt x="39" y="227"/>
                </a:cubicBezTo>
                <a:cubicBezTo>
                  <a:pt x="26" y="215"/>
                  <a:pt x="17" y="200"/>
                  <a:pt x="10" y="184"/>
                </a:cubicBezTo>
                <a:cubicBezTo>
                  <a:pt x="3" y="168"/>
                  <a:pt x="0" y="151"/>
                  <a:pt x="0" y="133"/>
                </a:cubicBezTo>
                <a:cubicBezTo>
                  <a:pt x="0" y="115"/>
                  <a:pt x="3" y="98"/>
                  <a:pt x="10" y="82"/>
                </a:cubicBezTo>
                <a:cubicBezTo>
                  <a:pt x="17" y="66"/>
                  <a:pt x="26" y="51"/>
                  <a:pt x="39" y="39"/>
                </a:cubicBezTo>
                <a:cubicBezTo>
                  <a:pt x="51" y="27"/>
                  <a:pt x="65" y="17"/>
                  <a:pt x="82" y="10"/>
                </a:cubicBezTo>
                <a:cubicBezTo>
                  <a:pt x="98" y="4"/>
                  <a:pt x="115" y="0"/>
                  <a:pt x="133" y="0"/>
                </a:cubicBezTo>
                <a:cubicBezTo>
                  <a:pt x="151" y="0"/>
                  <a:pt x="168" y="4"/>
                  <a:pt x="184" y="10"/>
                </a:cubicBezTo>
                <a:cubicBezTo>
                  <a:pt x="200" y="17"/>
                  <a:pt x="214" y="27"/>
                  <a:pt x="227" y="39"/>
                </a:cubicBezTo>
                <a:cubicBezTo>
                  <a:pt x="239" y="51"/>
                  <a:pt x="249" y="66"/>
                  <a:pt x="255" y="82"/>
                </a:cubicBezTo>
                <a:cubicBezTo>
                  <a:pt x="262" y="98"/>
                  <a:pt x="265" y="115"/>
                  <a:pt x="265" y="133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"/>
          <p:cNvSpPr txBox="1"/>
          <p:nvPr/>
        </p:nvSpPr>
        <p:spPr>
          <a:xfrm>
            <a:off x="3577320" y="1273680"/>
            <a:ext cx="52776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API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"/>
          <p:cNvSpPr txBox="1"/>
          <p:nvPr/>
        </p:nvSpPr>
        <p:spPr>
          <a:xfrm>
            <a:off x="1300320" y="1835640"/>
            <a:ext cx="69912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Client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"/>
          <p:cNvSpPr/>
          <p:nvPr/>
        </p:nvSpPr>
        <p:spPr>
          <a:xfrm>
            <a:off x="2276280" y="1866600"/>
            <a:ext cx="2895840" cy="371880"/>
          </a:xfrm>
          <a:custGeom>
            <a:avLst/>
            <a:gdLst/>
            <a:ahLst/>
            <a:rect l="0" t="0" r="r" b="b"/>
            <a:pathLst>
              <a:path w="8044" h="1033">
                <a:moveTo>
                  <a:pt x="0" y="874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80"/>
                  <a:pt x="27" y="71"/>
                </a:cubicBezTo>
                <a:cubicBezTo>
                  <a:pt x="33" y="62"/>
                  <a:pt x="39" y="54"/>
                  <a:pt x="47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7886" y="0"/>
                </a:lnTo>
                <a:cubicBezTo>
                  <a:pt x="7896" y="0"/>
                  <a:pt x="7906" y="1"/>
                  <a:pt x="7917" y="3"/>
                </a:cubicBezTo>
                <a:cubicBezTo>
                  <a:pt x="7927" y="5"/>
                  <a:pt x="7937" y="8"/>
                  <a:pt x="7946" y="12"/>
                </a:cubicBezTo>
                <a:cubicBezTo>
                  <a:pt x="7956" y="16"/>
                  <a:pt x="7965" y="21"/>
                  <a:pt x="7974" y="27"/>
                </a:cubicBezTo>
                <a:cubicBezTo>
                  <a:pt x="7982" y="33"/>
                  <a:pt x="7991" y="39"/>
                  <a:pt x="7998" y="47"/>
                </a:cubicBezTo>
                <a:cubicBezTo>
                  <a:pt x="8005" y="54"/>
                  <a:pt x="8012" y="62"/>
                  <a:pt x="8018" y="71"/>
                </a:cubicBezTo>
                <a:cubicBezTo>
                  <a:pt x="8023" y="80"/>
                  <a:pt x="8028" y="89"/>
                  <a:pt x="8032" y="98"/>
                </a:cubicBezTo>
                <a:cubicBezTo>
                  <a:pt x="8036" y="108"/>
                  <a:pt x="8039" y="118"/>
                  <a:pt x="8041" y="128"/>
                </a:cubicBezTo>
                <a:cubicBezTo>
                  <a:pt x="8043" y="138"/>
                  <a:pt x="8044" y="149"/>
                  <a:pt x="8044" y="159"/>
                </a:cubicBezTo>
                <a:lnTo>
                  <a:pt x="8044" y="874"/>
                </a:lnTo>
                <a:cubicBezTo>
                  <a:pt x="8044" y="885"/>
                  <a:pt x="8043" y="895"/>
                  <a:pt x="8041" y="905"/>
                </a:cubicBezTo>
                <a:cubicBezTo>
                  <a:pt x="8039" y="916"/>
                  <a:pt x="8036" y="926"/>
                  <a:pt x="8032" y="935"/>
                </a:cubicBezTo>
                <a:cubicBezTo>
                  <a:pt x="8028" y="945"/>
                  <a:pt x="8023" y="954"/>
                  <a:pt x="8018" y="963"/>
                </a:cubicBezTo>
                <a:cubicBezTo>
                  <a:pt x="8012" y="971"/>
                  <a:pt x="8005" y="979"/>
                  <a:pt x="7998" y="987"/>
                </a:cubicBezTo>
                <a:cubicBezTo>
                  <a:pt x="7991" y="994"/>
                  <a:pt x="7982" y="1001"/>
                  <a:pt x="7974" y="1006"/>
                </a:cubicBezTo>
                <a:cubicBezTo>
                  <a:pt x="7965" y="1012"/>
                  <a:pt x="7956" y="1017"/>
                  <a:pt x="7946" y="1021"/>
                </a:cubicBezTo>
                <a:cubicBezTo>
                  <a:pt x="7937" y="1025"/>
                  <a:pt x="7927" y="1028"/>
                  <a:pt x="7917" y="1030"/>
                </a:cubicBezTo>
                <a:cubicBezTo>
                  <a:pt x="7906" y="1032"/>
                  <a:pt x="7896" y="1033"/>
                  <a:pt x="7886" y="1033"/>
                </a:cubicBezTo>
                <a:lnTo>
                  <a:pt x="159" y="1033"/>
                </a:lnTo>
                <a:cubicBezTo>
                  <a:pt x="148" y="1033"/>
                  <a:pt x="138" y="1032"/>
                  <a:pt x="128" y="1030"/>
                </a:cubicBezTo>
                <a:cubicBezTo>
                  <a:pt x="118" y="1028"/>
                  <a:pt x="108" y="1025"/>
                  <a:pt x="98" y="1021"/>
                </a:cubicBezTo>
                <a:cubicBezTo>
                  <a:pt x="88" y="1017"/>
                  <a:pt x="79" y="1012"/>
                  <a:pt x="71" y="1006"/>
                </a:cubicBezTo>
                <a:cubicBezTo>
                  <a:pt x="62" y="1001"/>
                  <a:pt x="54" y="994"/>
                  <a:pt x="47" y="987"/>
                </a:cubicBezTo>
                <a:cubicBezTo>
                  <a:pt x="39" y="979"/>
                  <a:pt x="33" y="971"/>
                  <a:pt x="27" y="963"/>
                </a:cubicBezTo>
                <a:cubicBezTo>
                  <a:pt x="21" y="954"/>
                  <a:pt x="16" y="945"/>
                  <a:pt x="12" y="935"/>
                </a:cubicBezTo>
                <a:cubicBezTo>
                  <a:pt x="8" y="926"/>
                  <a:pt x="5" y="916"/>
                  <a:pt x="3" y="905"/>
                </a:cubicBezTo>
                <a:cubicBezTo>
                  <a:pt x="1" y="895"/>
                  <a:pt x="0" y="885"/>
                  <a:pt x="0" y="874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"/>
          <p:cNvSpPr txBox="1"/>
          <p:nvPr/>
        </p:nvSpPr>
        <p:spPr>
          <a:xfrm>
            <a:off x="1999440" y="1857240"/>
            <a:ext cx="2764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（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"/>
          <p:cNvSpPr txBox="1"/>
          <p:nvPr/>
        </p:nvSpPr>
        <p:spPr>
          <a:xfrm>
            <a:off x="2369520" y="1958400"/>
            <a:ext cx="27104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http://localhost:3000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"/>
          <p:cNvSpPr/>
          <p:nvPr/>
        </p:nvSpPr>
        <p:spPr>
          <a:xfrm>
            <a:off x="1047600" y="2485800"/>
            <a:ext cx="95400" cy="95760"/>
          </a:xfrm>
          <a:custGeom>
            <a:avLst/>
            <a:gdLst/>
            <a:ahLst/>
            <a:rect l="0" t="0" r="r" b="b"/>
            <a:pathLst>
              <a:path w="265" h="266">
                <a:moveTo>
                  <a:pt x="265" y="133"/>
                </a:moveTo>
                <a:cubicBezTo>
                  <a:pt x="265" y="151"/>
                  <a:pt x="262" y="168"/>
                  <a:pt x="255" y="184"/>
                </a:cubicBezTo>
                <a:cubicBezTo>
                  <a:pt x="249" y="200"/>
                  <a:pt x="239" y="215"/>
                  <a:pt x="227" y="227"/>
                </a:cubicBezTo>
                <a:cubicBezTo>
                  <a:pt x="214" y="239"/>
                  <a:pt x="200" y="249"/>
                  <a:pt x="184" y="256"/>
                </a:cubicBezTo>
                <a:cubicBezTo>
                  <a:pt x="168" y="262"/>
                  <a:pt x="151" y="266"/>
                  <a:pt x="133" y="266"/>
                </a:cubicBezTo>
                <a:cubicBezTo>
                  <a:pt x="115" y="266"/>
                  <a:pt x="98" y="262"/>
                  <a:pt x="82" y="256"/>
                </a:cubicBezTo>
                <a:cubicBezTo>
                  <a:pt x="65" y="249"/>
                  <a:pt x="51" y="239"/>
                  <a:pt x="39" y="227"/>
                </a:cubicBezTo>
                <a:cubicBezTo>
                  <a:pt x="26" y="215"/>
                  <a:pt x="17" y="200"/>
                  <a:pt x="10" y="184"/>
                </a:cubicBezTo>
                <a:cubicBezTo>
                  <a:pt x="3" y="168"/>
                  <a:pt x="0" y="151"/>
                  <a:pt x="0" y="133"/>
                </a:cubicBezTo>
                <a:cubicBezTo>
                  <a:pt x="0" y="116"/>
                  <a:pt x="3" y="99"/>
                  <a:pt x="10" y="82"/>
                </a:cubicBezTo>
                <a:cubicBezTo>
                  <a:pt x="17" y="66"/>
                  <a:pt x="26" y="51"/>
                  <a:pt x="39" y="39"/>
                </a:cubicBezTo>
                <a:cubicBezTo>
                  <a:pt x="51" y="26"/>
                  <a:pt x="65" y="17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1" y="0"/>
                  <a:pt x="168" y="3"/>
                  <a:pt x="184" y="10"/>
                </a:cubicBezTo>
                <a:cubicBezTo>
                  <a:pt x="200" y="17"/>
                  <a:pt x="214" y="26"/>
                  <a:pt x="227" y="39"/>
                </a:cubicBezTo>
                <a:cubicBezTo>
                  <a:pt x="239" y="51"/>
                  <a:pt x="249" y="66"/>
                  <a:pt x="255" y="82"/>
                </a:cubicBezTo>
                <a:cubicBezTo>
                  <a:pt x="262" y="99"/>
                  <a:pt x="265" y="116"/>
                  <a:pt x="265" y="133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"/>
          <p:cNvSpPr txBox="1"/>
          <p:nvPr/>
        </p:nvSpPr>
        <p:spPr>
          <a:xfrm>
            <a:off x="5174280" y="1857240"/>
            <a:ext cx="2764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）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"/>
          <p:cNvSpPr txBox="1"/>
          <p:nvPr/>
        </p:nvSpPr>
        <p:spPr>
          <a:xfrm>
            <a:off x="1300320" y="2331000"/>
            <a:ext cx="80172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Admin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"/>
          <p:cNvSpPr/>
          <p:nvPr/>
        </p:nvSpPr>
        <p:spPr>
          <a:xfrm>
            <a:off x="2381040" y="2361960"/>
            <a:ext cx="2895840" cy="371880"/>
          </a:xfrm>
          <a:custGeom>
            <a:avLst/>
            <a:gdLst/>
            <a:ahLst/>
            <a:rect l="0" t="0" r="r" b="b"/>
            <a:pathLst>
              <a:path w="8044" h="1033">
                <a:moveTo>
                  <a:pt x="0" y="874"/>
                </a:moveTo>
                <a:lnTo>
                  <a:pt x="0" y="160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79"/>
                  <a:pt x="27" y="71"/>
                </a:cubicBezTo>
                <a:cubicBezTo>
                  <a:pt x="33" y="62"/>
                  <a:pt x="39" y="54"/>
                  <a:pt x="47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7886" y="0"/>
                </a:lnTo>
                <a:cubicBezTo>
                  <a:pt x="7896" y="0"/>
                  <a:pt x="7906" y="1"/>
                  <a:pt x="7917" y="3"/>
                </a:cubicBezTo>
                <a:cubicBezTo>
                  <a:pt x="7927" y="5"/>
                  <a:pt x="7937" y="8"/>
                  <a:pt x="7946" y="12"/>
                </a:cubicBezTo>
                <a:cubicBezTo>
                  <a:pt x="7956" y="16"/>
                  <a:pt x="7965" y="21"/>
                  <a:pt x="7974" y="27"/>
                </a:cubicBezTo>
                <a:cubicBezTo>
                  <a:pt x="7983" y="33"/>
                  <a:pt x="7991" y="39"/>
                  <a:pt x="7998" y="47"/>
                </a:cubicBezTo>
                <a:cubicBezTo>
                  <a:pt x="8005" y="54"/>
                  <a:pt x="8012" y="62"/>
                  <a:pt x="8018" y="71"/>
                </a:cubicBezTo>
                <a:cubicBezTo>
                  <a:pt x="8023" y="79"/>
                  <a:pt x="8028" y="89"/>
                  <a:pt x="8032" y="98"/>
                </a:cubicBezTo>
                <a:cubicBezTo>
                  <a:pt x="8036" y="108"/>
                  <a:pt x="8039" y="118"/>
                  <a:pt x="8041" y="128"/>
                </a:cubicBezTo>
                <a:cubicBezTo>
                  <a:pt x="8043" y="138"/>
                  <a:pt x="8044" y="149"/>
                  <a:pt x="8044" y="160"/>
                </a:cubicBezTo>
                <a:lnTo>
                  <a:pt x="8044" y="874"/>
                </a:lnTo>
                <a:cubicBezTo>
                  <a:pt x="8044" y="885"/>
                  <a:pt x="8043" y="895"/>
                  <a:pt x="8041" y="905"/>
                </a:cubicBezTo>
                <a:cubicBezTo>
                  <a:pt x="8039" y="915"/>
                  <a:pt x="8036" y="925"/>
                  <a:pt x="8032" y="935"/>
                </a:cubicBezTo>
                <a:cubicBezTo>
                  <a:pt x="8028" y="945"/>
                  <a:pt x="8023" y="954"/>
                  <a:pt x="8018" y="962"/>
                </a:cubicBezTo>
                <a:cubicBezTo>
                  <a:pt x="8012" y="971"/>
                  <a:pt x="8005" y="979"/>
                  <a:pt x="7998" y="987"/>
                </a:cubicBezTo>
                <a:cubicBezTo>
                  <a:pt x="7991" y="994"/>
                  <a:pt x="7983" y="1000"/>
                  <a:pt x="7974" y="1006"/>
                </a:cubicBezTo>
                <a:cubicBezTo>
                  <a:pt x="7965" y="1012"/>
                  <a:pt x="7956" y="1017"/>
                  <a:pt x="7946" y="1021"/>
                </a:cubicBezTo>
                <a:cubicBezTo>
                  <a:pt x="7937" y="1025"/>
                  <a:pt x="7927" y="1028"/>
                  <a:pt x="7917" y="1030"/>
                </a:cubicBezTo>
                <a:cubicBezTo>
                  <a:pt x="7906" y="1032"/>
                  <a:pt x="7896" y="1033"/>
                  <a:pt x="7886" y="1033"/>
                </a:cubicBezTo>
                <a:lnTo>
                  <a:pt x="159" y="1033"/>
                </a:lnTo>
                <a:cubicBezTo>
                  <a:pt x="148" y="1033"/>
                  <a:pt x="138" y="1032"/>
                  <a:pt x="128" y="1030"/>
                </a:cubicBezTo>
                <a:cubicBezTo>
                  <a:pt x="118" y="1028"/>
                  <a:pt x="108" y="1025"/>
                  <a:pt x="98" y="1021"/>
                </a:cubicBezTo>
                <a:cubicBezTo>
                  <a:pt x="88" y="1017"/>
                  <a:pt x="79" y="1012"/>
                  <a:pt x="71" y="1006"/>
                </a:cubicBezTo>
                <a:cubicBezTo>
                  <a:pt x="62" y="1000"/>
                  <a:pt x="54" y="994"/>
                  <a:pt x="47" y="987"/>
                </a:cubicBezTo>
                <a:cubicBezTo>
                  <a:pt x="39" y="979"/>
                  <a:pt x="33" y="971"/>
                  <a:pt x="27" y="962"/>
                </a:cubicBezTo>
                <a:cubicBezTo>
                  <a:pt x="21" y="954"/>
                  <a:pt x="16" y="945"/>
                  <a:pt x="12" y="935"/>
                </a:cubicBezTo>
                <a:cubicBezTo>
                  <a:pt x="8" y="925"/>
                  <a:pt x="5" y="915"/>
                  <a:pt x="3" y="905"/>
                </a:cubicBezTo>
                <a:cubicBezTo>
                  <a:pt x="1" y="895"/>
                  <a:pt x="0" y="885"/>
                  <a:pt x="0" y="874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"/>
          <p:cNvSpPr txBox="1"/>
          <p:nvPr/>
        </p:nvSpPr>
        <p:spPr>
          <a:xfrm>
            <a:off x="2102040" y="2352600"/>
            <a:ext cx="2764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（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"/>
          <p:cNvSpPr txBox="1"/>
          <p:nvPr/>
        </p:nvSpPr>
        <p:spPr>
          <a:xfrm>
            <a:off x="2472480" y="2453760"/>
            <a:ext cx="27104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http://localhost:3001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"/>
          <p:cNvSpPr/>
          <p:nvPr/>
        </p:nvSpPr>
        <p:spPr>
          <a:xfrm>
            <a:off x="1047600" y="2971440"/>
            <a:ext cx="95400" cy="95760"/>
          </a:xfrm>
          <a:custGeom>
            <a:avLst/>
            <a:gdLst/>
            <a:ahLst/>
            <a:rect l="0" t="0" r="r" b="b"/>
            <a:pathLst>
              <a:path w="265" h="266">
                <a:moveTo>
                  <a:pt x="265" y="134"/>
                </a:moveTo>
                <a:cubicBezTo>
                  <a:pt x="265" y="151"/>
                  <a:pt x="262" y="168"/>
                  <a:pt x="255" y="184"/>
                </a:cubicBezTo>
                <a:cubicBezTo>
                  <a:pt x="249" y="201"/>
                  <a:pt x="239" y="215"/>
                  <a:pt x="227" y="227"/>
                </a:cubicBezTo>
                <a:cubicBezTo>
                  <a:pt x="214" y="240"/>
                  <a:pt x="200" y="249"/>
                  <a:pt x="184" y="256"/>
                </a:cubicBezTo>
                <a:cubicBezTo>
                  <a:pt x="168" y="263"/>
                  <a:pt x="151" y="266"/>
                  <a:pt x="133" y="266"/>
                </a:cubicBezTo>
                <a:cubicBezTo>
                  <a:pt x="115" y="266"/>
                  <a:pt x="98" y="263"/>
                  <a:pt x="82" y="256"/>
                </a:cubicBezTo>
                <a:cubicBezTo>
                  <a:pt x="65" y="249"/>
                  <a:pt x="51" y="240"/>
                  <a:pt x="39" y="227"/>
                </a:cubicBezTo>
                <a:cubicBezTo>
                  <a:pt x="26" y="215"/>
                  <a:pt x="17" y="201"/>
                  <a:pt x="10" y="184"/>
                </a:cubicBezTo>
                <a:cubicBezTo>
                  <a:pt x="3" y="168"/>
                  <a:pt x="0" y="151"/>
                  <a:pt x="0" y="134"/>
                </a:cubicBezTo>
                <a:cubicBezTo>
                  <a:pt x="0" y="116"/>
                  <a:pt x="3" y="99"/>
                  <a:pt x="10" y="83"/>
                </a:cubicBezTo>
                <a:cubicBezTo>
                  <a:pt x="17" y="67"/>
                  <a:pt x="26" y="52"/>
                  <a:pt x="39" y="39"/>
                </a:cubicBezTo>
                <a:cubicBezTo>
                  <a:pt x="51" y="27"/>
                  <a:pt x="65" y="17"/>
                  <a:pt x="82" y="11"/>
                </a:cubicBezTo>
                <a:cubicBezTo>
                  <a:pt x="98" y="4"/>
                  <a:pt x="115" y="0"/>
                  <a:pt x="133" y="0"/>
                </a:cubicBezTo>
                <a:cubicBezTo>
                  <a:pt x="151" y="0"/>
                  <a:pt x="168" y="4"/>
                  <a:pt x="184" y="11"/>
                </a:cubicBezTo>
                <a:cubicBezTo>
                  <a:pt x="200" y="17"/>
                  <a:pt x="214" y="27"/>
                  <a:pt x="227" y="39"/>
                </a:cubicBezTo>
                <a:cubicBezTo>
                  <a:pt x="239" y="52"/>
                  <a:pt x="249" y="67"/>
                  <a:pt x="255" y="83"/>
                </a:cubicBezTo>
                <a:cubicBezTo>
                  <a:pt x="262" y="99"/>
                  <a:pt x="265" y="116"/>
                  <a:pt x="265" y="134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"/>
          <p:cNvSpPr txBox="1"/>
          <p:nvPr/>
        </p:nvSpPr>
        <p:spPr>
          <a:xfrm>
            <a:off x="5277240" y="2352600"/>
            <a:ext cx="2764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）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"/>
          <p:cNvSpPr txBox="1"/>
          <p:nvPr/>
        </p:nvSpPr>
        <p:spPr>
          <a:xfrm>
            <a:off x="1300320" y="2816640"/>
            <a:ext cx="75960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Server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"/>
          <p:cNvSpPr/>
          <p:nvPr/>
        </p:nvSpPr>
        <p:spPr>
          <a:xfrm>
            <a:off x="2333520" y="2847960"/>
            <a:ext cx="2905560" cy="371520"/>
          </a:xfrm>
          <a:custGeom>
            <a:avLst/>
            <a:gdLst/>
            <a:ahLst/>
            <a:rect l="0" t="0" r="r" b="b"/>
            <a:pathLst>
              <a:path w="8071" h="1032">
                <a:moveTo>
                  <a:pt x="0" y="874"/>
                </a:moveTo>
                <a:lnTo>
                  <a:pt x="0" y="158"/>
                </a:lnTo>
                <a:cubicBezTo>
                  <a:pt x="0" y="148"/>
                  <a:pt x="1" y="138"/>
                  <a:pt x="3" y="127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2" y="61"/>
                  <a:pt x="39" y="53"/>
                  <a:pt x="46" y="46"/>
                </a:cubicBezTo>
                <a:cubicBezTo>
                  <a:pt x="54" y="39"/>
                  <a:pt x="62" y="32"/>
                  <a:pt x="70" y="26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7912" y="0"/>
                </a:lnTo>
                <a:cubicBezTo>
                  <a:pt x="7922" y="0"/>
                  <a:pt x="7933" y="1"/>
                  <a:pt x="7943" y="3"/>
                </a:cubicBezTo>
                <a:cubicBezTo>
                  <a:pt x="7953" y="5"/>
                  <a:pt x="7963" y="8"/>
                  <a:pt x="7973" y="12"/>
                </a:cubicBezTo>
                <a:cubicBezTo>
                  <a:pt x="7982" y="16"/>
                  <a:pt x="7991" y="21"/>
                  <a:pt x="8000" y="26"/>
                </a:cubicBezTo>
                <a:cubicBezTo>
                  <a:pt x="8009" y="32"/>
                  <a:pt x="8017" y="39"/>
                  <a:pt x="8024" y="46"/>
                </a:cubicBezTo>
                <a:cubicBezTo>
                  <a:pt x="8031" y="53"/>
                  <a:pt x="8038" y="61"/>
                  <a:pt x="8044" y="70"/>
                </a:cubicBezTo>
                <a:cubicBezTo>
                  <a:pt x="8050" y="79"/>
                  <a:pt x="8055" y="88"/>
                  <a:pt x="8058" y="98"/>
                </a:cubicBezTo>
                <a:cubicBezTo>
                  <a:pt x="8062" y="107"/>
                  <a:pt x="8065" y="117"/>
                  <a:pt x="8068" y="127"/>
                </a:cubicBezTo>
                <a:cubicBezTo>
                  <a:pt x="8070" y="138"/>
                  <a:pt x="8071" y="148"/>
                  <a:pt x="8071" y="158"/>
                </a:cubicBezTo>
                <a:lnTo>
                  <a:pt x="8071" y="874"/>
                </a:lnTo>
                <a:cubicBezTo>
                  <a:pt x="8071" y="884"/>
                  <a:pt x="8070" y="894"/>
                  <a:pt x="8068" y="905"/>
                </a:cubicBezTo>
                <a:cubicBezTo>
                  <a:pt x="8065" y="915"/>
                  <a:pt x="8062" y="925"/>
                  <a:pt x="8058" y="934"/>
                </a:cubicBezTo>
                <a:cubicBezTo>
                  <a:pt x="8055" y="944"/>
                  <a:pt x="8050" y="953"/>
                  <a:pt x="8044" y="962"/>
                </a:cubicBezTo>
                <a:cubicBezTo>
                  <a:pt x="8038" y="971"/>
                  <a:pt x="8031" y="979"/>
                  <a:pt x="8024" y="986"/>
                </a:cubicBezTo>
                <a:cubicBezTo>
                  <a:pt x="8017" y="993"/>
                  <a:pt x="8009" y="1000"/>
                  <a:pt x="8000" y="1006"/>
                </a:cubicBezTo>
                <a:cubicBezTo>
                  <a:pt x="7991" y="1011"/>
                  <a:pt x="7982" y="1016"/>
                  <a:pt x="7973" y="1020"/>
                </a:cubicBezTo>
                <a:cubicBezTo>
                  <a:pt x="7963" y="1024"/>
                  <a:pt x="7953" y="1027"/>
                  <a:pt x="7943" y="1029"/>
                </a:cubicBezTo>
                <a:cubicBezTo>
                  <a:pt x="7933" y="1031"/>
                  <a:pt x="7922" y="1032"/>
                  <a:pt x="7912" y="1032"/>
                </a:cubicBezTo>
                <a:lnTo>
                  <a:pt x="159" y="1032"/>
                </a:lnTo>
                <a:cubicBezTo>
                  <a:pt x="148" y="1032"/>
                  <a:pt x="138" y="1031"/>
                  <a:pt x="128" y="1029"/>
                </a:cubicBezTo>
                <a:cubicBezTo>
                  <a:pt x="117" y="1027"/>
                  <a:pt x="107" y="1024"/>
                  <a:pt x="98" y="1020"/>
                </a:cubicBezTo>
                <a:cubicBezTo>
                  <a:pt x="88" y="1016"/>
                  <a:pt x="79" y="1011"/>
                  <a:pt x="70" y="1006"/>
                </a:cubicBezTo>
                <a:cubicBezTo>
                  <a:pt x="62" y="1000"/>
                  <a:pt x="54" y="993"/>
                  <a:pt x="46" y="986"/>
                </a:cubicBezTo>
                <a:cubicBezTo>
                  <a:pt x="39" y="979"/>
                  <a:pt x="32" y="971"/>
                  <a:pt x="27" y="962"/>
                </a:cubicBezTo>
                <a:cubicBezTo>
                  <a:pt x="21" y="953"/>
                  <a:pt x="16" y="944"/>
                  <a:pt x="12" y="934"/>
                </a:cubicBezTo>
                <a:cubicBezTo>
                  <a:pt x="8" y="925"/>
                  <a:pt x="5" y="915"/>
                  <a:pt x="3" y="905"/>
                </a:cubicBezTo>
                <a:cubicBezTo>
                  <a:pt x="1" y="894"/>
                  <a:pt x="0" y="884"/>
                  <a:pt x="0" y="874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"/>
          <p:cNvSpPr txBox="1"/>
          <p:nvPr/>
        </p:nvSpPr>
        <p:spPr>
          <a:xfrm>
            <a:off x="2060280" y="2838600"/>
            <a:ext cx="2764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（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"/>
          <p:cNvSpPr txBox="1"/>
          <p:nvPr/>
        </p:nvSpPr>
        <p:spPr>
          <a:xfrm>
            <a:off x="2430360" y="2939400"/>
            <a:ext cx="27104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http://localhost:5000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"/>
          <p:cNvSpPr txBox="1"/>
          <p:nvPr/>
        </p:nvSpPr>
        <p:spPr>
          <a:xfrm>
            <a:off x="5235120" y="2838600"/>
            <a:ext cx="2764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）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"/>
          <p:cNvSpPr txBox="1"/>
          <p:nvPr/>
        </p:nvSpPr>
        <p:spPr>
          <a:xfrm>
            <a:off x="5511240" y="2816640"/>
            <a:ext cx="27576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+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"/>
          <p:cNvSpPr txBox="1"/>
          <p:nvPr/>
        </p:nvSpPr>
        <p:spPr>
          <a:xfrm>
            <a:off x="5776200" y="2838600"/>
            <a:ext cx="5522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统⼀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"/>
          <p:cNvSpPr/>
          <p:nvPr/>
        </p:nvSpPr>
        <p:spPr>
          <a:xfrm>
            <a:off x="6400440" y="2847960"/>
            <a:ext cx="962640" cy="371520"/>
          </a:xfrm>
          <a:custGeom>
            <a:avLst/>
            <a:gdLst/>
            <a:ahLst/>
            <a:rect l="0" t="0" r="r" b="b"/>
            <a:pathLst>
              <a:path w="2674" h="1032">
                <a:moveTo>
                  <a:pt x="0" y="874"/>
                </a:moveTo>
                <a:lnTo>
                  <a:pt x="0" y="158"/>
                </a:lnTo>
                <a:cubicBezTo>
                  <a:pt x="0" y="148"/>
                  <a:pt x="2" y="138"/>
                  <a:pt x="4" y="127"/>
                </a:cubicBezTo>
                <a:cubicBezTo>
                  <a:pt x="6" y="117"/>
                  <a:pt x="9" y="107"/>
                  <a:pt x="13" y="98"/>
                </a:cubicBezTo>
                <a:cubicBezTo>
                  <a:pt x="17" y="88"/>
                  <a:pt x="21" y="79"/>
                  <a:pt x="27" y="70"/>
                </a:cubicBezTo>
                <a:cubicBezTo>
                  <a:pt x="33" y="61"/>
                  <a:pt x="40" y="53"/>
                  <a:pt x="47" y="46"/>
                </a:cubicBezTo>
                <a:cubicBezTo>
                  <a:pt x="54" y="39"/>
                  <a:pt x="62" y="32"/>
                  <a:pt x="71" y="26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9" y="1"/>
                  <a:pt x="149" y="0"/>
                  <a:pt x="159" y="0"/>
                </a:cubicBezTo>
                <a:lnTo>
                  <a:pt x="2515" y="0"/>
                </a:lnTo>
                <a:cubicBezTo>
                  <a:pt x="2525" y="0"/>
                  <a:pt x="2536" y="1"/>
                  <a:pt x="2546" y="3"/>
                </a:cubicBezTo>
                <a:cubicBezTo>
                  <a:pt x="2556" y="5"/>
                  <a:pt x="2566" y="8"/>
                  <a:pt x="2576" y="12"/>
                </a:cubicBezTo>
                <a:cubicBezTo>
                  <a:pt x="2585" y="16"/>
                  <a:pt x="2595" y="21"/>
                  <a:pt x="2603" y="26"/>
                </a:cubicBezTo>
                <a:cubicBezTo>
                  <a:pt x="2612" y="32"/>
                  <a:pt x="2620" y="39"/>
                  <a:pt x="2627" y="46"/>
                </a:cubicBezTo>
                <a:cubicBezTo>
                  <a:pt x="2635" y="53"/>
                  <a:pt x="2641" y="61"/>
                  <a:pt x="2647" y="70"/>
                </a:cubicBezTo>
                <a:cubicBezTo>
                  <a:pt x="2653" y="79"/>
                  <a:pt x="2658" y="88"/>
                  <a:pt x="2662" y="98"/>
                </a:cubicBezTo>
                <a:cubicBezTo>
                  <a:pt x="2666" y="107"/>
                  <a:pt x="2669" y="117"/>
                  <a:pt x="2671" y="127"/>
                </a:cubicBezTo>
                <a:cubicBezTo>
                  <a:pt x="2673" y="138"/>
                  <a:pt x="2674" y="148"/>
                  <a:pt x="2674" y="158"/>
                </a:cubicBezTo>
                <a:lnTo>
                  <a:pt x="2674" y="874"/>
                </a:lnTo>
                <a:cubicBezTo>
                  <a:pt x="2674" y="884"/>
                  <a:pt x="2673" y="894"/>
                  <a:pt x="2671" y="905"/>
                </a:cubicBezTo>
                <a:cubicBezTo>
                  <a:pt x="2669" y="915"/>
                  <a:pt x="2666" y="925"/>
                  <a:pt x="2662" y="934"/>
                </a:cubicBezTo>
                <a:cubicBezTo>
                  <a:pt x="2658" y="944"/>
                  <a:pt x="2653" y="953"/>
                  <a:pt x="2647" y="962"/>
                </a:cubicBezTo>
                <a:cubicBezTo>
                  <a:pt x="2641" y="971"/>
                  <a:pt x="2635" y="979"/>
                  <a:pt x="2627" y="986"/>
                </a:cubicBezTo>
                <a:cubicBezTo>
                  <a:pt x="2620" y="993"/>
                  <a:pt x="2612" y="1000"/>
                  <a:pt x="2603" y="1006"/>
                </a:cubicBezTo>
                <a:cubicBezTo>
                  <a:pt x="2595" y="1011"/>
                  <a:pt x="2585" y="1016"/>
                  <a:pt x="2576" y="1020"/>
                </a:cubicBezTo>
                <a:cubicBezTo>
                  <a:pt x="2566" y="1024"/>
                  <a:pt x="2556" y="1027"/>
                  <a:pt x="2546" y="1029"/>
                </a:cubicBezTo>
                <a:cubicBezTo>
                  <a:pt x="2536" y="1031"/>
                  <a:pt x="2525" y="1032"/>
                  <a:pt x="2515" y="1032"/>
                </a:cubicBezTo>
                <a:lnTo>
                  <a:pt x="159" y="1032"/>
                </a:lnTo>
                <a:cubicBezTo>
                  <a:pt x="149" y="1032"/>
                  <a:pt x="139" y="1031"/>
                  <a:pt x="128" y="1029"/>
                </a:cubicBezTo>
                <a:cubicBezTo>
                  <a:pt x="118" y="1027"/>
                  <a:pt x="108" y="1024"/>
                  <a:pt x="98" y="1020"/>
                </a:cubicBezTo>
                <a:cubicBezTo>
                  <a:pt x="89" y="1016"/>
                  <a:pt x="80" y="1011"/>
                  <a:pt x="71" y="1006"/>
                </a:cubicBezTo>
                <a:cubicBezTo>
                  <a:pt x="62" y="1000"/>
                  <a:pt x="54" y="993"/>
                  <a:pt x="47" y="986"/>
                </a:cubicBezTo>
                <a:cubicBezTo>
                  <a:pt x="40" y="979"/>
                  <a:pt x="33" y="971"/>
                  <a:pt x="27" y="962"/>
                </a:cubicBezTo>
                <a:cubicBezTo>
                  <a:pt x="21" y="953"/>
                  <a:pt x="17" y="944"/>
                  <a:pt x="13" y="934"/>
                </a:cubicBezTo>
                <a:cubicBezTo>
                  <a:pt x="9" y="925"/>
                  <a:pt x="6" y="915"/>
                  <a:pt x="4" y="905"/>
                </a:cubicBezTo>
                <a:cubicBezTo>
                  <a:pt x="2" y="894"/>
                  <a:pt x="0" y="884"/>
                  <a:pt x="0" y="874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"/>
          <p:cNvSpPr txBox="1"/>
          <p:nvPr/>
        </p:nvSpPr>
        <p:spPr>
          <a:xfrm>
            <a:off x="6328440" y="2816640"/>
            <a:ext cx="27576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"/>
          <p:cNvSpPr/>
          <p:nvPr/>
        </p:nvSpPr>
        <p:spPr>
          <a:xfrm>
            <a:off x="1047600" y="3457440"/>
            <a:ext cx="95400" cy="95400"/>
          </a:xfrm>
          <a:custGeom>
            <a:avLst/>
            <a:gdLst/>
            <a:ahLst/>
            <a:rect l="0" t="0" r="r" b="b"/>
            <a:pathLst>
              <a:path w="265" h="265">
                <a:moveTo>
                  <a:pt x="265" y="133"/>
                </a:moveTo>
                <a:cubicBezTo>
                  <a:pt x="265" y="151"/>
                  <a:pt x="262" y="168"/>
                  <a:pt x="255" y="184"/>
                </a:cubicBezTo>
                <a:cubicBezTo>
                  <a:pt x="249" y="200"/>
                  <a:pt x="239" y="214"/>
                  <a:pt x="227" y="227"/>
                </a:cubicBezTo>
                <a:cubicBezTo>
                  <a:pt x="214" y="239"/>
                  <a:pt x="200" y="249"/>
                  <a:pt x="184" y="255"/>
                </a:cubicBezTo>
                <a:cubicBezTo>
                  <a:pt x="168" y="262"/>
                  <a:pt x="151" y="265"/>
                  <a:pt x="133" y="265"/>
                </a:cubicBezTo>
                <a:cubicBezTo>
                  <a:pt x="115" y="265"/>
                  <a:pt x="98" y="262"/>
                  <a:pt x="82" y="255"/>
                </a:cubicBezTo>
                <a:cubicBezTo>
                  <a:pt x="65" y="249"/>
                  <a:pt x="51" y="239"/>
                  <a:pt x="39" y="227"/>
                </a:cubicBezTo>
                <a:cubicBezTo>
                  <a:pt x="26" y="214"/>
                  <a:pt x="17" y="200"/>
                  <a:pt x="10" y="184"/>
                </a:cubicBezTo>
                <a:cubicBezTo>
                  <a:pt x="3" y="168"/>
                  <a:pt x="0" y="151"/>
                  <a:pt x="0" y="133"/>
                </a:cubicBezTo>
                <a:cubicBezTo>
                  <a:pt x="0" y="116"/>
                  <a:pt x="3" y="99"/>
                  <a:pt x="10" y="83"/>
                </a:cubicBezTo>
                <a:cubicBezTo>
                  <a:pt x="17" y="66"/>
                  <a:pt x="26" y="52"/>
                  <a:pt x="39" y="40"/>
                </a:cubicBezTo>
                <a:cubicBezTo>
                  <a:pt x="51" y="26"/>
                  <a:pt x="65" y="17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1" y="0"/>
                  <a:pt x="168" y="3"/>
                  <a:pt x="184" y="10"/>
                </a:cubicBezTo>
                <a:cubicBezTo>
                  <a:pt x="200" y="17"/>
                  <a:pt x="214" y="26"/>
                  <a:pt x="227" y="40"/>
                </a:cubicBezTo>
                <a:cubicBezTo>
                  <a:pt x="239" y="52"/>
                  <a:pt x="249" y="66"/>
                  <a:pt x="255" y="83"/>
                </a:cubicBezTo>
                <a:cubicBezTo>
                  <a:pt x="262" y="99"/>
                  <a:pt x="265" y="116"/>
                  <a:pt x="265" y="133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"/>
          <p:cNvSpPr txBox="1"/>
          <p:nvPr/>
        </p:nvSpPr>
        <p:spPr>
          <a:xfrm>
            <a:off x="6498000" y="2939400"/>
            <a:ext cx="77508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/api/*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"/>
          <p:cNvSpPr txBox="1"/>
          <p:nvPr/>
        </p:nvSpPr>
        <p:spPr>
          <a:xfrm>
            <a:off x="1300320" y="3302280"/>
            <a:ext cx="124164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MongoDB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"/>
          <p:cNvSpPr/>
          <p:nvPr/>
        </p:nvSpPr>
        <p:spPr>
          <a:xfrm>
            <a:off x="2819160" y="3333600"/>
            <a:ext cx="5353560" cy="371880"/>
          </a:xfrm>
          <a:custGeom>
            <a:avLst/>
            <a:gdLst/>
            <a:ahLst/>
            <a:rect l="0" t="0" r="r" b="b"/>
            <a:pathLst>
              <a:path w="14871" h="1033">
                <a:moveTo>
                  <a:pt x="0" y="874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7"/>
                  <a:pt x="8" y="108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3" y="62"/>
                  <a:pt x="39" y="54"/>
                  <a:pt x="47" y="46"/>
                </a:cubicBezTo>
                <a:cubicBezTo>
                  <a:pt x="54" y="39"/>
                  <a:pt x="62" y="32"/>
                  <a:pt x="71" y="27"/>
                </a:cubicBezTo>
                <a:cubicBezTo>
                  <a:pt x="79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14712" y="0"/>
                </a:lnTo>
                <a:cubicBezTo>
                  <a:pt x="14722" y="0"/>
                  <a:pt x="14733" y="1"/>
                  <a:pt x="14743" y="3"/>
                </a:cubicBezTo>
                <a:cubicBezTo>
                  <a:pt x="14753" y="5"/>
                  <a:pt x="14763" y="8"/>
                  <a:pt x="14773" y="12"/>
                </a:cubicBezTo>
                <a:cubicBezTo>
                  <a:pt x="14782" y="16"/>
                  <a:pt x="14792" y="21"/>
                  <a:pt x="14800" y="27"/>
                </a:cubicBezTo>
                <a:cubicBezTo>
                  <a:pt x="14809" y="32"/>
                  <a:pt x="14817" y="39"/>
                  <a:pt x="14824" y="46"/>
                </a:cubicBezTo>
                <a:cubicBezTo>
                  <a:pt x="14832" y="54"/>
                  <a:pt x="14838" y="62"/>
                  <a:pt x="14844" y="70"/>
                </a:cubicBezTo>
                <a:cubicBezTo>
                  <a:pt x="14850" y="79"/>
                  <a:pt x="14855" y="88"/>
                  <a:pt x="14859" y="98"/>
                </a:cubicBezTo>
                <a:cubicBezTo>
                  <a:pt x="14863" y="108"/>
                  <a:pt x="14866" y="117"/>
                  <a:pt x="14868" y="128"/>
                </a:cubicBezTo>
                <a:cubicBezTo>
                  <a:pt x="14870" y="138"/>
                  <a:pt x="14871" y="148"/>
                  <a:pt x="14871" y="159"/>
                </a:cubicBezTo>
                <a:lnTo>
                  <a:pt x="14871" y="874"/>
                </a:lnTo>
                <a:cubicBezTo>
                  <a:pt x="14871" y="884"/>
                  <a:pt x="14870" y="895"/>
                  <a:pt x="14868" y="905"/>
                </a:cubicBezTo>
                <a:cubicBezTo>
                  <a:pt x="14866" y="915"/>
                  <a:pt x="14863" y="925"/>
                  <a:pt x="14859" y="935"/>
                </a:cubicBezTo>
                <a:cubicBezTo>
                  <a:pt x="14855" y="944"/>
                  <a:pt x="14850" y="954"/>
                  <a:pt x="14844" y="962"/>
                </a:cubicBezTo>
                <a:cubicBezTo>
                  <a:pt x="14838" y="971"/>
                  <a:pt x="14832" y="979"/>
                  <a:pt x="14824" y="986"/>
                </a:cubicBezTo>
                <a:cubicBezTo>
                  <a:pt x="14817" y="994"/>
                  <a:pt x="14809" y="1000"/>
                  <a:pt x="14800" y="1006"/>
                </a:cubicBezTo>
                <a:cubicBezTo>
                  <a:pt x="14792" y="1012"/>
                  <a:pt x="14782" y="1017"/>
                  <a:pt x="14773" y="1021"/>
                </a:cubicBezTo>
                <a:cubicBezTo>
                  <a:pt x="14763" y="1025"/>
                  <a:pt x="14753" y="1028"/>
                  <a:pt x="14743" y="1030"/>
                </a:cubicBezTo>
                <a:cubicBezTo>
                  <a:pt x="14733" y="1032"/>
                  <a:pt x="14722" y="1033"/>
                  <a:pt x="14712" y="1033"/>
                </a:cubicBezTo>
                <a:lnTo>
                  <a:pt x="159" y="1033"/>
                </a:lnTo>
                <a:cubicBezTo>
                  <a:pt x="148" y="1033"/>
                  <a:pt x="138" y="1032"/>
                  <a:pt x="128" y="1030"/>
                </a:cubicBezTo>
                <a:cubicBezTo>
                  <a:pt x="118" y="1028"/>
                  <a:pt x="108" y="1025"/>
                  <a:pt x="98" y="1021"/>
                </a:cubicBezTo>
                <a:cubicBezTo>
                  <a:pt x="89" y="1017"/>
                  <a:pt x="79" y="1012"/>
                  <a:pt x="71" y="1006"/>
                </a:cubicBezTo>
                <a:cubicBezTo>
                  <a:pt x="62" y="1000"/>
                  <a:pt x="54" y="994"/>
                  <a:pt x="47" y="986"/>
                </a:cubicBezTo>
                <a:cubicBezTo>
                  <a:pt x="39" y="979"/>
                  <a:pt x="33" y="971"/>
                  <a:pt x="27" y="962"/>
                </a:cubicBezTo>
                <a:cubicBezTo>
                  <a:pt x="21" y="954"/>
                  <a:pt x="16" y="944"/>
                  <a:pt x="12" y="935"/>
                </a:cubicBezTo>
                <a:cubicBezTo>
                  <a:pt x="8" y="925"/>
                  <a:pt x="5" y="915"/>
                  <a:pt x="3" y="905"/>
                </a:cubicBezTo>
                <a:cubicBezTo>
                  <a:pt x="1" y="895"/>
                  <a:pt x="0" y="884"/>
                  <a:pt x="0" y="874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"/>
          <p:cNvSpPr txBox="1"/>
          <p:nvPr/>
        </p:nvSpPr>
        <p:spPr>
          <a:xfrm>
            <a:off x="2543040" y="3324240"/>
            <a:ext cx="2764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（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"/>
          <p:cNvSpPr txBox="1"/>
          <p:nvPr/>
        </p:nvSpPr>
        <p:spPr>
          <a:xfrm>
            <a:off x="2913120" y="3425400"/>
            <a:ext cx="51620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mongodb://admin:admin123@localhost:27017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"/>
          <p:cNvSpPr txBox="1"/>
          <p:nvPr/>
        </p:nvSpPr>
        <p:spPr>
          <a:xfrm>
            <a:off x="8170560" y="3324240"/>
            <a:ext cx="2764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）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"/>
          <p:cNvSpPr txBox="1"/>
          <p:nvPr/>
        </p:nvSpPr>
        <p:spPr>
          <a:xfrm>
            <a:off x="747720" y="3895560"/>
            <a:ext cx="13798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调⽤链详解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"/>
          <p:cNvSpPr txBox="1"/>
          <p:nvPr/>
        </p:nvSpPr>
        <p:spPr>
          <a:xfrm>
            <a:off x="914400" y="4626000"/>
            <a:ext cx="322668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Client → middleware(auth/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"/>
          <p:cNvSpPr txBox="1"/>
          <p:nvPr/>
        </p:nvSpPr>
        <p:spPr>
          <a:xfrm>
            <a:off x="4141800" y="4599000"/>
            <a:ext cx="47016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850" b="0" u="none" strike="noStrike">
                <a:solidFill>
                  <a:srgbClr val="1F2328"/>
                </a:solidFill>
                <a:effectLst/>
                <a:uFillTx/>
                <a:latin typeface="NSimSun"/>
                <a:ea typeface="NSimSun"/>
              </a:rPr>
              <a:t>限流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"/>
          <p:cNvSpPr txBox="1"/>
          <p:nvPr/>
        </p:nvSpPr>
        <p:spPr>
          <a:xfrm>
            <a:off x="4611240" y="4626000"/>
            <a:ext cx="529128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) → router → controller → model → MongoDB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"/>
          <p:cNvSpPr txBox="1"/>
          <p:nvPr/>
        </p:nvSpPr>
        <p:spPr>
          <a:xfrm>
            <a:off x="914400" y="4892760"/>
            <a:ext cx="245232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        ├─ auth.js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"/>
          <p:cNvSpPr txBox="1"/>
          <p:nvPr/>
        </p:nvSpPr>
        <p:spPr>
          <a:xfrm>
            <a:off x="3367080" y="4865760"/>
            <a:ext cx="70488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850" b="0" u="none" strike="noStrike">
                <a:solidFill>
                  <a:srgbClr val="1F2328"/>
                </a:solidFill>
                <a:effectLst/>
                <a:uFillTx/>
                <a:latin typeface="NSimSun"/>
                <a:ea typeface="NSimSun"/>
              </a:rPr>
              <a:t>：验证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"/>
          <p:cNvSpPr txBox="1"/>
          <p:nvPr/>
        </p:nvSpPr>
        <p:spPr>
          <a:xfrm>
            <a:off x="4071600" y="4892760"/>
            <a:ext cx="167832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Bearer Token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"/>
          <p:cNvSpPr txBox="1"/>
          <p:nvPr/>
        </p:nvSpPr>
        <p:spPr>
          <a:xfrm>
            <a:off x="914400" y="5169240"/>
            <a:ext cx="335556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        ├─ rateLimiter.js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"/>
          <p:cNvSpPr txBox="1"/>
          <p:nvPr/>
        </p:nvSpPr>
        <p:spPr>
          <a:xfrm>
            <a:off x="4270680" y="5141880"/>
            <a:ext cx="93960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850" b="0" u="none" strike="noStrike">
                <a:solidFill>
                  <a:srgbClr val="1F2328"/>
                </a:solidFill>
                <a:effectLst/>
                <a:uFillTx/>
                <a:latin typeface="NSimSun"/>
                <a:ea typeface="NSimSun"/>
              </a:rPr>
              <a:t>：按流量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"/>
          <p:cNvSpPr txBox="1"/>
          <p:nvPr/>
        </p:nvSpPr>
        <p:spPr>
          <a:xfrm>
            <a:off x="5209920" y="5169240"/>
            <a:ext cx="23436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/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"/>
          <p:cNvSpPr txBox="1"/>
          <p:nvPr/>
        </p:nvSpPr>
        <p:spPr>
          <a:xfrm>
            <a:off x="5338800" y="5141880"/>
            <a:ext cx="93960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850" b="0" u="none" strike="noStrike">
                <a:solidFill>
                  <a:srgbClr val="1F2328"/>
                </a:solidFill>
                <a:effectLst/>
                <a:uFillTx/>
                <a:latin typeface="NSimSun"/>
                <a:ea typeface="NSimSun"/>
              </a:rPr>
              <a:t>用户限流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"/>
          <p:cNvSpPr txBox="1"/>
          <p:nvPr/>
        </p:nvSpPr>
        <p:spPr>
          <a:xfrm>
            <a:off x="914400" y="5435640"/>
            <a:ext cx="30974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        └─ errorHandler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" name=""/>
          <p:cNvSpPr txBox="1"/>
          <p:nvPr/>
        </p:nvSpPr>
        <p:spPr>
          <a:xfrm>
            <a:off x="4012560" y="5408640"/>
            <a:ext cx="164376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850" b="0" u="none" strike="noStrike">
                <a:solidFill>
                  <a:srgbClr val="1F2328"/>
                </a:solidFill>
                <a:effectLst/>
                <a:uFillTx/>
                <a:latin typeface="NSimSun"/>
                <a:ea typeface="NSimSun"/>
              </a:rPr>
              <a:t>：统一异常捕获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" name=""/>
          <p:cNvSpPr txBox="1"/>
          <p:nvPr/>
        </p:nvSpPr>
        <p:spPr>
          <a:xfrm>
            <a:off x="11783160" y="6335280"/>
            <a:ext cx="22824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SegoeUI"/>
                <a:ea typeface="SegoeUI"/>
              </a:rPr>
              <a:t>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"/>
          <p:cNvSpPr txBox="1"/>
          <p:nvPr/>
        </p:nvSpPr>
        <p:spPr>
          <a:xfrm>
            <a:off x="747720" y="1466280"/>
            <a:ext cx="870480" cy="58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480" b="1" u="none" strike="noStrike">
                <a:solidFill>
                  <a:srgbClr val="224466"/>
                </a:solidFill>
                <a:effectLst/>
                <a:uFillTx/>
                <a:latin typeface="SegoeUI"/>
                <a:ea typeface="SegoeUI"/>
              </a:rPr>
              <a:t>2.5. </a:t>
            </a:r>
            <a:endParaRPr lang="en-US" sz="34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"/>
          <p:cNvSpPr txBox="1"/>
          <p:nvPr/>
        </p:nvSpPr>
        <p:spPr>
          <a:xfrm>
            <a:off x="1573200" y="1501200"/>
            <a:ext cx="2210400" cy="53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3480" b="0" u="none" strike="noStrike">
                <a:solidFill>
                  <a:srgbClr val="224466"/>
                </a:solidFill>
                <a:effectLst/>
                <a:uFillTx/>
                <a:latin typeface="NotoSansSC"/>
                <a:ea typeface="NotoSansSC"/>
              </a:rPr>
              <a:t>系统架构图</a:t>
            </a:r>
            <a:endParaRPr lang="en-US" sz="34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"/>
          <p:cNvSpPr txBox="1"/>
          <p:nvPr/>
        </p:nvSpPr>
        <p:spPr>
          <a:xfrm>
            <a:off x="747720" y="2362320"/>
            <a:ext cx="16556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系统分层架构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"/>
          <p:cNvSpPr/>
          <p:nvPr/>
        </p:nvSpPr>
        <p:spPr>
          <a:xfrm>
            <a:off x="2714040" y="2453760"/>
            <a:ext cx="7920" cy="92520"/>
          </a:xfrm>
          <a:custGeom>
            <a:avLst/>
            <a:gdLst/>
            <a:ahLst/>
            <a:rect l="0" t="0" r="r" b="b"/>
            <a:pathLst>
              <a:path w="22" h="257">
                <a:moveTo>
                  <a:pt x="22" y="6"/>
                </a:moveTo>
                <a:cubicBezTo>
                  <a:pt x="22" y="3"/>
                  <a:pt x="20" y="0"/>
                  <a:pt x="17" y="0"/>
                </a:cubicBezTo>
                <a:lnTo>
                  <a:pt x="5" y="0"/>
                </a:lnTo>
                <a:cubicBezTo>
                  <a:pt x="2" y="0"/>
                  <a:pt x="0" y="3"/>
                  <a:pt x="0" y="6"/>
                </a:cubicBezTo>
                <a:lnTo>
                  <a:pt x="0" y="252"/>
                </a:lnTo>
                <a:cubicBezTo>
                  <a:pt x="0" y="255"/>
                  <a:pt x="2" y="257"/>
                  <a:pt x="5" y="257"/>
                </a:cubicBezTo>
                <a:lnTo>
                  <a:pt x="17" y="257"/>
                </a:lnTo>
                <a:cubicBezTo>
                  <a:pt x="20" y="257"/>
                  <a:pt x="22" y="255"/>
                  <a:pt x="22" y="252"/>
                </a:cubicBezTo>
                <a:lnTo>
                  <a:pt x="22" y="6"/>
                </a:lnTo>
                <a:close/>
              </a:path>
            </a:pathLst>
          </a:custGeom>
          <a:solidFill>
            <a:srgbClr val="66757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"/>
          <p:cNvSpPr/>
          <p:nvPr/>
        </p:nvSpPr>
        <p:spPr>
          <a:xfrm>
            <a:off x="2706480" y="2530800"/>
            <a:ext cx="23040" cy="23040"/>
          </a:xfrm>
          <a:custGeom>
            <a:avLst/>
            <a:gdLst/>
            <a:ahLst/>
            <a:rect l="0" t="0" r="r" b="b"/>
            <a:pathLst>
              <a:path w="64" h="64">
                <a:moveTo>
                  <a:pt x="64" y="31"/>
                </a:moveTo>
                <a:cubicBezTo>
                  <a:pt x="64" y="40"/>
                  <a:pt x="61" y="48"/>
                  <a:pt x="55" y="54"/>
                </a:cubicBezTo>
                <a:cubicBezTo>
                  <a:pt x="49" y="61"/>
                  <a:pt x="41" y="64"/>
                  <a:pt x="32" y="64"/>
                </a:cubicBezTo>
                <a:cubicBezTo>
                  <a:pt x="24" y="64"/>
                  <a:pt x="16" y="61"/>
                  <a:pt x="9" y="54"/>
                </a:cubicBezTo>
                <a:cubicBezTo>
                  <a:pt x="3" y="48"/>
                  <a:pt x="0" y="40"/>
                  <a:pt x="0" y="31"/>
                </a:cubicBezTo>
                <a:cubicBezTo>
                  <a:pt x="0" y="23"/>
                  <a:pt x="3" y="15"/>
                  <a:pt x="9" y="9"/>
                </a:cubicBezTo>
                <a:cubicBezTo>
                  <a:pt x="16" y="3"/>
                  <a:pt x="24" y="0"/>
                  <a:pt x="32" y="0"/>
                </a:cubicBezTo>
                <a:cubicBezTo>
                  <a:pt x="41" y="0"/>
                  <a:pt x="49" y="3"/>
                  <a:pt x="55" y="9"/>
                </a:cubicBezTo>
                <a:cubicBezTo>
                  <a:pt x="61" y="15"/>
                  <a:pt x="64" y="23"/>
                  <a:pt x="64" y="31"/>
                </a:cubicBezTo>
                <a:close/>
              </a:path>
            </a:pathLst>
          </a:custGeom>
          <a:solidFill>
            <a:srgbClr val="F1902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" name=""/>
          <p:cNvSpPr/>
          <p:nvPr/>
        </p:nvSpPr>
        <p:spPr>
          <a:xfrm>
            <a:off x="2710080" y="2553480"/>
            <a:ext cx="15840" cy="15840"/>
          </a:xfrm>
          <a:custGeom>
            <a:avLst/>
            <a:gdLst/>
            <a:ahLst/>
            <a:rect l="0" t="0" r="r" b="b"/>
            <a:pathLst>
              <a:path w="44" h="44">
                <a:moveTo>
                  <a:pt x="44" y="22"/>
                </a:moveTo>
                <a:cubicBezTo>
                  <a:pt x="44" y="29"/>
                  <a:pt x="42" y="34"/>
                  <a:pt x="38" y="38"/>
                </a:cubicBezTo>
                <a:cubicBezTo>
                  <a:pt x="33" y="42"/>
                  <a:pt x="28" y="44"/>
                  <a:pt x="22" y="44"/>
                </a:cubicBezTo>
                <a:cubicBezTo>
                  <a:pt x="17" y="44"/>
                  <a:pt x="11" y="42"/>
                  <a:pt x="6" y="38"/>
                </a:cubicBezTo>
                <a:cubicBezTo>
                  <a:pt x="2" y="34"/>
                  <a:pt x="0" y="29"/>
                  <a:pt x="0" y="22"/>
                </a:cubicBezTo>
                <a:cubicBezTo>
                  <a:pt x="0" y="16"/>
                  <a:pt x="2" y="11"/>
                  <a:pt x="6" y="7"/>
                </a:cubicBezTo>
                <a:cubicBezTo>
                  <a:pt x="11" y="3"/>
                  <a:pt x="17" y="0"/>
                  <a:pt x="22" y="0"/>
                </a:cubicBezTo>
                <a:cubicBezTo>
                  <a:pt x="28" y="0"/>
                  <a:pt x="33" y="3"/>
                  <a:pt x="38" y="7"/>
                </a:cubicBezTo>
                <a:cubicBezTo>
                  <a:pt x="42" y="11"/>
                  <a:pt x="44" y="16"/>
                  <a:pt x="44" y="22"/>
                </a:cubicBezTo>
                <a:close/>
              </a:path>
            </a:pathLst>
          </a:custGeom>
          <a:solidFill>
            <a:srgbClr val="F1902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"/>
          <p:cNvSpPr/>
          <p:nvPr/>
        </p:nvSpPr>
        <p:spPr>
          <a:xfrm>
            <a:off x="2506680" y="2392560"/>
            <a:ext cx="261360" cy="274680"/>
          </a:xfrm>
          <a:custGeom>
            <a:avLst/>
            <a:gdLst/>
            <a:ahLst/>
            <a:rect l="0" t="0" r="r" b="b"/>
            <a:pathLst>
              <a:path w="726" h="763">
                <a:moveTo>
                  <a:pt x="705" y="170"/>
                </a:moveTo>
                <a:lnTo>
                  <a:pt x="616" y="170"/>
                </a:lnTo>
                <a:lnTo>
                  <a:pt x="207" y="1"/>
                </a:lnTo>
                <a:cubicBezTo>
                  <a:pt x="207" y="1"/>
                  <a:pt x="206" y="1"/>
                  <a:pt x="206" y="0"/>
                </a:cubicBezTo>
                <a:cubicBezTo>
                  <a:pt x="205" y="0"/>
                  <a:pt x="204" y="0"/>
                  <a:pt x="203" y="0"/>
                </a:cubicBezTo>
                <a:cubicBezTo>
                  <a:pt x="201" y="0"/>
                  <a:pt x="200" y="0"/>
                  <a:pt x="199" y="1"/>
                </a:cubicBezTo>
                <a:cubicBezTo>
                  <a:pt x="198" y="1"/>
                  <a:pt x="197" y="2"/>
                  <a:pt x="196" y="2"/>
                </a:cubicBezTo>
                <a:cubicBezTo>
                  <a:pt x="196" y="3"/>
                  <a:pt x="196" y="3"/>
                  <a:pt x="195" y="3"/>
                </a:cubicBezTo>
                <a:cubicBezTo>
                  <a:pt x="194" y="4"/>
                  <a:pt x="194" y="5"/>
                  <a:pt x="193" y="6"/>
                </a:cubicBezTo>
                <a:cubicBezTo>
                  <a:pt x="193" y="7"/>
                  <a:pt x="193" y="7"/>
                  <a:pt x="193" y="7"/>
                </a:cubicBezTo>
                <a:lnTo>
                  <a:pt x="75" y="174"/>
                </a:lnTo>
                <a:cubicBezTo>
                  <a:pt x="69" y="178"/>
                  <a:pt x="64" y="184"/>
                  <a:pt x="64" y="192"/>
                </a:cubicBezTo>
                <a:lnTo>
                  <a:pt x="64" y="234"/>
                </a:lnTo>
                <a:cubicBezTo>
                  <a:pt x="64" y="246"/>
                  <a:pt x="74" y="256"/>
                  <a:pt x="86" y="256"/>
                </a:cubicBezTo>
                <a:lnTo>
                  <a:pt x="117" y="256"/>
                </a:lnTo>
                <a:lnTo>
                  <a:pt x="38" y="720"/>
                </a:lnTo>
                <a:lnTo>
                  <a:pt x="0" y="720"/>
                </a:lnTo>
                <a:lnTo>
                  <a:pt x="0" y="763"/>
                </a:lnTo>
                <a:lnTo>
                  <a:pt x="404" y="763"/>
                </a:lnTo>
                <a:lnTo>
                  <a:pt x="404" y="720"/>
                </a:lnTo>
                <a:lnTo>
                  <a:pt x="367" y="720"/>
                </a:lnTo>
                <a:lnTo>
                  <a:pt x="288" y="256"/>
                </a:lnTo>
                <a:lnTo>
                  <a:pt x="705" y="256"/>
                </a:lnTo>
                <a:cubicBezTo>
                  <a:pt x="717" y="256"/>
                  <a:pt x="726" y="246"/>
                  <a:pt x="726" y="234"/>
                </a:cubicBezTo>
                <a:lnTo>
                  <a:pt x="726" y="192"/>
                </a:lnTo>
                <a:cubicBezTo>
                  <a:pt x="726" y="180"/>
                  <a:pt x="717" y="170"/>
                  <a:pt x="705" y="170"/>
                </a:cubicBezTo>
                <a:moveTo>
                  <a:pt x="240" y="256"/>
                </a:moveTo>
                <a:lnTo>
                  <a:pt x="203" y="285"/>
                </a:lnTo>
                <a:lnTo>
                  <a:pt x="166" y="256"/>
                </a:lnTo>
                <a:lnTo>
                  <a:pt x="240" y="256"/>
                </a:lnTo>
                <a:moveTo>
                  <a:pt x="203" y="449"/>
                </a:moveTo>
                <a:lnTo>
                  <a:pt x="281" y="500"/>
                </a:lnTo>
                <a:lnTo>
                  <a:pt x="203" y="542"/>
                </a:lnTo>
                <a:lnTo>
                  <a:pt x="125" y="500"/>
                </a:lnTo>
                <a:lnTo>
                  <a:pt x="203" y="449"/>
                </a:lnTo>
                <a:moveTo>
                  <a:pt x="125" y="464"/>
                </a:moveTo>
                <a:lnTo>
                  <a:pt x="135" y="404"/>
                </a:lnTo>
                <a:lnTo>
                  <a:pt x="175" y="430"/>
                </a:lnTo>
                <a:lnTo>
                  <a:pt x="125" y="464"/>
                </a:lnTo>
                <a:moveTo>
                  <a:pt x="231" y="430"/>
                </a:moveTo>
                <a:lnTo>
                  <a:pt x="270" y="404"/>
                </a:lnTo>
                <a:lnTo>
                  <a:pt x="281" y="464"/>
                </a:lnTo>
                <a:lnTo>
                  <a:pt x="231" y="430"/>
                </a:lnTo>
                <a:moveTo>
                  <a:pt x="203" y="412"/>
                </a:moveTo>
                <a:lnTo>
                  <a:pt x="143" y="372"/>
                </a:lnTo>
                <a:lnTo>
                  <a:pt x="203" y="322"/>
                </a:lnTo>
                <a:lnTo>
                  <a:pt x="263" y="372"/>
                </a:lnTo>
                <a:lnTo>
                  <a:pt x="203" y="412"/>
                </a:lnTo>
                <a:moveTo>
                  <a:pt x="148" y="329"/>
                </a:moveTo>
                <a:lnTo>
                  <a:pt x="156" y="284"/>
                </a:lnTo>
                <a:lnTo>
                  <a:pt x="180" y="304"/>
                </a:lnTo>
                <a:lnTo>
                  <a:pt x="148" y="329"/>
                </a:lnTo>
                <a:moveTo>
                  <a:pt x="226" y="304"/>
                </a:moveTo>
                <a:lnTo>
                  <a:pt x="250" y="284"/>
                </a:lnTo>
                <a:lnTo>
                  <a:pt x="258" y="329"/>
                </a:lnTo>
                <a:lnTo>
                  <a:pt x="226" y="304"/>
                </a:lnTo>
                <a:moveTo>
                  <a:pt x="103" y="170"/>
                </a:moveTo>
                <a:lnTo>
                  <a:pt x="192" y="45"/>
                </a:lnTo>
                <a:lnTo>
                  <a:pt x="192" y="128"/>
                </a:lnTo>
                <a:lnTo>
                  <a:pt x="150" y="128"/>
                </a:lnTo>
                <a:cubicBezTo>
                  <a:pt x="138" y="128"/>
                  <a:pt x="128" y="137"/>
                  <a:pt x="128" y="149"/>
                </a:cubicBezTo>
                <a:lnTo>
                  <a:pt x="128" y="170"/>
                </a:lnTo>
                <a:lnTo>
                  <a:pt x="103" y="170"/>
                </a:lnTo>
                <a:moveTo>
                  <a:pt x="114" y="527"/>
                </a:moveTo>
                <a:lnTo>
                  <a:pt x="173" y="559"/>
                </a:lnTo>
                <a:lnTo>
                  <a:pt x="103" y="598"/>
                </a:lnTo>
                <a:lnTo>
                  <a:pt x="114" y="527"/>
                </a:lnTo>
                <a:moveTo>
                  <a:pt x="324" y="720"/>
                </a:moveTo>
                <a:lnTo>
                  <a:pt x="82" y="720"/>
                </a:lnTo>
                <a:lnTo>
                  <a:pt x="96" y="634"/>
                </a:lnTo>
                <a:lnTo>
                  <a:pt x="203" y="575"/>
                </a:lnTo>
                <a:lnTo>
                  <a:pt x="310" y="635"/>
                </a:lnTo>
                <a:lnTo>
                  <a:pt x="324" y="720"/>
                </a:lnTo>
                <a:moveTo>
                  <a:pt x="291" y="527"/>
                </a:moveTo>
                <a:lnTo>
                  <a:pt x="303" y="598"/>
                </a:lnTo>
                <a:lnTo>
                  <a:pt x="233" y="559"/>
                </a:lnTo>
                <a:lnTo>
                  <a:pt x="291" y="527"/>
                </a:lnTo>
                <a:moveTo>
                  <a:pt x="277" y="170"/>
                </a:moveTo>
                <a:lnTo>
                  <a:pt x="277" y="149"/>
                </a:lnTo>
                <a:cubicBezTo>
                  <a:pt x="277" y="137"/>
                  <a:pt x="268" y="128"/>
                  <a:pt x="256" y="128"/>
                </a:cubicBezTo>
                <a:lnTo>
                  <a:pt x="214" y="128"/>
                </a:lnTo>
                <a:lnTo>
                  <a:pt x="214" y="26"/>
                </a:lnTo>
                <a:lnTo>
                  <a:pt x="560" y="170"/>
                </a:lnTo>
                <a:lnTo>
                  <a:pt x="277" y="170"/>
                </a:lnTo>
                <a:moveTo>
                  <a:pt x="320" y="234"/>
                </a:moveTo>
                <a:lnTo>
                  <a:pt x="295" y="234"/>
                </a:lnTo>
                <a:lnTo>
                  <a:pt x="295" y="192"/>
                </a:lnTo>
                <a:lnTo>
                  <a:pt x="320" y="192"/>
                </a:lnTo>
                <a:lnTo>
                  <a:pt x="320" y="234"/>
                </a:lnTo>
                <a:moveTo>
                  <a:pt x="384" y="234"/>
                </a:moveTo>
                <a:lnTo>
                  <a:pt x="341" y="234"/>
                </a:lnTo>
                <a:lnTo>
                  <a:pt x="341" y="192"/>
                </a:lnTo>
                <a:lnTo>
                  <a:pt x="384" y="192"/>
                </a:lnTo>
                <a:lnTo>
                  <a:pt x="384" y="234"/>
                </a:lnTo>
                <a:moveTo>
                  <a:pt x="448" y="234"/>
                </a:moveTo>
                <a:lnTo>
                  <a:pt x="405" y="234"/>
                </a:lnTo>
                <a:lnTo>
                  <a:pt x="405" y="192"/>
                </a:lnTo>
                <a:lnTo>
                  <a:pt x="448" y="192"/>
                </a:lnTo>
                <a:lnTo>
                  <a:pt x="448" y="234"/>
                </a:lnTo>
                <a:moveTo>
                  <a:pt x="512" y="234"/>
                </a:moveTo>
                <a:lnTo>
                  <a:pt x="469" y="234"/>
                </a:lnTo>
                <a:lnTo>
                  <a:pt x="469" y="192"/>
                </a:lnTo>
                <a:lnTo>
                  <a:pt x="512" y="192"/>
                </a:lnTo>
                <a:lnTo>
                  <a:pt x="512" y="234"/>
                </a:lnTo>
                <a:moveTo>
                  <a:pt x="576" y="234"/>
                </a:moveTo>
                <a:lnTo>
                  <a:pt x="533" y="234"/>
                </a:lnTo>
                <a:lnTo>
                  <a:pt x="533" y="192"/>
                </a:lnTo>
                <a:lnTo>
                  <a:pt x="576" y="192"/>
                </a:lnTo>
                <a:lnTo>
                  <a:pt x="576" y="234"/>
                </a:lnTo>
                <a:moveTo>
                  <a:pt x="641" y="234"/>
                </a:moveTo>
                <a:lnTo>
                  <a:pt x="597" y="234"/>
                </a:lnTo>
                <a:lnTo>
                  <a:pt x="597" y="192"/>
                </a:lnTo>
                <a:lnTo>
                  <a:pt x="641" y="192"/>
                </a:lnTo>
                <a:lnTo>
                  <a:pt x="641" y="234"/>
                </a:lnTo>
                <a:moveTo>
                  <a:pt x="705" y="224"/>
                </a:moveTo>
                <a:cubicBezTo>
                  <a:pt x="705" y="230"/>
                  <a:pt x="700" y="234"/>
                  <a:pt x="694" y="234"/>
                </a:cubicBezTo>
                <a:lnTo>
                  <a:pt x="662" y="234"/>
                </a:lnTo>
                <a:lnTo>
                  <a:pt x="662" y="192"/>
                </a:lnTo>
                <a:lnTo>
                  <a:pt x="694" y="192"/>
                </a:lnTo>
                <a:cubicBezTo>
                  <a:pt x="700" y="192"/>
                  <a:pt x="705" y="196"/>
                  <a:pt x="705" y="202"/>
                </a:cubicBezTo>
                <a:lnTo>
                  <a:pt x="705" y="224"/>
                </a:lnTo>
                <a:close/>
              </a:path>
            </a:pathLst>
          </a:custGeom>
          <a:solidFill>
            <a:srgbClr val="BD203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"/>
          <p:cNvSpPr/>
          <p:nvPr/>
        </p:nvSpPr>
        <p:spPr>
          <a:xfrm>
            <a:off x="2575800" y="2446200"/>
            <a:ext cx="30960" cy="30960"/>
          </a:xfrm>
          <a:custGeom>
            <a:avLst/>
            <a:gdLst/>
            <a:ahLst/>
            <a:rect l="0" t="0" r="r" b="b"/>
            <a:pathLst>
              <a:path w="86" h="86">
                <a:moveTo>
                  <a:pt x="65" y="0"/>
                </a:moveTo>
                <a:lnTo>
                  <a:pt x="22" y="0"/>
                </a:lnTo>
                <a:cubicBezTo>
                  <a:pt x="10" y="0"/>
                  <a:pt x="0" y="10"/>
                  <a:pt x="0" y="21"/>
                </a:cubicBezTo>
                <a:lnTo>
                  <a:pt x="0" y="65"/>
                </a:lnTo>
                <a:cubicBezTo>
                  <a:pt x="0" y="77"/>
                  <a:pt x="10" y="86"/>
                  <a:pt x="22" y="86"/>
                </a:cubicBezTo>
                <a:lnTo>
                  <a:pt x="86" y="86"/>
                </a:lnTo>
                <a:lnTo>
                  <a:pt x="86" y="0"/>
                </a:lnTo>
                <a:lnTo>
                  <a:pt x="65" y="0"/>
                </a:lnTo>
                <a:close/>
              </a:path>
            </a:pathLst>
          </a:custGeom>
          <a:solidFill>
            <a:srgbClr val="4B545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"/>
          <p:cNvSpPr/>
          <p:nvPr/>
        </p:nvSpPr>
        <p:spPr>
          <a:xfrm>
            <a:off x="2591280" y="2446200"/>
            <a:ext cx="15480" cy="30960"/>
          </a:xfrm>
          <a:custGeom>
            <a:avLst/>
            <a:gdLst/>
            <a:ahLst/>
            <a:rect l="0" t="0" r="r" b="b"/>
            <a:pathLst>
              <a:path w="43" h="86">
                <a:moveTo>
                  <a:pt x="0" y="0"/>
                </a:moveTo>
                <a:lnTo>
                  <a:pt x="43" y="0"/>
                </a:lnTo>
                <a:lnTo>
                  <a:pt x="43" y="86"/>
                </a:lnTo>
                <a:lnTo>
                  <a:pt x="0" y="86"/>
                </a:lnTo>
                <a:lnTo>
                  <a:pt x="0" y="0"/>
                </a:lnTo>
                <a:close/>
              </a:path>
            </a:pathLst>
          </a:custGeom>
          <a:solidFill>
            <a:srgbClr val="CDD7D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" name=""/>
          <p:cNvSpPr/>
          <p:nvPr/>
        </p:nvSpPr>
        <p:spPr>
          <a:xfrm>
            <a:off x="2663280" y="2567160"/>
            <a:ext cx="109440" cy="34560"/>
          </a:xfrm>
          <a:custGeom>
            <a:avLst/>
            <a:gdLst/>
            <a:ahLst/>
            <a:rect l="0" t="0" r="r" b="b"/>
            <a:pathLst>
              <a:path w="304" h="96">
                <a:moveTo>
                  <a:pt x="304" y="21"/>
                </a:moveTo>
                <a:lnTo>
                  <a:pt x="304" y="0"/>
                </a:lnTo>
                <a:lnTo>
                  <a:pt x="0" y="0"/>
                </a:lnTo>
                <a:lnTo>
                  <a:pt x="0" y="21"/>
                </a:lnTo>
                <a:lnTo>
                  <a:pt x="19" y="21"/>
                </a:lnTo>
                <a:lnTo>
                  <a:pt x="19" y="75"/>
                </a:lnTo>
                <a:lnTo>
                  <a:pt x="0" y="75"/>
                </a:lnTo>
                <a:lnTo>
                  <a:pt x="0" y="96"/>
                </a:lnTo>
                <a:lnTo>
                  <a:pt x="304" y="96"/>
                </a:lnTo>
                <a:lnTo>
                  <a:pt x="304" y="75"/>
                </a:lnTo>
                <a:lnTo>
                  <a:pt x="286" y="75"/>
                </a:lnTo>
                <a:lnTo>
                  <a:pt x="286" y="21"/>
                </a:lnTo>
                <a:lnTo>
                  <a:pt x="304" y="21"/>
                </a:lnTo>
                <a:close/>
              </a:path>
            </a:pathLst>
          </a:custGeom>
          <a:solidFill>
            <a:srgbClr val="66757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122" name=""/>
          <p:cNvPicPr/>
          <p:nvPr/>
        </p:nvPicPr>
        <p:blipFill>
          <a:blip r:embed="rId1"/>
          <a:stretch/>
        </p:blipFill>
        <p:spPr>
          <a:xfrm>
            <a:off x="752400" y="2895480"/>
            <a:ext cx="9886680" cy="177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3" name=""/>
          <p:cNvSpPr txBox="1"/>
          <p:nvPr/>
        </p:nvSpPr>
        <p:spPr>
          <a:xfrm>
            <a:off x="2405160" y="2340360"/>
            <a:ext cx="27576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"/>
          <p:cNvSpPr txBox="1"/>
          <p:nvPr/>
        </p:nvSpPr>
        <p:spPr>
          <a:xfrm>
            <a:off x="11783160" y="6335280"/>
            <a:ext cx="22824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SegoeUI"/>
                <a:ea typeface="SegoeUI"/>
              </a:rPr>
              <a:t>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"/>
          <p:cNvSpPr txBox="1"/>
          <p:nvPr/>
        </p:nvSpPr>
        <p:spPr>
          <a:xfrm>
            <a:off x="747720" y="123120"/>
            <a:ext cx="870480" cy="58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480" b="1" u="none" strike="noStrike">
                <a:solidFill>
                  <a:srgbClr val="224466"/>
                </a:solidFill>
                <a:effectLst/>
                <a:uFillTx/>
                <a:latin typeface="SegoeUI"/>
                <a:ea typeface="SegoeUI"/>
              </a:rPr>
              <a:t>2.6. </a:t>
            </a:r>
            <a:endParaRPr lang="en-US" sz="34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29" name=""/>
          <p:cNvPicPr/>
          <p:nvPr/>
        </p:nvPicPr>
        <p:blipFill>
          <a:blip r:embed="rId1"/>
          <a:stretch/>
        </p:blipFill>
        <p:spPr>
          <a:xfrm>
            <a:off x="752400" y="981000"/>
            <a:ext cx="4733640" cy="5543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0" name=""/>
          <p:cNvSpPr txBox="1"/>
          <p:nvPr/>
        </p:nvSpPr>
        <p:spPr>
          <a:xfrm>
            <a:off x="1574280" y="158040"/>
            <a:ext cx="4420440" cy="53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3480" b="0" u="none" strike="noStrike">
                <a:solidFill>
                  <a:srgbClr val="224466"/>
                </a:solidFill>
                <a:effectLst/>
                <a:uFillTx/>
                <a:latin typeface="NotoSansSC"/>
                <a:ea typeface="NotoSansSC"/>
              </a:rPr>
              <a:t>⽤⼾下单的完整数据流</a:t>
            </a:r>
            <a:endParaRPr lang="en-US" sz="34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" name=""/>
          <p:cNvSpPr txBox="1"/>
          <p:nvPr/>
        </p:nvSpPr>
        <p:spPr>
          <a:xfrm>
            <a:off x="11783160" y="6335280"/>
            <a:ext cx="22824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SegoeUI"/>
                <a:ea typeface="SegoeUI"/>
              </a:rPr>
              <a:t>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"/>
          <p:cNvSpPr txBox="1"/>
          <p:nvPr/>
        </p:nvSpPr>
        <p:spPr>
          <a:xfrm>
            <a:off x="747720" y="666000"/>
            <a:ext cx="496800" cy="58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480" b="1" u="none" strike="noStrike">
                <a:solidFill>
                  <a:srgbClr val="224466"/>
                </a:solidFill>
                <a:effectLst/>
                <a:uFillTx/>
                <a:latin typeface="SegoeUI"/>
                <a:ea typeface="SegoeUI"/>
              </a:rPr>
              <a:t>3. </a:t>
            </a:r>
            <a:endParaRPr lang="en-US" sz="34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" name=""/>
          <p:cNvSpPr txBox="1"/>
          <p:nvPr/>
        </p:nvSpPr>
        <p:spPr>
          <a:xfrm>
            <a:off x="1221120" y="700920"/>
            <a:ext cx="2652480" cy="53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3480" b="0" u="none" strike="noStrike">
                <a:solidFill>
                  <a:srgbClr val="224466"/>
                </a:solidFill>
                <a:effectLst/>
                <a:uFillTx/>
                <a:latin typeface="NotoSansSC"/>
                <a:ea typeface="NotoSansSC"/>
              </a:rPr>
              <a:t>后端分层⽅法</a:t>
            </a:r>
            <a:endParaRPr lang="en-US" sz="34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" name=""/>
          <p:cNvSpPr/>
          <p:nvPr/>
        </p:nvSpPr>
        <p:spPr>
          <a:xfrm>
            <a:off x="1047600" y="2257200"/>
            <a:ext cx="95400" cy="95760"/>
          </a:xfrm>
          <a:custGeom>
            <a:avLst/>
            <a:gdLst/>
            <a:ahLst/>
            <a:rect l="0" t="0" r="r" b="b"/>
            <a:pathLst>
              <a:path w="265" h="266">
                <a:moveTo>
                  <a:pt x="265" y="132"/>
                </a:moveTo>
                <a:cubicBezTo>
                  <a:pt x="265" y="150"/>
                  <a:pt x="262" y="167"/>
                  <a:pt x="255" y="183"/>
                </a:cubicBezTo>
                <a:cubicBezTo>
                  <a:pt x="249" y="200"/>
                  <a:pt x="239" y="215"/>
                  <a:pt x="227" y="227"/>
                </a:cubicBezTo>
                <a:cubicBezTo>
                  <a:pt x="214" y="239"/>
                  <a:pt x="200" y="249"/>
                  <a:pt x="184" y="256"/>
                </a:cubicBezTo>
                <a:cubicBezTo>
                  <a:pt x="168" y="262"/>
                  <a:pt x="151" y="266"/>
                  <a:pt x="133" y="266"/>
                </a:cubicBezTo>
                <a:cubicBezTo>
                  <a:pt x="115" y="266"/>
                  <a:pt x="98" y="262"/>
                  <a:pt x="82" y="256"/>
                </a:cubicBezTo>
                <a:cubicBezTo>
                  <a:pt x="65" y="249"/>
                  <a:pt x="51" y="239"/>
                  <a:pt x="39" y="227"/>
                </a:cubicBezTo>
                <a:cubicBezTo>
                  <a:pt x="26" y="215"/>
                  <a:pt x="17" y="200"/>
                  <a:pt x="10" y="183"/>
                </a:cubicBezTo>
                <a:cubicBezTo>
                  <a:pt x="3" y="167"/>
                  <a:pt x="0" y="150"/>
                  <a:pt x="0" y="132"/>
                </a:cubicBezTo>
                <a:cubicBezTo>
                  <a:pt x="0" y="115"/>
                  <a:pt x="3" y="98"/>
                  <a:pt x="10" y="82"/>
                </a:cubicBezTo>
                <a:cubicBezTo>
                  <a:pt x="17" y="66"/>
                  <a:pt x="26" y="51"/>
                  <a:pt x="39" y="39"/>
                </a:cubicBezTo>
                <a:cubicBezTo>
                  <a:pt x="51" y="26"/>
                  <a:pt x="65" y="17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1" y="0"/>
                  <a:pt x="168" y="3"/>
                  <a:pt x="184" y="10"/>
                </a:cubicBezTo>
                <a:cubicBezTo>
                  <a:pt x="200" y="17"/>
                  <a:pt x="214" y="26"/>
                  <a:pt x="227" y="39"/>
                </a:cubicBezTo>
                <a:cubicBezTo>
                  <a:pt x="239" y="51"/>
                  <a:pt x="249" y="66"/>
                  <a:pt x="255" y="82"/>
                </a:cubicBezTo>
                <a:cubicBezTo>
                  <a:pt x="262" y="98"/>
                  <a:pt x="265" y="115"/>
                  <a:pt x="265" y="132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8" name=""/>
          <p:cNvSpPr txBox="1"/>
          <p:nvPr/>
        </p:nvSpPr>
        <p:spPr>
          <a:xfrm>
            <a:off x="747720" y="1562040"/>
            <a:ext cx="11041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分层职责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" name=""/>
          <p:cNvSpPr txBox="1"/>
          <p:nvPr/>
        </p:nvSpPr>
        <p:spPr>
          <a:xfrm>
            <a:off x="1300320" y="2102400"/>
            <a:ext cx="83808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Routes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" name=""/>
          <p:cNvSpPr txBox="1"/>
          <p:nvPr/>
        </p:nvSpPr>
        <p:spPr>
          <a:xfrm>
            <a:off x="2130840" y="2124000"/>
            <a:ext cx="16556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：定义资源与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" name=""/>
          <p:cNvSpPr txBox="1"/>
          <p:nvPr/>
        </p:nvSpPr>
        <p:spPr>
          <a:xfrm>
            <a:off x="3787920" y="2102400"/>
            <a:ext cx="79128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HTTP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" name=""/>
          <p:cNvSpPr/>
          <p:nvPr/>
        </p:nvSpPr>
        <p:spPr>
          <a:xfrm>
            <a:off x="1047600" y="2742840"/>
            <a:ext cx="95400" cy="95760"/>
          </a:xfrm>
          <a:custGeom>
            <a:avLst/>
            <a:gdLst/>
            <a:ahLst/>
            <a:rect l="0" t="0" r="r" b="b"/>
            <a:pathLst>
              <a:path w="265" h="266">
                <a:moveTo>
                  <a:pt x="265" y="133"/>
                </a:moveTo>
                <a:cubicBezTo>
                  <a:pt x="265" y="150"/>
                  <a:pt x="262" y="167"/>
                  <a:pt x="255" y="184"/>
                </a:cubicBezTo>
                <a:cubicBezTo>
                  <a:pt x="249" y="201"/>
                  <a:pt x="239" y="215"/>
                  <a:pt x="227" y="227"/>
                </a:cubicBezTo>
                <a:cubicBezTo>
                  <a:pt x="214" y="240"/>
                  <a:pt x="200" y="249"/>
                  <a:pt x="184" y="256"/>
                </a:cubicBezTo>
                <a:cubicBezTo>
                  <a:pt x="168" y="263"/>
                  <a:pt x="151" y="266"/>
                  <a:pt x="133" y="266"/>
                </a:cubicBezTo>
                <a:cubicBezTo>
                  <a:pt x="115" y="266"/>
                  <a:pt x="98" y="263"/>
                  <a:pt x="82" y="256"/>
                </a:cubicBezTo>
                <a:cubicBezTo>
                  <a:pt x="65" y="249"/>
                  <a:pt x="51" y="240"/>
                  <a:pt x="39" y="227"/>
                </a:cubicBezTo>
                <a:cubicBezTo>
                  <a:pt x="26" y="215"/>
                  <a:pt x="17" y="201"/>
                  <a:pt x="10" y="184"/>
                </a:cubicBezTo>
                <a:cubicBezTo>
                  <a:pt x="3" y="167"/>
                  <a:pt x="0" y="150"/>
                  <a:pt x="0" y="133"/>
                </a:cubicBezTo>
                <a:cubicBezTo>
                  <a:pt x="0" y="115"/>
                  <a:pt x="3" y="98"/>
                  <a:pt x="10" y="82"/>
                </a:cubicBezTo>
                <a:cubicBezTo>
                  <a:pt x="17" y="66"/>
                  <a:pt x="26" y="52"/>
                  <a:pt x="39" y="39"/>
                </a:cubicBezTo>
                <a:cubicBezTo>
                  <a:pt x="51" y="27"/>
                  <a:pt x="65" y="17"/>
                  <a:pt x="82" y="11"/>
                </a:cubicBezTo>
                <a:cubicBezTo>
                  <a:pt x="98" y="4"/>
                  <a:pt x="115" y="0"/>
                  <a:pt x="133" y="0"/>
                </a:cubicBezTo>
                <a:cubicBezTo>
                  <a:pt x="151" y="0"/>
                  <a:pt x="168" y="4"/>
                  <a:pt x="184" y="11"/>
                </a:cubicBezTo>
                <a:cubicBezTo>
                  <a:pt x="200" y="17"/>
                  <a:pt x="214" y="27"/>
                  <a:pt x="227" y="39"/>
                </a:cubicBezTo>
                <a:cubicBezTo>
                  <a:pt x="239" y="52"/>
                  <a:pt x="249" y="66"/>
                  <a:pt x="255" y="82"/>
                </a:cubicBezTo>
                <a:cubicBezTo>
                  <a:pt x="262" y="98"/>
                  <a:pt x="265" y="115"/>
                  <a:pt x="265" y="133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3" name=""/>
          <p:cNvSpPr txBox="1"/>
          <p:nvPr/>
        </p:nvSpPr>
        <p:spPr>
          <a:xfrm>
            <a:off x="4584960" y="2124000"/>
            <a:ext cx="5522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动词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" name=""/>
          <p:cNvSpPr txBox="1"/>
          <p:nvPr/>
        </p:nvSpPr>
        <p:spPr>
          <a:xfrm>
            <a:off x="1300320" y="2588040"/>
            <a:ext cx="133092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Controllers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" name=""/>
          <p:cNvSpPr txBox="1"/>
          <p:nvPr/>
        </p:nvSpPr>
        <p:spPr>
          <a:xfrm>
            <a:off x="2632320" y="2610000"/>
            <a:ext cx="13798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：处理请求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" name=""/>
          <p:cNvSpPr txBox="1"/>
          <p:nvPr/>
        </p:nvSpPr>
        <p:spPr>
          <a:xfrm>
            <a:off x="4013280" y="2588040"/>
            <a:ext cx="27576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/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" name=""/>
          <p:cNvSpPr/>
          <p:nvPr/>
        </p:nvSpPr>
        <p:spPr>
          <a:xfrm>
            <a:off x="1047600" y="3228840"/>
            <a:ext cx="95400" cy="95400"/>
          </a:xfrm>
          <a:custGeom>
            <a:avLst/>
            <a:gdLst/>
            <a:ahLst/>
            <a:rect l="0" t="0" r="r" b="b"/>
            <a:pathLst>
              <a:path w="265" h="265">
                <a:moveTo>
                  <a:pt x="265" y="132"/>
                </a:moveTo>
                <a:cubicBezTo>
                  <a:pt x="265" y="151"/>
                  <a:pt x="262" y="168"/>
                  <a:pt x="255" y="184"/>
                </a:cubicBezTo>
                <a:cubicBezTo>
                  <a:pt x="249" y="200"/>
                  <a:pt x="239" y="214"/>
                  <a:pt x="227" y="227"/>
                </a:cubicBezTo>
                <a:cubicBezTo>
                  <a:pt x="214" y="239"/>
                  <a:pt x="200" y="249"/>
                  <a:pt x="184" y="255"/>
                </a:cubicBezTo>
                <a:cubicBezTo>
                  <a:pt x="168" y="262"/>
                  <a:pt x="151" y="265"/>
                  <a:pt x="133" y="265"/>
                </a:cubicBezTo>
                <a:cubicBezTo>
                  <a:pt x="115" y="265"/>
                  <a:pt x="98" y="262"/>
                  <a:pt x="82" y="255"/>
                </a:cubicBezTo>
                <a:cubicBezTo>
                  <a:pt x="65" y="249"/>
                  <a:pt x="51" y="239"/>
                  <a:pt x="39" y="227"/>
                </a:cubicBezTo>
                <a:cubicBezTo>
                  <a:pt x="26" y="214"/>
                  <a:pt x="17" y="200"/>
                  <a:pt x="10" y="184"/>
                </a:cubicBezTo>
                <a:cubicBezTo>
                  <a:pt x="3" y="168"/>
                  <a:pt x="0" y="151"/>
                  <a:pt x="0" y="132"/>
                </a:cubicBezTo>
                <a:cubicBezTo>
                  <a:pt x="0" y="115"/>
                  <a:pt x="3" y="98"/>
                  <a:pt x="10" y="82"/>
                </a:cubicBezTo>
                <a:cubicBezTo>
                  <a:pt x="17" y="65"/>
                  <a:pt x="26" y="51"/>
                  <a:pt x="39" y="39"/>
                </a:cubicBezTo>
                <a:cubicBezTo>
                  <a:pt x="51" y="26"/>
                  <a:pt x="65" y="17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1" y="0"/>
                  <a:pt x="168" y="3"/>
                  <a:pt x="184" y="10"/>
                </a:cubicBezTo>
                <a:cubicBezTo>
                  <a:pt x="200" y="17"/>
                  <a:pt x="214" y="26"/>
                  <a:pt x="227" y="39"/>
                </a:cubicBezTo>
                <a:cubicBezTo>
                  <a:pt x="239" y="51"/>
                  <a:pt x="249" y="65"/>
                  <a:pt x="255" y="82"/>
                </a:cubicBezTo>
                <a:cubicBezTo>
                  <a:pt x="262" y="98"/>
                  <a:pt x="265" y="115"/>
                  <a:pt x="265" y="132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8" name=""/>
          <p:cNvSpPr txBox="1"/>
          <p:nvPr/>
        </p:nvSpPr>
        <p:spPr>
          <a:xfrm>
            <a:off x="4120920" y="2610000"/>
            <a:ext cx="24832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响应，组织业务流程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" name=""/>
          <p:cNvSpPr txBox="1"/>
          <p:nvPr/>
        </p:nvSpPr>
        <p:spPr>
          <a:xfrm>
            <a:off x="1300320" y="3073680"/>
            <a:ext cx="90072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Models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" name=""/>
          <p:cNvSpPr/>
          <p:nvPr/>
        </p:nvSpPr>
        <p:spPr>
          <a:xfrm>
            <a:off x="1047600" y="3705120"/>
            <a:ext cx="95400" cy="95400"/>
          </a:xfrm>
          <a:custGeom>
            <a:avLst/>
            <a:gdLst/>
            <a:ahLst/>
            <a:rect l="0" t="0" r="r" b="b"/>
            <a:pathLst>
              <a:path w="265" h="265">
                <a:moveTo>
                  <a:pt x="265" y="132"/>
                </a:moveTo>
                <a:cubicBezTo>
                  <a:pt x="265" y="151"/>
                  <a:pt x="262" y="167"/>
                  <a:pt x="255" y="184"/>
                </a:cubicBezTo>
                <a:cubicBezTo>
                  <a:pt x="249" y="200"/>
                  <a:pt x="239" y="214"/>
                  <a:pt x="227" y="227"/>
                </a:cubicBezTo>
                <a:cubicBezTo>
                  <a:pt x="214" y="239"/>
                  <a:pt x="200" y="249"/>
                  <a:pt x="184" y="255"/>
                </a:cubicBezTo>
                <a:cubicBezTo>
                  <a:pt x="168" y="262"/>
                  <a:pt x="151" y="265"/>
                  <a:pt x="133" y="265"/>
                </a:cubicBezTo>
                <a:cubicBezTo>
                  <a:pt x="115" y="265"/>
                  <a:pt x="98" y="262"/>
                  <a:pt x="82" y="255"/>
                </a:cubicBezTo>
                <a:cubicBezTo>
                  <a:pt x="65" y="249"/>
                  <a:pt x="51" y="239"/>
                  <a:pt x="39" y="227"/>
                </a:cubicBezTo>
                <a:cubicBezTo>
                  <a:pt x="26" y="214"/>
                  <a:pt x="17" y="200"/>
                  <a:pt x="10" y="184"/>
                </a:cubicBezTo>
                <a:cubicBezTo>
                  <a:pt x="3" y="167"/>
                  <a:pt x="0" y="151"/>
                  <a:pt x="0" y="132"/>
                </a:cubicBezTo>
                <a:cubicBezTo>
                  <a:pt x="0" y="115"/>
                  <a:pt x="3" y="98"/>
                  <a:pt x="10" y="81"/>
                </a:cubicBezTo>
                <a:cubicBezTo>
                  <a:pt x="17" y="65"/>
                  <a:pt x="26" y="51"/>
                  <a:pt x="39" y="39"/>
                </a:cubicBezTo>
                <a:cubicBezTo>
                  <a:pt x="51" y="26"/>
                  <a:pt x="65" y="17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1" y="0"/>
                  <a:pt x="168" y="3"/>
                  <a:pt x="184" y="10"/>
                </a:cubicBezTo>
                <a:cubicBezTo>
                  <a:pt x="200" y="17"/>
                  <a:pt x="214" y="26"/>
                  <a:pt x="227" y="39"/>
                </a:cubicBezTo>
                <a:cubicBezTo>
                  <a:pt x="239" y="51"/>
                  <a:pt x="249" y="65"/>
                  <a:pt x="255" y="81"/>
                </a:cubicBezTo>
                <a:cubicBezTo>
                  <a:pt x="262" y="98"/>
                  <a:pt x="265" y="115"/>
                  <a:pt x="265" y="132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1" name=""/>
          <p:cNvSpPr txBox="1"/>
          <p:nvPr/>
        </p:nvSpPr>
        <p:spPr>
          <a:xfrm>
            <a:off x="2201400" y="3095640"/>
            <a:ext cx="27590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：定义实体结构与约束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" name=""/>
          <p:cNvSpPr txBox="1"/>
          <p:nvPr/>
        </p:nvSpPr>
        <p:spPr>
          <a:xfrm>
            <a:off x="1300320" y="3549960"/>
            <a:ext cx="143100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Middleware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" name=""/>
          <p:cNvSpPr txBox="1"/>
          <p:nvPr/>
        </p:nvSpPr>
        <p:spPr>
          <a:xfrm>
            <a:off x="2732400" y="3571920"/>
            <a:ext cx="413856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：认证、限流、异常处理横切逻辑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" name=""/>
          <p:cNvSpPr/>
          <p:nvPr/>
        </p:nvSpPr>
        <p:spPr>
          <a:xfrm>
            <a:off x="1047600" y="4838400"/>
            <a:ext cx="95400" cy="95760"/>
          </a:xfrm>
          <a:custGeom>
            <a:avLst/>
            <a:gdLst/>
            <a:ahLst/>
            <a:rect l="0" t="0" r="r" b="b"/>
            <a:pathLst>
              <a:path w="265" h="266">
                <a:moveTo>
                  <a:pt x="265" y="133"/>
                </a:moveTo>
                <a:cubicBezTo>
                  <a:pt x="265" y="150"/>
                  <a:pt x="262" y="168"/>
                  <a:pt x="255" y="184"/>
                </a:cubicBezTo>
                <a:cubicBezTo>
                  <a:pt x="249" y="200"/>
                  <a:pt x="239" y="215"/>
                  <a:pt x="227" y="227"/>
                </a:cubicBezTo>
                <a:cubicBezTo>
                  <a:pt x="214" y="240"/>
                  <a:pt x="200" y="249"/>
                  <a:pt x="184" y="256"/>
                </a:cubicBezTo>
                <a:cubicBezTo>
                  <a:pt x="168" y="263"/>
                  <a:pt x="151" y="266"/>
                  <a:pt x="133" y="266"/>
                </a:cubicBezTo>
                <a:cubicBezTo>
                  <a:pt x="115" y="266"/>
                  <a:pt x="98" y="263"/>
                  <a:pt x="82" y="256"/>
                </a:cubicBezTo>
                <a:cubicBezTo>
                  <a:pt x="65" y="249"/>
                  <a:pt x="51" y="240"/>
                  <a:pt x="39" y="227"/>
                </a:cubicBezTo>
                <a:cubicBezTo>
                  <a:pt x="26" y="215"/>
                  <a:pt x="17" y="200"/>
                  <a:pt x="10" y="184"/>
                </a:cubicBezTo>
                <a:cubicBezTo>
                  <a:pt x="3" y="168"/>
                  <a:pt x="0" y="150"/>
                  <a:pt x="0" y="133"/>
                </a:cubicBezTo>
                <a:cubicBezTo>
                  <a:pt x="0" y="115"/>
                  <a:pt x="3" y="98"/>
                  <a:pt x="10" y="82"/>
                </a:cubicBezTo>
                <a:cubicBezTo>
                  <a:pt x="17" y="66"/>
                  <a:pt x="26" y="51"/>
                  <a:pt x="39" y="39"/>
                </a:cubicBezTo>
                <a:cubicBezTo>
                  <a:pt x="51" y="27"/>
                  <a:pt x="65" y="17"/>
                  <a:pt x="82" y="10"/>
                </a:cubicBezTo>
                <a:cubicBezTo>
                  <a:pt x="98" y="4"/>
                  <a:pt x="115" y="0"/>
                  <a:pt x="133" y="0"/>
                </a:cubicBezTo>
                <a:cubicBezTo>
                  <a:pt x="151" y="0"/>
                  <a:pt x="168" y="4"/>
                  <a:pt x="184" y="10"/>
                </a:cubicBezTo>
                <a:cubicBezTo>
                  <a:pt x="200" y="17"/>
                  <a:pt x="214" y="27"/>
                  <a:pt x="227" y="39"/>
                </a:cubicBezTo>
                <a:cubicBezTo>
                  <a:pt x="239" y="51"/>
                  <a:pt x="249" y="66"/>
                  <a:pt x="255" y="82"/>
                </a:cubicBezTo>
                <a:cubicBezTo>
                  <a:pt x="262" y="98"/>
                  <a:pt x="265" y="115"/>
                  <a:pt x="265" y="133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5" name=""/>
          <p:cNvSpPr txBox="1"/>
          <p:nvPr/>
        </p:nvSpPr>
        <p:spPr>
          <a:xfrm>
            <a:off x="747720" y="4143240"/>
            <a:ext cx="5522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收益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" name=""/>
          <p:cNvSpPr/>
          <p:nvPr/>
        </p:nvSpPr>
        <p:spPr>
          <a:xfrm>
            <a:off x="1047600" y="5324400"/>
            <a:ext cx="95400" cy="95400"/>
          </a:xfrm>
          <a:custGeom>
            <a:avLst/>
            <a:gdLst/>
            <a:ahLst/>
            <a:rect l="0" t="0" r="r" b="b"/>
            <a:pathLst>
              <a:path w="265" h="265">
                <a:moveTo>
                  <a:pt x="265" y="133"/>
                </a:moveTo>
                <a:cubicBezTo>
                  <a:pt x="265" y="151"/>
                  <a:pt x="262" y="167"/>
                  <a:pt x="255" y="184"/>
                </a:cubicBezTo>
                <a:cubicBezTo>
                  <a:pt x="249" y="200"/>
                  <a:pt x="239" y="214"/>
                  <a:pt x="227" y="227"/>
                </a:cubicBezTo>
                <a:cubicBezTo>
                  <a:pt x="214" y="239"/>
                  <a:pt x="200" y="249"/>
                  <a:pt x="184" y="255"/>
                </a:cubicBezTo>
                <a:cubicBezTo>
                  <a:pt x="168" y="262"/>
                  <a:pt x="151" y="265"/>
                  <a:pt x="133" y="265"/>
                </a:cubicBezTo>
                <a:cubicBezTo>
                  <a:pt x="115" y="265"/>
                  <a:pt x="98" y="262"/>
                  <a:pt x="82" y="255"/>
                </a:cubicBezTo>
                <a:cubicBezTo>
                  <a:pt x="65" y="249"/>
                  <a:pt x="51" y="239"/>
                  <a:pt x="39" y="227"/>
                </a:cubicBezTo>
                <a:cubicBezTo>
                  <a:pt x="26" y="214"/>
                  <a:pt x="17" y="200"/>
                  <a:pt x="10" y="184"/>
                </a:cubicBezTo>
                <a:cubicBezTo>
                  <a:pt x="3" y="167"/>
                  <a:pt x="0" y="151"/>
                  <a:pt x="0" y="133"/>
                </a:cubicBezTo>
                <a:cubicBezTo>
                  <a:pt x="0" y="114"/>
                  <a:pt x="3" y="98"/>
                  <a:pt x="10" y="81"/>
                </a:cubicBezTo>
                <a:cubicBezTo>
                  <a:pt x="17" y="65"/>
                  <a:pt x="26" y="51"/>
                  <a:pt x="39" y="38"/>
                </a:cubicBezTo>
                <a:cubicBezTo>
                  <a:pt x="51" y="26"/>
                  <a:pt x="65" y="16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1" y="0"/>
                  <a:pt x="168" y="3"/>
                  <a:pt x="184" y="10"/>
                </a:cubicBezTo>
                <a:cubicBezTo>
                  <a:pt x="200" y="16"/>
                  <a:pt x="214" y="26"/>
                  <a:pt x="227" y="38"/>
                </a:cubicBezTo>
                <a:cubicBezTo>
                  <a:pt x="239" y="51"/>
                  <a:pt x="249" y="65"/>
                  <a:pt x="255" y="81"/>
                </a:cubicBezTo>
                <a:cubicBezTo>
                  <a:pt x="262" y="98"/>
                  <a:pt x="265" y="114"/>
                  <a:pt x="265" y="133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7" name=""/>
          <p:cNvSpPr txBox="1"/>
          <p:nvPr/>
        </p:nvSpPr>
        <p:spPr>
          <a:xfrm>
            <a:off x="1300320" y="4705200"/>
            <a:ext cx="303516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降低耦合，提升可测试性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" name=""/>
          <p:cNvSpPr txBox="1"/>
          <p:nvPr/>
        </p:nvSpPr>
        <p:spPr>
          <a:xfrm>
            <a:off x="1300320" y="5191200"/>
            <a:ext cx="13798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新增模块时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" name=""/>
          <p:cNvSpPr txBox="1"/>
          <p:nvPr/>
        </p:nvSpPr>
        <p:spPr>
          <a:xfrm>
            <a:off x="2681280" y="5169240"/>
            <a:ext cx="27576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“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" name=""/>
          <p:cNvSpPr txBox="1"/>
          <p:nvPr/>
        </p:nvSpPr>
        <p:spPr>
          <a:xfrm>
            <a:off x="2785320" y="5191200"/>
            <a:ext cx="11041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按层扩展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" name=""/>
          <p:cNvSpPr txBox="1"/>
          <p:nvPr/>
        </p:nvSpPr>
        <p:spPr>
          <a:xfrm>
            <a:off x="3890160" y="5169240"/>
            <a:ext cx="27576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”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" name=""/>
          <p:cNvSpPr txBox="1"/>
          <p:nvPr/>
        </p:nvSpPr>
        <p:spPr>
          <a:xfrm>
            <a:off x="3994560" y="5191200"/>
            <a:ext cx="193176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，改动范围可控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" name=""/>
          <p:cNvSpPr txBox="1"/>
          <p:nvPr/>
        </p:nvSpPr>
        <p:spPr>
          <a:xfrm>
            <a:off x="11783160" y="6335280"/>
            <a:ext cx="22824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SegoeUI"/>
                <a:ea typeface="SegoeUI"/>
              </a:rPr>
              <a:t>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" name=""/>
          <p:cNvSpPr/>
          <p:nvPr/>
        </p:nvSpPr>
        <p:spPr>
          <a:xfrm>
            <a:off x="752400" y="2752560"/>
            <a:ext cx="1410120" cy="533880"/>
          </a:xfrm>
          <a:custGeom>
            <a:avLst/>
            <a:gdLst/>
            <a:ahLst/>
            <a:rect l="0" t="0" r="r" b="b"/>
            <a:pathLst>
              <a:path w="3917" h="1483">
                <a:moveTo>
                  <a:pt x="0" y="0"/>
                </a:moveTo>
                <a:lnTo>
                  <a:pt x="3917" y="0"/>
                </a:lnTo>
                <a:lnTo>
                  <a:pt x="391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" name=""/>
          <p:cNvSpPr/>
          <p:nvPr/>
        </p:nvSpPr>
        <p:spPr>
          <a:xfrm>
            <a:off x="2162160" y="2752560"/>
            <a:ext cx="3019680" cy="533880"/>
          </a:xfrm>
          <a:custGeom>
            <a:avLst/>
            <a:gdLst/>
            <a:ahLst/>
            <a:rect l="0" t="0" r="r" b="b"/>
            <a:pathLst>
              <a:path w="8388" h="1483">
                <a:moveTo>
                  <a:pt x="0" y="0"/>
                </a:moveTo>
                <a:lnTo>
                  <a:pt x="8388" y="0"/>
                </a:lnTo>
                <a:lnTo>
                  <a:pt x="8388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" name=""/>
          <p:cNvSpPr/>
          <p:nvPr/>
        </p:nvSpPr>
        <p:spPr>
          <a:xfrm>
            <a:off x="5181480" y="2752560"/>
            <a:ext cx="5382000" cy="533880"/>
          </a:xfrm>
          <a:custGeom>
            <a:avLst/>
            <a:gdLst/>
            <a:ahLst/>
            <a:rect l="0" t="0" r="r" b="b"/>
            <a:pathLst>
              <a:path w="14950" h="1483">
                <a:moveTo>
                  <a:pt x="0" y="0"/>
                </a:moveTo>
                <a:lnTo>
                  <a:pt x="14950" y="0"/>
                </a:lnTo>
                <a:lnTo>
                  <a:pt x="14950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" name=""/>
          <p:cNvSpPr/>
          <p:nvPr/>
        </p:nvSpPr>
        <p:spPr>
          <a:xfrm>
            <a:off x="752400" y="3286080"/>
            <a:ext cx="1410120" cy="543240"/>
          </a:xfrm>
          <a:custGeom>
            <a:avLst/>
            <a:gdLst/>
            <a:ahLst/>
            <a:rect l="0" t="0" r="r" b="b"/>
            <a:pathLst>
              <a:path w="3917" h="1509">
                <a:moveTo>
                  <a:pt x="0" y="0"/>
                </a:moveTo>
                <a:lnTo>
                  <a:pt x="3917" y="0"/>
                </a:lnTo>
                <a:lnTo>
                  <a:pt x="391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" name=""/>
          <p:cNvSpPr/>
          <p:nvPr/>
        </p:nvSpPr>
        <p:spPr>
          <a:xfrm>
            <a:off x="2162160" y="3286080"/>
            <a:ext cx="3019680" cy="543240"/>
          </a:xfrm>
          <a:custGeom>
            <a:avLst/>
            <a:gdLst/>
            <a:ahLst/>
            <a:rect l="0" t="0" r="r" b="b"/>
            <a:pathLst>
              <a:path w="8388" h="1509">
                <a:moveTo>
                  <a:pt x="0" y="0"/>
                </a:moveTo>
                <a:lnTo>
                  <a:pt x="8388" y="0"/>
                </a:lnTo>
                <a:lnTo>
                  <a:pt x="838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" name=""/>
          <p:cNvSpPr/>
          <p:nvPr/>
        </p:nvSpPr>
        <p:spPr>
          <a:xfrm>
            <a:off x="5181480" y="3286080"/>
            <a:ext cx="5382000" cy="543240"/>
          </a:xfrm>
          <a:custGeom>
            <a:avLst/>
            <a:gdLst/>
            <a:ahLst/>
            <a:rect l="0" t="0" r="r" b="b"/>
            <a:pathLst>
              <a:path w="14950" h="1509">
                <a:moveTo>
                  <a:pt x="0" y="0"/>
                </a:moveTo>
                <a:lnTo>
                  <a:pt x="14950" y="0"/>
                </a:lnTo>
                <a:lnTo>
                  <a:pt x="14950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" name=""/>
          <p:cNvSpPr/>
          <p:nvPr/>
        </p:nvSpPr>
        <p:spPr>
          <a:xfrm>
            <a:off x="752400" y="3828960"/>
            <a:ext cx="1410120" cy="533520"/>
          </a:xfrm>
          <a:custGeom>
            <a:avLst/>
            <a:gdLst/>
            <a:ahLst/>
            <a:rect l="0" t="0" r="r" b="b"/>
            <a:pathLst>
              <a:path w="3917" h="1482">
                <a:moveTo>
                  <a:pt x="0" y="0"/>
                </a:moveTo>
                <a:lnTo>
                  <a:pt x="3917" y="0"/>
                </a:lnTo>
                <a:lnTo>
                  <a:pt x="391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" name=""/>
          <p:cNvSpPr/>
          <p:nvPr/>
        </p:nvSpPr>
        <p:spPr>
          <a:xfrm>
            <a:off x="2162160" y="3828960"/>
            <a:ext cx="3019680" cy="533520"/>
          </a:xfrm>
          <a:custGeom>
            <a:avLst/>
            <a:gdLst/>
            <a:ahLst/>
            <a:rect l="0" t="0" r="r" b="b"/>
            <a:pathLst>
              <a:path w="8388" h="1482">
                <a:moveTo>
                  <a:pt x="0" y="0"/>
                </a:moveTo>
                <a:lnTo>
                  <a:pt x="8388" y="0"/>
                </a:lnTo>
                <a:lnTo>
                  <a:pt x="8388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" name=""/>
          <p:cNvSpPr/>
          <p:nvPr/>
        </p:nvSpPr>
        <p:spPr>
          <a:xfrm>
            <a:off x="5181480" y="3828960"/>
            <a:ext cx="5382000" cy="533520"/>
          </a:xfrm>
          <a:custGeom>
            <a:avLst/>
            <a:gdLst/>
            <a:ahLst/>
            <a:rect l="0" t="0" r="r" b="b"/>
            <a:pathLst>
              <a:path w="14950" h="1482">
                <a:moveTo>
                  <a:pt x="0" y="0"/>
                </a:moveTo>
                <a:lnTo>
                  <a:pt x="14950" y="0"/>
                </a:lnTo>
                <a:lnTo>
                  <a:pt x="14950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" name=""/>
          <p:cNvSpPr/>
          <p:nvPr/>
        </p:nvSpPr>
        <p:spPr>
          <a:xfrm>
            <a:off x="752400" y="4362120"/>
            <a:ext cx="1410120" cy="543600"/>
          </a:xfrm>
          <a:custGeom>
            <a:avLst/>
            <a:gdLst/>
            <a:ahLst/>
            <a:rect l="0" t="0" r="r" b="b"/>
            <a:pathLst>
              <a:path w="3917" h="1510">
                <a:moveTo>
                  <a:pt x="0" y="0"/>
                </a:moveTo>
                <a:lnTo>
                  <a:pt x="3917" y="0"/>
                </a:lnTo>
                <a:lnTo>
                  <a:pt x="3917" y="1510"/>
                </a:lnTo>
                <a:lnTo>
                  <a:pt x="0" y="151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" name=""/>
          <p:cNvSpPr/>
          <p:nvPr/>
        </p:nvSpPr>
        <p:spPr>
          <a:xfrm>
            <a:off x="2162160" y="4362120"/>
            <a:ext cx="3019680" cy="543600"/>
          </a:xfrm>
          <a:custGeom>
            <a:avLst/>
            <a:gdLst/>
            <a:ahLst/>
            <a:rect l="0" t="0" r="r" b="b"/>
            <a:pathLst>
              <a:path w="8388" h="1510">
                <a:moveTo>
                  <a:pt x="0" y="0"/>
                </a:moveTo>
                <a:lnTo>
                  <a:pt x="8388" y="0"/>
                </a:lnTo>
                <a:lnTo>
                  <a:pt x="8388" y="1510"/>
                </a:lnTo>
                <a:lnTo>
                  <a:pt x="0" y="151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" name=""/>
          <p:cNvSpPr/>
          <p:nvPr/>
        </p:nvSpPr>
        <p:spPr>
          <a:xfrm>
            <a:off x="5181480" y="4362120"/>
            <a:ext cx="5382000" cy="543600"/>
          </a:xfrm>
          <a:custGeom>
            <a:avLst/>
            <a:gdLst/>
            <a:ahLst/>
            <a:rect l="0" t="0" r="r" b="b"/>
            <a:pathLst>
              <a:path w="14950" h="1510">
                <a:moveTo>
                  <a:pt x="0" y="0"/>
                </a:moveTo>
                <a:lnTo>
                  <a:pt x="14950" y="0"/>
                </a:lnTo>
                <a:lnTo>
                  <a:pt x="14950" y="1510"/>
                </a:lnTo>
                <a:lnTo>
                  <a:pt x="0" y="151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" name=""/>
          <p:cNvSpPr/>
          <p:nvPr/>
        </p:nvSpPr>
        <p:spPr>
          <a:xfrm>
            <a:off x="752400" y="2742840"/>
            <a:ext cx="9720" cy="552960"/>
          </a:xfrm>
          <a:custGeom>
            <a:avLst/>
            <a:gdLst/>
            <a:ahLst/>
            <a:rect l="0" t="0" r="r" b="b"/>
            <a:pathLst>
              <a:path w="27" h="1536">
                <a:moveTo>
                  <a:pt x="0" y="0"/>
                </a:moveTo>
                <a:lnTo>
                  <a:pt x="27" y="0"/>
                </a:lnTo>
                <a:lnTo>
                  <a:pt x="27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" name=""/>
          <p:cNvSpPr/>
          <p:nvPr/>
        </p:nvSpPr>
        <p:spPr>
          <a:xfrm>
            <a:off x="752400" y="2742840"/>
            <a:ext cx="1419480" cy="10080"/>
          </a:xfrm>
          <a:custGeom>
            <a:avLst/>
            <a:gdLst/>
            <a:ahLst/>
            <a:rect l="0" t="0" r="r" b="b"/>
            <a:pathLst>
              <a:path w="3943" h="28">
                <a:moveTo>
                  <a:pt x="0" y="0"/>
                </a:moveTo>
                <a:lnTo>
                  <a:pt x="3943" y="0"/>
                </a:lnTo>
                <a:lnTo>
                  <a:pt x="394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" name=""/>
          <p:cNvSpPr/>
          <p:nvPr/>
        </p:nvSpPr>
        <p:spPr>
          <a:xfrm>
            <a:off x="2162160" y="2742840"/>
            <a:ext cx="9720" cy="552960"/>
          </a:xfrm>
          <a:custGeom>
            <a:avLst/>
            <a:gdLst/>
            <a:ahLst/>
            <a:rect l="0" t="0" r="r" b="b"/>
            <a:pathLst>
              <a:path w="27" h="1536">
                <a:moveTo>
                  <a:pt x="0" y="0"/>
                </a:moveTo>
                <a:lnTo>
                  <a:pt x="27" y="0"/>
                </a:lnTo>
                <a:lnTo>
                  <a:pt x="27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" name=""/>
          <p:cNvSpPr/>
          <p:nvPr/>
        </p:nvSpPr>
        <p:spPr>
          <a:xfrm>
            <a:off x="2171520" y="2742840"/>
            <a:ext cx="3019680" cy="10080"/>
          </a:xfrm>
          <a:custGeom>
            <a:avLst/>
            <a:gdLst/>
            <a:ahLst/>
            <a:rect l="0" t="0" r="r" b="b"/>
            <a:pathLst>
              <a:path w="8388" h="28">
                <a:moveTo>
                  <a:pt x="0" y="0"/>
                </a:moveTo>
                <a:lnTo>
                  <a:pt x="8388" y="0"/>
                </a:lnTo>
                <a:lnTo>
                  <a:pt x="838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" name=""/>
          <p:cNvSpPr/>
          <p:nvPr/>
        </p:nvSpPr>
        <p:spPr>
          <a:xfrm>
            <a:off x="5181480" y="2742840"/>
            <a:ext cx="9720" cy="552960"/>
          </a:xfrm>
          <a:custGeom>
            <a:avLst/>
            <a:gdLst/>
            <a:ahLst/>
            <a:rect l="0" t="0" r="r" b="b"/>
            <a:pathLst>
              <a:path w="27" h="1536">
                <a:moveTo>
                  <a:pt x="0" y="0"/>
                </a:moveTo>
                <a:lnTo>
                  <a:pt x="27" y="0"/>
                </a:lnTo>
                <a:lnTo>
                  <a:pt x="27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" name=""/>
          <p:cNvSpPr/>
          <p:nvPr/>
        </p:nvSpPr>
        <p:spPr>
          <a:xfrm>
            <a:off x="5190840" y="2742840"/>
            <a:ext cx="5372640" cy="10080"/>
          </a:xfrm>
          <a:custGeom>
            <a:avLst/>
            <a:gdLst/>
            <a:ahLst/>
            <a:rect l="0" t="0" r="r" b="b"/>
            <a:pathLst>
              <a:path w="14924" h="28">
                <a:moveTo>
                  <a:pt x="0" y="0"/>
                </a:moveTo>
                <a:lnTo>
                  <a:pt x="14924" y="0"/>
                </a:lnTo>
                <a:lnTo>
                  <a:pt x="1492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" name=""/>
          <p:cNvSpPr/>
          <p:nvPr/>
        </p:nvSpPr>
        <p:spPr>
          <a:xfrm>
            <a:off x="10553400" y="2742840"/>
            <a:ext cx="10080" cy="552960"/>
          </a:xfrm>
          <a:custGeom>
            <a:avLst/>
            <a:gdLst/>
            <a:ahLst/>
            <a:rect l="0" t="0" r="r" b="b"/>
            <a:pathLst>
              <a:path w="28" h="1536">
                <a:moveTo>
                  <a:pt x="0" y="0"/>
                </a:moveTo>
                <a:lnTo>
                  <a:pt x="28" y="0"/>
                </a:lnTo>
                <a:lnTo>
                  <a:pt x="28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" name=""/>
          <p:cNvSpPr/>
          <p:nvPr/>
        </p:nvSpPr>
        <p:spPr>
          <a:xfrm>
            <a:off x="752400" y="3286080"/>
            <a:ext cx="1419480" cy="9720"/>
          </a:xfrm>
          <a:custGeom>
            <a:avLst/>
            <a:gdLst/>
            <a:ahLst/>
            <a:rect l="0" t="0" r="r" b="b"/>
            <a:pathLst>
              <a:path w="3943" h="27">
                <a:moveTo>
                  <a:pt x="0" y="0"/>
                </a:moveTo>
                <a:lnTo>
                  <a:pt x="3943" y="0"/>
                </a:lnTo>
                <a:lnTo>
                  <a:pt x="394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" name=""/>
          <p:cNvSpPr/>
          <p:nvPr/>
        </p:nvSpPr>
        <p:spPr>
          <a:xfrm>
            <a:off x="2171520" y="3286080"/>
            <a:ext cx="3019680" cy="9720"/>
          </a:xfrm>
          <a:custGeom>
            <a:avLst/>
            <a:gdLst/>
            <a:ahLst/>
            <a:rect l="0" t="0" r="r" b="b"/>
            <a:pathLst>
              <a:path w="8388" h="27">
                <a:moveTo>
                  <a:pt x="0" y="0"/>
                </a:moveTo>
                <a:lnTo>
                  <a:pt x="8388" y="0"/>
                </a:lnTo>
                <a:lnTo>
                  <a:pt x="838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" name=""/>
          <p:cNvSpPr/>
          <p:nvPr/>
        </p:nvSpPr>
        <p:spPr>
          <a:xfrm>
            <a:off x="5190840" y="3286080"/>
            <a:ext cx="5372640" cy="9720"/>
          </a:xfrm>
          <a:custGeom>
            <a:avLst/>
            <a:gdLst/>
            <a:ahLst/>
            <a:rect l="0" t="0" r="r" b="b"/>
            <a:pathLst>
              <a:path w="14924" h="27">
                <a:moveTo>
                  <a:pt x="0" y="0"/>
                </a:moveTo>
                <a:lnTo>
                  <a:pt x="14924" y="0"/>
                </a:lnTo>
                <a:lnTo>
                  <a:pt x="1492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" name=""/>
          <p:cNvSpPr/>
          <p:nvPr/>
        </p:nvSpPr>
        <p:spPr>
          <a:xfrm>
            <a:off x="752400" y="3295440"/>
            <a:ext cx="9720" cy="533880"/>
          </a:xfrm>
          <a:custGeom>
            <a:avLst/>
            <a:gdLst/>
            <a:ah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" name=""/>
          <p:cNvSpPr/>
          <p:nvPr/>
        </p:nvSpPr>
        <p:spPr>
          <a:xfrm>
            <a:off x="2162160" y="3295440"/>
            <a:ext cx="9720" cy="533880"/>
          </a:xfrm>
          <a:custGeom>
            <a:avLst/>
            <a:gdLst/>
            <a:ah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" name=""/>
          <p:cNvSpPr/>
          <p:nvPr/>
        </p:nvSpPr>
        <p:spPr>
          <a:xfrm>
            <a:off x="5181480" y="3295440"/>
            <a:ext cx="9720" cy="533880"/>
          </a:xfrm>
          <a:custGeom>
            <a:avLst/>
            <a:gdLst/>
            <a:ah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" name=""/>
          <p:cNvSpPr/>
          <p:nvPr/>
        </p:nvSpPr>
        <p:spPr>
          <a:xfrm>
            <a:off x="10553400" y="3295440"/>
            <a:ext cx="10080" cy="533880"/>
          </a:xfrm>
          <a:custGeom>
            <a:avLst/>
            <a:gdLst/>
            <a:ahLst/>
            <a:rect l="0" t="0" r="r" b="b"/>
            <a:pathLst>
              <a:path w="28" h="1483">
                <a:moveTo>
                  <a:pt x="0" y="0"/>
                </a:moveTo>
                <a:lnTo>
                  <a:pt x="28" y="0"/>
                </a:lnTo>
                <a:lnTo>
                  <a:pt x="28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" name=""/>
          <p:cNvSpPr/>
          <p:nvPr/>
        </p:nvSpPr>
        <p:spPr>
          <a:xfrm>
            <a:off x="752400" y="382896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" name=""/>
          <p:cNvSpPr/>
          <p:nvPr/>
        </p:nvSpPr>
        <p:spPr>
          <a:xfrm>
            <a:off x="752400" y="3819240"/>
            <a:ext cx="1419480" cy="10080"/>
          </a:xfrm>
          <a:custGeom>
            <a:avLst/>
            <a:gdLst/>
            <a:ahLst/>
            <a:rect l="0" t="0" r="r" b="b"/>
            <a:pathLst>
              <a:path w="3943" h="28">
                <a:moveTo>
                  <a:pt x="0" y="0"/>
                </a:moveTo>
                <a:lnTo>
                  <a:pt x="3943" y="0"/>
                </a:lnTo>
                <a:lnTo>
                  <a:pt x="394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" name=""/>
          <p:cNvSpPr/>
          <p:nvPr/>
        </p:nvSpPr>
        <p:spPr>
          <a:xfrm>
            <a:off x="2162160" y="382896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" name=""/>
          <p:cNvSpPr/>
          <p:nvPr/>
        </p:nvSpPr>
        <p:spPr>
          <a:xfrm>
            <a:off x="2171520" y="3819240"/>
            <a:ext cx="3019680" cy="10080"/>
          </a:xfrm>
          <a:custGeom>
            <a:avLst/>
            <a:gdLst/>
            <a:ahLst/>
            <a:rect l="0" t="0" r="r" b="b"/>
            <a:pathLst>
              <a:path w="8388" h="28">
                <a:moveTo>
                  <a:pt x="0" y="0"/>
                </a:moveTo>
                <a:lnTo>
                  <a:pt x="8388" y="0"/>
                </a:lnTo>
                <a:lnTo>
                  <a:pt x="838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" name=""/>
          <p:cNvSpPr/>
          <p:nvPr/>
        </p:nvSpPr>
        <p:spPr>
          <a:xfrm>
            <a:off x="5181480" y="382896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" name=""/>
          <p:cNvSpPr/>
          <p:nvPr/>
        </p:nvSpPr>
        <p:spPr>
          <a:xfrm>
            <a:off x="5190840" y="3819240"/>
            <a:ext cx="5372640" cy="10080"/>
          </a:xfrm>
          <a:custGeom>
            <a:avLst/>
            <a:gdLst/>
            <a:ahLst/>
            <a:rect l="0" t="0" r="r" b="b"/>
            <a:pathLst>
              <a:path w="14924" h="28">
                <a:moveTo>
                  <a:pt x="0" y="0"/>
                </a:moveTo>
                <a:lnTo>
                  <a:pt x="14924" y="0"/>
                </a:lnTo>
                <a:lnTo>
                  <a:pt x="1492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" name=""/>
          <p:cNvSpPr/>
          <p:nvPr/>
        </p:nvSpPr>
        <p:spPr>
          <a:xfrm>
            <a:off x="10553400" y="3828960"/>
            <a:ext cx="10080" cy="543240"/>
          </a:xfrm>
          <a:custGeom>
            <a:avLst/>
            <a:gdLst/>
            <a:ah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" name=""/>
          <p:cNvSpPr/>
          <p:nvPr/>
        </p:nvSpPr>
        <p:spPr>
          <a:xfrm>
            <a:off x="752400" y="4371840"/>
            <a:ext cx="9720" cy="533880"/>
          </a:xfrm>
          <a:custGeom>
            <a:avLst/>
            <a:gdLst/>
            <a:ah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" name=""/>
          <p:cNvSpPr/>
          <p:nvPr/>
        </p:nvSpPr>
        <p:spPr>
          <a:xfrm>
            <a:off x="752400" y="4362120"/>
            <a:ext cx="1419480" cy="10080"/>
          </a:xfrm>
          <a:custGeom>
            <a:avLst/>
            <a:gdLst/>
            <a:ahLst/>
            <a:rect l="0" t="0" r="r" b="b"/>
            <a:pathLst>
              <a:path w="3943" h="28">
                <a:moveTo>
                  <a:pt x="0" y="0"/>
                </a:moveTo>
                <a:lnTo>
                  <a:pt x="3943" y="0"/>
                </a:lnTo>
                <a:lnTo>
                  <a:pt x="394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" name=""/>
          <p:cNvSpPr/>
          <p:nvPr/>
        </p:nvSpPr>
        <p:spPr>
          <a:xfrm>
            <a:off x="2162160" y="4371840"/>
            <a:ext cx="9720" cy="533880"/>
          </a:xfrm>
          <a:custGeom>
            <a:avLst/>
            <a:gdLst/>
            <a:ah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" name=""/>
          <p:cNvSpPr/>
          <p:nvPr/>
        </p:nvSpPr>
        <p:spPr>
          <a:xfrm>
            <a:off x="2171520" y="4362120"/>
            <a:ext cx="3019680" cy="10080"/>
          </a:xfrm>
          <a:custGeom>
            <a:avLst/>
            <a:gdLst/>
            <a:ahLst/>
            <a:rect l="0" t="0" r="r" b="b"/>
            <a:pathLst>
              <a:path w="8388" h="28">
                <a:moveTo>
                  <a:pt x="0" y="0"/>
                </a:moveTo>
                <a:lnTo>
                  <a:pt x="8388" y="0"/>
                </a:lnTo>
                <a:lnTo>
                  <a:pt x="838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" name=""/>
          <p:cNvSpPr/>
          <p:nvPr/>
        </p:nvSpPr>
        <p:spPr>
          <a:xfrm>
            <a:off x="5181480" y="4371840"/>
            <a:ext cx="9720" cy="533880"/>
          </a:xfrm>
          <a:custGeom>
            <a:avLst/>
            <a:gdLst/>
            <a:ah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" name=""/>
          <p:cNvSpPr/>
          <p:nvPr/>
        </p:nvSpPr>
        <p:spPr>
          <a:xfrm>
            <a:off x="5190840" y="4362120"/>
            <a:ext cx="5372640" cy="10080"/>
          </a:xfrm>
          <a:custGeom>
            <a:avLst/>
            <a:gdLst/>
            <a:ahLst/>
            <a:rect l="0" t="0" r="r" b="b"/>
            <a:pathLst>
              <a:path w="14924" h="28">
                <a:moveTo>
                  <a:pt x="0" y="0"/>
                </a:moveTo>
                <a:lnTo>
                  <a:pt x="14924" y="0"/>
                </a:lnTo>
                <a:lnTo>
                  <a:pt x="1492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" name=""/>
          <p:cNvSpPr/>
          <p:nvPr/>
        </p:nvSpPr>
        <p:spPr>
          <a:xfrm>
            <a:off x="10553400" y="4371840"/>
            <a:ext cx="10080" cy="533880"/>
          </a:xfrm>
          <a:custGeom>
            <a:avLst/>
            <a:gdLst/>
            <a:ahLst/>
            <a:rect l="0" t="0" r="r" b="b"/>
            <a:pathLst>
              <a:path w="28" h="1483">
                <a:moveTo>
                  <a:pt x="0" y="0"/>
                </a:moveTo>
                <a:lnTo>
                  <a:pt x="28" y="0"/>
                </a:lnTo>
                <a:lnTo>
                  <a:pt x="28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" name=""/>
          <p:cNvSpPr/>
          <p:nvPr/>
        </p:nvSpPr>
        <p:spPr>
          <a:xfrm>
            <a:off x="752400" y="4895640"/>
            <a:ext cx="1419480" cy="10080"/>
          </a:xfrm>
          <a:custGeom>
            <a:avLst/>
            <a:gdLst/>
            <a:ahLst/>
            <a:rect l="0" t="0" r="r" b="b"/>
            <a:pathLst>
              <a:path w="3943" h="28">
                <a:moveTo>
                  <a:pt x="0" y="0"/>
                </a:moveTo>
                <a:lnTo>
                  <a:pt x="3943" y="0"/>
                </a:lnTo>
                <a:lnTo>
                  <a:pt x="394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" name=""/>
          <p:cNvSpPr/>
          <p:nvPr/>
        </p:nvSpPr>
        <p:spPr>
          <a:xfrm>
            <a:off x="2171520" y="4895640"/>
            <a:ext cx="3019680" cy="10080"/>
          </a:xfrm>
          <a:custGeom>
            <a:avLst/>
            <a:gdLst/>
            <a:ahLst/>
            <a:rect l="0" t="0" r="r" b="b"/>
            <a:pathLst>
              <a:path w="8388" h="28">
                <a:moveTo>
                  <a:pt x="0" y="0"/>
                </a:moveTo>
                <a:lnTo>
                  <a:pt x="8388" y="0"/>
                </a:lnTo>
                <a:lnTo>
                  <a:pt x="838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" name=""/>
          <p:cNvSpPr/>
          <p:nvPr/>
        </p:nvSpPr>
        <p:spPr>
          <a:xfrm>
            <a:off x="5190840" y="4895640"/>
            <a:ext cx="5372640" cy="10080"/>
          </a:xfrm>
          <a:custGeom>
            <a:avLst/>
            <a:gdLst/>
            <a:ahLst/>
            <a:rect l="0" t="0" r="r" b="b"/>
            <a:pathLst>
              <a:path w="14924" h="28">
                <a:moveTo>
                  <a:pt x="0" y="0"/>
                </a:moveTo>
                <a:lnTo>
                  <a:pt x="14924" y="0"/>
                </a:lnTo>
                <a:lnTo>
                  <a:pt x="1492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" name=""/>
          <p:cNvSpPr txBox="1"/>
          <p:nvPr/>
        </p:nvSpPr>
        <p:spPr>
          <a:xfrm>
            <a:off x="747720" y="342360"/>
            <a:ext cx="496800" cy="58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480" b="1" u="none" strike="noStrike">
                <a:solidFill>
                  <a:srgbClr val="224466"/>
                </a:solidFill>
                <a:effectLst/>
                <a:uFillTx/>
                <a:latin typeface="SegoeUI"/>
                <a:ea typeface="SegoeUI"/>
              </a:rPr>
              <a:t>4. </a:t>
            </a:r>
            <a:endParaRPr lang="en-US" sz="34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" name=""/>
          <p:cNvSpPr txBox="1"/>
          <p:nvPr/>
        </p:nvSpPr>
        <p:spPr>
          <a:xfrm>
            <a:off x="1230480" y="377280"/>
            <a:ext cx="3094560" cy="53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3480" b="0" u="none" strike="noStrike">
                <a:solidFill>
                  <a:srgbClr val="224466"/>
                </a:solidFill>
                <a:effectLst/>
                <a:uFillTx/>
                <a:latin typeface="NotoSansSC"/>
                <a:ea typeface="NotoSansSC"/>
              </a:rPr>
              <a:t>认证与权限设计</a:t>
            </a:r>
            <a:endParaRPr lang="en-US" sz="34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" name=""/>
          <p:cNvSpPr txBox="1"/>
          <p:nvPr/>
        </p:nvSpPr>
        <p:spPr>
          <a:xfrm>
            <a:off x="747720" y="1238400"/>
            <a:ext cx="2764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双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3" name=""/>
          <p:cNvSpPr txBox="1"/>
          <p:nvPr/>
        </p:nvSpPr>
        <p:spPr>
          <a:xfrm>
            <a:off x="1023840" y="1216440"/>
            <a:ext cx="195048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Token </a:t>
            </a: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- Access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" name=""/>
          <p:cNvSpPr txBox="1"/>
          <p:nvPr/>
        </p:nvSpPr>
        <p:spPr>
          <a:xfrm>
            <a:off x="2912400" y="1238400"/>
            <a:ext cx="2764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（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" name=""/>
          <p:cNvSpPr txBox="1"/>
          <p:nvPr/>
        </p:nvSpPr>
        <p:spPr>
          <a:xfrm>
            <a:off x="3188880" y="1216440"/>
            <a:ext cx="29808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15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" name=""/>
          <p:cNvSpPr txBox="1"/>
          <p:nvPr/>
        </p:nvSpPr>
        <p:spPr>
          <a:xfrm>
            <a:off x="3486600" y="1238400"/>
            <a:ext cx="82836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分钟）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" name=""/>
          <p:cNvSpPr txBox="1"/>
          <p:nvPr/>
        </p:nvSpPr>
        <p:spPr>
          <a:xfrm>
            <a:off x="4315320" y="1216440"/>
            <a:ext cx="117396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+ Refresh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" name=""/>
          <p:cNvSpPr txBox="1"/>
          <p:nvPr/>
        </p:nvSpPr>
        <p:spPr>
          <a:xfrm>
            <a:off x="5481720" y="1238400"/>
            <a:ext cx="2764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（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" name=""/>
          <p:cNvSpPr txBox="1"/>
          <p:nvPr/>
        </p:nvSpPr>
        <p:spPr>
          <a:xfrm>
            <a:off x="5758200" y="1216440"/>
            <a:ext cx="27576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7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" name=""/>
          <p:cNvSpPr txBox="1"/>
          <p:nvPr/>
        </p:nvSpPr>
        <p:spPr>
          <a:xfrm>
            <a:off x="5906880" y="1238400"/>
            <a:ext cx="13798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天）；被盗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" name=""/>
          <p:cNvSpPr txBox="1"/>
          <p:nvPr/>
        </p:nvSpPr>
        <p:spPr>
          <a:xfrm>
            <a:off x="7149960" y="1216440"/>
            <a:ext cx="96300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Access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" name=""/>
          <p:cNvSpPr txBox="1"/>
          <p:nvPr/>
        </p:nvSpPr>
        <p:spPr>
          <a:xfrm>
            <a:off x="8113680" y="1238400"/>
            <a:ext cx="2764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仅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" name=""/>
          <p:cNvSpPr txBox="1"/>
          <p:nvPr/>
        </p:nvSpPr>
        <p:spPr>
          <a:xfrm>
            <a:off x="8389800" y="1216440"/>
            <a:ext cx="44928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15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" name=""/>
          <p:cNvSpPr txBox="1"/>
          <p:nvPr/>
        </p:nvSpPr>
        <p:spPr>
          <a:xfrm>
            <a:off x="8839080" y="1238400"/>
            <a:ext cx="13798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分钟窗⼝，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" name=""/>
          <p:cNvSpPr txBox="1"/>
          <p:nvPr/>
        </p:nvSpPr>
        <p:spPr>
          <a:xfrm>
            <a:off x="10220040" y="1216440"/>
            <a:ext cx="90972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Refresh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" name=""/>
          <p:cNvSpPr txBox="1"/>
          <p:nvPr/>
        </p:nvSpPr>
        <p:spPr>
          <a:xfrm>
            <a:off x="747720" y="1647720"/>
            <a:ext cx="193176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被盗可⽴刻拉⿊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" name=""/>
          <p:cNvSpPr txBox="1"/>
          <p:nvPr/>
        </p:nvSpPr>
        <p:spPr>
          <a:xfrm>
            <a:off x="747720" y="2219400"/>
            <a:ext cx="13798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权限边界（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8" name=""/>
          <p:cNvSpPr txBox="1"/>
          <p:nvPr/>
        </p:nvSpPr>
        <p:spPr>
          <a:xfrm>
            <a:off x="2128680" y="2197440"/>
            <a:ext cx="72360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RBAC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" name=""/>
          <p:cNvSpPr txBox="1"/>
          <p:nvPr/>
        </p:nvSpPr>
        <p:spPr>
          <a:xfrm>
            <a:off x="2820600" y="2219400"/>
            <a:ext cx="2764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）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" name=""/>
          <p:cNvSpPr txBox="1"/>
          <p:nvPr/>
        </p:nvSpPr>
        <p:spPr>
          <a:xfrm>
            <a:off x="1181160" y="2847960"/>
            <a:ext cx="5522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⻆⾊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" name=""/>
          <p:cNvSpPr txBox="1"/>
          <p:nvPr/>
        </p:nvSpPr>
        <p:spPr>
          <a:xfrm>
            <a:off x="3395880" y="2847960"/>
            <a:ext cx="5522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权限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" name=""/>
          <p:cNvSpPr txBox="1"/>
          <p:nvPr/>
        </p:nvSpPr>
        <p:spPr>
          <a:xfrm>
            <a:off x="7342560" y="2826000"/>
            <a:ext cx="52776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API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" name=""/>
          <p:cNvSpPr txBox="1"/>
          <p:nvPr/>
        </p:nvSpPr>
        <p:spPr>
          <a:xfrm>
            <a:off x="7845840" y="2847960"/>
            <a:ext cx="5522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端点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" name=""/>
          <p:cNvSpPr txBox="1"/>
          <p:nvPr/>
        </p:nvSpPr>
        <p:spPr>
          <a:xfrm>
            <a:off x="880920" y="3369240"/>
            <a:ext cx="51408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user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" name=""/>
          <p:cNvSpPr txBox="1"/>
          <p:nvPr/>
        </p:nvSpPr>
        <p:spPr>
          <a:xfrm>
            <a:off x="2291040" y="3390840"/>
            <a:ext cx="24832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查酒店、下单、⽀付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6" name=""/>
          <p:cNvSpPr txBox="1"/>
          <p:nvPr/>
        </p:nvSpPr>
        <p:spPr>
          <a:xfrm>
            <a:off x="5310360" y="3369240"/>
            <a:ext cx="438840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GET /hotels, POST /orders, PUT /pay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7" name=""/>
          <p:cNvSpPr txBox="1"/>
          <p:nvPr/>
        </p:nvSpPr>
        <p:spPr>
          <a:xfrm>
            <a:off x="880920" y="3902400"/>
            <a:ext cx="115200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merchant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8" name=""/>
          <p:cNvSpPr txBox="1"/>
          <p:nvPr/>
        </p:nvSpPr>
        <p:spPr>
          <a:xfrm>
            <a:off x="2291040" y="3924360"/>
            <a:ext cx="16556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管理⾃家酒店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" name=""/>
          <p:cNvSpPr txBox="1"/>
          <p:nvPr/>
        </p:nvSpPr>
        <p:spPr>
          <a:xfrm>
            <a:off x="5310360" y="3902400"/>
            <a:ext cx="323460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GET/POST/PUT /my-hotels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" name=""/>
          <p:cNvSpPr txBox="1"/>
          <p:nvPr/>
        </p:nvSpPr>
        <p:spPr>
          <a:xfrm>
            <a:off x="880920" y="4445280"/>
            <a:ext cx="76392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admin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1" name=""/>
          <p:cNvSpPr txBox="1"/>
          <p:nvPr/>
        </p:nvSpPr>
        <p:spPr>
          <a:xfrm>
            <a:off x="2291040" y="4467240"/>
            <a:ext cx="27590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审核、发布、全局管理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2" name=""/>
          <p:cNvSpPr txBox="1"/>
          <p:nvPr/>
        </p:nvSpPr>
        <p:spPr>
          <a:xfrm>
            <a:off x="5310360" y="4445280"/>
            <a:ext cx="511380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PUT /admin/approve, /publish, /unpublish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3" name=""/>
          <p:cNvSpPr txBox="1"/>
          <p:nvPr/>
        </p:nvSpPr>
        <p:spPr>
          <a:xfrm>
            <a:off x="747720" y="5095800"/>
            <a:ext cx="193176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实现：路由前置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4" name=""/>
          <p:cNvSpPr txBox="1"/>
          <p:nvPr/>
        </p:nvSpPr>
        <p:spPr>
          <a:xfrm>
            <a:off x="2681280" y="5074200"/>
            <a:ext cx="74160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auth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5" name=""/>
          <p:cNvSpPr txBox="1"/>
          <p:nvPr/>
        </p:nvSpPr>
        <p:spPr>
          <a:xfrm>
            <a:off x="3399120" y="5095800"/>
            <a:ext cx="82836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中间件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6" name=""/>
          <p:cNvSpPr/>
          <p:nvPr/>
        </p:nvSpPr>
        <p:spPr>
          <a:xfrm>
            <a:off x="4305240" y="5105160"/>
            <a:ext cx="2248200" cy="371880"/>
          </a:xfrm>
          <a:custGeom>
            <a:avLst/>
            <a:gdLst/>
            <a:ahLst/>
            <a:rect l="0" t="0" r="r" b="b"/>
            <a:pathLst>
              <a:path w="6245" h="1033">
                <a:moveTo>
                  <a:pt x="0" y="874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79"/>
                  <a:pt x="26" y="71"/>
                </a:cubicBezTo>
                <a:cubicBezTo>
                  <a:pt x="32" y="62"/>
                  <a:pt x="39" y="54"/>
                  <a:pt x="46" y="47"/>
                </a:cubicBezTo>
                <a:cubicBezTo>
                  <a:pt x="54" y="39"/>
                  <a:pt x="62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7" y="3"/>
                </a:cubicBezTo>
                <a:cubicBezTo>
                  <a:pt x="138" y="1"/>
                  <a:pt x="148" y="0"/>
                  <a:pt x="158" y="0"/>
                </a:cubicBezTo>
                <a:lnTo>
                  <a:pt x="6086" y="0"/>
                </a:lnTo>
                <a:cubicBezTo>
                  <a:pt x="6097" y="0"/>
                  <a:pt x="6107" y="1"/>
                  <a:pt x="6117" y="3"/>
                </a:cubicBezTo>
                <a:cubicBezTo>
                  <a:pt x="6127" y="5"/>
                  <a:pt x="6137" y="8"/>
                  <a:pt x="6147" y="12"/>
                </a:cubicBezTo>
                <a:cubicBezTo>
                  <a:pt x="6156" y="16"/>
                  <a:pt x="6166" y="21"/>
                  <a:pt x="6174" y="27"/>
                </a:cubicBezTo>
                <a:cubicBezTo>
                  <a:pt x="6183" y="33"/>
                  <a:pt x="6191" y="39"/>
                  <a:pt x="6198" y="47"/>
                </a:cubicBezTo>
                <a:cubicBezTo>
                  <a:pt x="6206" y="54"/>
                  <a:pt x="6212" y="62"/>
                  <a:pt x="6218" y="71"/>
                </a:cubicBezTo>
                <a:cubicBezTo>
                  <a:pt x="6224" y="79"/>
                  <a:pt x="6229" y="89"/>
                  <a:pt x="6233" y="98"/>
                </a:cubicBezTo>
                <a:cubicBezTo>
                  <a:pt x="6237" y="108"/>
                  <a:pt x="6240" y="118"/>
                  <a:pt x="6242" y="128"/>
                </a:cubicBezTo>
                <a:cubicBezTo>
                  <a:pt x="6244" y="138"/>
                  <a:pt x="6245" y="148"/>
                  <a:pt x="6245" y="159"/>
                </a:cubicBezTo>
                <a:lnTo>
                  <a:pt x="6245" y="874"/>
                </a:lnTo>
                <a:cubicBezTo>
                  <a:pt x="6245" y="885"/>
                  <a:pt x="6244" y="895"/>
                  <a:pt x="6242" y="905"/>
                </a:cubicBezTo>
                <a:cubicBezTo>
                  <a:pt x="6240" y="915"/>
                  <a:pt x="6237" y="925"/>
                  <a:pt x="6233" y="935"/>
                </a:cubicBezTo>
                <a:cubicBezTo>
                  <a:pt x="6229" y="945"/>
                  <a:pt x="6224" y="954"/>
                  <a:pt x="6218" y="962"/>
                </a:cubicBezTo>
                <a:cubicBezTo>
                  <a:pt x="6212" y="971"/>
                  <a:pt x="6206" y="979"/>
                  <a:pt x="6198" y="987"/>
                </a:cubicBezTo>
                <a:cubicBezTo>
                  <a:pt x="6191" y="994"/>
                  <a:pt x="6183" y="1000"/>
                  <a:pt x="6174" y="1006"/>
                </a:cubicBezTo>
                <a:cubicBezTo>
                  <a:pt x="6166" y="1012"/>
                  <a:pt x="6156" y="1017"/>
                  <a:pt x="6147" y="1021"/>
                </a:cubicBezTo>
                <a:cubicBezTo>
                  <a:pt x="6137" y="1025"/>
                  <a:pt x="6127" y="1028"/>
                  <a:pt x="6117" y="1030"/>
                </a:cubicBezTo>
                <a:cubicBezTo>
                  <a:pt x="6107" y="1032"/>
                  <a:pt x="6097" y="1033"/>
                  <a:pt x="6086" y="1033"/>
                </a:cubicBezTo>
                <a:lnTo>
                  <a:pt x="158" y="1033"/>
                </a:lnTo>
                <a:cubicBezTo>
                  <a:pt x="148" y="1033"/>
                  <a:pt x="138" y="1032"/>
                  <a:pt x="127" y="1030"/>
                </a:cubicBezTo>
                <a:cubicBezTo>
                  <a:pt x="117" y="1028"/>
                  <a:pt x="107" y="1025"/>
                  <a:pt x="98" y="1021"/>
                </a:cubicBezTo>
                <a:cubicBezTo>
                  <a:pt x="88" y="1017"/>
                  <a:pt x="79" y="1012"/>
                  <a:pt x="70" y="1006"/>
                </a:cubicBezTo>
                <a:cubicBezTo>
                  <a:pt x="62" y="1000"/>
                  <a:pt x="54" y="994"/>
                  <a:pt x="46" y="987"/>
                </a:cubicBezTo>
                <a:cubicBezTo>
                  <a:pt x="39" y="979"/>
                  <a:pt x="32" y="971"/>
                  <a:pt x="26" y="962"/>
                </a:cubicBezTo>
                <a:cubicBezTo>
                  <a:pt x="21" y="954"/>
                  <a:pt x="16" y="945"/>
                  <a:pt x="12" y="935"/>
                </a:cubicBezTo>
                <a:cubicBezTo>
                  <a:pt x="8" y="925"/>
                  <a:pt x="5" y="915"/>
                  <a:pt x="3" y="905"/>
                </a:cubicBezTo>
                <a:cubicBezTo>
                  <a:pt x="1" y="895"/>
                  <a:pt x="0" y="885"/>
                  <a:pt x="0" y="874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7" name=""/>
          <p:cNvSpPr txBox="1"/>
          <p:nvPr/>
        </p:nvSpPr>
        <p:spPr>
          <a:xfrm>
            <a:off x="4227840" y="5074200"/>
            <a:ext cx="27576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8" name=""/>
          <p:cNvSpPr txBox="1"/>
          <p:nvPr/>
        </p:nvSpPr>
        <p:spPr>
          <a:xfrm>
            <a:off x="4397400" y="5196960"/>
            <a:ext cx="206532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router.use(auth)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9" name=""/>
          <p:cNvSpPr txBox="1"/>
          <p:nvPr/>
        </p:nvSpPr>
        <p:spPr>
          <a:xfrm>
            <a:off x="6557040" y="5074200"/>
            <a:ext cx="38988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→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0" name=""/>
          <p:cNvSpPr txBox="1"/>
          <p:nvPr/>
        </p:nvSpPr>
        <p:spPr>
          <a:xfrm>
            <a:off x="6946560" y="5095800"/>
            <a:ext cx="5522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验证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1" name=""/>
          <p:cNvSpPr txBox="1"/>
          <p:nvPr/>
        </p:nvSpPr>
        <p:spPr>
          <a:xfrm>
            <a:off x="7499160" y="5074200"/>
            <a:ext cx="120888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Token →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2" name=""/>
          <p:cNvSpPr txBox="1"/>
          <p:nvPr/>
        </p:nvSpPr>
        <p:spPr>
          <a:xfrm>
            <a:off x="8682120" y="5095800"/>
            <a:ext cx="5522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提取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3" name=""/>
          <p:cNvSpPr txBox="1"/>
          <p:nvPr/>
        </p:nvSpPr>
        <p:spPr>
          <a:xfrm>
            <a:off x="9234360" y="5074200"/>
            <a:ext cx="93384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role →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4" name=""/>
          <p:cNvSpPr txBox="1"/>
          <p:nvPr/>
        </p:nvSpPr>
        <p:spPr>
          <a:xfrm>
            <a:off x="10168920" y="5095800"/>
            <a:ext cx="11041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再做⻆⾊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5" name=""/>
          <p:cNvSpPr txBox="1"/>
          <p:nvPr/>
        </p:nvSpPr>
        <p:spPr>
          <a:xfrm>
            <a:off x="747720" y="5514840"/>
            <a:ext cx="5522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校验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6" name=""/>
          <p:cNvSpPr txBox="1"/>
          <p:nvPr/>
        </p:nvSpPr>
        <p:spPr>
          <a:xfrm>
            <a:off x="11783160" y="6335280"/>
            <a:ext cx="22824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SegoeUI"/>
                <a:ea typeface="SegoeUI"/>
              </a:rPr>
              <a:t>7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0" name=""/>
          <p:cNvSpPr/>
          <p:nvPr/>
        </p:nvSpPr>
        <p:spPr>
          <a:xfrm>
            <a:off x="752400" y="1552320"/>
            <a:ext cx="810000" cy="533880"/>
          </a:xfrm>
          <a:custGeom>
            <a:avLst/>
            <a:gdLst/>
            <a:ahLst/>
            <a:rect l="0" t="0" r="r" b="b"/>
            <a:pathLst>
              <a:path w="2250" h="1483">
                <a:moveTo>
                  <a:pt x="0" y="0"/>
                </a:moveTo>
                <a:lnTo>
                  <a:pt x="2250" y="0"/>
                </a:lnTo>
                <a:lnTo>
                  <a:pt x="2250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1" name=""/>
          <p:cNvSpPr/>
          <p:nvPr/>
        </p:nvSpPr>
        <p:spPr>
          <a:xfrm>
            <a:off x="1562040" y="1552320"/>
            <a:ext cx="4677120" cy="533880"/>
          </a:xfrm>
          <a:custGeom>
            <a:avLst/>
            <a:gdLst/>
            <a:ahLst/>
            <a:rect l="0" t="0" r="r" b="b"/>
            <a:pathLst>
              <a:path w="12992" h="1483">
                <a:moveTo>
                  <a:pt x="0" y="0"/>
                </a:moveTo>
                <a:lnTo>
                  <a:pt x="12992" y="0"/>
                </a:lnTo>
                <a:lnTo>
                  <a:pt x="12992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2" name=""/>
          <p:cNvSpPr/>
          <p:nvPr/>
        </p:nvSpPr>
        <p:spPr>
          <a:xfrm>
            <a:off x="6238800" y="1552320"/>
            <a:ext cx="4305600" cy="533880"/>
          </a:xfrm>
          <a:custGeom>
            <a:avLst/>
            <a:gdLst/>
            <a:ahLst/>
            <a:rect l="0" t="0" r="r" b="b"/>
            <a:pathLst>
              <a:path w="11960" h="1483">
                <a:moveTo>
                  <a:pt x="0" y="0"/>
                </a:moveTo>
                <a:lnTo>
                  <a:pt x="11960" y="0"/>
                </a:lnTo>
                <a:lnTo>
                  <a:pt x="11960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3" name=""/>
          <p:cNvSpPr/>
          <p:nvPr/>
        </p:nvSpPr>
        <p:spPr>
          <a:xfrm>
            <a:off x="752400" y="2085840"/>
            <a:ext cx="810000" cy="543240"/>
          </a:xfrm>
          <a:custGeom>
            <a:avLst/>
            <a:gdLst/>
            <a:ahLst/>
            <a:rect l="0" t="0" r="r" b="b"/>
            <a:pathLst>
              <a:path w="2250" h="1509">
                <a:moveTo>
                  <a:pt x="0" y="0"/>
                </a:moveTo>
                <a:lnTo>
                  <a:pt x="2250" y="0"/>
                </a:lnTo>
                <a:lnTo>
                  <a:pt x="2250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4" name=""/>
          <p:cNvSpPr/>
          <p:nvPr/>
        </p:nvSpPr>
        <p:spPr>
          <a:xfrm>
            <a:off x="1562040" y="2085840"/>
            <a:ext cx="4677120" cy="543240"/>
          </a:xfrm>
          <a:custGeom>
            <a:avLst/>
            <a:gdLst/>
            <a:ahLst/>
            <a:rect l="0" t="0" r="r" b="b"/>
            <a:pathLst>
              <a:path w="12992" h="1509">
                <a:moveTo>
                  <a:pt x="0" y="0"/>
                </a:moveTo>
                <a:lnTo>
                  <a:pt x="12992" y="0"/>
                </a:lnTo>
                <a:lnTo>
                  <a:pt x="12992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5" name=""/>
          <p:cNvSpPr/>
          <p:nvPr/>
        </p:nvSpPr>
        <p:spPr>
          <a:xfrm>
            <a:off x="6238800" y="2085840"/>
            <a:ext cx="4305600" cy="543240"/>
          </a:xfrm>
          <a:custGeom>
            <a:avLst/>
            <a:gdLst/>
            <a:ahLst/>
            <a:rect l="0" t="0" r="r" b="b"/>
            <a:pathLst>
              <a:path w="11960" h="1509">
                <a:moveTo>
                  <a:pt x="0" y="0"/>
                </a:moveTo>
                <a:lnTo>
                  <a:pt x="11960" y="0"/>
                </a:lnTo>
                <a:lnTo>
                  <a:pt x="11960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6" name=""/>
          <p:cNvSpPr/>
          <p:nvPr/>
        </p:nvSpPr>
        <p:spPr>
          <a:xfrm>
            <a:off x="752400" y="2628720"/>
            <a:ext cx="810000" cy="543240"/>
          </a:xfrm>
          <a:custGeom>
            <a:avLst/>
            <a:gdLst/>
            <a:ahLst/>
            <a:rect l="0" t="0" r="r" b="b"/>
            <a:pathLst>
              <a:path w="2250" h="1509">
                <a:moveTo>
                  <a:pt x="0" y="0"/>
                </a:moveTo>
                <a:lnTo>
                  <a:pt x="2250" y="0"/>
                </a:lnTo>
                <a:lnTo>
                  <a:pt x="2250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7" name=""/>
          <p:cNvSpPr/>
          <p:nvPr/>
        </p:nvSpPr>
        <p:spPr>
          <a:xfrm>
            <a:off x="1562040" y="2628720"/>
            <a:ext cx="4677120" cy="543240"/>
          </a:xfrm>
          <a:custGeom>
            <a:avLst/>
            <a:gdLst/>
            <a:ahLst/>
            <a:rect l="0" t="0" r="r" b="b"/>
            <a:pathLst>
              <a:path w="12992" h="1509">
                <a:moveTo>
                  <a:pt x="0" y="0"/>
                </a:moveTo>
                <a:lnTo>
                  <a:pt x="12992" y="0"/>
                </a:lnTo>
                <a:lnTo>
                  <a:pt x="12992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8" name=""/>
          <p:cNvSpPr/>
          <p:nvPr/>
        </p:nvSpPr>
        <p:spPr>
          <a:xfrm>
            <a:off x="6238800" y="2628720"/>
            <a:ext cx="4305600" cy="543240"/>
          </a:xfrm>
          <a:custGeom>
            <a:avLst/>
            <a:gdLst/>
            <a:ahLst/>
            <a:rect l="0" t="0" r="r" b="b"/>
            <a:pathLst>
              <a:path w="11960" h="1509">
                <a:moveTo>
                  <a:pt x="0" y="0"/>
                </a:moveTo>
                <a:lnTo>
                  <a:pt x="11960" y="0"/>
                </a:lnTo>
                <a:lnTo>
                  <a:pt x="11960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9" name=""/>
          <p:cNvSpPr/>
          <p:nvPr/>
        </p:nvSpPr>
        <p:spPr>
          <a:xfrm>
            <a:off x="752400" y="3171600"/>
            <a:ext cx="810000" cy="543240"/>
          </a:xfrm>
          <a:custGeom>
            <a:avLst/>
            <a:gdLst/>
            <a:ahLst/>
            <a:rect l="0" t="0" r="r" b="b"/>
            <a:pathLst>
              <a:path w="2250" h="1509">
                <a:moveTo>
                  <a:pt x="0" y="0"/>
                </a:moveTo>
                <a:lnTo>
                  <a:pt x="2250" y="0"/>
                </a:lnTo>
                <a:lnTo>
                  <a:pt x="2250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0" name=""/>
          <p:cNvSpPr/>
          <p:nvPr/>
        </p:nvSpPr>
        <p:spPr>
          <a:xfrm>
            <a:off x="1562040" y="3171600"/>
            <a:ext cx="4677120" cy="543240"/>
          </a:xfrm>
          <a:custGeom>
            <a:avLst/>
            <a:gdLst/>
            <a:ahLst/>
            <a:rect l="0" t="0" r="r" b="b"/>
            <a:pathLst>
              <a:path w="12992" h="1509">
                <a:moveTo>
                  <a:pt x="0" y="0"/>
                </a:moveTo>
                <a:lnTo>
                  <a:pt x="12992" y="0"/>
                </a:lnTo>
                <a:lnTo>
                  <a:pt x="12992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1" name=""/>
          <p:cNvSpPr/>
          <p:nvPr/>
        </p:nvSpPr>
        <p:spPr>
          <a:xfrm>
            <a:off x="6238800" y="3171600"/>
            <a:ext cx="4305600" cy="543240"/>
          </a:xfrm>
          <a:custGeom>
            <a:avLst/>
            <a:gdLst/>
            <a:ahLst/>
            <a:rect l="0" t="0" r="r" b="b"/>
            <a:pathLst>
              <a:path w="11960" h="1509">
                <a:moveTo>
                  <a:pt x="0" y="0"/>
                </a:moveTo>
                <a:lnTo>
                  <a:pt x="11960" y="0"/>
                </a:lnTo>
                <a:lnTo>
                  <a:pt x="11960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2" name=""/>
          <p:cNvSpPr/>
          <p:nvPr/>
        </p:nvSpPr>
        <p:spPr>
          <a:xfrm>
            <a:off x="752400" y="1542960"/>
            <a:ext cx="9720" cy="552600"/>
          </a:xfrm>
          <a:custGeom>
            <a:avLst/>
            <a:gdLst/>
            <a:ahLst/>
            <a:rect l="0" t="0" r="r" b="b"/>
            <a:pathLst>
              <a:path w="27" h="1535">
                <a:moveTo>
                  <a:pt x="0" y="0"/>
                </a:moveTo>
                <a:lnTo>
                  <a:pt x="27" y="0"/>
                </a:lnTo>
                <a:lnTo>
                  <a:pt x="27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3" name=""/>
          <p:cNvSpPr/>
          <p:nvPr/>
        </p:nvSpPr>
        <p:spPr>
          <a:xfrm>
            <a:off x="752400" y="1542960"/>
            <a:ext cx="819360" cy="9720"/>
          </a:xfrm>
          <a:custGeom>
            <a:avLst/>
            <a:gdLst/>
            <a:ahLst/>
            <a:rect l="0" t="0" r="r" b="b"/>
            <a:pathLst>
              <a:path w="2276" h="27">
                <a:moveTo>
                  <a:pt x="0" y="0"/>
                </a:moveTo>
                <a:lnTo>
                  <a:pt x="2276" y="0"/>
                </a:lnTo>
                <a:lnTo>
                  <a:pt x="227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4" name=""/>
          <p:cNvSpPr/>
          <p:nvPr/>
        </p:nvSpPr>
        <p:spPr>
          <a:xfrm>
            <a:off x="1562040" y="1542960"/>
            <a:ext cx="9720" cy="552600"/>
          </a:xfrm>
          <a:custGeom>
            <a:avLst/>
            <a:gdLst/>
            <a:ahLst/>
            <a:rect l="0" t="0" r="r" b="b"/>
            <a:pathLst>
              <a:path w="27" h="1535">
                <a:moveTo>
                  <a:pt x="0" y="0"/>
                </a:moveTo>
                <a:lnTo>
                  <a:pt x="27" y="0"/>
                </a:lnTo>
                <a:lnTo>
                  <a:pt x="27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5" name=""/>
          <p:cNvSpPr/>
          <p:nvPr/>
        </p:nvSpPr>
        <p:spPr>
          <a:xfrm>
            <a:off x="1571400" y="1542960"/>
            <a:ext cx="4677120" cy="9720"/>
          </a:xfrm>
          <a:custGeom>
            <a:avLst/>
            <a:gdLst/>
            <a:ahLst/>
            <a:rect l="0" t="0" r="r" b="b"/>
            <a:pathLst>
              <a:path w="12992" h="27">
                <a:moveTo>
                  <a:pt x="0" y="0"/>
                </a:moveTo>
                <a:lnTo>
                  <a:pt x="12992" y="0"/>
                </a:lnTo>
                <a:lnTo>
                  <a:pt x="1299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6" name=""/>
          <p:cNvSpPr/>
          <p:nvPr/>
        </p:nvSpPr>
        <p:spPr>
          <a:xfrm>
            <a:off x="6238800" y="1542960"/>
            <a:ext cx="9720" cy="552600"/>
          </a:xfrm>
          <a:custGeom>
            <a:avLst/>
            <a:gdLst/>
            <a:ahLst/>
            <a:rect l="0" t="0" r="r" b="b"/>
            <a:pathLst>
              <a:path w="27" h="1535">
                <a:moveTo>
                  <a:pt x="0" y="0"/>
                </a:moveTo>
                <a:lnTo>
                  <a:pt x="27" y="0"/>
                </a:lnTo>
                <a:lnTo>
                  <a:pt x="27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7" name=""/>
          <p:cNvSpPr/>
          <p:nvPr/>
        </p:nvSpPr>
        <p:spPr>
          <a:xfrm>
            <a:off x="6248160" y="1542960"/>
            <a:ext cx="4305600" cy="9720"/>
          </a:xfrm>
          <a:custGeom>
            <a:avLst/>
            <a:gdLst/>
            <a:ahLst/>
            <a:rect l="0" t="0" r="r" b="b"/>
            <a:pathLst>
              <a:path w="11960" h="27">
                <a:moveTo>
                  <a:pt x="0" y="0"/>
                </a:moveTo>
                <a:lnTo>
                  <a:pt x="11960" y="0"/>
                </a:lnTo>
                <a:lnTo>
                  <a:pt x="1196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8" name=""/>
          <p:cNvSpPr/>
          <p:nvPr/>
        </p:nvSpPr>
        <p:spPr>
          <a:xfrm>
            <a:off x="10544040" y="1542960"/>
            <a:ext cx="9720" cy="552600"/>
          </a:xfrm>
          <a:custGeom>
            <a:avLst/>
            <a:gdLst/>
            <a:ahLst/>
            <a:rect l="0" t="0" r="r" b="b"/>
            <a:pathLst>
              <a:path w="27" h="1535">
                <a:moveTo>
                  <a:pt x="0" y="0"/>
                </a:moveTo>
                <a:lnTo>
                  <a:pt x="27" y="0"/>
                </a:lnTo>
                <a:lnTo>
                  <a:pt x="27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9" name=""/>
          <p:cNvSpPr/>
          <p:nvPr/>
        </p:nvSpPr>
        <p:spPr>
          <a:xfrm>
            <a:off x="752400" y="2085840"/>
            <a:ext cx="819360" cy="9720"/>
          </a:xfrm>
          <a:custGeom>
            <a:avLst/>
            <a:gdLst/>
            <a:ahLst/>
            <a:rect l="0" t="0" r="r" b="b"/>
            <a:pathLst>
              <a:path w="2276" h="27">
                <a:moveTo>
                  <a:pt x="0" y="0"/>
                </a:moveTo>
                <a:lnTo>
                  <a:pt x="2276" y="0"/>
                </a:lnTo>
                <a:lnTo>
                  <a:pt x="227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0" name=""/>
          <p:cNvSpPr/>
          <p:nvPr/>
        </p:nvSpPr>
        <p:spPr>
          <a:xfrm>
            <a:off x="1571400" y="2085840"/>
            <a:ext cx="4677120" cy="9720"/>
          </a:xfrm>
          <a:custGeom>
            <a:avLst/>
            <a:gdLst/>
            <a:ahLst/>
            <a:rect l="0" t="0" r="r" b="b"/>
            <a:pathLst>
              <a:path w="12992" h="27">
                <a:moveTo>
                  <a:pt x="0" y="0"/>
                </a:moveTo>
                <a:lnTo>
                  <a:pt x="12992" y="0"/>
                </a:lnTo>
                <a:lnTo>
                  <a:pt x="1299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1" name=""/>
          <p:cNvSpPr/>
          <p:nvPr/>
        </p:nvSpPr>
        <p:spPr>
          <a:xfrm>
            <a:off x="6248160" y="2085840"/>
            <a:ext cx="4305600" cy="9720"/>
          </a:xfrm>
          <a:custGeom>
            <a:avLst/>
            <a:gdLst/>
            <a:ahLst/>
            <a:rect l="0" t="0" r="r" b="b"/>
            <a:pathLst>
              <a:path w="11960" h="27">
                <a:moveTo>
                  <a:pt x="0" y="0"/>
                </a:moveTo>
                <a:lnTo>
                  <a:pt x="11960" y="0"/>
                </a:lnTo>
                <a:lnTo>
                  <a:pt x="1196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2" name=""/>
          <p:cNvSpPr/>
          <p:nvPr/>
        </p:nvSpPr>
        <p:spPr>
          <a:xfrm>
            <a:off x="752400" y="209520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3" name=""/>
          <p:cNvSpPr/>
          <p:nvPr/>
        </p:nvSpPr>
        <p:spPr>
          <a:xfrm>
            <a:off x="1562040" y="209520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4" name=""/>
          <p:cNvSpPr/>
          <p:nvPr/>
        </p:nvSpPr>
        <p:spPr>
          <a:xfrm>
            <a:off x="6238800" y="209520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5" name=""/>
          <p:cNvSpPr/>
          <p:nvPr/>
        </p:nvSpPr>
        <p:spPr>
          <a:xfrm>
            <a:off x="10544040" y="209520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6" name=""/>
          <p:cNvSpPr/>
          <p:nvPr/>
        </p:nvSpPr>
        <p:spPr>
          <a:xfrm>
            <a:off x="752400" y="2638080"/>
            <a:ext cx="9720" cy="543600"/>
          </a:xfrm>
          <a:custGeom>
            <a:avLst/>
            <a:gdLst/>
            <a:ahLst/>
            <a:rect l="0" t="0" r="r" b="b"/>
            <a:pathLst>
              <a:path w="27" h="1510">
                <a:moveTo>
                  <a:pt x="0" y="0"/>
                </a:moveTo>
                <a:lnTo>
                  <a:pt x="27" y="0"/>
                </a:lnTo>
                <a:lnTo>
                  <a:pt x="27" y="1510"/>
                </a:lnTo>
                <a:lnTo>
                  <a:pt x="0" y="151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7" name=""/>
          <p:cNvSpPr/>
          <p:nvPr/>
        </p:nvSpPr>
        <p:spPr>
          <a:xfrm>
            <a:off x="752400" y="2628720"/>
            <a:ext cx="819360" cy="9720"/>
          </a:xfrm>
          <a:custGeom>
            <a:avLst/>
            <a:gdLst/>
            <a:ahLst/>
            <a:rect l="0" t="0" r="r" b="b"/>
            <a:pathLst>
              <a:path w="2276" h="27">
                <a:moveTo>
                  <a:pt x="0" y="0"/>
                </a:moveTo>
                <a:lnTo>
                  <a:pt x="2276" y="0"/>
                </a:lnTo>
                <a:lnTo>
                  <a:pt x="227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8" name=""/>
          <p:cNvSpPr/>
          <p:nvPr/>
        </p:nvSpPr>
        <p:spPr>
          <a:xfrm>
            <a:off x="1562040" y="2638080"/>
            <a:ext cx="9720" cy="543600"/>
          </a:xfrm>
          <a:custGeom>
            <a:avLst/>
            <a:gdLst/>
            <a:ahLst/>
            <a:rect l="0" t="0" r="r" b="b"/>
            <a:pathLst>
              <a:path w="27" h="1510">
                <a:moveTo>
                  <a:pt x="0" y="0"/>
                </a:moveTo>
                <a:lnTo>
                  <a:pt x="27" y="0"/>
                </a:lnTo>
                <a:lnTo>
                  <a:pt x="27" y="1510"/>
                </a:lnTo>
                <a:lnTo>
                  <a:pt x="0" y="151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9" name=""/>
          <p:cNvSpPr/>
          <p:nvPr/>
        </p:nvSpPr>
        <p:spPr>
          <a:xfrm>
            <a:off x="1571400" y="2628720"/>
            <a:ext cx="4677120" cy="9720"/>
          </a:xfrm>
          <a:custGeom>
            <a:avLst/>
            <a:gdLst/>
            <a:ahLst/>
            <a:rect l="0" t="0" r="r" b="b"/>
            <a:pathLst>
              <a:path w="12992" h="27">
                <a:moveTo>
                  <a:pt x="0" y="0"/>
                </a:moveTo>
                <a:lnTo>
                  <a:pt x="12992" y="0"/>
                </a:lnTo>
                <a:lnTo>
                  <a:pt x="1299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0" name=""/>
          <p:cNvSpPr/>
          <p:nvPr/>
        </p:nvSpPr>
        <p:spPr>
          <a:xfrm>
            <a:off x="6238800" y="2638080"/>
            <a:ext cx="9720" cy="543600"/>
          </a:xfrm>
          <a:custGeom>
            <a:avLst/>
            <a:gdLst/>
            <a:ahLst/>
            <a:rect l="0" t="0" r="r" b="b"/>
            <a:pathLst>
              <a:path w="27" h="1510">
                <a:moveTo>
                  <a:pt x="0" y="0"/>
                </a:moveTo>
                <a:lnTo>
                  <a:pt x="27" y="0"/>
                </a:lnTo>
                <a:lnTo>
                  <a:pt x="27" y="1510"/>
                </a:lnTo>
                <a:lnTo>
                  <a:pt x="0" y="151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1" name=""/>
          <p:cNvSpPr/>
          <p:nvPr/>
        </p:nvSpPr>
        <p:spPr>
          <a:xfrm>
            <a:off x="6248160" y="2628720"/>
            <a:ext cx="4305600" cy="9720"/>
          </a:xfrm>
          <a:custGeom>
            <a:avLst/>
            <a:gdLst/>
            <a:ahLst/>
            <a:rect l="0" t="0" r="r" b="b"/>
            <a:pathLst>
              <a:path w="11960" h="27">
                <a:moveTo>
                  <a:pt x="0" y="0"/>
                </a:moveTo>
                <a:lnTo>
                  <a:pt x="11960" y="0"/>
                </a:lnTo>
                <a:lnTo>
                  <a:pt x="1196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2" name=""/>
          <p:cNvSpPr/>
          <p:nvPr/>
        </p:nvSpPr>
        <p:spPr>
          <a:xfrm>
            <a:off x="10544040" y="2638080"/>
            <a:ext cx="9720" cy="543600"/>
          </a:xfrm>
          <a:custGeom>
            <a:avLst/>
            <a:gdLst/>
            <a:ahLst/>
            <a:rect l="0" t="0" r="r" b="b"/>
            <a:pathLst>
              <a:path w="27" h="1510">
                <a:moveTo>
                  <a:pt x="0" y="0"/>
                </a:moveTo>
                <a:lnTo>
                  <a:pt x="27" y="0"/>
                </a:lnTo>
                <a:lnTo>
                  <a:pt x="27" y="1510"/>
                </a:lnTo>
                <a:lnTo>
                  <a:pt x="0" y="151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3" name=""/>
          <p:cNvSpPr/>
          <p:nvPr/>
        </p:nvSpPr>
        <p:spPr>
          <a:xfrm>
            <a:off x="752400" y="3181320"/>
            <a:ext cx="9720" cy="533520"/>
          </a:xfrm>
          <a:custGeom>
            <a:avLst/>
            <a:gdLst/>
            <a:ahLst/>
            <a:rect l="0" t="0" r="r" b="b"/>
            <a:pathLst>
              <a:path w="27" h="1482">
                <a:moveTo>
                  <a:pt x="0" y="0"/>
                </a:moveTo>
                <a:lnTo>
                  <a:pt x="27" y="0"/>
                </a:lnTo>
                <a:lnTo>
                  <a:pt x="2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4" name=""/>
          <p:cNvSpPr/>
          <p:nvPr/>
        </p:nvSpPr>
        <p:spPr>
          <a:xfrm>
            <a:off x="752400" y="3171600"/>
            <a:ext cx="819360" cy="10080"/>
          </a:xfrm>
          <a:custGeom>
            <a:avLst/>
            <a:gdLst/>
            <a:ahLst/>
            <a:rect l="0" t="0" r="r" b="b"/>
            <a:pathLst>
              <a:path w="2276" h="28">
                <a:moveTo>
                  <a:pt x="0" y="0"/>
                </a:moveTo>
                <a:lnTo>
                  <a:pt x="2276" y="0"/>
                </a:lnTo>
                <a:lnTo>
                  <a:pt x="227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5" name=""/>
          <p:cNvSpPr/>
          <p:nvPr/>
        </p:nvSpPr>
        <p:spPr>
          <a:xfrm>
            <a:off x="1562040" y="3181320"/>
            <a:ext cx="9720" cy="533520"/>
          </a:xfrm>
          <a:custGeom>
            <a:avLst/>
            <a:gdLst/>
            <a:ahLst/>
            <a:rect l="0" t="0" r="r" b="b"/>
            <a:pathLst>
              <a:path w="27" h="1482">
                <a:moveTo>
                  <a:pt x="0" y="0"/>
                </a:moveTo>
                <a:lnTo>
                  <a:pt x="27" y="0"/>
                </a:lnTo>
                <a:lnTo>
                  <a:pt x="2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6" name=""/>
          <p:cNvSpPr/>
          <p:nvPr/>
        </p:nvSpPr>
        <p:spPr>
          <a:xfrm>
            <a:off x="1571400" y="3171600"/>
            <a:ext cx="4677120" cy="10080"/>
          </a:xfrm>
          <a:custGeom>
            <a:avLst/>
            <a:gdLst/>
            <a:ahLst/>
            <a:rect l="0" t="0" r="r" b="b"/>
            <a:pathLst>
              <a:path w="12992" h="28">
                <a:moveTo>
                  <a:pt x="0" y="0"/>
                </a:moveTo>
                <a:lnTo>
                  <a:pt x="12992" y="0"/>
                </a:lnTo>
                <a:lnTo>
                  <a:pt x="1299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7" name=""/>
          <p:cNvSpPr/>
          <p:nvPr/>
        </p:nvSpPr>
        <p:spPr>
          <a:xfrm>
            <a:off x="6238800" y="3181320"/>
            <a:ext cx="9720" cy="533520"/>
          </a:xfrm>
          <a:custGeom>
            <a:avLst/>
            <a:gdLst/>
            <a:ahLst/>
            <a:rect l="0" t="0" r="r" b="b"/>
            <a:pathLst>
              <a:path w="27" h="1482">
                <a:moveTo>
                  <a:pt x="0" y="0"/>
                </a:moveTo>
                <a:lnTo>
                  <a:pt x="27" y="0"/>
                </a:lnTo>
                <a:lnTo>
                  <a:pt x="2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8" name=""/>
          <p:cNvSpPr/>
          <p:nvPr/>
        </p:nvSpPr>
        <p:spPr>
          <a:xfrm>
            <a:off x="6248160" y="3171600"/>
            <a:ext cx="4305600" cy="10080"/>
          </a:xfrm>
          <a:custGeom>
            <a:avLst/>
            <a:gdLst/>
            <a:ahLst/>
            <a:rect l="0" t="0" r="r" b="b"/>
            <a:pathLst>
              <a:path w="11960" h="28">
                <a:moveTo>
                  <a:pt x="0" y="0"/>
                </a:moveTo>
                <a:lnTo>
                  <a:pt x="11960" y="0"/>
                </a:lnTo>
                <a:lnTo>
                  <a:pt x="1196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9" name=""/>
          <p:cNvSpPr/>
          <p:nvPr/>
        </p:nvSpPr>
        <p:spPr>
          <a:xfrm>
            <a:off x="10544040" y="3181320"/>
            <a:ext cx="9720" cy="533520"/>
          </a:xfrm>
          <a:custGeom>
            <a:avLst/>
            <a:gdLst/>
            <a:ahLst/>
            <a:rect l="0" t="0" r="r" b="b"/>
            <a:pathLst>
              <a:path w="27" h="1482">
                <a:moveTo>
                  <a:pt x="0" y="0"/>
                </a:moveTo>
                <a:lnTo>
                  <a:pt x="27" y="0"/>
                </a:lnTo>
                <a:lnTo>
                  <a:pt x="2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0" name=""/>
          <p:cNvSpPr/>
          <p:nvPr/>
        </p:nvSpPr>
        <p:spPr>
          <a:xfrm>
            <a:off x="752400" y="3705120"/>
            <a:ext cx="819360" cy="9720"/>
          </a:xfrm>
          <a:custGeom>
            <a:avLst/>
            <a:gdLst/>
            <a:ahLst/>
            <a:rect l="0" t="0" r="r" b="b"/>
            <a:pathLst>
              <a:path w="2276" h="27">
                <a:moveTo>
                  <a:pt x="0" y="0"/>
                </a:moveTo>
                <a:lnTo>
                  <a:pt x="2276" y="0"/>
                </a:lnTo>
                <a:lnTo>
                  <a:pt x="227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1" name=""/>
          <p:cNvSpPr/>
          <p:nvPr/>
        </p:nvSpPr>
        <p:spPr>
          <a:xfrm>
            <a:off x="1571400" y="3705120"/>
            <a:ext cx="4677120" cy="9720"/>
          </a:xfrm>
          <a:custGeom>
            <a:avLst/>
            <a:gdLst/>
            <a:ahLst/>
            <a:rect l="0" t="0" r="r" b="b"/>
            <a:pathLst>
              <a:path w="12992" h="27">
                <a:moveTo>
                  <a:pt x="0" y="0"/>
                </a:moveTo>
                <a:lnTo>
                  <a:pt x="12992" y="0"/>
                </a:lnTo>
                <a:lnTo>
                  <a:pt x="1299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2" name=""/>
          <p:cNvSpPr/>
          <p:nvPr/>
        </p:nvSpPr>
        <p:spPr>
          <a:xfrm>
            <a:off x="6248160" y="3705120"/>
            <a:ext cx="4305600" cy="9720"/>
          </a:xfrm>
          <a:custGeom>
            <a:avLst/>
            <a:gdLst/>
            <a:ahLst/>
            <a:rect l="0" t="0" r="r" b="b"/>
            <a:pathLst>
              <a:path w="11960" h="27">
                <a:moveTo>
                  <a:pt x="0" y="0"/>
                </a:moveTo>
                <a:lnTo>
                  <a:pt x="11960" y="0"/>
                </a:lnTo>
                <a:lnTo>
                  <a:pt x="1196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3" name=""/>
          <p:cNvSpPr/>
          <p:nvPr/>
        </p:nvSpPr>
        <p:spPr>
          <a:xfrm>
            <a:off x="757080" y="3871800"/>
            <a:ext cx="10687320" cy="2986200"/>
          </a:xfrm>
          <a:custGeom>
            <a:avLst/>
            <a:gdLst/>
            <a:ahLst/>
            <a:rect l="0" t="0" r="r" b="b"/>
            <a:pathLst>
              <a:path w="29687" h="8295">
                <a:moveTo>
                  <a:pt x="0" y="8243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8"/>
                  <a:pt x="11" y="90"/>
                </a:cubicBezTo>
                <a:cubicBezTo>
                  <a:pt x="15" y="81"/>
                  <a:pt x="19" y="72"/>
                  <a:pt x="24" y="64"/>
                </a:cubicBezTo>
                <a:cubicBezTo>
                  <a:pt x="30" y="57"/>
                  <a:pt x="36" y="49"/>
                  <a:pt x="43" y="42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4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4"/>
                  <a:pt x="29589" y="7"/>
                  <a:pt x="29597" y="11"/>
                </a:cubicBezTo>
                <a:cubicBezTo>
                  <a:pt x="29606" y="15"/>
                  <a:pt x="29615" y="19"/>
                  <a:pt x="29623" y="24"/>
                </a:cubicBezTo>
                <a:cubicBezTo>
                  <a:pt x="29630" y="30"/>
                  <a:pt x="29638" y="36"/>
                  <a:pt x="29645" y="42"/>
                </a:cubicBezTo>
                <a:cubicBezTo>
                  <a:pt x="29651" y="49"/>
                  <a:pt x="29657" y="57"/>
                  <a:pt x="29663" y="64"/>
                </a:cubicBezTo>
                <a:cubicBezTo>
                  <a:pt x="29668" y="72"/>
                  <a:pt x="29672" y="81"/>
                  <a:pt x="29676" y="90"/>
                </a:cubicBezTo>
                <a:cubicBezTo>
                  <a:pt x="29680" y="98"/>
                  <a:pt x="29683" y="108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8243"/>
                </a:lnTo>
                <a:cubicBezTo>
                  <a:pt x="29687" y="8252"/>
                  <a:pt x="29686" y="8262"/>
                  <a:pt x="29684" y="8271"/>
                </a:cubicBezTo>
                <a:cubicBezTo>
                  <a:pt x="29683" y="8279"/>
                  <a:pt x="29680" y="8288"/>
                  <a:pt x="29677" y="8295"/>
                </a:cubicBezTo>
                <a:lnTo>
                  <a:pt x="10" y="8295"/>
                </a:lnTo>
                <a:cubicBezTo>
                  <a:pt x="7" y="8288"/>
                  <a:pt x="4" y="8279"/>
                  <a:pt x="3" y="8271"/>
                </a:cubicBezTo>
                <a:cubicBezTo>
                  <a:pt x="1" y="8262"/>
                  <a:pt x="0" y="8252"/>
                  <a:pt x="0" y="8243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4" name=""/>
          <p:cNvSpPr/>
          <p:nvPr/>
        </p:nvSpPr>
        <p:spPr>
          <a:xfrm>
            <a:off x="757080" y="3871800"/>
            <a:ext cx="10687320" cy="2986200"/>
          </a:xfrm>
          <a:custGeom>
            <a:avLst/>
            <a:gdLst/>
            <a:ahLst/>
            <a:rect l="0" t="0" r="r" b="b"/>
            <a:pathLst>
              <a:path w="29687" h="8295">
                <a:moveTo>
                  <a:pt x="0" y="8243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8"/>
                  <a:pt x="11" y="90"/>
                </a:cubicBezTo>
                <a:cubicBezTo>
                  <a:pt x="15" y="81"/>
                  <a:pt x="19" y="72"/>
                  <a:pt x="24" y="64"/>
                </a:cubicBezTo>
                <a:cubicBezTo>
                  <a:pt x="30" y="57"/>
                  <a:pt x="36" y="49"/>
                  <a:pt x="43" y="42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4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4"/>
                  <a:pt x="29589" y="7"/>
                  <a:pt x="29597" y="11"/>
                </a:cubicBezTo>
                <a:cubicBezTo>
                  <a:pt x="29606" y="15"/>
                  <a:pt x="29615" y="19"/>
                  <a:pt x="29623" y="24"/>
                </a:cubicBezTo>
                <a:cubicBezTo>
                  <a:pt x="29630" y="30"/>
                  <a:pt x="29638" y="36"/>
                  <a:pt x="29645" y="42"/>
                </a:cubicBezTo>
                <a:cubicBezTo>
                  <a:pt x="29651" y="49"/>
                  <a:pt x="29657" y="57"/>
                  <a:pt x="29663" y="64"/>
                </a:cubicBezTo>
                <a:cubicBezTo>
                  <a:pt x="29668" y="72"/>
                  <a:pt x="29672" y="81"/>
                  <a:pt x="29676" y="90"/>
                </a:cubicBezTo>
                <a:cubicBezTo>
                  <a:pt x="29680" y="98"/>
                  <a:pt x="29683" y="108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8243"/>
                </a:lnTo>
                <a:cubicBezTo>
                  <a:pt x="29687" y="8252"/>
                  <a:pt x="29686" y="8262"/>
                  <a:pt x="29684" y="8271"/>
                </a:cubicBezTo>
                <a:cubicBezTo>
                  <a:pt x="29683" y="8279"/>
                  <a:pt x="29680" y="8288"/>
                  <a:pt x="29677" y="8295"/>
                </a:cubicBezTo>
                <a:lnTo>
                  <a:pt x="10" y="8295"/>
                </a:lnTo>
                <a:cubicBezTo>
                  <a:pt x="7" y="8288"/>
                  <a:pt x="4" y="8279"/>
                  <a:pt x="3" y="8271"/>
                </a:cubicBezTo>
                <a:cubicBezTo>
                  <a:pt x="1" y="8262"/>
                  <a:pt x="0" y="8252"/>
                  <a:pt x="0" y="8243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5" name=""/>
          <p:cNvSpPr txBox="1"/>
          <p:nvPr/>
        </p:nvSpPr>
        <p:spPr>
          <a:xfrm>
            <a:off x="747720" y="123120"/>
            <a:ext cx="870480" cy="58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480" b="1" u="none" strike="noStrike">
                <a:solidFill>
                  <a:srgbClr val="224466"/>
                </a:solidFill>
                <a:effectLst/>
                <a:uFillTx/>
                <a:latin typeface="SegoeUI"/>
                <a:ea typeface="SegoeUI"/>
              </a:rPr>
              <a:t>4.5. </a:t>
            </a:r>
            <a:endParaRPr lang="en-US" sz="34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6" name=""/>
          <p:cNvSpPr txBox="1"/>
          <p:nvPr/>
        </p:nvSpPr>
        <p:spPr>
          <a:xfrm>
            <a:off x="1582560" y="158040"/>
            <a:ext cx="2652480" cy="53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3480" b="0" u="none" strike="noStrike">
                <a:solidFill>
                  <a:srgbClr val="224466"/>
                </a:solidFill>
                <a:effectLst/>
                <a:uFillTx/>
                <a:latin typeface="NotoSansSC"/>
                <a:ea typeface="NotoSansSC"/>
              </a:rPr>
              <a:t>密码安全机制</a:t>
            </a:r>
            <a:endParaRPr lang="en-US" sz="34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7" name=""/>
          <p:cNvSpPr txBox="1"/>
          <p:nvPr/>
        </p:nvSpPr>
        <p:spPr>
          <a:xfrm>
            <a:off x="747720" y="1019160"/>
            <a:ext cx="11041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密码存储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8" name=""/>
          <p:cNvSpPr txBox="1"/>
          <p:nvPr/>
        </p:nvSpPr>
        <p:spPr>
          <a:xfrm>
            <a:off x="1852560" y="997200"/>
            <a:ext cx="27576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-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9" name=""/>
          <p:cNvSpPr txBox="1"/>
          <p:nvPr/>
        </p:nvSpPr>
        <p:spPr>
          <a:xfrm>
            <a:off x="2115360" y="1019160"/>
            <a:ext cx="22075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不存明⽂，存哈希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0" name=""/>
          <p:cNvSpPr txBox="1"/>
          <p:nvPr/>
        </p:nvSpPr>
        <p:spPr>
          <a:xfrm>
            <a:off x="880920" y="1647720"/>
            <a:ext cx="5522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阶段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1" name=""/>
          <p:cNvSpPr txBox="1"/>
          <p:nvPr/>
        </p:nvSpPr>
        <p:spPr>
          <a:xfrm>
            <a:off x="3348000" y="1647720"/>
            <a:ext cx="11041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处理⽅式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2" name=""/>
          <p:cNvSpPr txBox="1"/>
          <p:nvPr/>
        </p:nvSpPr>
        <p:spPr>
          <a:xfrm>
            <a:off x="8116560" y="1647720"/>
            <a:ext cx="5522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⽬的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3" name=""/>
          <p:cNvSpPr/>
          <p:nvPr/>
        </p:nvSpPr>
        <p:spPr>
          <a:xfrm>
            <a:off x="1695240" y="2199960"/>
            <a:ext cx="3524760" cy="371880"/>
          </a:xfrm>
          <a:custGeom>
            <a:avLst/>
            <a:gdLst/>
            <a:ahLst/>
            <a:rect l="0" t="0" r="r" b="b"/>
            <a:pathLst>
              <a:path w="9791" h="1033">
                <a:moveTo>
                  <a:pt x="0" y="874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80"/>
                  <a:pt x="27" y="71"/>
                </a:cubicBezTo>
                <a:cubicBezTo>
                  <a:pt x="33" y="62"/>
                  <a:pt x="39" y="54"/>
                  <a:pt x="47" y="47"/>
                </a:cubicBezTo>
                <a:cubicBezTo>
                  <a:pt x="54" y="40"/>
                  <a:pt x="62" y="33"/>
                  <a:pt x="71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9632" y="0"/>
                </a:lnTo>
                <a:cubicBezTo>
                  <a:pt x="9642" y="0"/>
                  <a:pt x="9653" y="1"/>
                  <a:pt x="9663" y="3"/>
                </a:cubicBezTo>
                <a:cubicBezTo>
                  <a:pt x="9673" y="5"/>
                  <a:pt x="9683" y="8"/>
                  <a:pt x="9693" y="12"/>
                </a:cubicBezTo>
                <a:cubicBezTo>
                  <a:pt x="9702" y="16"/>
                  <a:pt x="9711" y="21"/>
                  <a:pt x="9720" y="27"/>
                </a:cubicBezTo>
                <a:cubicBezTo>
                  <a:pt x="9729" y="33"/>
                  <a:pt x="9737" y="40"/>
                  <a:pt x="9744" y="47"/>
                </a:cubicBezTo>
                <a:cubicBezTo>
                  <a:pt x="9752" y="54"/>
                  <a:pt x="9758" y="62"/>
                  <a:pt x="9764" y="71"/>
                </a:cubicBezTo>
                <a:cubicBezTo>
                  <a:pt x="9770" y="80"/>
                  <a:pt x="9775" y="89"/>
                  <a:pt x="9779" y="98"/>
                </a:cubicBezTo>
                <a:cubicBezTo>
                  <a:pt x="9783" y="108"/>
                  <a:pt x="9786" y="118"/>
                  <a:pt x="9788" y="128"/>
                </a:cubicBezTo>
                <a:cubicBezTo>
                  <a:pt x="9790" y="138"/>
                  <a:pt x="9791" y="149"/>
                  <a:pt x="9791" y="159"/>
                </a:cubicBezTo>
                <a:lnTo>
                  <a:pt x="9791" y="874"/>
                </a:lnTo>
                <a:cubicBezTo>
                  <a:pt x="9791" y="885"/>
                  <a:pt x="9790" y="895"/>
                  <a:pt x="9788" y="905"/>
                </a:cubicBezTo>
                <a:cubicBezTo>
                  <a:pt x="9786" y="916"/>
                  <a:pt x="9783" y="926"/>
                  <a:pt x="9779" y="935"/>
                </a:cubicBezTo>
                <a:cubicBezTo>
                  <a:pt x="9775" y="945"/>
                  <a:pt x="9770" y="954"/>
                  <a:pt x="9764" y="963"/>
                </a:cubicBezTo>
                <a:cubicBezTo>
                  <a:pt x="9758" y="971"/>
                  <a:pt x="9752" y="979"/>
                  <a:pt x="9744" y="987"/>
                </a:cubicBezTo>
                <a:cubicBezTo>
                  <a:pt x="9737" y="994"/>
                  <a:pt x="9729" y="1001"/>
                  <a:pt x="9720" y="1006"/>
                </a:cubicBezTo>
                <a:cubicBezTo>
                  <a:pt x="9711" y="1012"/>
                  <a:pt x="9702" y="1017"/>
                  <a:pt x="9693" y="1021"/>
                </a:cubicBezTo>
                <a:cubicBezTo>
                  <a:pt x="9683" y="1025"/>
                  <a:pt x="9673" y="1028"/>
                  <a:pt x="9663" y="1030"/>
                </a:cubicBezTo>
                <a:cubicBezTo>
                  <a:pt x="9653" y="1032"/>
                  <a:pt x="9642" y="1033"/>
                  <a:pt x="9632" y="1033"/>
                </a:cubicBezTo>
                <a:lnTo>
                  <a:pt x="159" y="1033"/>
                </a:lnTo>
                <a:cubicBezTo>
                  <a:pt x="148" y="1033"/>
                  <a:pt x="138" y="1032"/>
                  <a:pt x="128" y="1030"/>
                </a:cubicBezTo>
                <a:cubicBezTo>
                  <a:pt x="118" y="1028"/>
                  <a:pt x="108" y="1025"/>
                  <a:pt x="98" y="1021"/>
                </a:cubicBezTo>
                <a:cubicBezTo>
                  <a:pt x="88" y="1017"/>
                  <a:pt x="79" y="1012"/>
                  <a:pt x="71" y="1006"/>
                </a:cubicBezTo>
                <a:cubicBezTo>
                  <a:pt x="62" y="1001"/>
                  <a:pt x="54" y="994"/>
                  <a:pt x="47" y="987"/>
                </a:cubicBezTo>
                <a:cubicBezTo>
                  <a:pt x="39" y="979"/>
                  <a:pt x="33" y="971"/>
                  <a:pt x="27" y="963"/>
                </a:cubicBezTo>
                <a:cubicBezTo>
                  <a:pt x="21" y="954"/>
                  <a:pt x="16" y="945"/>
                  <a:pt x="12" y="935"/>
                </a:cubicBezTo>
                <a:cubicBezTo>
                  <a:pt x="8" y="926"/>
                  <a:pt x="5" y="916"/>
                  <a:pt x="3" y="905"/>
                </a:cubicBezTo>
                <a:cubicBezTo>
                  <a:pt x="1" y="895"/>
                  <a:pt x="0" y="885"/>
                  <a:pt x="0" y="874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4" name=""/>
          <p:cNvSpPr txBox="1"/>
          <p:nvPr/>
        </p:nvSpPr>
        <p:spPr>
          <a:xfrm>
            <a:off x="880920" y="2190600"/>
            <a:ext cx="5522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注册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5" name=""/>
          <p:cNvSpPr txBox="1"/>
          <p:nvPr/>
        </p:nvSpPr>
        <p:spPr>
          <a:xfrm>
            <a:off x="1784520" y="2291760"/>
            <a:ext cx="90396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bcrypt(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6" name=""/>
          <p:cNvSpPr txBox="1"/>
          <p:nvPr/>
        </p:nvSpPr>
        <p:spPr>
          <a:xfrm>
            <a:off x="2688120" y="2264400"/>
            <a:ext cx="47016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850" b="0" u="none" strike="noStrike">
                <a:solidFill>
                  <a:srgbClr val="1F2328"/>
                </a:solidFill>
                <a:effectLst/>
                <a:uFillTx/>
                <a:latin typeface="NSimSun"/>
                <a:ea typeface="NSimSun"/>
              </a:rPr>
              <a:t>密码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7" name=""/>
          <p:cNvSpPr txBox="1"/>
          <p:nvPr/>
        </p:nvSpPr>
        <p:spPr>
          <a:xfrm>
            <a:off x="3157920" y="2291760"/>
            <a:ext cx="38772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+ 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8" name=""/>
          <p:cNvSpPr txBox="1"/>
          <p:nvPr/>
        </p:nvSpPr>
        <p:spPr>
          <a:xfrm>
            <a:off x="3544920" y="2264400"/>
            <a:ext cx="70488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850" b="0" u="none" strike="noStrike">
                <a:solidFill>
                  <a:srgbClr val="1F2328"/>
                </a:solidFill>
                <a:effectLst/>
                <a:uFillTx/>
                <a:latin typeface="NSimSun"/>
                <a:ea typeface="NSimSun"/>
              </a:rPr>
              <a:t>随机盐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9" name=""/>
          <p:cNvSpPr txBox="1"/>
          <p:nvPr/>
        </p:nvSpPr>
        <p:spPr>
          <a:xfrm>
            <a:off x="4249440" y="2291760"/>
            <a:ext cx="51696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, 10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0" name=""/>
          <p:cNvSpPr txBox="1"/>
          <p:nvPr/>
        </p:nvSpPr>
        <p:spPr>
          <a:xfrm>
            <a:off x="4765680" y="2264400"/>
            <a:ext cx="2354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850" b="0" u="none" strike="noStrike">
                <a:solidFill>
                  <a:srgbClr val="1F2328"/>
                </a:solidFill>
                <a:effectLst/>
                <a:uFillTx/>
                <a:latin typeface="NSimSun"/>
                <a:ea typeface="NSimSun"/>
              </a:rPr>
              <a:t>轮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1" name=""/>
          <p:cNvSpPr txBox="1"/>
          <p:nvPr/>
        </p:nvSpPr>
        <p:spPr>
          <a:xfrm>
            <a:off x="5000760" y="2291760"/>
            <a:ext cx="23436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)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2" name=""/>
          <p:cNvSpPr txBox="1"/>
          <p:nvPr/>
        </p:nvSpPr>
        <p:spPr>
          <a:xfrm>
            <a:off x="6367320" y="2190600"/>
            <a:ext cx="16556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防⽌彩虹表；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3" name=""/>
          <p:cNvSpPr txBox="1"/>
          <p:nvPr/>
        </p:nvSpPr>
        <p:spPr>
          <a:xfrm>
            <a:off x="8024760" y="2169000"/>
            <a:ext cx="29808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10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4" name=""/>
          <p:cNvSpPr txBox="1"/>
          <p:nvPr/>
        </p:nvSpPr>
        <p:spPr>
          <a:xfrm>
            <a:off x="8322480" y="2190600"/>
            <a:ext cx="11041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轮损耗：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5" name=""/>
          <p:cNvSpPr txBox="1"/>
          <p:nvPr/>
        </p:nvSpPr>
        <p:spPr>
          <a:xfrm>
            <a:off x="9427680" y="2169000"/>
            <a:ext cx="99000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~100ms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6" name=""/>
          <p:cNvSpPr/>
          <p:nvPr/>
        </p:nvSpPr>
        <p:spPr>
          <a:xfrm>
            <a:off x="1695240" y="2742840"/>
            <a:ext cx="4381920" cy="371880"/>
          </a:xfrm>
          <a:custGeom>
            <a:avLst/>
            <a:gdLst/>
            <a:ahLst/>
            <a:rect l="0" t="0" r="r" b="b"/>
            <a:pathLst>
              <a:path w="12172" h="1033">
                <a:moveTo>
                  <a:pt x="0" y="875"/>
                </a:moveTo>
                <a:lnTo>
                  <a:pt x="0" y="160"/>
                </a:lnTo>
                <a:cubicBezTo>
                  <a:pt x="0" y="150"/>
                  <a:pt x="1" y="140"/>
                  <a:pt x="3" y="129"/>
                </a:cubicBezTo>
                <a:cubicBezTo>
                  <a:pt x="5" y="119"/>
                  <a:pt x="8" y="108"/>
                  <a:pt x="12" y="98"/>
                </a:cubicBezTo>
                <a:cubicBezTo>
                  <a:pt x="16" y="89"/>
                  <a:pt x="21" y="80"/>
                  <a:pt x="27" y="71"/>
                </a:cubicBezTo>
                <a:cubicBezTo>
                  <a:pt x="33" y="62"/>
                  <a:pt x="39" y="54"/>
                  <a:pt x="47" y="47"/>
                </a:cubicBezTo>
                <a:cubicBezTo>
                  <a:pt x="54" y="40"/>
                  <a:pt x="62" y="33"/>
                  <a:pt x="71" y="27"/>
                </a:cubicBezTo>
                <a:cubicBezTo>
                  <a:pt x="79" y="21"/>
                  <a:pt x="88" y="17"/>
                  <a:pt x="98" y="13"/>
                </a:cubicBezTo>
                <a:cubicBezTo>
                  <a:pt x="108" y="9"/>
                  <a:pt x="118" y="6"/>
                  <a:pt x="128" y="4"/>
                </a:cubicBezTo>
                <a:cubicBezTo>
                  <a:pt x="138" y="2"/>
                  <a:pt x="148" y="0"/>
                  <a:pt x="159" y="0"/>
                </a:cubicBezTo>
                <a:lnTo>
                  <a:pt x="12013" y="0"/>
                </a:lnTo>
                <a:cubicBezTo>
                  <a:pt x="12024" y="0"/>
                  <a:pt x="12034" y="2"/>
                  <a:pt x="12044" y="4"/>
                </a:cubicBezTo>
                <a:cubicBezTo>
                  <a:pt x="12054" y="6"/>
                  <a:pt x="12064" y="9"/>
                  <a:pt x="12074" y="13"/>
                </a:cubicBezTo>
                <a:cubicBezTo>
                  <a:pt x="12084" y="17"/>
                  <a:pt x="12093" y="21"/>
                  <a:pt x="12101" y="27"/>
                </a:cubicBezTo>
                <a:cubicBezTo>
                  <a:pt x="12110" y="33"/>
                  <a:pt x="12118" y="40"/>
                  <a:pt x="12125" y="47"/>
                </a:cubicBezTo>
                <a:cubicBezTo>
                  <a:pt x="12133" y="54"/>
                  <a:pt x="12139" y="62"/>
                  <a:pt x="12145" y="71"/>
                </a:cubicBezTo>
                <a:cubicBezTo>
                  <a:pt x="12151" y="80"/>
                  <a:pt x="12156" y="89"/>
                  <a:pt x="12160" y="98"/>
                </a:cubicBezTo>
                <a:cubicBezTo>
                  <a:pt x="12164" y="108"/>
                  <a:pt x="12167" y="119"/>
                  <a:pt x="12169" y="129"/>
                </a:cubicBezTo>
                <a:cubicBezTo>
                  <a:pt x="12171" y="140"/>
                  <a:pt x="12172" y="150"/>
                  <a:pt x="12172" y="160"/>
                </a:cubicBezTo>
                <a:lnTo>
                  <a:pt x="12172" y="875"/>
                </a:lnTo>
                <a:cubicBezTo>
                  <a:pt x="12172" y="885"/>
                  <a:pt x="12171" y="895"/>
                  <a:pt x="12169" y="906"/>
                </a:cubicBezTo>
                <a:cubicBezTo>
                  <a:pt x="12167" y="916"/>
                  <a:pt x="12164" y="926"/>
                  <a:pt x="12160" y="935"/>
                </a:cubicBezTo>
                <a:cubicBezTo>
                  <a:pt x="12156" y="945"/>
                  <a:pt x="12151" y="954"/>
                  <a:pt x="12145" y="963"/>
                </a:cubicBezTo>
                <a:cubicBezTo>
                  <a:pt x="12139" y="971"/>
                  <a:pt x="12133" y="980"/>
                  <a:pt x="12125" y="987"/>
                </a:cubicBezTo>
                <a:cubicBezTo>
                  <a:pt x="12118" y="994"/>
                  <a:pt x="12110" y="1001"/>
                  <a:pt x="12101" y="1007"/>
                </a:cubicBezTo>
                <a:cubicBezTo>
                  <a:pt x="12093" y="1012"/>
                  <a:pt x="12084" y="1017"/>
                  <a:pt x="12074" y="1021"/>
                </a:cubicBezTo>
                <a:cubicBezTo>
                  <a:pt x="12064" y="1025"/>
                  <a:pt x="12054" y="1028"/>
                  <a:pt x="12044" y="1030"/>
                </a:cubicBezTo>
                <a:cubicBezTo>
                  <a:pt x="12034" y="1032"/>
                  <a:pt x="12024" y="1033"/>
                  <a:pt x="12013" y="1033"/>
                </a:cubicBezTo>
                <a:lnTo>
                  <a:pt x="159" y="1033"/>
                </a:lnTo>
                <a:cubicBezTo>
                  <a:pt x="148" y="1033"/>
                  <a:pt x="138" y="1032"/>
                  <a:pt x="128" y="1030"/>
                </a:cubicBezTo>
                <a:cubicBezTo>
                  <a:pt x="118" y="1028"/>
                  <a:pt x="108" y="1025"/>
                  <a:pt x="98" y="1021"/>
                </a:cubicBezTo>
                <a:cubicBezTo>
                  <a:pt x="88" y="1017"/>
                  <a:pt x="79" y="1012"/>
                  <a:pt x="71" y="1007"/>
                </a:cubicBezTo>
                <a:cubicBezTo>
                  <a:pt x="62" y="1001"/>
                  <a:pt x="54" y="994"/>
                  <a:pt x="47" y="987"/>
                </a:cubicBezTo>
                <a:cubicBezTo>
                  <a:pt x="39" y="980"/>
                  <a:pt x="33" y="971"/>
                  <a:pt x="27" y="963"/>
                </a:cubicBezTo>
                <a:cubicBezTo>
                  <a:pt x="21" y="954"/>
                  <a:pt x="16" y="945"/>
                  <a:pt x="12" y="935"/>
                </a:cubicBezTo>
                <a:cubicBezTo>
                  <a:pt x="8" y="926"/>
                  <a:pt x="5" y="916"/>
                  <a:pt x="3" y="906"/>
                </a:cubicBezTo>
                <a:cubicBezTo>
                  <a:pt x="1" y="895"/>
                  <a:pt x="0" y="885"/>
                  <a:pt x="0" y="875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7" name=""/>
          <p:cNvSpPr txBox="1"/>
          <p:nvPr/>
        </p:nvSpPr>
        <p:spPr>
          <a:xfrm>
            <a:off x="880920" y="2733840"/>
            <a:ext cx="5522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验证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8" name=""/>
          <p:cNvSpPr txBox="1"/>
          <p:nvPr/>
        </p:nvSpPr>
        <p:spPr>
          <a:xfrm>
            <a:off x="1784520" y="2834640"/>
            <a:ext cx="19364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bcrypt.compare(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9" name=""/>
          <p:cNvSpPr txBox="1"/>
          <p:nvPr/>
        </p:nvSpPr>
        <p:spPr>
          <a:xfrm>
            <a:off x="3720960" y="2807640"/>
            <a:ext cx="93960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850" b="0" u="none" strike="noStrike">
                <a:solidFill>
                  <a:srgbClr val="1F2328"/>
                </a:solidFill>
                <a:effectLst/>
                <a:uFillTx/>
                <a:latin typeface="NSimSun"/>
                <a:ea typeface="NSimSun"/>
              </a:rPr>
              <a:t>输入密码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0" name=""/>
          <p:cNvSpPr txBox="1"/>
          <p:nvPr/>
        </p:nvSpPr>
        <p:spPr>
          <a:xfrm>
            <a:off x="4660200" y="2834640"/>
            <a:ext cx="2588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, 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1" name=""/>
          <p:cNvSpPr txBox="1"/>
          <p:nvPr/>
        </p:nvSpPr>
        <p:spPr>
          <a:xfrm>
            <a:off x="4918320" y="2807640"/>
            <a:ext cx="93960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850" b="0" u="none" strike="noStrike">
                <a:solidFill>
                  <a:srgbClr val="1F2328"/>
                </a:solidFill>
                <a:effectLst/>
                <a:uFillTx/>
                <a:latin typeface="NSimSun"/>
                <a:ea typeface="NSimSun"/>
              </a:rPr>
              <a:t>存储哈希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2" name=""/>
          <p:cNvSpPr txBox="1"/>
          <p:nvPr/>
        </p:nvSpPr>
        <p:spPr>
          <a:xfrm>
            <a:off x="5857560" y="2834640"/>
            <a:ext cx="23436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)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3" name=""/>
          <p:cNvSpPr txBox="1"/>
          <p:nvPr/>
        </p:nvSpPr>
        <p:spPr>
          <a:xfrm>
            <a:off x="6367320" y="2733840"/>
            <a:ext cx="24832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验证密码，不需解密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4" name=""/>
          <p:cNvSpPr txBox="1"/>
          <p:nvPr/>
        </p:nvSpPr>
        <p:spPr>
          <a:xfrm>
            <a:off x="880920" y="3276720"/>
            <a:ext cx="502776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泄露 即使数据库被⿊，也⽆法反推原密码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5" name=""/>
          <p:cNvSpPr txBox="1"/>
          <p:nvPr/>
        </p:nvSpPr>
        <p:spPr>
          <a:xfrm>
            <a:off x="914400" y="4064040"/>
            <a:ext cx="38772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59636E"/>
                </a:solidFill>
                <a:effectLst/>
                <a:uFillTx/>
                <a:latin typeface="Consolas"/>
                <a:ea typeface="Consolas"/>
              </a:rPr>
              <a:t>// 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6" name=""/>
          <p:cNvSpPr txBox="1"/>
          <p:nvPr/>
        </p:nvSpPr>
        <p:spPr>
          <a:xfrm>
            <a:off x="1301760" y="4037040"/>
            <a:ext cx="70488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850" b="0" u="none" strike="noStrike">
                <a:solidFill>
                  <a:srgbClr val="59636E"/>
                </a:solidFill>
                <a:effectLst/>
                <a:uFillTx/>
                <a:latin typeface="NSimSun"/>
                <a:ea typeface="NSimSun"/>
              </a:rPr>
              <a:t>注册时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7" name=""/>
          <p:cNvSpPr txBox="1"/>
          <p:nvPr/>
        </p:nvSpPr>
        <p:spPr>
          <a:xfrm>
            <a:off x="914400" y="4330800"/>
            <a:ext cx="68396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CF222E"/>
                </a:solidFill>
                <a:effectLst/>
                <a:uFillTx/>
                <a:latin typeface="Consolas"/>
                <a:ea typeface="Consolas"/>
              </a:rPr>
              <a:t>const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passwordHash = </a:t>
            </a:r>
            <a:r>
              <a:rPr lang="en-US" sz="1850" b="0" u="none" strike="noStrike">
                <a:solidFill>
                  <a:srgbClr val="CF222E"/>
                </a:solidFill>
                <a:effectLst/>
                <a:uFillTx/>
                <a:latin typeface="Consolas"/>
                <a:ea typeface="Consolas"/>
              </a:rPr>
              <a:t>await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bcrypt.</a:t>
            </a:r>
            <a:r>
              <a:rPr lang="en-US" sz="1850" b="0" u="none" strike="noStrike">
                <a:solidFill>
                  <a:srgbClr val="6639BA"/>
                </a:solidFill>
                <a:effectLst/>
                <a:uFillTx/>
                <a:latin typeface="Consolas"/>
                <a:ea typeface="Consolas"/>
              </a:rPr>
              <a:t>hash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(password, </a:t>
            </a:r>
            <a:r>
              <a:rPr lang="en-US" sz="185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10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);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8" name=""/>
          <p:cNvSpPr txBox="1"/>
          <p:nvPr/>
        </p:nvSpPr>
        <p:spPr>
          <a:xfrm>
            <a:off x="914400" y="4606920"/>
            <a:ext cx="38772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59636E"/>
                </a:solidFill>
                <a:effectLst/>
                <a:uFillTx/>
                <a:latin typeface="Consolas"/>
                <a:ea typeface="Consolas"/>
              </a:rPr>
              <a:t>// 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9" name=""/>
          <p:cNvSpPr txBox="1"/>
          <p:nvPr/>
        </p:nvSpPr>
        <p:spPr>
          <a:xfrm>
            <a:off x="1301760" y="4579920"/>
            <a:ext cx="47016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850" b="0" u="none" strike="noStrike">
                <a:solidFill>
                  <a:srgbClr val="59636E"/>
                </a:solidFill>
                <a:effectLst/>
                <a:uFillTx/>
                <a:latin typeface="NSimSun"/>
                <a:ea typeface="NSimSun"/>
              </a:rPr>
              <a:t>存储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0" name=""/>
          <p:cNvSpPr txBox="1"/>
          <p:nvPr/>
        </p:nvSpPr>
        <p:spPr>
          <a:xfrm>
            <a:off x="1771200" y="4606920"/>
            <a:ext cx="167832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59636E"/>
                </a:solidFill>
                <a:effectLst/>
                <a:uFillTx/>
                <a:latin typeface="Consolas"/>
                <a:ea typeface="Consolas"/>
              </a:rPr>
              <a:t> passwordHash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1" name=""/>
          <p:cNvSpPr txBox="1"/>
          <p:nvPr/>
        </p:nvSpPr>
        <p:spPr>
          <a:xfrm>
            <a:off x="3449520" y="4579920"/>
            <a:ext cx="70488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850" b="0" u="none" strike="noStrike">
                <a:solidFill>
                  <a:srgbClr val="59636E"/>
                </a:solidFill>
                <a:effectLst/>
                <a:uFillTx/>
                <a:latin typeface="NSimSun"/>
                <a:ea typeface="NSimSun"/>
              </a:rPr>
              <a:t>，不存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2" name=""/>
          <p:cNvSpPr txBox="1"/>
          <p:nvPr/>
        </p:nvSpPr>
        <p:spPr>
          <a:xfrm>
            <a:off x="4153680" y="4606920"/>
            <a:ext cx="116208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59636E"/>
                </a:solidFill>
                <a:effectLst/>
                <a:uFillTx/>
                <a:latin typeface="Consolas"/>
                <a:ea typeface="Consolas"/>
              </a:rPr>
              <a:t> password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3" name=""/>
          <p:cNvSpPr txBox="1"/>
          <p:nvPr/>
        </p:nvSpPr>
        <p:spPr>
          <a:xfrm>
            <a:off x="914400" y="5140440"/>
            <a:ext cx="38772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59636E"/>
                </a:solidFill>
                <a:effectLst/>
                <a:uFillTx/>
                <a:latin typeface="Consolas"/>
                <a:ea typeface="Consolas"/>
              </a:rPr>
              <a:t>// 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4" name=""/>
          <p:cNvSpPr txBox="1"/>
          <p:nvPr/>
        </p:nvSpPr>
        <p:spPr>
          <a:xfrm>
            <a:off x="1301760" y="5113440"/>
            <a:ext cx="70488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850" b="0" u="none" strike="noStrike">
                <a:solidFill>
                  <a:srgbClr val="59636E"/>
                </a:solidFill>
                <a:effectLst/>
                <a:uFillTx/>
                <a:latin typeface="NSimSun"/>
                <a:ea typeface="NSimSun"/>
              </a:rPr>
              <a:t>登录时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5" name=""/>
          <p:cNvSpPr txBox="1"/>
          <p:nvPr/>
        </p:nvSpPr>
        <p:spPr>
          <a:xfrm>
            <a:off x="914400" y="5416560"/>
            <a:ext cx="851688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CF222E"/>
                </a:solidFill>
                <a:effectLst/>
                <a:uFillTx/>
                <a:latin typeface="Consolas"/>
                <a:ea typeface="Consolas"/>
              </a:rPr>
              <a:t>const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isValid = </a:t>
            </a:r>
            <a:r>
              <a:rPr lang="en-US" sz="1850" b="0" u="none" strike="noStrike">
                <a:solidFill>
                  <a:srgbClr val="CF222E"/>
                </a:solidFill>
                <a:effectLst/>
                <a:uFillTx/>
                <a:latin typeface="Consolas"/>
                <a:ea typeface="Consolas"/>
              </a:rPr>
              <a:t>await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bcrypt.</a:t>
            </a:r>
            <a:r>
              <a:rPr lang="en-US" sz="1850" b="0" u="none" strike="noStrike">
                <a:solidFill>
                  <a:srgbClr val="6639BA"/>
                </a:solidFill>
                <a:effectLst/>
                <a:uFillTx/>
                <a:latin typeface="Consolas"/>
                <a:ea typeface="Consolas"/>
              </a:rPr>
              <a:t>compare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(inputPassword, passwordHash);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6" name=""/>
          <p:cNvSpPr txBox="1"/>
          <p:nvPr/>
        </p:nvSpPr>
        <p:spPr>
          <a:xfrm>
            <a:off x="914400" y="5683320"/>
            <a:ext cx="399996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CF222E"/>
                </a:solidFill>
                <a:effectLst/>
                <a:uFillTx/>
                <a:latin typeface="Consolas"/>
                <a:ea typeface="Consolas"/>
              </a:rPr>
              <a:t>if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(!isValid) </a:t>
            </a:r>
            <a:r>
              <a:rPr lang="en-US" sz="1850" b="0" u="none" strike="noStrike">
                <a:solidFill>
                  <a:srgbClr val="CF222E"/>
                </a:solidFill>
                <a:effectLst/>
                <a:uFillTx/>
                <a:latin typeface="Consolas"/>
                <a:ea typeface="Consolas"/>
              </a:rPr>
              <a:t>throw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</a:t>
            </a:r>
            <a:r>
              <a:rPr lang="en-US" sz="1850" b="0" u="none" strike="noStrike">
                <a:solidFill>
                  <a:srgbClr val="CF222E"/>
                </a:solidFill>
                <a:effectLst/>
                <a:uFillTx/>
                <a:latin typeface="Consolas"/>
                <a:ea typeface="Consolas"/>
              </a:rPr>
              <a:t>new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</a:t>
            </a:r>
            <a:r>
              <a:rPr lang="en-US" sz="1850" b="0" u="none" strike="noStrike">
                <a:solidFill>
                  <a:srgbClr val="6639BA"/>
                </a:solidFill>
                <a:effectLst/>
                <a:uFillTx/>
                <a:latin typeface="Consolas"/>
                <a:ea typeface="Consolas"/>
              </a:rPr>
              <a:t>Error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(</a:t>
            </a:r>
            <a:r>
              <a:rPr lang="en-US" sz="1850" b="0" u="none" strike="noStrike">
                <a:solidFill>
                  <a:srgbClr val="0A3069"/>
                </a:solidFill>
                <a:effectLst/>
                <a:uFillTx/>
                <a:latin typeface="Consolas"/>
                <a:ea typeface="Consolas"/>
              </a:rPr>
              <a:t>'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7" name=""/>
          <p:cNvSpPr txBox="1"/>
          <p:nvPr/>
        </p:nvSpPr>
        <p:spPr>
          <a:xfrm>
            <a:off x="4916880" y="5656320"/>
            <a:ext cx="93960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850" b="0" u="none" strike="noStrike">
                <a:solidFill>
                  <a:srgbClr val="0A3069"/>
                </a:solidFill>
                <a:effectLst/>
                <a:uFillTx/>
                <a:latin typeface="NSimSun"/>
                <a:ea typeface="NSimSun"/>
              </a:rPr>
              <a:t>密码错误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8" name=""/>
          <p:cNvSpPr txBox="1"/>
          <p:nvPr/>
        </p:nvSpPr>
        <p:spPr>
          <a:xfrm>
            <a:off x="5855760" y="5683320"/>
            <a:ext cx="38772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0A3069"/>
                </a:solidFill>
                <a:effectLst/>
                <a:uFillTx/>
                <a:latin typeface="Consolas"/>
                <a:ea typeface="Consolas"/>
              </a:rPr>
              <a:t>'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);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9" name=""/>
          <p:cNvSpPr txBox="1"/>
          <p:nvPr/>
        </p:nvSpPr>
        <p:spPr>
          <a:xfrm>
            <a:off x="914400" y="6226200"/>
            <a:ext cx="38772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59636E"/>
                </a:solidFill>
                <a:effectLst/>
                <a:uFillTx/>
                <a:latin typeface="Consolas"/>
                <a:ea typeface="Consolas"/>
              </a:rPr>
              <a:t>// 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0" name=""/>
          <p:cNvSpPr txBox="1"/>
          <p:nvPr/>
        </p:nvSpPr>
        <p:spPr>
          <a:xfrm>
            <a:off x="1301760" y="6199200"/>
            <a:ext cx="14090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850" b="0" u="none" strike="noStrike">
                <a:solidFill>
                  <a:srgbClr val="59636E"/>
                </a:solidFill>
                <a:effectLst/>
                <a:uFillTx/>
                <a:latin typeface="NSimSun"/>
                <a:ea typeface="NSimSun"/>
              </a:rPr>
              <a:t>即使黑客拿到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1" name=""/>
          <p:cNvSpPr txBox="1"/>
          <p:nvPr/>
        </p:nvSpPr>
        <p:spPr>
          <a:xfrm>
            <a:off x="2710440" y="6226200"/>
            <a:ext cx="6458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59636E"/>
                </a:solidFill>
                <a:effectLst/>
                <a:uFillTx/>
                <a:latin typeface="Consolas"/>
                <a:ea typeface="Consolas"/>
              </a:rPr>
              <a:t> hash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2" name=""/>
          <p:cNvSpPr txBox="1"/>
          <p:nvPr/>
        </p:nvSpPr>
        <p:spPr>
          <a:xfrm>
            <a:off x="3355920" y="6199200"/>
            <a:ext cx="14090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850" b="0" u="none" strike="noStrike">
                <a:solidFill>
                  <a:srgbClr val="59636E"/>
                </a:solidFill>
                <a:effectLst/>
                <a:uFillTx/>
                <a:latin typeface="NSimSun"/>
                <a:ea typeface="NSimSun"/>
              </a:rPr>
              <a:t>，反推难度：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3" name=""/>
          <p:cNvSpPr txBox="1"/>
          <p:nvPr/>
        </p:nvSpPr>
        <p:spPr>
          <a:xfrm>
            <a:off x="914400" y="6492960"/>
            <a:ext cx="154908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59636E"/>
                </a:solidFill>
                <a:effectLst/>
                <a:uFillTx/>
                <a:latin typeface="Consolas"/>
                <a:ea typeface="Consolas"/>
              </a:rPr>
              <a:t>// bcrypt 10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4" name=""/>
          <p:cNvSpPr txBox="1"/>
          <p:nvPr/>
        </p:nvSpPr>
        <p:spPr>
          <a:xfrm>
            <a:off x="2463480" y="6465960"/>
            <a:ext cx="2354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850" b="0" u="none" strike="noStrike">
                <a:solidFill>
                  <a:srgbClr val="59636E"/>
                </a:solidFill>
                <a:effectLst/>
                <a:uFillTx/>
                <a:latin typeface="NSimSun"/>
                <a:ea typeface="NSimSun"/>
              </a:rPr>
              <a:t>轮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5" name=""/>
          <p:cNvSpPr txBox="1"/>
          <p:nvPr/>
        </p:nvSpPr>
        <p:spPr>
          <a:xfrm>
            <a:off x="2698200" y="6492960"/>
            <a:ext cx="10328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59636E"/>
                </a:solidFill>
                <a:effectLst/>
                <a:uFillTx/>
                <a:latin typeface="Consolas"/>
                <a:ea typeface="Consolas"/>
              </a:rPr>
              <a:t> ≈ 2^80 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6" name=""/>
          <p:cNvSpPr txBox="1"/>
          <p:nvPr/>
        </p:nvSpPr>
        <p:spPr>
          <a:xfrm>
            <a:off x="3731040" y="6465960"/>
            <a:ext cx="305172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850" b="0" u="none" strike="noStrike">
                <a:solidFill>
                  <a:srgbClr val="59636E"/>
                </a:solidFill>
                <a:effectLst/>
                <a:uFillTx/>
                <a:latin typeface="NSimSun"/>
                <a:ea typeface="NSimSun"/>
              </a:rPr>
              <a:t>的工作量，暴力破解成本极高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7" name=""/>
          <p:cNvSpPr txBox="1"/>
          <p:nvPr/>
        </p:nvSpPr>
        <p:spPr>
          <a:xfrm>
            <a:off x="11783160" y="6335280"/>
            <a:ext cx="22824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SegoeUI"/>
                <a:ea typeface="SegoeUI"/>
              </a:rPr>
              <a:t>8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1" name=""/>
          <p:cNvSpPr/>
          <p:nvPr/>
        </p:nvSpPr>
        <p:spPr>
          <a:xfrm>
            <a:off x="757080" y="1623960"/>
            <a:ext cx="10687320" cy="3829320"/>
          </a:xfrm>
          <a:custGeom>
            <a:avLst/>
            <a:gdLst/>
            <a:ahLst/>
            <a:rect l="0" t="0" r="r" b="b"/>
            <a:pathLst>
              <a:path w="29687" h="10637">
                <a:moveTo>
                  <a:pt x="0" y="10491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7" y="98"/>
                  <a:pt x="11" y="89"/>
                </a:cubicBezTo>
                <a:cubicBezTo>
                  <a:pt x="15" y="81"/>
                  <a:pt x="19" y="72"/>
                  <a:pt x="24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49" y="36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7" y="2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2"/>
                </a:cubicBezTo>
                <a:cubicBezTo>
                  <a:pt x="29579" y="4"/>
                  <a:pt x="29589" y="7"/>
                  <a:pt x="29597" y="11"/>
                </a:cubicBezTo>
                <a:cubicBezTo>
                  <a:pt x="29606" y="14"/>
                  <a:pt x="29615" y="19"/>
                  <a:pt x="29623" y="24"/>
                </a:cubicBezTo>
                <a:cubicBezTo>
                  <a:pt x="29630" y="29"/>
                  <a:pt x="29638" y="36"/>
                  <a:pt x="29645" y="42"/>
                </a:cubicBezTo>
                <a:cubicBezTo>
                  <a:pt x="29651" y="49"/>
                  <a:pt x="29657" y="56"/>
                  <a:pt x="29663" y="64"/>
                </a:cubicBezTo>
                <a:cubicBezTo>
                  <a:pt x="29668" y="72"/>
                  <a:pt x="29672" y="81"/>
                  <a:pt x="29676" y="89"/>
                </a:cubicBezTo>
                <a:cubicBezTo>
                  <a:pt x="29680" y="98"/>
                  <a:pt x="29683" y="107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10491"/>
                </a:lnTo>
                <a:cubicBezTo>
                  <a:pt x="29687" y="10501"/>
                  <a:pt x="29686" y="10510"/>
                  <a:pt x="29684" y="10520"/>
                </a:cubicBezTo>
                <a:cubicBezTo>
                  <a:pt x="29683" y="10529"/>
                  <a:pt x="29680" y="10538"/>
                  <a:pt x="29676" y="10547"/>
                </a:cubicBezTo>
                <a:cubicBezTo>
                  <a:pt x="29672" y="10556"/>
                  <a:pt x="29668" y="10564"/>
                  <a:pt x="29663" y="10572"/>
                </a:cubicBezTo>
                <a:cubicBezTo>
                  <a:pt x="29657" y="10580"/>
                  <a:pt x="29651" y="10588"/>
                  <a:pt x="29645" y="10594"/>
                </a:cubicBezTo>
                <a:cubicBezTo>
                  <a:pt x="29638" y="10601"/>
                  <a:pt x="29630" y="10607"/>
                  <a:pt x="29623" y="10612"/>
                </a:cubicBezTo>
                <a:cubicBezTo>
                  <a:pt x="29615" y="10618"/>
                  <a:pt x="29606" y="10622"/>
                  <a:pt x="29597" y="10626"/>
                </a:cubicBezTo>
                <a:cubicBezTo>
                  <a:pt x="29589" y="10629"/>
                  <a:pt x="29579" y="10632"/>
                  <a:pt x="29570" y="10634"/>
                </a:cubicBezTo>
                <a:cubicBezTo>
                  <a:pt x="29561" y="10636"/>
                  <a:pt x="29551" y="10637"/>
                  <a:pt x="29542" y="10637"/>
                </a:cubicBezTo>
                <a:lnTo>
                  <a:pt x="145" y="10637"/>
                </a:lnTo>
                <a:cubicBezTo>
                  <a:pt x="136" y="10637"/>
                  <a:pt x="126" y="10636"/>
                  <a:pt x="117" y="10634"/>
                </a:cubicBezTo>
                <a:cubicBezTo>
                  <a:pt x="108" y="10632"/>
                  <a:pt x="99" y="10629"/>
                  <a:pt x="90" y="10626"/>
                </a:cubicBezTo>
                <a:cubicBezTo>
                  <a:pt x="81" y="10622"/>
                  <a:pt x="73" y="10618"/>
                  <a:pt x="65" y="10612"/>
                </a:cubicBezTo>
                <a:cubicBezTo>
                  <a:pt x="57" y="10607"/>
                  <a:pt x="49" y="10601"/>
                  <a:pt x="43" y="10594"/>
                </a:cubicBezTo>
                <a:cubicBezTo>
                  <a:pt x="36" y="10588"/>
                  <a:pt x="30" y="10580"/>
                  <a:pt x="24" y="10572"/>
                </a:cubicBezTo>
                <a:cubicBezTo>
                  <a:pt x="19" y="10564"/>
                  <a:pt x="15" y="10556"/>
                  <a:pt x="11" y="10547"/>
                </a:cubicBezTo>
                <a:cubicBezTo>
                  <a:pt x="7" y="10538"/>
                  <a:pt x="5" y="10529"/>
                  <a:pt x="3" y="10520"/>
                </a:cubicBezTo>
                <a:cubicBezTo>
                  <a:pt x="1" y="10510"/>
                  <a:pt x="0" y="10501"/>
                  <a:pt x="0" y="10491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2" name=""/>
          <p:cNvSpPr/>
          <p:nvPr/>
        </p:nvSpPr>
        <p:spPr>
          <a:xfrm>
            <a:off x="757080" y="1623960"/>
            <a:ext cx="10687320" cy="3829320"/>
          </a:xfrm>
          <a:custGeom>
            <a:avLst/>
            <a:gdLst/>
            <a:ahLst/>
            <a:rect l="0" t="0" r="r" b="b"/>
            <a:pathLst>
              <a:path w="29687" h="10637">
                <a:moveTo>
                  <a:pt x="0" y="10491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7" y="98"/>
                  <a:pt x="11" y="89"/>
                </a:cubicBezTo>
                <a:cubicBezTo>
                  <a:pt x="15" y="81"/>
                  <a:pt x="19" y="72"/>
                  <a:pt x="24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49" y="36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7" y="2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2"/>
                </a:cubicBezTo>
                <a:cubicBezTo>
                  <a:pt x="29579" y="4"/>
                  <a:pt x="29589" y="7"/>
                  <a:pt x="29597" y="11"/>
                </a:cubicBezTo>
                <a:cubicBezTo>
                  <a:pt x="29606" y="14"/>
                  <a:pt x="29615" y="19"/>
                  <a:pt x="29623" y="24"/>
                </a:cubicBezTo>
                <a:cubicBezTo>
                  <a:pt x="29630" y="29"/>
                  <a:pt x="29638" y="36"/>
                  <a:pt x="29645" y="42"/>
                </a:cubicBezTo>
                <a:cubicBezTo>
                  <a:pt x="29651" y="49"/>
                  <a:pt x="29657" y="56"/>
                  <a:pt x="29663" y="64"/>
                </a:cubicBezTo>
                <a:cubicBezTo>
                  <a:pt x="29668" y="72"/>
                  <a:pt x="29672" y="81"/>
                  <a:pt x="29676" y="89"/>
                </a:cubicBezTo>
                <a:cubicBezTo>
                  <a:pt x="29680" y="98"/>
                  <a:pt x="29683" y="107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10491"/>
                </a:lnTo>
                <a:cubicBezTo>
                  <a:pt x="29687" y="10501"/>
                  <a:pt x="29686" y="10510"/>
                  <a:pt x="29684" y="10520"/>
                </a:cubicBezTo>
                <a:cubicBezTo>
                  <a:pt x="29683" y="10529"/>
                  <a:pt x="29680" y="10538"/>
                  <a:pt x="29676" y="10547"/>
                </a:cubicBezTo>
                <a:cubicBezTo>
                  <a:pt x="29672" y="10556"/>
                  <a:pt x="29668" y="10564"/>
                  <a:pt x="29663" y="10572"/>
                </a:cubicBezTo>
                <a:cubicBezTo>
                  <a:pt x="29657" y="10580"/>
                  <a:pt x="29651" y="10588"/>
                  <a:pt x="29645" y="10594"/>
                </a:cubicBezTo>
                <a:cubicBezTo>
                  <a:pt x="29638" y="10601"/>
                  <a:pt x="29630" y="10607"/>
                  <a:pt x="29623" y="10612"/>
                </a:cubicBezTo>
                <a:cubicBezTo>
                  <a:pt x="29615" y="10618"/>
                  <a:pt x="29606" y="10622"/>
                  <a:pt x="29597" y="10626"/>
                </a:cubicBezTo>
                <a:cubicBezTo>
                  <a:pt x="29589" y="10629"/>
                  <a:pt x="29579" y="10632"/>
                  <a:pt x="29570" y="10634"/>
                </a:cubicBezTo>
                <a:cubicBezTo>
                  <a:pt x="29561" y="10636"/>
                  <a:pt x="29551" y="10637"/>
                  <a:pt x="29542" y="10637"/>
                </a:cubicBezTo>
                <a:lnTo>
                  <a:pt x="145" y="10637"/>
                </a:lnTo>
                <a:cubicBezTo>
                  <a:pt x="136" y="10637"/>
                  <a:pt x="126" y="10636"/>
                  <a:pt x="117" y="10634"/>
                </a:cubicBezTo>
                <a:cubicBezTo>
                  <a:pt x="108" y="10632"/>
                  <a:pt x="99" y="10629"/>
                  <a:pt x="90" y="10626"/>
                </a:cubicBezTo>
                <a:cubicBezTo>
                  <a:pt x="81" y="10622"/>
                  <a:pt x="73" y="10618"/>
                  <a:pt x="65" y="10612"/>
                </a:cubicBezTo>
                <a:cubicBezTo>
                  <a:pt x="57" y="10607"/>
                  <a:pt x="49" y="10601"/>
                  <a:pt x="43" y="10594"/>
                </a:cubicBezTo>
                <a:cubicBezTo>
                  <a:pt x="36" y="10588"/>
                  <a:pt x="30" y="10580"/>
                  <a:pt x="24" y="10572"/>
                </a:cubicBezTo>
                <a:cubicBezTo>
                  <a:pt x="19" y="10564"/>
                  <a:pt x="15" y="10556"/>
                  <a:pt x="11" y="10547"/>
                </a:cubicBezTo>
                <a:cubicBezTo>
                  <a:pt x="7" y="10538"/>
                  <a:pt x="5" y="10529"/>
                  <a:pt x="3" y="10520"/>
                </a:cubicBezTo>
                <a:cubicBezTo>
                  <a:pt x="1" y="10510"/>
                  <a:pt x="0" y="10501"/>
                  <a:pt x="0" y="10491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3" name=""/>
          <p:cNvSpPr txBox="1"/>
          <p:nvPr/>
        </p:nvSpPr>
        <p:spPr>
          <a:xfrm>
            <a:off x="747720" y="199440"/>
            <a:ext cx="496800" cy="58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480" b="1" u="none" strike="noStrike">
                <a:solidFill>
                  <a:srgbClr val="224466"/>
                </a:solidFill>
                <a:effectLst/>
                <a:uFillTx/>
                <a:latin typeface="SegoeUI"/>
                <a:ea typeface="SegoeUI"/>
              </a:rPr>
              <a:t>5. </a:t>
            </a:r>
            <a:endParaRPr lang="en-US" sz="34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4" name=""/>
          <p:cNvSpPr txBox="1"/>
          <p:nvPr/>
        </p:nvSpPr>
        <p:spPr>
          <a:xfrm>
            <a:off x="1221120" y="234360"/>
            <a:ext cx="3094560" cy="53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3480" b="0" u="none" strike="noStrike">
                <a:solidFill>
                  <a:srgbClr val="224466"/>
                </a:solidFill>
                <a:effectLst/>
                <a:uFillTx/>
                <a:latin typeface="NotoSansSC"/>
                <a:ea typeface="NotoSansSC"/>
              </a:rPr>
              <a:t>核⼼业务流设计</a:t>
            </a:r>
            <a:endParaRPr lang="en-US" sz="34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5" name=""/>
          <p:cNvSpPr txBox="1"/>
          <p:nvPr/>
        </p:nvSpPr>
        <p:spPr>
          <a:xfrm>
            <a:off x="747720" y="1073520"/>
            <a:ext cx="52776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API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6" name=""/>
          <p:cNvSpPr txBox="1"/>
          <p:nvPr/>
        </p:nvSpPr>
        <p:spPr>
          <a:xfrm>
            <a:off x="1251000" y="1095480"/>
            <a:ext cx="13798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端点（实际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7" name=""/>
          <p:cNvSpPr txBox="1"/>
          <p:nvPr/>
        </p:nvSpPr>
        <p:spPr>
          <a:xfrm>
            <a:off x="2632320" y="1073520"/>
            <a:ext cx="107100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RESTful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8" name=""/>
          <p:cNvSpPr txBox="1"/>
          <p:nvPr/>
        </p:nvSpPr>
        <p:spPr>
          <a:xfrm>
            <a:off x="3642120" y="1095480"/>
            <a:ext cx="2764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）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9" name=""/>
          <p:cNvSpPr txBox="1"/>
          <p:nvPr/>
        </p:nvSpPr>
        <p:spPr>
          <a:xfrm>
            <a:off x="914400" y="1789200"/>
            <a:ext cx="93960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850" b="0" u="none" strike="noStrike">
                <a:solidFill>
                  <a:srgbClr val="1F2328"/>
                </a:solidFill>
                <a:effectLst/>
                <a:uFillTx/>
                <a:latin typeface="NSimSun"/>
                <a:ea typeface="NSimSun"/>
              </a:rPr>
              <a:t>酒店侧：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0" name=""/>
          <p:cNvSpPr txBox="1"/>
          <p:nvPr/>
        </p:nvSpPr>
        <p:spPr>
          <a:xfrm>
            <a:off x="914400" y="2082960"/>
            <a:ext cx="43880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 GET    /api/hotels              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1" name=""/>
          <p:cNvSpPr txBox="1"/>
          <p:nvPr/>
        </p:nvSpPr>
        <p:spPr>
          <a:xfrm>
            <a:off x="5303520" y="2055600"/>
            <a:ext cx="14090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850" b="0" u="none" strike="noStrike">
                <a:solidFill>
                  <a:srgbClr val="1F2328"/>
                </a:solidFill>
                <a:effectLst/>
                <a:uFillTx/>
                <a:latin typeface="NSimSun"/>
                <a:ea typeface="NSimSun"/>
              </a:rPr>
              <a:t>查询酒店列表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2" name=""/>
          <p:cNvSpPr txBox="1"/>
          <p:nvPr/>
        </p:nvSpPr>
        <p:spPr>
          <a:xfrm>
            <a:off x="914400" y="2359080"/>
            <a:ext cx="43880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 GET    /api/hotels/:id          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3" name=""/>
          <p:cNvSpPr txBox="1"/>
          <p:nvPr/>
        </p:nvSpPr>
        <p:spPr>
          <a:xfrm>
            <a:off x="5303520" y="2332080"/>
            <a:ext cx="258228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850" b="0" u="none" strike="noStrike">
                <a:solidFill>
                  <a:srgbClr val="1F2328"/>
                </a:solidFill>
                <a:effectLst/>
                <a:uFillTx/>
                <a:latin typeface="NSimSun"/>
                <a:ea typeface="NSimSun"/>
              </a:rPr>
              <a:t>酒店详情（价格、库存）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4" name=""/>
          <p:cNvSpPr txBox="1"/>
          <p:nvPr/>
        </p:nvSpPr>
        <p:spPr>
          <a:xfrm>
            <a:off x="914400" y="2625840"/>
            <a:ext cx="43880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 POST   /api/hotels              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5" name=""/>
          <p:cNvSpPr txBox="1"/>
          <p:nvPr/>
        </p:nvSpPr>
        <p:spPr>
          <a:xfrm>
            <a:off x="5303520" y="2598840"/>
            <a:ext cx="14090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850" b="0" u="none" strike="noStrike">
                <a:solidFill>
                  <a:srgbClr val="1F2328"/>
                </a:solidFill>
                <a:effectLst/>
                <a:uFillTx/>
                <a:latin typeface="NSimSun"/>
                <a:ea typeface="NSimSun"/>
              </a:rPr>
              <a:t>商户创建酒店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6" name=""/>
          <p:cNvSpPr txBox="1"/>
          <p:nvPr/>
        </p:nvSpPr>
        <p:spPr>
          <a:xfrm>
            <a:off x="914400" y="2892600"/>
            <a:ext cx="2588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 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7" name=""/>
          <p:cNvSpPr txBox="1"/>
          <p:nvPr/>
        </p:nvSpPr>
        <p:spPr>
          <a:xfrm>
            <a:off x="914400" y="3141720"/>
            <a:ext cx="93960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850" b="0" u="none" strike="noStrike">
                <a:solidFill>
                  <a:srgbClr val="1F2328"/>
                </a:solidFill>
                <a:effectLst/>
                <a:uFillTx/>
                <a:latin typeface="NSimSun"/>
                <a:ea typeface="NSimSun"/>
              </a:rPr>
              <a:t>订单侧：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8" name=""/>
          <p:cNvSpPr txBox="1"/>
          <p:nvPr/>
        </p:nvSpPr>
        <p:spPr>
          <a:xfrm>
            <a:off x="914400" y="3435480"/>
            <a:ext cx="43880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 POST   /api/orders              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9" name=""/>
          <p:cNvSpPr txBox="1"/>
          <p:nvPr/>
        </p:nvSpPr>
        <p:spPr>
          <a:xfrm>
            <a:off x="5303520" y="3408120"/>
            <a:ext cx="164376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850" b="0" u="none" strike="noStrike">
                <a:solidFill>
                  <a:srgbClr val="1F2328"/>
                </a:solidFill>
                <a:effectLst/>
                <a:uFillTx/>
                <a:latin typeface="NSimSun"/>
                <a:ea typeface="NSimSun"/>
              </a:rPr>
              <a:t>创建订单（设置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0" name=""/>
          <p:cNvSpPr txBox="1"/>
          <p:nvPr/>
        </p:nvSpPr>
        <p:spPr>
          <a:xfrm>
            <a:off x="6946920" y="3435480"/>
            <a:ext cx="167832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orderLimiter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1" name=""/>
          <p:cNvSpPr txBox="1"/>
          <p:nvPr/>
        </p:nvSpPr>
        <p:spPr>
          <a:xfrm>
            <a:off x="8625240" y="3408120"/>
            <a:ext cx="2354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850" b="0" u="none" strike="noStrike">
                <a:solidFill>
                  <a:srgbClr val="1F2328"/>
                </a:solidFill>
                <a:effectLst/>
                <a:uFillTx/>
                <a:latin typeface="NSimSun"/>
                <a:ea typeface="NSimSun"/>
              </a:rPr>
              <a:t>）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2" name=""/>
          <p:cNvSpPr txBox="1"/>
          <p:nvPr/>
        </p:nvSpPr>
        <p:spPr>
          <a:xfrm>
            <a:off x="914400" y="3702240"/>
            <a:ext cx="43880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 PUT    /api/orders/:id/pay      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3" name=""/>
          <p:cNvSpPr txBox="1"/>
          <p:nvPr/>
        </p:nvSpPr>
        <p:spPr>
          <a:xfrm>
            <a:off x="5303520" y="3674880"/>
            <a:ext cx="117432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850" b="0" u="none" strike="noStrike">
                <a:solidFill>
                  <a:srgbClr val="1F2328"/>
                </a:solidFill>
                <a:effectLst/>
                <a:uFillTx/>
                <a:latin typeface="NSimSun"/>
                <a:ea typeface="NSimSun"/>
              </a:rPr>
              <a:t>支付（设置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4" name=""/>
          <p:cNvSpPr txBox="1"/>
          <p:nvPr/>
        </p:nvSpPr>
        <p:spPr>
          <a:xfrm>
            <a:off x="6477480" y="3702240"/>
            <a:ext cx="19364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paymentLimiter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5" name=""/>
          <p:cNvSpPr txBox="1"/>
          <p:nvPr/>
        </p:nvSpPr>
        <p:spPr>
          <a:xfrm>
            <a:off x="8413560" y="3674880"/>
            <a:ext cx="2354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850" b="0" u="none" strike="noStrike">
                <a:solidFill>
                  <a:srgbClr val="1F2328"/>
                </a:solidFill>
                <a:effectLst/>
                <a:uFillTx/>
                <a:latin typeface="NSimSun"/>
                <a:ea typeface="NSimSun"/>
              </a:rPr>
              <a:t>）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6" name=""/>
          <p:cNvSpPr txBox="1"/>
          <p:nvPr/>
        </p:nvSpPr>
        <p:spPr>
          <a:xfrm>
            <a:off x="914400" y="3978360"/>
            <a:ext cx="43880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 GET    /api/orders/:id          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7" name=""/>
          <p:cNvSpPr txBox="1"/>
          <p:nvPr/>
        </p:nvSpPr>
        <p:spPr>
          <a:xfrm>
            <a:off x="5303520" y="3951360"/>
            <a:ext cx="93960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850" b="0" u="none" strike="noStrike">
                <a:solidFill>
                  <a:srgbClr val="1F2328"/>
                </a:solidFill>
                <a:effectLst/>
                <a:uFillTx/>
                <a:latin typeface="NSimSun"/>
                <a:ea typeface="NSimSun"/>
              </a:rPr>
              <a:t>订单详情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8" name=""/>
          <p:cNvSpPr txBox="1"/>
          <p:nvPr/>
        </p:nvSpPr>
        <p:spPr>
          <a:xfrm>
            <a:off x="914400" y="4245120"/>
            <a:ext cx="2588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 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9" name=""/>
          <p:cNvSpPr txBox="1"/>
          <p:nvPr/>
        </p:nvSpPr>
        <p:spPr>
          <a:xfrm>
            <a:off x="914400" y="4484520"/>
            <a:ext cx="93960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850" b="0" u="none" strike="noStrike">
                <a:solidFill>
                  <a:srgbClr val="1F2328"/>
                </a:solidFill>
                <a:effectLst/>
                <a:uFillTx/>
                <a:latin typeface="NSimSun"/>
                <a:ea typeface="NSimSun"/>
              </a:rPr>
              <a:t>管理员：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0" name=""/>
          <p:cNvSpPr txBox="1"/>
          <p:nvPr/>
        </p:nvSpPr>
        <p:spPr>
          <a:xfrm>
            <a:off x="914400" y="4788000"/>
            <a:ext cx="43880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 GET    /api/admin/hotels        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1" name=""/>
          <p:cNvSpPr txBox="1"/>
          <p:nvPr/>
        </p:nvSpPr>
        <p:spPr>
          <a:xfrm>
            <a:off x="5303520" y="4761000"/>
            <a:ext cx="117432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850" b="0" u="none" strike="noStrike">
                <a:solidFill>
                  <a:srgbClr val="1F2328"/>
                </a:solidFill>
                <a:effectLst/>
                <a:uFillTx/>
                <a:latin typeface="NSimSun"/>
                <a:ea typeface="NSimSun"/>
              </a:rPr>
              <a:t>待审核列表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2" name=""/>
          <p:cNvSpPr txBox="1"/>
          <p:nvPr/>
        </p:nvSpPr>
        <p:spPr>
          <a:xfrm>
            <a:off x="914400" y="5054760"/>
            <a:ext cx="51620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 PUT    /api/admin/hotels/:id/publish  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3" name=""/>
          <p:cNvSpPr txBox="1"/>
          <p:nvPr/>
        </p:nvSpPr>
        <p:spPr>
          <a:xfrm>
            <a:off x="6077880" y="5027400"/>
            <a:ext cx="47016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850" b="0" u="none" strike="noStrike">
                <a:solidFill>
                  <a:srgbClr val="1F2328"/>
                </a:solidFill>
                <a:effectLst/>
                <a:uFillTx/>
                <a:latin typeface="NSimSun"/>
                <a:ea typeface="NSimSun"/>
              </a:rPr>
              <a:t>发布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4" name=""/>
          <p:cNvSpPr/>
          <p:nvPr/>
        </p:nvSpPr>
        <p:spPr>
          <a:xfrm>
            <a:off x="2133360" y="5667120"/>
            <a:ext cx="6125040" cy="362520"/>
          </a:xfrm>
          <a:custGeom>
            <a:avLst/>
            <a:gdLst/>
            <a:ahLst/>
            <a:rect l="0" t="0" r="r" b="b"/>
            <a:pathLst>
              <a:path w="17014" h="1007">
                <a:moveTo>
                  <a:pt x="0" y="848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79"/>
                  <a:pt x="27" y="71"/>
                </a:cubicBezTo>
                <a:cubicBezTo>
                  <a:pt x="33" y="62"/>
                  <a:pt x="39" y="54"/>
                  <a:pt x="47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79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16855" y="0"/>
                </a:lnTo>
                <a:cubicBezTo>
                  <a:pt x="16866" y="0"/>
                  <a:pt x="16876" y="1"/>
                  <a:pt x="16886" y="3"/>
                </a:cubicBezTo>
                <a:cubicBezTo>
                  <a:pt x="16896" y="5"/>
                  <a:pt x="16906" y="8"/>
                  <a:pt x="16916" y="12"/>
                </a:cubicBezTo>
                <a:cubicBezTo>
                  <a:pt x="16926" y="16"/>
                  <a:pt x="16935" y="21"/>
                  <a:pt x="16943" y="27"/>
                </a:cubicBezTo>
                <a:cubicBezTo>
                  <a:pt x="16952" y="33"/>
                  <a:pt x="16960" y="39"/>
                  <a:pt x="16967" y="47"/>
                </a:cubicBezTo>
                <a:cubicBezTo>
                  <a:pt x="16975" y="54"/>
                  <a:pt x="16981" y="62"/>
                  <a:pt x="16987" y="71"/>
                </a:cubicBezTo>
                <a:cubicBezTo>
                  <a:pt x="16993" y="79"/>
                  <a:pt x="16998" y="89"/>
                  <a:pt x="17002" y="98"/>
                </a:cubicBezTo>
                <a:cubicBezTo>
                  <a:pt x="17006" y="108"/>
                  <a:pt x="17009" y="118"/>
                  <a:pt x="17011" y="128"/>
                </a:cubicBezTo>
                <a:cubicBezTo>
                  <a:pt x="17013" y="138"/>
                  <a:pt x="17014" y="149"/>
                  <a:pt x="17014" y="159"/>
                </a:cubicBezTo>
                <a:lnTo>
                  <a:pt x="17014" y="848"/>
                </a:lnTo>
                <a:cubicBezTo>
                  <a:pt x="17014" y="858"/>
                  <a:pt x="17013" y="869"/>
                  <a:pt x="17011" y="879"/>
                </a:cubicBezTo>
                <a:cubicBezTo>
                  <a:pt x="17009" y="889"/>
                  <a:pt x="17006" y="899"/>
                  <a:pt x="17002" y="909"/>
                </a:cubicBezTo>
                <a:cubicBezTo>
                  <a:pt x="16998" y="918"/>
                  <a:pt x="16993" y="927"/>
                  <a:pt x="16987" y="936"/>
                </a:cubicBezTo>
                <a:cubicBezTo>
                  <a:pt x="16981" y="945"/>
                  <a:pt x="16975" y="953"/>
                  <a:pt x="16967" y="960"/>
                </a:cubicBezTo>
                <a:cubicBezTo>
                  <a:pt x="16960" y="967"/>
                  <a:pt x="16952" y="974"/>
                  <a:pt x="16943" y="980"/>
                </a:cubicBezTo>
                <a:cubicBezTo>
                  <a:pt x="16935" y="986"/>
                  <a:pt x="16926" y="991"/>
                  <a:pt x="16916" y="995"/>
                </a:cubicBezTo>
                <a:cubicBezTo>
                  <a:pt x="16906" y="999"/>
                  <a:pt x="16896" y="1002"/>
                  <a:pt x="16886" y="1004"/>
                </a:cubicBezTo>
                <a:cubicBezTo>
                  <a:pt x="16876" y="1006"/>
                  <a:pt x="16866" y="1007"/>
                  <a:pt x="16855" y="1007"/>
                </a:cubicBezTo>
                <a:lnTo>
                  <a:pt x="159" y="1007"/>
                </a:lnTo>
                <a:cubicBezTo>
                  <a:pt x="148" y="1007"/>
                  <a:pt x="138" y="1006"/>
                  <a:pt x="128" y="1004"/>
                </a:cubicBezTo>
                <a:cubicBezTo>
                  <a:pt x="118" y="1002"/>
                  <a:pt x="108" y="999"/>
                  <a:pt x="98" y="995"/>
                </a:cubicBezTo>
                <a:cubicBezTo>
                  <a:pt x="89" y="991"/>
                  <a:pt x="79" y="986"/>
                  <a:pt x="71" y="980"/>
                </a:cubicBezTo>
                <a:cubicBezTo>
                  <a:pt x="62" y="974"/>
                  <a:pt x="54" y="967"/>
                  <a:pt x="47" y="960"/>
                </a:cubicBezTo>
                <a:cubicBezTo>
                  <a:pt x="39" y="953"/>
                  <a:pt x="33" y="945"/>
                  <a:pt x="27" y="936"/>
                </a:cubicBezTo>
                <a:cubicBezTo>
                  <a:pt x="21" y="927"/>
                  <a:pt x="16" y="918"/>
                  <a:pt x="12" y="909"/>
                </a:cubicBezTo>
                <a:cubicBezTo>
                  <a:pt x="8" y="899"/>
                  <a:pt x="5" y="889"/>
                  <a:pt x="3" y="879"/>
                </a:cubicBezTo>
                <a:cubicBezTo>
                  <a:pt x="1" y="869"/>
                  <a:pt x="0" y="858"/>
                  <a:pt x="0" y="848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5" name=""/>
          <p:cNvSpPr txBox="1"/>
          <p:nvPr/>
        </p:nvSpPr>
        <p:spPr>
          <a:xfrm>
            <a:off x="747720" y="5648400"/>
            <a:ext cx="13798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统⼀响应：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6" name=""/>
          <p:cNvSpPr txBox="1"/>
          <p:nvPr/>
        </p:nvSpPr>
        <p:spPr>
          <a:xfrm>
            <a:off x="2222640" y="5758920"/>
            <a:ext cx="593640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{ code: 200, message: "success", data: {...} }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7" name=""/>
          <p:cNvSpPr txBox="1"/>
          <p:nvPr/>
        </p:nvSpPr>
        <p:spPr>
          <a:xfrm>
            <a:off x="11783160" y="6335280"/>
            <a:ext cx="22824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SegoeUI"/>
                <a:ea typeface="SegoeUI"/>
              </a:rPr>
              <a:t>9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1" name=""/>
          <p:cNvSpPr/>
          <p:nvPr/>
        </p:nvSpPr>
        <p:spPr>
          <a:xfrm>
            <a:off x="752400" y="1552320"/>
            <a:ext cx="895680" cy="533880"/>
          </a:xfrm>
          <a:custGeom>
            <a:avLst/>
            <a:gdLst/>
            <a:ahLst/>
            <a:rect l="0" t="0" r="r" b="b"/>
            <a:pathLst>
              <a:path w="2488" h="1483">
                <a:moveTo>
                  <a:pt x="0" y="0"/>
                </a:moveTo>
                <a:lnTo>
                  <a:pt x="2488" y="0"/>
                </a:lnTo>
                <a:lnTo>
                  <a:pt x="2488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2" name=""/>
          <p:cNvSpPr/>
          <p:nvPr/>
        </p:nvSpPr>
        <p:spPr>
          <a:xfrm>
            <a:off x="1647720" y="1552320"/>
            <a:ext cx="7315560" cy="533880"/>
          </a:xfrm>
          <a:custGeom>
            <a:avLst/>
            <a:gdLst/>
            <a:ahLst/>
            <a:rect l="0" t="0" r="r" b="b"/>
            <a:pathLst>
              <a:path w="20321" h="1483">
                <a:moveTo>
                  <a:pt x="0" y="0"/>
                </a:moveTo>
                <a:lnTo>
                  <a:pt x="20321" y="0"/>
                </a:lnTo>
                <a:lnTo>
                  <a:pt x="20321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3" name=""/>
          <p:cNvSpPr/>
          <p:nvPr/>
        </p:nvSpPr>
        <p:spPr>
          <a:xfrm>
            <a:off x="8962920" y="1552320"/>
            <a:ext cx="2476800" cy="533880"/>
          </a:xfrm>
          <a:custGeom>
            <a:avLst/>
            <a:gdLst/>
            <a:ahLst/>
            <a:rect l="0" t="0" r="r" b="b"/>
            <a:pathLst>
              <a:path w="6880" h="1483">
                <a:moveTo>
                  <a:pt x="0" y="0"/>
                </a:moveTo>
                <a:lnTo>
                  <a:pt x="6880" y="0"/>
                </a:lnTo>
                <a:lnTo>
                  <a:pt x="6880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4" name=""/>
          <p:cNvSpPr/>
          <p:nvPr/>
        </p:nvSpPr>
        <p:spPr>
          <a:xfrm>
            <a:off x="752400" y="2085840"/>
            <a:ext cx="895680" cy="952920"/>
          </a:xfrm>
          <a:custGeom>
            <a:avLst/>
            <a:gdLst/>
            <a:ahLst/>
            <a:rect l="0" t="0" r="r" b="b"/>
            <a:pathLst>
              <a:path w="2488" h="2647">
                <a:moveTo>
                  <a:pt x="0" y="0"/>
                </a:moveTo>
                <a:lnTo>
                  <a:pt x="2488" y="0"/>
                </a:lnTo>
                <a:lnTo>
                  <a:pt x="2488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5" name=""/>
          <p:cNvSpPr/>
          <p:nvPr/>
        </p:nvSpPr>
        <p:spPr>
          <a:xfrm>
            <a:off x="1647720" y="2085840"/>
            <a:ext cx="7315560" cy="952920"/>
          </a:xfrm>
          <a:custGeom>
            <a:avLst/>
            <a:gdLst/>
            <a:ahLst/>
            <a:rect l="0" t="0" r="r" b="b"/>
            <a:pathLst>
              <a:path w="20321" h="2647">
                <a:moveTo>
                  <a:pt x="0" y="0"/>
                </a:moveTo>
                <a:lnTo>
                  <a:pt x="20321" y="0"/>
                </a:lnTo>
                <a:lnTo>
                  <a:pt x="20321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6" name=""/>
          <p:cNvSpPr/>
          <p:nvPr/>
        </p:nvSpPr>
        <p:spPr>
          <a:xfrm>
            <a:off x="8962920" y="2085840"/>
            <a:ext cx="2476800" cy="952920"/>
          </a:xfrm>
          <a:custGeom>
            <a:avLst/>
            <a:gdLst/>
            <a:ahLst/>
            <a:rect l="0" t="0" r="r" b="b"/>
            <a:pathLst>
              <a:path w="6880" h="2647">
                <a:moveTo>
                  <a:pt x="0" y="0"/>
                </a:moveTo>
                <a:lnTo>
                  <a:pt x="6880" y="0"/>
                </a:lnTo>
                <a:lnTo>
                  <a:pt x="6880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7" name=""/>
          <p:cNvSpPr/>
          <p:nvPr/>
        </p:nvSpPr>
        <p:spPr>
          <a:xfrm>
            <a:off x="752400" y="3038400"/>
            <a:ext cx="895680" cy="543240"/>
          </a:xfrm>
          <a:custGeom>
            <a:avLst/>
            <a:gdLst/>
            <a:ahLst/>
            <a:rect l="0" t="0" r="r" b="b"/>
            <a:pathLst>
              <a:path w="2488" h="1509">
                <a:moveTo>
                  <a:pt x="0" y="0"/>
                </a:moveTo>
                <a:lnTo>
                  <a:pt x="2488" y="0"/>
                </a:lnTo>
                <a:lnTo>
                  <a:pt x="248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8" name=""/>
          <p:cNvSpPr/>
          <p:nvPr/>
        </p:nvSpPr>
        <p:spPr>
          <a:xfrm>
            <a:off x="1647720" y="3038400"/>
            <a:ext cx="7315560" cy="543240"/>
          </a:xfrm>
          <a:custGeom>
            <a:avLst/>
            <a:gdLst/>
            <a:ahLst/>
            <a:rect l="0" t="0" r="r" b="b"/>
            <a:pathLst>
              <a:path w="20321" h="1509">
                <a:moveTo>
                  <a:pt x="0" y="0"/>
                </a:moveTo>
                <a:lnTo>
                  <a:pt x="20321" y="0"/>
                </a:lnTo>
                <a:lnTo>
                  <a:pt x="20321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9" name=""/>
          <p:cNvSpPr/>
          <p:nvPr/>
        </p:nvSpPr>
        <p:spPr>
          <a:xfrm>
            <a:off x="8962920" y="3038400"/>
            <a:ext cx="2476800" cy="543240"/>
          </a:xfrm>
          <a:custGeom>
            <a:avLst/>
            <a:gdLst/>
            <a:ahLst/>
            <a:rect l="0" t="0" r="r" b="b"/>
            <a:pathLst>
              <a:path w="6880" h="1509">
                <a:moveTo>
                  <a:pt x="0" y="0"/>
                </a:moveTo>
                <a:lnTo>
                  <a:pt x="6880" y="0"/>
                </a:lnTo>
                <a:lnTo>
                  <a:pt x="6880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0" name=""/>
          <p:cNvSpPr/>
          <p:nvPr/>
        </p:nvSpPr>
        <p:spPr>
          <a:xfrm>
            <a:off x="752400" y="3581280"/>
            <a:ext cx="895680" cy="962280"/>
          </a:xfrm>
          <a:custGeom>
            <a:avLst/>
            <a:gdLst/>
            <a:ahLst/>
            <a:rect l="0" t="0" r="r" b="b"/>
            <a:pathLst>
              <a:path w="2488" h="2673">
                <a:moveTo>
                  <a:pt x="0" y="0"/>
                </a:moveTo>
                <a:lnTo>
                  <a:pt x="2488" y="0"/>
                </a:lnTo>
                <a:lnTo>
                  <a:pt x="2488" y="2673"/>
                </a:lnTo>
                <a:lnTo>
                  <a:pt x="0" y="267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1" name=""/>
          <p:cNvSpPr/>
          <p:nvPr/>
        </p:nvSpPr>
        <p:spPr>
          <a:xfrm>
            <a:off x="1647720" y="3581280"/>
            <a:ext cx="7315560" cy="962280"/>
          </a:xfrm>
          <a:custGeom>
            <a:avLst/>
            <a:gdLst/>
            <a:ahLst/>
            <a:rect l="0" t="0" r="r" b="b"/>
            <a:pathLst>
              <a:path w="20321" h="2673">
                <a:moveTo>
                  <a:pt x="0" y="0"/>
                </a:moveTo>
                <a:lnTo>
                  <a:pt x="20321" y="0"/>
                </a:lnTo>
                <a:lnTo>
                  <a:pt x="20321" y="2673"/>
                </a:lnTo>
                <a:lnTo>
                  <a:pt x="0" y="267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2" name=""/>
          <p:cNvSpPr/>
          <p:nvPr/>
        </p:nvSpPr>
        <p:spPr>
          <a:xfrm>
            <a:off x="8962920" y="3581280"/>
            <a:ext cx="2476800" cy="962280"/>
          </a:xfrm>
          <a:custGeom>
            <a:avLst/>
            <a:gdLst/>
            <a:ahLst/>
            <a:rect l="0" t="0" r="r" b="b"/>
            <a:pathLst>
              <a:path w="6880" h="2673">
                <a:moveTo>
                  <a:pt x="0" y="0"/>
                </a:moveTo>
                <a:lnTo>
                  <a:pt x="6880" y="0"/>
                </a:lnTo>
                <a:lnTo>
                  <a:pt x="6880" y="2673"/>
                </a:lnTo>
                <a:lnTo>
                  <a:pt x="0" y="267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3" name=""/>
          <p:cNvSpPr/>
          <p:nvPr/>
        </p:nvSpPr>
        <p:spPr>
          <a:xfrm>
            <a:off x="752400" y="1542960"/>
            <a:ext cx="9720" cy="552600"/>
          </a:xfrm>
          <a:custGeom>
            <a:avLst/>
            <a:gdLst/>
            <a:ahLst/>
            <a:rect l="0" t="0" r="r" b="b"/>
            <a:pathLst>
              <a:path w="27" h="1535">
                <a:moveTo>
                  <a:pt x="0" y="0"/>
                </a:moveTo>
                <a:lnTo>
                  <a:pt x="27" y="0"/>
                </a:lnTo>
                <a:lnTo>
                  <a:pt x="27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4" name=""/>
          <p:cNvSpPr/>
          <p:nvPr/>
        </p:nvSpPr>
        <p:spPr>
          <a:xfrm>
            <a:off x="752400" y="1542960"/>
            <a:ext cx="895680" cy="9720"/>
          </a:xfrm>
          <a:custGeom>
            <a:avLst/>
            <a:gdLst/>
            <a:ahLst/>
            <a:rect l="0" t="0" r="r" b="b"/>
            <a:pathLst>
              <a:path w="2488" h="27">
                <a:moveTo>
                  <a:pt x="0" y="0"/>
                </a:moveTo>
                <a:lnTo>
                  <a:pt x="2488" y="0"/>
                </a:lnTo>
                <a:lnTo>
                  <a:pt x="248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5" name=""/>
          <p:cNvSpPr/>
          <p:nvPr/>
        </p:nvSpPr>
        <p:spPr>
          <a:xfrm>
            <a:off x="1638000" y="1542960"/>
            <a:ext cx="10080" cy="552600"/>
          </a:xfrm>
          <a:custGeom>
            <a:avLst/>
            <a:gdLst/>
            <a:ahLst/>
            <a:rect l="0" t="0" r="r" b="b"/>
            <a:pathLst>
              <a:path w="28" h="1535">
                <a:moveTo>
                  <a:pt x="0" y="0"/>
                </a:moveTo>
                <a:lnTo>
                  <a:pt x="28" y="0"/>
                </a:lnTo>
                <a:lnTo>
                  <a:pt x="28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6" name=""/>
          <p:cNvSpPr/>
          <p:nvPr/>
        </p:nvSpPr>
        <p:spPr>
          <a:xfrm>
            <a:off x="1647720" y="1542960"/>
            <a:ext cx="7324920" cy="9720"/>
          </a:xfrm>
          <a:custGeom>
            <a:avLst/>
            <a:gdLst/>
            <a:ahLst/>
            <a:rect l="0" t="0" r="r" b="b"/>
            <a:pathLst>
              <a:path w="20347" h="27">
                <a:moveTo>
                  <a:pt x="0" y="0"/>
                </a:moveTo>
                <a:lnTo>
                  <a:pt x="20347" y="0"/>
                </a:lnTo>
                <a:lnTo>
                  <a:pt x="2034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7" name=""/>
          <p:cNvSpPr/>
          <p:nvPr/>
        </p:nvSpPr>
        <p:spPr>
          <a:xfrm>
            <a:off x="8962920" y="1542960"/>
            <a:ext cx="9720" cy="552600"/>
          </a:xfrm>
          <a:custGeom>
            <a:avLst/>
            <a:gdLst/>
            <a:ahLst/>
            <a:rect l="0" t="0" r="r" b="b"/>
            <a:pathLst>
              <a:path w="27" h="1535">
                <a:moveTo>
                  <a:pt x="0" y="0"/>
                </a:moveTo>
                <a:lnTo>
                  <a:pt x="27" y="0"/>
                </a:lnTo>
                <a:lnTo>
                  <a:pt x="27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8" name=""/>
          <p:cNvSpPr/>
          <p:nvPr/>
        </p:nvSpPr>
        <p:spPr>
          <a:xfrm>
            <a:off x="8972280" y="1542960"/>
            <a:ext cx="2476800" cy="9720"/>
          </a:xfrm>
          <a:custGeom>
            <a:avLst/>
            <a:gdLst/>
            <a:ahLst/>
            <a:rect l="0" t="0" r="r" b="b"/>
            <a:pathLst>
              <a:path w="6880" h="27">
                <a:moveTo>
                  <a:pt x="0" y="0"/>
                </a:moveTo>
                <a:lnTo>
                  <a:pt x="6880" y="0"/>
                </a:lnTo>
                <a:lnTo>
                  <a:pt x="688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9" name=""/>
          <p:cNvSpPr/>
          <p:nvPr/>
        </p:nvSpPr>
        <p:spPr>
          <a:xfrm>
            <a:off x="11439360" y="1542960"/>
            <a:ext cx="9720" cy="552600"/>
          </a:xfrm>
          <a:custGeom>
            <a:avLst/>
            <a:gdLst/>
            <a:ahLst/>
            <a:rect l="0" t="0" r="r" b="b"/>
            <a:pathLst>
              <a:path w="27" h="1535">
                <a:moveTo>
                  <a:pt x="0" y="0"/>
                </a:moveTo>
                <a:lnTo>
                  <a:pt x="27" y="0"/>
                </a:lnTo>
                <a:lnTo>
                  <a:pt x="27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0" name=""/>
          <p:cNvSpPr/>
          <p:nvPr/>
        </p:nvSpPr>
        <p:spPr>
          <a:xfrm>
            <a:off x="752400" y="2085840"/>
            <a:ext cx="895680" cy="9720"/>
          </a:xfrm>
          <a:custGeom>
            <a:avLst/>
            <a:gdLst/>
            <a:ahLst/>
            <a:rect l="0" t="0" r="r" b="b"/>
            <a:pathLst>
              <a:path w="2488" h="27">
                <a:moveTo>
                  <a:pt x="0" y="0"/>
                </a:moveTo>
                <a:lnTo>
                  <a:pt x="2488" y="0"/>
                </a:lnTo>
                <a:lnTo>
                  <a:pt x="248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1" name=""/>
          <p:cNvSpPr/>
          <p:nvPr/>
        </p:nvSpPr>
        <p:spPr>
          <a:xfrm>
            <a:off x="1647720" y="2085840"/>
            <a:ext cx="7324920" cy="9720"/>
          </a:xfrm>
          <a:custGeom>
            <a:avLst/>
            <a:gdLst/>
            <a:ahLst/>
            <a:rect l="0" t="0" r="r" b="b"/>
            <a:pathLst>
              <a:path w="20347" h="27">
                <a:moveTo>
                  <a:pt x="0" y="0"/>
                </a:moveTo>
                <a:lnTo>
                  <a:pt x="20347" y="0"/>
                </a:lnTo>
                <a:lnTo>
                  <a:pt x="2034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2" name=""/>
          <p:cNvSpPr/>
          <p:nvPr/>
        </p:nvSpPr>
        <p:spPr>
          <a:xfrm>
            <a:off x="8972280" y="2085840"/>
            <a:ext cx="2476800" cy="9720"/>
          </a:xfrm>
          <a:custGeom>
            <a:avLst/>
            <a:gdLst/>
            <a:ahLst/>
            <a:rect l="0" t="0" r="r" b="b"/>
            <a:pathLst>
              <a:path w="6880" h="27">
                <a:moveTo>
                  <a:pt x="0" y="0"/>
                </a:moveTo>
                <a:lnTo>
                  <a:pt x="6880" y="0"/>
                </a:lnTo>
                <a:lnTo>
                  <a:pt x="688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3" name=""/>
          <p:cNvSpPr/>
          <p:nvPr/>
        </p:nvSpPr>
        <p:spPr>
          <a:xfrm>
            <a:off x="752400" y="2095200"/>
            <a:ext cx="9720" cy="952920"/>
          </a:xfrm>
          <a:custGeom>
            <a:avLst/>
            <a:gdLst/>
            <a:ahLst/>
            <a:rect l="0" t="0" r="r" b="b"/>
            <a:pathLst>
              <a:path w="27" h="2647">
                <a:moveTo>
                  <a:pt x="0" y="0"/>
                </a:moveTo>
                <a:lnTo>
                  <a:pt x="27" y="0"/>
                </a:lnTo>
                <a:lnTo>
                  <a:pt x="27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4" name=""/>
          <p:cNvSpPr/>
          <p:nvPr/>
        </p:nvSpPr>
        <p:spPr>
          <a:xfrm>
            <a:off x="1638000" y="2095200"/>
            <a:ext cx="10080" cy="952920"/>
          </a:xfrm>
          <a:custGeom>
            <a:avLst/>
            <a:gdLst/>
            <a:ahLst/>
            <a:rect l="0" t="0" r="r" b="b"/>
            <a:pathLst>
              <a:path w="28" h="2647">
                <a:moveTo>
                  <a:pt x="0" y="0"/>
                </a:moveTo>
                <a:lnTo>
                  <a:pt x="28" y="0"/>
                </a:lnTo>
                <a:lnTo>
                  <a:pt x="28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5" name=""/>
          <p:cNvSpPr/>
          <p:nvPr/>
        </p:nvSpPr>
        <p:spPr>
          <a:xfrm>
            <a:off x="8962920" y="2095200"/>
            <a:ext cx="9720" cy="952920"/>
          </a:xfrm>
          <a:custGeom>
            <a:avLst/>
            <a:gdLst/>
            <a:ahLst/>
            <a:rect l="0" t="0" r="r" b="b"/>
            <a:pathLst>
              <a:path w="27" h="2647">
                <a:moveTo>
                  <a:pt x="0" y="0"/>
                </a:moveTo>
                <a:lnTo>
                  <a:pt x="27" y="0"/>
                </a:lnTo>
                <a:lnTo>
                  <a:pt x="27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6" name=""/>
          <p:cNvSpPr/>
          <p:nvPr/>
        </p:nvSpPr>
        <p:spPr>
          <a:xfrm>
            <a:off x="11439360" y="2095200"/>
            <a:ext cx="9720" cy="952920"/>
          </a:xfrm>
          <a:custGeom>
            <a:avLst/>
            <a:gdLst/>
            <a:ahLst/>
            <a:rect l="0" t="0" r="r" b="b"/>
            <a:pathLst>
              <a:path w="27" h="2647">
                <a:moveTo>
                  <a:pt x="0" y="0"/>
                </a:moveTo>
                <a:lnTo>
                  <a:pt x="27" y="0"/>
                </a:lnTo>
                <a:lnTo>
                  <a:pt x="27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7" name=""/>
          <p:cNvSpPr/>
          <p:nvPr/>
        </p:nvSpPr>
        <p:spPr>
          <a:xfrm>
            <a:off x="752400" y="304776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8" name=""/>
          <p:cNvSpPr/>
          <p:nvPr/>
        </p:nvSpPr>
        <p:spPr>
          <a:xfrm>
            <a:off x="752400" y="3038400"/>
            <a:ext cx="895680" cy="9720"/>
          </a:xfrm>
          <a:custGeom>
            <a:avLst/>
            <a:gdLst/>
            <a:ahLst/>
            <a:rect l="0" t="0" r="r" b="b"/>
            <a:pathLst>
              <a:path w="2488" h="27">
                <a:moveTo>
                  <a:pt x="0" y="0"/>
                </a:moveTo>
                <a:lnTo>
                  <a:pt x="2488" y="0"/>
                </a:lnTo>
                <a:lnTo>
                  <a:pt x="248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9" name=""/>
          <p:cNvSpPr/>
          <p:nvPr/>
        </p:nvSpPr>
        <p:spPr>
          <a:xfrm>
            <a:off x="1638000" y="3047760"/>
            <a:ext cx="10080" cy="543240"/>
          </a:xfrm>
          <a:custGeom>
            <a:avLst/>
            <a:gdLst/>
            <a:ah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0" name=""/>
          <p:cNvSpPr/>
          <p:nvPr/>
        </p:nvSpPr>
        <p:spPr>
          <a:xfrm>
            <a:off x="1647720" y="3038400"/>
            <a:ext cx="7324920" cy="9720"/>
          </a:xfrm>
          <a:custGeom>
            <a:avLst/>
            <a:gdLst/>
            <a:ahLst/>
            <a:rect l="0" t="0" r="r" b="b"/>
            <a:pathLst>
              <a:path w="20347" h="27">
                <a:moveTo>
                  <a:pt x="0" y="0"/>
                </a:moveTo>
                <a:lnTo>
                  <a:pt x="20347" y="0"/>
                </a:lnTo>
                <a:lnTo>
                  <a:pt x="2034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1" name=""/>
          <p:cNvSpPr/>
          <p:nvPr/>
        </p:nvSpPr>
        <p:spPr>
          <a:xfrm>
            <a:off x="8962920" y="304776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2" name=""/>
          <p:cNvSpPr/>
          <p:nvPr/>
        </p:nvSpPr>
        <p:spPr>
          <a:xfrm>
            <a:off x="8972280" y="3038400"/>
            <a:ext cx="2476800" cy="9720"/>
          </a:xfrm>
          <a:custGeom>
            <a:avLst/>
            <a:gdLst/>
            <a:ahLst/>
            <a:rect l="0" t="0" r="r" b="b"/>
            <a:pathLst>
              <a:path w="6880" h="27">
                <a:moveTo>
                  <a:pt x="0" y="0"/>
                </a:moveTo>
                <a:lnTo>
                  <a:pt x="6880" y="0"/>
                </a:lnTo>
                <a:lnTo>
                  <a:pt x="688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3" name=""/>
          <p:cNvSpPr/>
          <p:nvPr/>
        </p:nvSpPr>
        <p:spPr>
          <a:xfrm>
            <a:off x="11439360" y="304776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4" name=""/>
          <p:cNvSpPr/>
          <p:nvPr/>
        </p:nvSpPr>
        <p:spPr>
          <a:xfrm>
            <a:off x="752400" y="3590640"/>
            <a:ext cx="9720" cy="962640"/>
          </a:xfrm>
          <a:custGeom>
            <a:avLst/>
            <a:gdLst/>
            <a:ahLst/>
            <a:rect l="0" t="0" r="r" b="b"/>
            <a:pathLst>
              <a:path w="27" h="2674">
                <a:moveTo>
                  <a:pt x="0" y="0"/>
                </a:moveTo>
                <a:lnTo>
                  <a:pt x="27" y="0"/>
                </a:lnTo>
                <a:lnTo>
                  <a:pt x="27" y="2674"/>
                </a:lnTo>
                <a:lnTo>
                  <a:pt x="0" y="267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5" name=""/>
          <p:cNvSpPr/>
          <p:nvPr/>
        </p:nvSpPr>
        <p:spPr>
          <a:xfrm>
            <a:off x="752400" y="3581280"/>
            <a:ext cx="895680" cy="9720"/>
          </a:xfrm>
          <a:custGeom>
            <a:avLst/>
            <a:gdLst/>
            <a:ahLst/>
            <a:rect l="0" t="0" r="r" b="b"/>
            <a:pathLst>
              <a:path w="2488" h="27">
                <a:moveTo>
                  <a:pt x="0" y="0"/>
                </a:moveTo>
                <a:lnTo>
                  <a:pt x="2488" y="0"/>
                </a:lnTo>
                <a:lnTo>
                  <a:pt x="248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6" name=""/>
          <p:cNvSpPr/>
          <p:nvPr/>
        </p:nvSpPr>
        <p:spPr>
          <a:xfrm>
            <a:off x="1638000" y="3590640"/>
            <a:ext cx="10080" cy="962640"/>
          </a:xfrm>
          <a:custGeom>
            <a:avLst/>
            <a:gdLst/>
            <a:ahLst/>
            <a:rect l="0" t="0" r="r" b="b"/>
            <a:pathLst>
              <a:path w="28" h="2674">
                <a:moveTo>
                  <a:pt x="0" y="0"/>
                </a:moveTo>
                <a:lnTo>
                  <a:pt x="28" y="0"/>
                </a:lnTo>
                <a:lnTo>
                  <a:pt x="28" y="2674"/>
                </a:lnTo>
                <a:lnTo>
                  <a:pt x="0" y="267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7" name=""/>
          <p:cNvSpPr/>
          <p:nvPr/>
        </p:nvSpPr>
        <p:spPr>
          <a:xfrm>
            <a:off x="1647720" y="3581280"/>
            <a:ext cx="7324920" cy="9720"/>
          </a:xfrm>
          <a:custGeom>
            <a:avLst/>
            <a:gdLst/>
            <a:ahLst/>
            <a:rect l="0" t="0" r="r" b="b"/>
            <a:pathLst>
              <a:path w="20347" h="27">
                <a:moveTo>
                  <a:pt x="0" y="0"/>
                </a:moveTo>
                <a:lnTo>
                  <a:pt x="20347" y="0"/>
                </a:lnTo>
                <a:lnTo>
                  <a:pt x="2034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8" name=""/>
          <p:cNvSpPr/>
          <p:nvPr/>
        </p:nvSpPr>
        <p:spPr>
          <a:xfrm>
            <a:off x="8962920" y="3590640"/>
            <a:ext cx="9720" cy="962640"/>
          </a:xfrm>
          <a:custGeom>
            <a:avLst/>
            <a:gdLst/>
            <a:ahLst/>
            <a:rect l="0" t="0" r="r" b="b"/>
            <a:pathLst>
              <a:path w="27" h="2674">
                <a:moveTo>
                  <a:pt x="0" y="0"/>
                </a:moveTo>
                <a:lnTo>
                  <a:pt x="27" y="0"/>
                </a:lnTo>
                <a:lnTo>
                  <a:pt x="27" y="2674"/>
                </a:lnTo>
                <a:lnTo>
                  <a:pt x="0" y="267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9" name=""/>
          <p:cNvSpPr/>
          <p:nvPr/>
        </p:nvSpPr>
        <p:spPr>
          <a:xfrm>
            <a:off x="8972280" y="3581280"/>
            <a:ext cx="2476800" cy="9720"/>
          </a:xfrm>
          <a:custGeom>
            <a:avLst/>
            <a:gdLst/>
            <a:ahLst/>
            <a:rect l="0" t="0" r="r" b="b"/>
            <a:pathLst>
              <a:path w="6880" h="27">
                <a:moveTo>
                  <a:pt x="0" y="0"/>
                </a:moveTo>
                <a:lnTo>
                  <a:pt x="6880" y="0"/>
                </a:lnTo>
                <a:lnTo>
                  <a:pt x="688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0" name=""/>
          <p:cNvSpPr/>
          <p:nvPr/>
        </p:nvSpPr>
        <p:spPr>
          <a:xfrm>
            <a:off x="11439360" y="3590640"/>
            <a:ext cx="9720" cy="962640"/>
          </a:xfrm>
          <a:custGeom>
            <a:avLst/>
            <a:gdLst/>
            <a:ahLst/>
            <a:rect l="0" t="0" r="r" b="b"/>
            <a:pathLst>
              <a:path w="27" h="2674">
                <a:moveTo>
                  <a:pt x="0" y="0"/>
                </a:moveTo>
                <a:lnTo>
                  <a:pt x="27" y="0"/>
                </a:lnTo>
                <a:lnTo>
                  <a:pt x="27" y="2674"/>
                </a:lnTo>
                <a:lnTo>
                  <a:pt x="0" y="267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1" name=""/>
          <p:cNvSpPr/>
          <p:nvPr/>
        </p:nvSpPr>
        <p:spPr>
          <a:xfrm>
            <a:off x="752400" y="4543200"/>
            <a:ext cx="895680" cy="10080"/>
          </a:xfrm>
          <a:custGeom>
            <a:avLst/>
            <a:gdLst/>
            <a:ahLst/>
            <a:rect l="0" t="0" r="r" b="b"/>
            <a:pathLst>
              <a:path w="2488" h="28">
                <a:moveTo>
                  <a:pt x="0" y="0"/>
                </a:moveTo>
                <a:lnTo>
                  <a:pt x="2488" y="0"/>
                </a:lnTo>
                <a:lnTo>
                  <a:pt x="248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2" name=""/>
          <p:cNvSpPr/>
          <p:nvPr/>
        </p:nvSpPr>
        <p:spPr>
          <a:xfrm>
            <a:off x="1647720" y="4543200"/>
            <a:ext cx="7324920" cy="10080"/>
          </a:xfrm>
          <a:custGeom>
            <a:avLst/>
            <a:gdLst/>
            <a:ahLst/>
            <a:rect l="0" t="0" r="r" b="b"/>
            <a:pathLst>
              <a:path w="20347" h="28">
                <a:moveTo>
                  <a:pt x="0" y="0"/>
                </a:moveTo>
                <a:lnTo>
                  <a:pt x="20347" y="0"/>
                </a:lnTo>
                <a:lnTo>
                  <a:pt x="2034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3" name=""/>
          <p:cNvSpPr/>
          <p:nvPr/>
        </p:nvSpPr>
        <p:spPr>
          <a:xfrm>
            <a:off x="8972280" y="4543200"/>
            <a:ext cx="2476800" cy="10080"/>
          </a:xfrm>
          <a:custGeom>
            <a:avLst/>
            <a:gdLst/>
            <a:ahLst/>
            <a:rect l="0" t="0" r="r" b="b"/>
            <a:pathLst>
              <a:path w="6880" h="28">
                <a:moveTo>
                  <a:pt x="0" y="0"/>
                </a:moveTo>
                <a:lnTo>
                  <a:pt x="6880" y="0"/>
                </a:lnTo>
                <a:lnTo>
                  <a:pt x="688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4" name=""/>
          <p:cNvSpPr/>
          <p:nvPr/>
        </p:nvSpPr>
        <p:spPr>
          <a:xfrm>
            <a:off x="757080" y="5271840"/>
            <a:ext cx="10687320" cy="1400760"/>
          </a:xfrm>
          <a:custGeom>
            <a:avLst/>
            <a:gdLst/>
            <a:ahLst/>
            <a:rect l="0" t="0" r="r" b="b"/>
            <a:pathLst>
              <a:path w="29687" h="3891">
                <a:moveTo>
                  <a:pt x="0" y="3745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8"/>
                  <a:pt x="29597" y="11"/>
                </a:cubicBezTo>
                <a:cubicBezTo>
                  <a:pt x="29606" y="15"/>
                  <a:pt x="29615" y="19"/>
                  <a:pt x="29623" y="25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50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7"/>
                  <a:pt x="29687" y="136"/>
                  <a:pt x="29687" y="146"/>
                </a:cubicBezTo>
                <a:lnTo>
                  <a:pt x="29687" y="3745"/>
                </a:lnTo>
                <a:cubicBezTo>
                  <a:pt x="29687" y="3755"/>
                  <a:pt x="29686" y="3764"/>
                  <a:pt x="29684" y="3773"/>
                </a:cubicBezTo>
                <a:cubicBezTo>
                  <a:pt x="29683" y="3783"/>
                  <a:pt x="29680" y="3792"/>
                  <a:pt x="29676" y="3801"/>
                </a:cubicBezTo>
                <a:cubicBezTo>
                  <a:pt x="29672" y="3810"/>
                  <a:pt x="29668" y="3818"/>
                  <a:pt x="29663" y="3826"/>
                </a:cubicBezTo>
                <a:cubicBezTo>
                  <a:pt x="29657" y="3834"/>
                  <a:pt x="29651" y="3841"/>
                  <a:pt x="29645" y="3848"/>
                </a:cubicBezTo>
                <a:cubicBezTo>
                  <a:pt x="29638" y="3855"/>
                  <a:pt x="29630" y="3861"/>
                  <a:pt x="29623" y="3866"/>
                </a:cubicBezTo>
                <a:cubicBezTo>
                  <a:pt x="29615" y="3871"/>
                  <a:pt x="29606" y="3876"/>
                  <a:pt x="29597" y="3879"/>
                </a:cubicBezTo>
                <a:cubicBezTo>
                  <a:pt x="29589" y="3883"/>
                  <a:pt x="29579" y="3886"/>
                  <a:pt x="29570" y="3888"/>
                </a:cubicBezTo>
                <a:cubicBezTo>
                  <a:pt x="29561" y="3890"/>
                  <a:pt x="29551" y="3891"/>
                  <a:pt x="29542" y="3891"/>
                </a:cubicBezTo>
                <a:lnTo>
                  <a:pt x="145" y="3891"/>
                </a:lnTo>
                <a:cubicBezTo>
                  <a:pt x="136" y="3891"/>
                  <a:pt x="126" y="3890"/>
                  <a:pt x="117" y="3888"/>
                </a:cubicBezTo>
                <a:cubicBezTo>
                  <a:pt x="108" y="3886"/>
                  <a:pt x="99" y="3883"/>
                  <a:pt x="90" y="3879"/>
                </a:cubicBezTo>
                <a:cubicBezTo>
                  <a:pt x="81" y="3876"/>
                  <a:pt x="73" y="3871"/>
                  <a:pt x="65" y="3866"/>
                </a:cubicBezTo>
                <a:cubicBezTo>
                  <a:pt x="57" y="3861"/>
                  <a:pt x="49" y="3855"/>
                  <a:pt x="43" y="3848"/>
                </a:cubicBezTo>
                <a:cubicBezTo>
                  <a:pt x="36" y="3841"/>
                  <a:pt x="30" y="3834"/>
                  <a:pt x="24" y="3826"/>
                </a:cubicBezTo>
                <a:cubicBezTo>
                  <a:pt x="19" y="3818"/>
                  <a:pt x="15" y="3810"/>
                  <a:pt x="11" y="3801"/>
                </a:cubicBezTo>
                <a:cubicBezTo>
                  <a:pt x="7" y="3792"/>
                  <a:pt x="5" y="3783"/>
                  <a:pt x="3" y="3773"/>
                </a:cubicBezTo>
                <a:cubicBezTo>
                  <a:pt x="1" y="3764"/>
                  <a:pt x="0" y="3755"/>
                  <a:pt x="0" y="3745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5" name=""/>
          <p:cNvSpPr/>
          <p:nvPr/>
        </p:nvSpPr>
        <p:spPr>
          <a:xfrm>
            <a:off x="757080" y="5271840"/>
            <a:ext cx="10687320" cy="1400760"/>
          </a:xfrm>
          <a:custGeom>
            <a:avLst/>
            <a:gdLst/>
            <a:ahLst/>
            <a:rect l="0" t="0" r="r" b="b"/>
            <a:pathLst>
              <a:path w="29687" h="3891">
                <a:moveTo>
                  <a:pt x="0" y="3745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8"/>
                  <a:pt x="29597" y="11"/>
                </a:cubicBezTo>
                <a:cubicBezTo>
                  <a:pt x="29606" y="15"/>
                  <a:pt x="29615" y="19"/>
                  <a:pt x="29623" y="25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50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7"/>
                  <a:pt x="29687" y="136"/>
                  <a:pt x="29687" y="146"/>
                </a:cubicBezTo>
                <a:lnTo>
                  <a:pt x="29687" y="3745"/>
                </a:lnTo>
                <a:cubicBezTo>
                  <a:pt x="29687" y="3755"/>
                  <a:pt x="29686" y="3764"/>
                  <a:pt x="29684" y="3773"/>
                </a:cubicBezTo>
                <a:cubicBezTo>
                  <a:pt x="29683" y="3783"/>
                  <a:pt x="29680" y="3792"/>
                  <a:pt x="29676" y="3801"/>
                </a:cubicBezTo>
                <a:cubicBezTo>
                  <a:pt x="29672" y="3810"/>
                  <a:pt x="29668" y="3818"/>
                  <a:pt x="29663" y="3826"/>
                </a:cubicBezTo>
                <a:cubicBezTo>
                  <a:pt x="29657" y="3834"/>
                  <a:pt x="29651" y="3841"/>
                  <a:pt x="29645" y="3848"/>
                </a:cubicBezTo>
                <a:cubicBezTo>
                  <a:pt x="29638" y="3855"/>
                  <a:pt x="29630" y="3861"/>
                  <a:pt x="29623" y="3866"/>
                </a:cubicBezTo>
                <a:cubicBezTo>
                  <a:pt x="29615" y="3871"/>
                  <a:pt x="29606" y="3876"/>
                  <a:pt x="29597" y="3879"/>
                </a:cubicBezTo>
                <a:cubicBezTo>
                  <a:pt x="29589" y="3883"/>
                  <a:pt x="29579" y="3886"/>
                  <a:pt x="29570" y="3888"/>
                </a:cubicBezTo>
                <a:cubicBezTo>
                  <a:pt x="29561" y="3890"/>
                  <a:pt x="29551" y="3891"/>
                  <a:pt x="29542" y="3891"/>
                </a:cubicBezTo>
                <a:lnTo>
                  <a:pt x="145" y="3891"/>
                </a:lnTo>
                <a:cubicBezTo>
                  <a:pt x="136" y="3891"/>
                  <a:pt x="126" y="3890"/>
                  <a:pt x="117" y="3888"/>
                </a:cubicBezTo>
                <a:cubicBezTo>
                  <a:pt x="108" y="3886"/>
                  <a:pt x="99" y="3883"/>
                  <a:pt x="90" y="3879"/>
                </a:cubicBezTo>
                <a:cubicBezTo>
                  <a:pt x="81" y="3876"/>
                  <a:pt x="73" y="3871"/>
                  <a:pt x="65" y="3866"/>
                </a:cubicBezTo>
                <a:cubicBezTo>
                  <a:pt x="57" y="3861"/>
                  <a:pt x="49" y="3855"/>
                  <a:pt x="43" y="3848"/>
                </a:cubicBezTo>
                <a:cubicBezTo>
                  <a:pt x="36" y="3841"/>
                  <a:pt x="30" y="3834"/>
                  <a:pt x="24" y="3826"/>
                </a:cubicBezTo>
                <a:cubicBezTo>
                  <a:pt x="19" y="3818"/>
                  <a:pt x="15" y="3810"/>
                  <a:pt x="11" y="3801"/>
                </a:cubicBezTo>
                <a:cubicBezTo>
                  <a:pt x="7" y="3792"/>
                  <a:pt x="5" y="3783"/>
                  <a:pt x="3" y="3773"/>
                </a:cubicBezTo>
                <a:cubicBezTo>
                  <a:pt x="1" y="3764"/>
                  <a:pt x="0" y="3755"/>
                  <a:pt x="0" y="3745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6" name=""/>
          <p:cNvSpPr txBox="1"/>
          <p:nvPr/>
        </p:nvSpPr>
        <p:spPr>
          <a:xfrm>
            <a:off x="747720" y="123120"/>
            <a:ext cx="496800" cy="58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480" b="1" u="none" strike="noStrike">
                <a:solidFill>
                  <a:srgbClr val="224466"/>
                </a:solidFill>
                <a:effectLst/>
                <a:uFillTx/>
                <a:latin typeface="SegoeUI"/>
                <a:ea typeface="SegoeUI"/>
              </a:rPr>
              <a:t>6. </a:t>
            </a:r>
            <a:endParaRPr lang="en-US" sz="34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7" name=""/>
          <p:cNvSpPr txBox="1"/>
          <p:nvPr/>
        </p:nvSpPr>
        <p:spPr>
          <a:xfrm>
            <a:off x="1222560" y="158040"/>
            <a:ext cx="5746320" cy="53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3480" b="0" u="none" strike="noStrike">
                <a:solidFill>
                  <a:srgbClr val="224466"/>
                </a:solidFill>
                <a:effectLst/>
                <a:uFillTx/>
                <a:latin typeface="NotoSansSC"/>
                <a:ea typeface="NotoSansSC"/>
              </a:rPr>
              <a:t>并发控制⽅法（防超卖核⼼）</a:t>
            </a:r>
            <a:endParaRPr lang="en-US" sz="34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8" name=""/>
          <p:cNvSpPr txBox="1"/>
          <p:nvPr/>
        </p:nvSpPr>
        <p:spPr>
          <a:xfrm>
            <a:off x="747720" y="1019160"/>
            <a:ext cx="11041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三层防护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9" name=""/>
          <p:cNvSpPr txBox="1"/>
          <p:nvPr/>
        </p:nvSpPr>
        <p:spPr>
          <a:xfrm>
            <a:off x="1852560" y="997200"/>
            <a:ext cx="34812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+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0" name=""/>
          <p:cNvSpPr txBox="1"/>
          <p:nvPr/>
        </p:nvSpPr>
        <p:spPr>
          <a:xfrm>
            <a:off x="2196360" y="1019160"/>
            <a:ext cx="11041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具体参数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1" name=""/>
          <p:cNvSpPr txBox="1"/>
          <p:nvPr/>
        </p:nvSpPr>
        <p:spPr>
          <a:xfrm>
            <a:off x="922320" y="1647720"/>
            <a:ext cx="5522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机制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2" name=""/>
          <p:cNvSpPr txBox="1"/>
          <p:nvPr/>
        </p:nvSpPr>
        <p:spPr>
          <a:xfrm>
            <a:off x="5029560" y="1647720"/>
            <a:ext cx="5522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参数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3" name=""/>
          <p:cNvSpPr txBox="1"/>
          <p:nvPr/>
        </p:nvSpPr>
        <p:spPr>
          <a:xfrm>
            <a:off x="9927000" y="1647720"/>
            <a:ext cx="5522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防御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4" name=""/>
          <p:cNvSpPr txBox="1"/>
          <p:nvPr/>
        </p:nvSpPr>
        <p:spPr>
          <a:xfrm>
            <a:off x="880920" y="2400120"/>
            <a:ext cx="5522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限流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5" name=""/>
          <p:cNvSpPr txBox="1"/>
          <p:nvPr/>
        </p:nvSpPr>
        <p:spPr>
          <a:xfrm>
            <a:off x="1773360" y="2378520"/>
            <a:ext cx="191304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API:100/15min,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6" name=""/>
          <p:cNvSpPr txBox="1"/>
          <p:nvPr/>
        </p:nvSpPr>
        <p:spPr>
          <a:xfrm>
            <a:off x="3688560" y="2400120"/>
            <a:ext cx="5522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登录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7" name=""/>
          <p:cNvSpPr txBox="1"/>
          <p:nvPr/>
        </p:nvSpPr>
        <p:spPr>
          <a:xfrm>
            <a:off x="4241160" y="2378520"/>
            <a:ext cx="120996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:5/15min,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8" name=""/>
          <p:cNvSpPr txBox="1"/>
          <p:nvPr/>
        </p:nvSpPr>
        <p:spPr>
          <a:xfrm>
            <a:off x="5451840" y="2400120"/>
            <a:ext cx="5522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订单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9" name=""/>
          <p:cNvSpPr txBox="1"/>
          <p:nvPr/>
        </p:nvSpPr>
        <p:spPr>
          <a:xfrm>
            <a:off x="6004440" y="2378520"/>
            <a:ext cx="106128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:5/1min,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0" name=""/>
          <p:cNvSpPr txBox="1"/>
          <p:nvPr/>
        </p:nvSpPr>
        <p:spPr>
          <a:xfrm>
            <a:off x="7066440" y="2400120"/>
            <a:ext cx="5522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⽀付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1" name=""/>
          <p:cNvSpPr txBox="1"/>
          <p:nvPr/>
        </p:nvSpPr>
        <p:spPr>
          <a:xfrm>
            <a:off x="7618680" y="2378520"/>
            <a:ext cx="92592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:3/1min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2" name=""/>
          <p:cNvSpPr txBox="1"/>
          <p:nvPr/>
        </p:nvSpPr>
        <p:spPr>
          <a:xfrm>
            <a:off x="9095040" y="2169000"/>
            <a:ext cx="103536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DDoS +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3" name=""/>
          <p:cNvSpPr txBox="1"/>
          <p:nvPr/>
        </p:nvSpPr>
        <p:spPr>
          <a:xfrm>
            <a:off x="10131480" y="2190600"/>
            <a:ext cx="11041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暴⼒破解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4" name=""/>
          <p:cNvSpPr txBox="1"/>
          <p:nvPr/>
        </p:nvSpPr>
        <p:spPr>
          <a:xfrm>
            <a:off x="9095040" y="2578680"/>
            <a:ext cx="27576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+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5" name=""/>
          <p:cNvSpPr txBox="1"/>
          <p:nvPr/>
        </p:nvSpPr>
        <p:spPr>
          <a:xfrm>
            <a:off x="9359640" y="2600280"/>
            <a:ext cx="5522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刷单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6" name=""/>
          <p:cNvSpPr/>
          <p:nvPr/>
        </p:nvSpPr>
        <p:spPr>
          <a:xfrm>
            <a:off x="1771560" y="3152520"/>
            <a:ext cx="3543480" cy="371880"/>
          </a:xfrm>
          <a:custGeom>
            <a:avLst/>
            <a:gdLst/>
            <a:ahLst/>
            <a:rect l="0" t="0" r="r" b="b"/>
            <a:pathLst>
              <a:path w="9843" h="1033">
                <a:moveTo>
                  <a:pt x="0" y="874"/>
                </a:moveTo>
                <a:lnTo>
                  <a:pt x="0" y="160"/>
                </a:lnTo>
                <a:cubicBezTo>
                  <a:pt x="0" y="150"/>
                  <a:pt x="1" y="139"/>
                  <a:pt x="3" y="129"/>
                </a:cubicBezTo>
                <a:cubicBezTo>
                  <a:pt x="5" y="119"/>
                  <a:pt x="8" y="109"/>
                  <a:pt x="12" y="99"/>
                </a:cubicBezTo>
                <a:cubicBezTo>
                  <a:pt x="16" y="90"/>
                  <a:pt x="21" y="80"/>
                  <a:pt x="27" y="72"/>
                </a:cubicBezTo>
                <a:cubicBezTo>
                  <a:pt x="32" y="63"/>
                  <a:pt x="39" y="55"/>
                  <a:pt x="46" y="48"/>
                </a:cubicBezTo>
                <a:cubicBezTo>
                  <a:pt x="54" y="40"/>
                  <a:pt x="62" y="34"/>
                  <a:pt x="70" y="28"/>
                </a:cubicBezTo>
                <a:cubicBezTo>
                  <a:pt x="79" y="22"/>
                  <a:pt x="88" y="17"/>
                  <a:pt x="98" y="13"/>
                </a:cubicBezTo>
                <a:cubicBezTo>
                  <a:pt x="107" y="9"/>
                  <a:pt x="117" y="5"/>
                  <a:pt x="128" y="3"/>
                </a:cubicBezTo>
                <a:cubicBezTo>
                  <a:pt x="138" y="1"/>
                  <a:pt x="148" y="0"/>
                  <a:pt x="158" y="0"/>
                </a:cubicBezTo>
                <a:lnTo>
                  <a:pt x="9683" y="0"/>
                </a:lnTo>
                <a:cubicBezTo>
                  <a:pt x="9694" y="0"/>
                  <a:pt x="9704" y="1"/>
                  <a:pt x="9714" y="3"/>
                </a:cubicBezTo>
                <a:cubicBezTo>
                  <a:pt x="9725" y="5"/>
                  <a:pt x="9735" y="9"/>
                  <a:pt x="9744" y="13"/>
                </a:cubicBezTo>
                <a:cubicBezTo>
                  <a:pt x="9754" y="17"/>
                  <a:pt x="9763" y="22"/>
                  <a:pt x="9772" y="28"/>
                </a:cubicBezTo>
                <a:cubicBezTo>
                  <a:pt x="9780" y="34"/>
                  <a:pt x="9788" y="40"/>
                  <a:pt x="9796" y="48"/>
                </a:cubicBezTo>
                <a:cubicBezTo>
                  <a:pt x="9803" y="55"/>
                  <a:pt x="9810" y="63"/>
                  <a:pt x="9815" y="72"/>
                </a:cubicBezTo>
                <a:cubicBezTo>
                  <a:pt x="9821" y="80"/>
                  <a:pt x="9826" y="90"/>
                  <a:pt x="9830" y="99"/>
                </a:cubicBezTo>
                <a:cubicBezTo>
                  <a:pt x="9834" y="109"/>
                  <a:pt x="9837" y="119"/>
                  <a:pt x="9839" y="129"/>
                </a:cubicBezTo>
                <a:cubicBezTo>
                  <a:pt x="9841" y="139"/>
                  <a:pt x="9843" y="150"/>
                  <a:pt x="9843" y="160"/>
                </a:cubicBezTo>
                <a:lnTo>
                  <a:pt x="9843" y="874"/>
                </a:lnTo>
                <a:cubicBezTo>
                  <a:pt x="9843" y="885"/>
                  <a:pt x="9841" y="895"/>
                  <a:pt x="9839" y="905"/>
                </a:cubicBezTo>
                <a:cubicBezTo>
                  <a:pt x="9837" y="916"/>
                  <a:pt x="9834" y="925"/>
                  <a:pt x="9830" y="935"/>
                </a:cubicBezTo>
                <a:cubicBezTo>
                  <a:pt x="9826" y="945"/>
                  <a:pt x="9821" y="954"/>
                  <a:pt x="9815" y="963"/>
                </a:cubicBezTo>
                <a:cubicBezTo>
                  <a:pt x="9810" y="971"/>
                  <a:pt x="9803" y="979"/>
                  <a:pt x="9796" y="987"/>
                </a:cubicBezTo>
                <a:cubicBezTo>
                  <a:pt x="9788" y="994"/>
                  <a:pt x="9780" y="1001"/>
                  <a:pt x="9772" y="1006"/>
                </a:cubicBezTo>
                <a:cubicBezTo>
                  <a:pt x="9763" y="1012"/>
                  <a:pt x="9754" y="1017"/>
                  <a:pt x="9744" y="1021"/>
                </a:cubicBezTo>
                <a:cubicBezTo>
                  <a:pt x="9735" y="1025"/>
                  <a:pt x="9725" y="1028"/>
                  <a:pt x="9714" y="1030"/>
                </a:cubicBezTo>
                <a:cubicBezTo>
                  <a:pt x="9704" y="1032"/>
                  <a:pt x="9694" y="1033"/>
                  <a:pt x="9683" y="1033"/>
                </a:cubicBezTo>
                <a:lnTo>
                  <a:pt x="158" y="1033"/>
                </a:lnTo>
                <a:cubicBezTo>
                  <a:pt x="148" y="1033"/>
                  <a:pt x="138" y="1032"/>
                  <a:pt x="128" y="1030"/>
                </a:cubicBezTo>
                <a:cubicBezTo>
                  <a:pt x="117" y="1028"/>
                  <a:pt x="107" y="1025"/>
                  <a:pt x="98" y="1021"/>
                </a:cubicBezTo>
                <a:cubicBezTo>
                  <a:pt x="88" y="1017"/>
                  <a:pt x="79" y="1012"/>
                  <a:pt x="70" y="1006"/>
                </a:cubicBezTo>
                <a:cubicBezTo>
                  <a:pt x="62" y="1001"/>
                  <a:pt x="54" y="994"/>
                  <a:pt x="46" y="987"/>
                </a:cubicBezTo>
                <a:cubicBezTo>
                  <a:pt x="39" y="979"/>
                  <a:pt x="32" y="971"/>
                  <a:pt x="27" y="963"/>
                </a:cubicBezTo>
                <a:cubicBezTo>
                  <a:pt x="21" y="954"/>
                  <a:pt x="16" y="945"/>
                  <a:pt x="12" y="935"/>
                </a:cubicBezTo>
                <a:cubicBezTo>
                  <a:pt x="8" y="925"/>
                  <a:pt x="5" y="916"/>
                  <a:pt x="3" y="905"/>
                </a:cubicBezTo>
                <a:cubicBezTo>
                  <a:pt x="1" y="895"/>
                  <a:pt x="0" y="885"/>
                  <a:pt x="0" y="874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67" name=""/>
          <p:cNvSpPr txBox="1"/>
          <p:nvPr/>
        </p:nvSpPr>
        <p:spPr>
          <a:xfrm>
            <a:off x="880920" y="3143160"/>
            <a:ext cx="5522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事务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8" name=""/>
          <p:cNvSpPr txBox="1"/>
          <p:nvPr/>
        </p:nvSpPr>
        <p:spPr>
          <a:xfrm>
            <a:off x="1867320" y="3244320"/>
            <a:ext cx="335556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session.startTransaction()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9" name=""/>
          <p:cNvSpPr/>
          <p:nvPr/>
        </p:nvSpPr>
        <p:spPr>
          <a:xfrm>
            <a:off x="5657760" y="3152520"/>
            <a:ext cx="2638800" cy="371880"/>
          </a:xfrm>
          <a:custGeom>
            <a:avLst/>
            <a:gdLst/>
            <a:ahLst/>
            <a:rect l="0" t="0" r="r" b="b"/>
            <a:pathLst>
              <a:path w="7330" h="1033">
                <a:moveTo>
                  <a:pt x="0" y="874"/>
                </a:moveTo>
                <a:lnTo>
                  <a:pt x="0" y="160"/>
                </a:lnTo>
                <a:cubicBezTo>
                  <a:pt x="0" y="150"/>
                  <a:pt x="1" y="139"/>
                  <a:pt x="3" y="129"/>
                </a:cubicBezTo>
                <a:cubicBezTo>
                  <a:pt x="5" y="119"/>
                  <a:pt x="8" y="109"/>
                  <a:pt x="12" y="99"/>
                </a:cubicBezTo>
                <a:cubicBezTo>
                  <a:pt x="16" y="90"/>
                  <a:pt x="21" y="80"/>
                  <a:pt x="27" y="72"/>
                </a:cubicBezTo>
                <a:cubicBezTo>
                  <a:pt x="32" y="63"/>
                  <a:pt x="39" y="55"/>
                  <a:pt x="46" y="48"/>
                </a:cubicBezTo>
                <a:cubicBezTo>
                  <a:pt x="54" y="40"/>
                  <a:pt x="62" y="34"/>
                  <a:pt x="70" y="28"/>
                </a:cubicBezTo>
                <a:cubicBezTo>
                  <a:pt x="79" y="22"/>
                  <a:pt x="88" y="17"/>
                  <a:pt x="98" y="13"/>
                </a:cubicBezTo>
                <a:cubicBezTo>
                  <a:pt x="107" y="9"/>
                  <a:pt x="117" y="5"/>
                  <a:pt x="128" y="3"/>
                </a:cubicBezTo>
                <a:cubicBezTo>
                  <a:pt x="138" y="1"/>
                  <a:pt x="148" y="0"/>
                  <a:pt x="158" y="0"/>
                </a:cubicBezTo>
                <a:lnTo>
                  <a:pt x="7171" y="0"/>
                </a:lnTo>
                <a:cubicBezTo>
                  <a:pt x="7181" y="0"/>
                  <a:pt x="7192" y="1"/>
                  <a:pt x="7202" y="3"/>
                </a:cubicBezTo>
                <a:cubicBezTo>
                  <a:pt x="7212" y="5"/>
                  <a:pt x="7222" y="9"/>
                  <a:pt x="7232" y="13"/>
                </a:cubicBezTo>
                <a:cubicBezTo>
                  <a:pt x="7241" y="17"/>
                  <a:pt x="7250" y="22"/>
                  <a:pt x="7259" y="28"/>
                </a:cubicBezTo>
                <a:cubicBezTo>
                  <a:pt x="7268" y="34"/>
                  <a:pt x="7276" y="40"/>
                  <a:pt x="7283" y="48"/>
                </a:cubicBezTo>
                <a:cubicBezTo>
                  <a:pt x="7291" y="55"/>
                  <a:pt x="7297" y="63"/>
                  <a:pt x="7303" y="72"/>
                </a:cubicBezTo>
                <a:cubicBezTo>
                  <a:pt x="7309" y="80"/>
                  <a:pt x="7314" y="90"/>
                  <a:pt x="7318" y="99"/>
                </a:cubicBezTo>
                <a:cubicBezTo>
                  <a:pt x="7322" y="109"/>
                  <a:pt x="7325" y="119"/>
                  <a:pt x="7327" y="129"/>
                </a:cubicBezTo>
                <a:cubicBezTo>
                  <a:pt x="7329" y="139"/>
                  <a:pt x="7330" y="150"/>
                  <a:pt x="7330" y="160"/>
                </a:cubicBezTo>
                <a:lnTo>
                  <a:pt x="7330" y="874"/>
                </a:lnTo>
                <a:cubicBezTo>
                  <a:pt x="7330" y="885"/>
                  <a:pt x="7329" y="895"/>
                  <a:pt x="7327" y="905"/>
                </a:cubicBezTo>
                <a:cubicBezTo>
                  <a:pt x="7325" y="916"/>
                  <a:pt x="7322" y="925"/>
                  <a:pt x="7318" y="935"/>
                </a:cubicBezTo>
                <a:cubicBezTo>
                  <a:pt x="7314" y="945"/>
                  <a:pt x="7309" y="954"/>
                  <a:pt x="7303" y="963"/>
                </a:cubicBezTo>
                <a:cubicBezTo>
                  <a:pt x="7297" y="971"/>
                  <a:pt x="7291" y="979"/>
                  <a:pt x="7283" y="987"/>
                </a:cubicBezTo>
                <a:cubicBezTo>
                  <a:pt x="7276" y="994"/>
                  <a:pt x="7268" y="1001"/>
                  <a:pt x="7259" y="1006"/>
                </a:cubicBezTo>
                <a:cubicBezTo>
                  <a:pt x="7250" y="1012"/>
                  <a:pt x="7241" y="1017"/>
                  <a:pt x="7232" y="1021"/>
                </a:cubicBezTo>
                <a:cubicBezTo>
                  <a:pt x="7222" y="1025"/>
                  <a:pt x="7212" y="1028"/>
                  <a:pt x="7202" y="1030"/>
                </a:cubicBezTo>
                <a:cubicBezTo>
                  <a:pt x="7192" y="1032"/>
                  <a:pt x="7181" y="1033"/>
                  <a:pt x="7171" y="1033"/>
                </a:cubicBezTo>
                <a:lnTo>
                  <a:pt x="158" y="1033"/>
                </a:lnTo>
                <a:cubicBezTo>
                  <a:pt x="148" y="1033"/>
                  <a:pt x="138" y="1032"/>
                  <a:pt x="128" y="1030"/>
                </a:cubicBezTo>
                <a:cubicBezTo>
                  <a:pt x="117" y="1028"/>
                  <a:pt x="107" y="1025"/>
                  <a:pt x="98" y="1021"/>
                </a:cubicBezTo>
                <a:cubicBezTo>
                  <a:pt x="88" y="1017"/>
                  <a:pt x="79" y="1012"/>
                  <a:pt x="70" y="1006"/>
                </a:cubicBezTo>
                <a:cubicBezTo>
                  <a:pt x="62" y="1001"/>
                  <a:pt x="54" y="994"/>
                  <a:pt x="46" y="987"/>
                </a:cubicBezTo>
                <a:cubicBezTo>
                  <a:pt x="39" y="979"/>
                  <a:pt x="32" y="971"/>
                  <a:pt x="27" y="963"/>
                </a:cubicBezTo>
                <a:cubicBezTo>
                  <a:pt x="21" y="954"/>
                  <a:pt x="16" y="945"/>
                  <a:pt x="12" y="935"/>
                </a:cubicBezTo>
                <a:cubicBezTo>
                  <a:pt x="8" y="925"/>
                  <a:pt x="5" y="916"/>
                  <a:pt x="3" y="905"/>
                </a:cubicBezTo>
                <a:cubicBezTo>
                  <a:pt x="1" y="895"/>
                  <a:pt x="0" y="885"/>
                  <a:pt x="0" y="874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0" name=""/>
          <p:cNvSpPr txBox="1"/>
          <p:nvPr/>
        </p:nvSpPr>
        <p:spPr>
          <a:xfrm>
            <a:off x="5317560" y="3121560"/>
            <a:ext cx="34056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+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1" name=""/>
          <p:cNvSpPr txBox="1"/>
          <p:nvPr/>
        </p:nvSpPr>
        <p:spPr>
          <a:xfrm>
            <a:off x="5752080" y="3244320"/>
            <a:ext cx="245232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commitTransaction()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2" name=""/>
          <p:cNvSpPr txBox="1"/>
          <p:nvPr/>
        </p:nvSpPr>
        <p:spPr>
          <a:xfrm>
            <a:off x="9095040" y="3143160"/>
            <a:ext cx="193176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⽀付链路原⼦性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3" name=""/>
          <p:cNvSpPr txBox="1"/>
          <p:nvPr/>
        </p:nvSpPr>
        <p:spPr>
          <a:xfrm>
            <a:off x="880920" y="3686040"/>
            <a:ext cx="5522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乐观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4" name=""/>
          <p:cNvSpPr/>
          <p:nvPr/>
        </p:nvSpPr>
        <p:spPr>
          <a:xfrm>
            <a:off x="1771560" y="3695400"/>
            <a:ext cx="6124680" cy="371880"/>
          </a:xfrm>
          <a:custGeom>
            <a:avLst/>
            <a:gdLst/>
            <a:ahLst/>
            <a:rect l="0" t="0" r="r" b="b"/>
            <a:pathLst>
              <a:path w="17013" h="1033">
                <a:moveTo>
                  <a:pt x="0" y="874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80"/>
                  <a:pt x="27" y="71"/>
                </a:cubicBezTo>
                <a:cubicBezTo>
                  <a:pt x="32" y="62"/>
                  <a:pt x="39" y="54"/>
                  <a:pt x="46" y="47"/>
                </a:cubicBezTo>
                <a:cubicBezTo>
                  <a:pt x="54" y="39"/>
                  <a:pt x="62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8" y="3"/>
                </a:cubicBezTo>
                <a:cubicBezTo>
                  <a:pt x="138" y="1"/>
                  <a:pt x="148" y="0"/>
                  <a:pt x="158" y="0"/>
                </a:cubicBezTo>
                <a:lnTo>
                  <a:pt x="16855" y="0"/>
                </a:lnTo>
                <a:cubicBezTo>
                  <a:pt x="16865" y="0"/>
                  <a:pt x="16875" y="1"/>
                  <a:pt x="16886" y="3"/>
                </a:cubicBezTo>
                <a:cubicBezTo>
                  <a:pt x="16896" y="5"/>
                  <a:pt x="16906" y="8"/>
                  <a:pt x="16915" y="12"/>
                </a:cubicBezTo>
                <a:cubicBezTo>
                  <a:pt x="16925" y="16"/>
                  <a:pt x="16934" y="21"/>
                  <a:pt x="16943" y="27"/>
                </a:cubicBezTo>
                <a:cubicBezTo>
                  <a:pt x="16952" y="33"/>
                  <a:pt x="16960" y="39"/>
                  <a:pt x="16967" y="47"/>
                </a:cubicBezTo>
                <a:cubicBezTo>
                  <a:pt x="16974" y="54"/>
                  <a:pt x="16981" y="62"/>
                  <a:pt x="16987" y="71"/>
                </a:cubicBezTo>
                <a:cubicBezTo>
                  <a:pt x="16992" y="80"/>
                  <a:pt x="16997" y="89"/>
                  <a:pt x="17001" y="98"/>
                </a:cubicBezTo>
                <a:cubicBezTo>
                  <a:pt x="17005" y="108"/>
                  <a:pt x="17008" y="118"/>
                  <a:pt x="17010" y="128"/>
                </a:cubicBezTo>
                <a:cubicBezTo>
                  <a:pt x="17012" y="138"/>
                  <a:pt x="17013" y="149"/>
                  <a:pt x="17013" y="159"/>
                </a:cubicBezTo>
                <a:lnTo>
                  <a:pt x="17013" y="874"/>
                </a:lnTo>
                <a:cubicBezTo>
                  <a:pt x="17013" y="885"/>
                  <a:pt x="17012" y="895"/>
                  <a:pt x="17010" y="905"/>
                </a:cubicBezTo>
                <a:cubicBezTo>
                  <a:pt x="17008" y="916"/>
                  <a:pt x="17005" y="926"/>
                  <a:pt x="17001" y="935"/>
                </a:cubicBezTo>
                <a:cubicBezTo>
                  <a:pt x="16997" y="945"/>
                  <a:pt x="16992" y="954"/>
                  <a:pt x="16987" y="963"/>
                </a:cubicBezTo>
                <a:cubicBezTo>
                  <a:pt x="16981" y="971"/>
                  <a:pt x="16974" y="979"/>
                  <a:pt x="16967" y="987"/>
                </a:cubicBezTo>
                <a:cubicBezTo>
                  <a:pt x="16960" y="994"/>
                  <a:pt x="16952" y="1001"/>
                  <a:pt x="16943" y="1006"/>
                </a:cubicBezTo>
                <a:cubicBezTo>
                  <a:pt x="16934" y="1012"/>
                  <a:pt x="16925" y="1017"/>
                  <a:pt x="16915" y="1021"/>
                </a:cubicBezTo>
                <a:cubicBezTo>
                  <a:pt x="16906" y="1025"/>
                  <a:pt x="16896" y="1028"/>
                  <a:pt x="16886" y="1030"/>
                </a:cubicBezTo>
                <a:cubicBezTo>
                  <a:pt x="16875" y="1032"/>
                  <a:pt x="16865" y="1033"/>
                  <a:pt x="16855" y="1033"/>
                </a:cubicBezTo>
                <a:lnTo>
                  <a:pt x="158" y="1033"/>
                </a:lnTo>
                <a:cubicBezTo>
                  <a:pt x="148" y="1033"/>
                  <a:pt x="138" y="1032"/>
                  <a:pt x="128" y="1030"/>
                </a:cubicBezTo>
                <a:cubicBezTo>
                  <a:pt x="117" y="1028"/>
                  <a:pt x="107" y="1025"/>
                  <a:pt x="98" y="1021"/>
                </a:cubicBezTo>
                <a:cubicBezTo>
                  <a:pt x="88" y="1017"/>
                  <a:pt x="79" y="1012"/>
                  <a:pt x="70" y="1006"/>
                </a:cubicBezTo>
                <a:cubicBezTo>
                  <a:pt x="62" y="1001"/>
                  <a:pt x="54" y="994"/>
                  <a:pt x="46" y="987"/>
                </a:cubicBezTo>
                <a:cubicBezTo>
                  <a:pt x="39" y="979"/>
                  <a:pt x="32" y="971"/>
                  <a:pt x="27" y="963"/>
                </a:cubicBezTo>
                <a:cubicBezTo>
                  <a:pt x="21" y="954"/>
                  <a:pt x="16" y="945"/>
                  <a:pt x="12" y="935"/>
                </a:cubicBezTo>
                <a:cubicBezTo>
                  <a:pt x="8" y="926"/>
                  <a:pt x="5" y="916"/>
                  <a:pt x="3" y="905"/>
                </a:cubicBezTo>
                <a:cubicBezTo>
                  <a:pt x="1" y="895"/>
                  <a:pt x="0" y="885"/>
                  <a:pt x="0" y="874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5" name=""/>
          <p:cNvSpPr txBox="1"/>
          <p:nvPr/>
        </p:nvSpPr>
        <p:spPr>
          <a:xfrm>
            <a:off x="880920" y="4105440"/>
            <a:ext cx="2764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锁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6" name=""/>
          <p:cNvSpPr txBox="1"/>
          <p:nvPr/>
        </p:nvSpPr>
        <p:spPr>
          <a:xfrm>
            <a:off x="1867320" y="3787200"/>
            <a:ext cx="593640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updateOne({rooms.quantity:{$gte:qty}}, {$inc})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7" name=""/>
          <p:cNvSpPr txBox="1"/>
          <p:nvPr/>
        </p:nvSpPr>
        <p:spPr>
          <a:xfrm>
            <a:off x="7899480" y="3664440"/>
            <a:ext cx="34056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+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8" name=""/>
          <p:cNvSpPr/>
          <p:nvPr/>
        </p:nvSpPr>
        <p:spPr>
          <a:xfrm>
            <a:off x="1771560" y="4114440"/>
            <a:ext cx="1867320" cy="371880"/>
          </a:xfrm>
          <a:custGeom>
            <a:avLst/>
            <a:gdLst/>
            <a:ahLst/>
            <a:rect l="0" t="0" r="r" b="b"/>
            <a:pathLst>
              <a:path w="5187" h="1033">
                <a:moveTo>
                  <a:pt x="0" y="875"/>
                </a:moveTo>
                <a:lnTo>
                  <a:pt x="0" y="159"/>
                </a:lnTo>
                <a:cubicBezTo>
                  <a:pt x="0" y="149"/>
                  <a:pt x="1" y="139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80"/>
                  <a:pt x="27" y="71"/>
                </a:cubicBezTo>
                <a:cubicBezTo>
                  <a:pt x="32" y="62"/>
                  <a:pt x="39" y="54"/>
                  <a:pt x="46" y="47"/>
                </a:cubicBezTo>
                <a:cubicBezTo>
                  <a:pt x="54" y="40"/>
                  <a:pt x="62" y="33"/>
                  <a:pt x="70" y="27"/>
                </a:cubicBezTo>
                <a:cubicBezTo>
                  <a:pt x="79" y="21"/>
                  <a:pt x="88" y="17"/>
                  <a:pt x="98" y="13"/>
                </a:cubicBezTo>
                <a:cubicBezTo>
                  <a:pt x="107" y="9"/>
                  <a:pt x="117" y="6"/>
                  <a:pt x="128" y="4"/>
                </a:cubicBezTo>
                <a:cubicBezTo>
                  <a:pt x="138" y="2"/>
                  <a:pt x="148" y="0"/>
                  <a:pt x="158" y="0"/>
                </a:cubicBezTo>
                <a:lnTo>
                  <a:pt x="5028" y="0"/>
                </a:lnTo>
                <a:cubicBezTo>
                  <a:pt x="5038" y="0"/>
                  <a:pt x="5049" y="2"/>
                  <a:pt x="5059" y="4"/>
                </a:cubicBezTo>
                <a:cubicBezTo>
                  <a:pt x="5069" y="6"/>
                  <a:pt x="5079" y="9"/>
                  <a:pt x="5089" y="13"/>
                </a:cubicBezTo>
                <a:cubicBezTo>
                  <a:pt x="5098" y="17"/>
                  <a:pt x="5107" y="21"/>
                  <a:pt x="5116" y="27"/>
                </a:cubicBezTo>
                <a:cubicBezTo>
                  <a:pt x="5125" y="33"/>
                  <a:pt x="5133" y="40"/>
                  <a:pt x="5140" y="47"/>
                </a:cubicBezTo>
                <a:cubicBezTo>
                  <a:pt x="5147" y="54"/>
                  <a:pt x="5154" y="62"/>
                  <a:pt x="5160" y="71"/>
                </a:cubicBezTo>
                <a:cubicBezTo>
                  <a:pt x="5166" y="80"/>
                  <a:pt x="5171" y="89"/>
                  <a:pt x="5174" y="98"/>
                </a:cubicBezTo>
                <a:cubicBezTo>
                  <a:pt x="5178" y="108"/>
                  <a:pt x="5181" y="118"/>
                  <a:pt x="5184" y="128"/>
                </a:cubicBezTo>
                <a:cubicBezTo>
                  <a:pt x="5186" y="139"/>
                  <a:pt x="5187" y="149"/>
                  <a:pt x="5187" y="159"/>
                </a:cubicBezTo>
                <a:lnTo>
                  <a:pt x="5187" y="875"/>
                </a:lnTo>
                <a:cubicBezTo>
                  <a:pt x="5187" y="885"/>
                  <a:pt x="5186" y="895"/>
                  <a:pt x="5184" y="906"/>
                </a:cubicBezTo>
                <a:cubicBezTo>
                  <a:pt x="5181" y="916"/>
                  <a:pt x="5178" y="926"/>
                  <a:pt x="5174" y="935"/>
                </a:cubicBezTo>
                <a:cubicBezTo>
                  <a:pt x="5171" y="945"/>
                  <a:pt x="5166" y="954"/>
                  <a:pt x="5160" y="963"/>
                </a:cubicBezTo>
                <a:cubicBezTo>
                  <a:pt x="5154" y="971"/>
                  <a:pt x="5147" y="980"/>
                  <a:pt x="5140" y="987"/>
                </a:cubicBezTo>
                <a:cubicBezTo>
                  <a:pt x="5133" y="994"/>
                  <a:pt x="5125" y="1001"/>
                  <a:pt x="5116" y="1007"/>
                </a:cubicBezTo>
                <a:cubicBezTo>
                  <a:pt x="5107" y="1012"/>
                  <a:pt x="5098" y="1017"/>
                  <a:pt x="5089" y="1021"/>
                </a:cubicBezTo>
                <a:cubicBezTo>
                  <a:pt x="5079" y="1025"/>
                  <a:pt x="5069" y="1028"/>
                  <a:pt x="5059" y="1030"/>
                </a:cubicBezTo>
                <a:cubicBezTo>
                  <a:pt x="5049" y="1032"/>
                  <a:pt x="5038" y="1033"/>
                  <a:pt x="5028" y="1033"/>
                </a:cubicBezTo>
                <a:lnTo>
                  <a:pt x="158" y="1033"/>
                </a:lnTo>
                <a:cubicBezTo>
                  <a:pt x="148" y="1033"/>
                  <a:pt x="138" y="1032"/>
                  <a:pt x="128" y="1030"/>
                </a:cubicBezTo>
                <a:cubicBezTo>
                  <a:pt x="117" y="1028"/>
                  <a:pt x="107" y="1025"/>
                  <a:pt x="98" y="1021"/>
                </a:cubicBezTo>
                <a:cubicBezTo>
                  <a:pt x="88" y="1017"/>
                  <a:pt x="79" y="1012"/>
                  <a:pt x="70" y="1007"/>
                </a:cubicBezTo>
                <a:cubicBezTo>
                  <a:pt x="62" y="1001"/>
                  <a:pt x="54" y="994"/>
                  <a:pt x="46" y="987"/>
                </a:cubicBezTo>
                <a:cubicBezTo>
                  <a:pt x="39" y="980"/>
                  <a:pt x="32" y="971"/>
                  <a:pt x="27" y="963"/>
                </a:cubicBezTo>
                <a:cubicBezTo>
                  <a:pt x="21" y="954"/>
                  <a:pt x="16" y="945"/>
                  <a:pt x="12" y="935"/>
                </a:cubicBezTo>
                <a:cubicBezTo>
                  <a:pt x="8" y="926"/>
                  <a:pt x="5" y="916"/>
                  <a:pt x="3" y="906"/>
                </a:cubicBezTo>
                <a:cubicBezTo>
                  <a:pt x="1" y="895"/>
                  <a:pt x="0" y="885"/>
                  <a:pt x="0" y="875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9" name=""/>
          <p:cNvSpPr txBox="1"/>
          <p:nvPr/>
        </p:nvSpPr>
        <p:spPr>
          <a:xfrm>
            <a:off x="8239680" y="3686040"/>
            <a:ext cx="5522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检查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0" name=""/>
          <p:cNvSpPr txBox="1"/>
          <p:nvPr/>
        </p:nvSpPr>
        <p:spPr>
          <a:xfrm>
            <a:off x="1867320" y="4206240"/>
            <a:ext cx="167832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modifiedCount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1" name=""/>
          <p:cNvSpPr txBox="1"/>
          <p:nvPr/>
        </p:nvSpPr>
        <p:spPr>
          <a:xfrm>
            <a:off x="9095040" y="3895560"/>
            <a:ext cx="16556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并发扣减冲突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2" name=""/>
          <p:cNvSpPr txBox="1"/>
          <p:nvPr/>
        </p:nvSpPr>
        <p:spPr>
          <a:xfrm>
            <a:off x="747720" y="4743360"/>
            <a:ext cx="24832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核⼼代码（乐观锁）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3" name=""/>
          <p:cNvSpPr txBox="1"/>
          <p:nvPr/>
        </p:nvSpPr>
        <p:spPr>
          <a:xfrm>
            <a:off x="914400" y="5464440"/>
            <a:ext cx="503280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CF222E"/>
                </a:solidFill>
                <a:effectLst/>
                <a:uFillTx/>
                <a:latin typeface="Consolas"/>
                <a:ea typeface="Consolas"/>
              </a:rPr>
              <a:t>if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(updateResult.modifiedCount === </a:t>
            </a:r>
            <a:r>
              <a:rPr lang="en-US" sz="185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0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) {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4" name=""/>
          <p:cNvSpPr txBox="1"/>
          <p:nvPr/>
        </p:nvSpPr>
        <p:spPr>
          <a:xfrm>
            <a:off x="914400" y="5731200"/>
            <a:ext cx="245160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 </a:t>
            </a:r>
            <a:r>
              <a:rPr lang="en-US" sz="1850" b="0" u="none" strike="noStrike">
                <a:solidFill>
                  <a:srgbClr val="CF222E"/>
                </a:solidFill>
                <a:effectLst/>
                <a:uFillTx/>
                <a:latin typeface="Consolas"/>
                <a:ea typeface="Consolas"/>
              </a:rPr>
              <a:t>throw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</a:t>
            </a:r>
            <a:r>
              <a:rPr lang="en-US" sz="1850" b="0" u="none" strike="noStrike">
                <a:solidFill>
                  <a:srgbClr val="CF222E"/>
                </a:solidFill>
                <a:effectLst/>
                <a:uFillTx/>
                <a:latin typeface="Consolas"/>
                <a:ea typeface="Consolas"/>
              </a:rPr>
              <a:t>new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</a:t>
            </a:r>
            <a:r>
              <a:rPr lang="en-US" sz="1850" b="0" u="none" strike="noStrike">
                <a:solidFill>
                  <a:srgbClr val="6639BA"/>
                </a:solidFill>
                <a:effectLst/>
                <a:uFillTx/>
                <a:latin typeface="Consolas"/>
                <a:ea typeface="Consolas"/>
              </a:rPr>
              <a:t>Error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(</a:t>
            </a:r>
            <a:r>
              <a:rPr lang="en-US" sz="1850" b="0" u="none" strike="noStrike">
                <a:solidFill>
                  <a:srgbClr val="0A3069"/>
                </a:solidFill>
                <a:effectLst/>
                <a:uFillTx/>
                <a:latin typeface="Consolas"/>
                <a:ea typeface="Consolas"/>
              </a:rPr>
              <a:t>'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5" name=""/>
          <p:cNvSpPr txBox="1"/>
          <p:nvPr/>
        </p:nvSpPr>
        <p:spPr>
          <a:xfrm>
            <a:off x="3367440" y="5703840"/>
            <a:ext cx="305172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850" b="0" u="none" strike="noStrike">
                <a:solidFill>
                  <a:srgbClr val="0A3069"/>
                </a:solidFill>
                <a:effectLst/>
                <a:uFillTx/>
                <a:latin typeface="NSimSun"/>
                <a:ea typeface="NSimSun"/>
              </a:rPr>
              <a:t>库存不足或已被其他用户预订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6" name=""/>
          <p:cNvSpPr txBox="1"/>
          <p:nvPr/>
        </p:nvSpPr>
        <p:spPr>
          <a:xfrm>
            <a:off x="6419880" y="5731200"/>
            <a:ext cx="38772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0A3069"/>
                </a:solidFill>
                <a:effectLst/>
                <a:uFillTx/>
                <a:latin typeface="Consolas"/>
                <a:ea typeface="Consolas"/>
              </a:rPr>
              <a:t>'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);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7" name=""/>
          <p:cNvSpPr txBox="1"/>
          <p:nvPr/>
        </p:nvSpPr>
        <p:spPr>
          <a:xfrm>
            <a:off x="914400" y="6007320"/>
            <a:ext cx="6458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 </a:t>
            </a:r>
            <a:r>
              <a:rPr lang="en-US" sz="1850" b="0" u="none" strike="noStrike">
                <a:solidFill>
                  <a:srgbClr val="59636E"/>
                </a:solidFill>
                <a:effectLst/>
                <a:uFillTx/>
                <a:latin typeface="Consolas"/>
                <a:ea typeface="Consolas"/>
              </a:rPr>
              <a:t>// 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8" name=""/>
          <p:cNvSpPr txBox="1"/>
          <p:nvPr/>
        </p:nvSpPr>
        <p:spPr>
          <a:xfrm>
            <a:off x="1559880" y="5979960"/>
            <a:ext cx="93960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850" b="0" u="none" strike="noStrike">
                <a:solidFill>
                  <a:srgbClr val="59636E"/>
                </a:solidFill>
                <a:effectLst/>
                <a:uFillTx/>
                <a:latin typeface="NSimSun"/>
                <a:ea typeface="NSimSun"/>
              </a:rPr>
              <a:t>回滚事务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9" name=""/>
          <p:cNvSpPr txBox="1"/>
          <p:nvPr/>
        </p:nvSpPr>
        <p:spPr>
          <a:xfrm>
            <a:off x="914400" y="6274080"/>
            <a:ext cx="23436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}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0" name=""/>
          <p:cNvSpPr txBox="1"/>
          <p:nvPr/>
        </p:nvSpPr>
        <p:spPr>
          <a:xfrm>
            <a:off x="11659680" y="6335280"/>
            <a:ext cx="24732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SegoeUI"/>
                <a:ea typeface="SegoeUI"/>
              </a:rPr>
              <a:t>10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4" name=""/>
          <p:cNvSpPr txBox="1"/>
          <p:nvPr/>
        </p:nvSpPr>
        <p:spPr>
          <a:xfrm>
            <a:off x="747720" y="123120"/>
            <a:ext cx="870480" cy="58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480" b="1" u="none" strike="noStrike">
                <a:solidFill>
                  <a:srgbClr val="224466"/>
                </a:solidFill>
                <a:effectLst/>
                <a:uFillTx/>
                <a:latin typeface="SegoeUI"/>
                <a:ea typeface="SegoeUI"/>
              </a:rPr>
              <a:t>6.5. </a:t>
            </a:r>
            <a:endParaRPr lang="en-US" sz="34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5" name=""/>
          <p:cNvSpPr txBox="1"/>
          <p:nvPr/>
        </p:nvSpPr>
        <p:spPr>
          <a:xfrm>
            <a:off x="1574280" y="158040"/>
            <a:ext cx="3094560" cy="53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3480" b="0" u="none" strike="noStrike">
                <a:solidFill>
                  <a:srgbClr val="224466"/>
                </a:solidFill>
                <a:effectLst/>
                <a:uFillTx/>
                <a:latin typeface="NotoSansSC"/>
                <a:ea typeface="NotoSansSC"/>
              </a:rPr>
              <a:t>并发防护流程图</a:t>
            </a:r>
            <a:endParaRPr lang="en-US" sz="34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6" name=""/>
          <p:cNvSpPr/>
          <p:nvPr/>
        </p:nvSpPr>
        <p:spPr>
          <a:xfrm>
            <a:off x="4928400" y="199800"/>
            <a:ext cx="249120" cy="249120"/>
          </a:xfrm>
          <a:custGeom>
            <a:avLst/>
            <a:gdLst/>
            <a:ahLst/>
            <a:rect l="0" t="0" r="r" b="b"/>
            <a:pathLst>
              <a:path w="692" h="692">
                <a:moveTo>
                  <a:pt x="346" y="0"/>
                </a:moveTo>
                <a:cubicBezTo>
                  <a:pt x="155" y="0"/>
                  <a:pt x="0" y="155"/>
                  <a:pt x="0" y="346"/>
                </a:cubicBezTo>
                <a:lnTo>
                  <a:pt x="0" y="692"/>
                </a:lnTo>
                <a:lnTo>
                  <a:pt x="138" y="692"/>
                </a:lnTo>
                <a:lnTo>
                  <a:pt x="138" y="346"/>
                </a:lnTo>
                <a:cubicBezTo>
                  <a:pt x="138" y="332"/>
                  <a:pt x="140" y="318"/>
                  <a:pt x="142" y="305"/>
                </a:cubicBezTo>
                <a:cubicBezTo>
                  <a:pt x="145" y="292"/>
                  <a:pt x="149" y="279"/>
                  <a:pt x="154" y="266"/>
                </a:cubicBezTo>
                <a:cubicBezTo>
                  <a:pt x="159" y="254"/>
                  <a:pt x="166" y="242"/>
                  <a:pt x="173" y="230"/>
                </a:cubicBezTo>
                <a:cubicBezTo>
                  <a:pt x="181" y="219"/>
                  <a:pt x="189" y="209"/>
                  <a:pt x="199" y="199"/>
                </a:cubicBezTo>
                <a:cubicBezTo>
                  <a:pt x="209" y="189"/>
                  <a:pt x="219" y="181"/>
                  <a:pt x="230" y="173"/>
                </a:cubicBezTo>
                <a:cubicBezTo>
                  <a:pt x="242" y="166"/>
                  <a:pt x="254" y="159"/>
                  <a:pt x="266" y="154"/>
                </a:cubicBezTo>
                <a:cubicBezTo>
                  <a:pt x="279" y="149"/>
                  <a:pt x="292" y="145"/>
                  <a:pt x="305" y="142"/>
                </a:cubicBezTo>
                <a:cubicBezTo>
                  <a:pt x="319" y="140"/>
                  <a:pt x="332" y="138"/>
                  <a:pt x="346" y="138"/>
                </a:cubicBezTo>
                <a:cubicBezTo>
                  <a:pt x="359" y="138"/>
                  <a:pt x="373" y="140"/>
                  <a:pt x="386" y="142"/>
                </a:cubicBezTo>
                <a:cubicBezTo>
                  <a:pt x="399" y="145"/>
                  <a:pt x="412" y="149"/>
                  <a:pt x="425" y="154"/>
                </a:cubicBezTo>
                <a:cubicBezTo>
                  <a:pt x="438" y="159"/>
                  <a:pt x="449" y="166"/>
                  <a:pt x="462" y="173"/>
                </a:cubicBezTo>
                <a:cubicBezTo>
                  <a:pt x="473" y="181"/>
                  <a:pt x="484" y="189"/>
                  <a:pt x="493" y="199"/>
                </a:cubicBezTo>
                <a:cubicBezTo>
                  <a:pt x="503" y="209"/>
                  <a:pt x="511" y="219"/>
                  <a:pt x="519" y="230"/>
                </a:cubicBezTo>
                <a:cubicBezTo>
                  <a:pt x="527" y="242"/>
                  <a:pt x="533" y="254"/>
                  <a:pt x="538" y="266"/>
                </a:cubicBezTo>
                <a:cubicBezTo>
                  <a:pt x="543" y="279"/>
                  <a:pt x="547" y="292"/>
                  <a:pt x="550" y="305"/>
                </a:cubicBezTo>
                <a:cubicBezTo>
                  <a:pt x="553" y="318"/>
                  <a:pt x="554" y="332"/>
                  <a:pt x="554" y="346"/>
                </a:cubicBezTo>
                <a:lnTo>
                  <a:pt x="554" y="692"/>
                </a:lnTo>
                <a:lnTo>
                  <a:pt x="692" y="692"/>
                </a:lnTo>
                <a:lnTo>
                  <a:pt x="692" y="346"/>
                </a:lnTo>
                <a:cubicBezTo>
                  <a:pt x="692" y="155"/>
                  <a:pt x="537" y="0"/>
                  <a:pt x="346" y="0"/>
                </a:cubicBezTo>
                <a:close/>
              </a:path>
            </a:pathLst>
          </a:custGeom>
          <a:solidFill>
            <a:srgbClr val="AAB8C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7" name=""/>
          <p:cNvSpPr/>
          <p:nvPr/>
        </p:nvSpPr>
        <p:spPr>
          <a:xfrm>
            <a:off x="4878720" y="374040"/>
            <a:ext cx="348480" cy="273960"/>
          </a:xfrm>
          <a:custGeom>
            <a:avLst/>
            <a:gdLst/>
            <a:ahLst/>
            <a:rect l="0" t="0" r="r" b="b"/>
            <a:pathLst>
              <a:path w="968" h="761">
                <a:moveTo>
                  <a:pt x="968" y="622"/>
                </a:moveTo>
                <a:cubicBezTo>
                  <a:pt x="968" y="641"/>
                  <a:pt x="965" y="658"/>
                  <a:pt x="958" y="675"/>
                </a:cubicBezTo>
                <a:cubicBezTo>
                  <a:pt x="951" y="692"/>
                  <a:pt x="941" y="707"/>
                  <a:pt x="928" y="720"/>
                </a:cubicBezTo>
                <a:cubicBezTo>
                  <a:pt x="915" y="733"/>
                  <a:pt x="900" y="743"/>
                  <a:pt x="883" y="750"/>
                </a:cubicBezTo>
                <a:cubicBezTo>
                  <a:pt x="866" y="757"/>
                  <a:pt x="848" y="761"/>
                  <a:pt x="830" y="761"/>
                </a:cubicBezTo>
                <a:lnTo>
                  <a:pt x="138" y="761"/>
                </a:lnTo>
                <a:cubicBezTo>
                  <a:pt x="120" y="761"/>
                  <a:pt x="102" y="757"/>
                  <a:pt x="85" y="750"/>
                </a:cubicBezTo>
                <a:cubicBezTo>
                  <a:pt x="68" y="743"/>
                  <a:pt x="53" y="733"/>
                  <a:pt x="41" y="720"/>
                </a:cubicBezTo>
                <a:cubicBezTo>
                  <a:pt x="28" y="707"/>
                  <a:pt x="18" y="692"/>
                  <a:pt x="11" y="675"/>
                </a:cubicBezTo>
                <a:cubicBezTo>
                  <a:pt x="4" y="658"/>
                  <a:pt x="0" y="641"/>
                  <a:pt x="0" y="622"/>
                </a:cubicBezTo>
                <a:lnTo>
                  <a:pt x="0" y="139"/>
                </a:lnTo>
                <a:cubicBezTo>
                  <a:pt x="0" y="121"/>
                  <a:pt x="4" y="103"/>
                  <a:pt x="11" y="85"/>
                </a:cubicBezTo>
                <a:cubicBezTo>
                  <a:pt x="18" y="68"/>
                  <a:pt x="28" y="53"/>
                  <a:pt x="41" y="40"/>
                </a:cubicBezTo>
                <a:cubicBezTo>
                  <a:pt x="53" y="27"/>
                  <a:pt x="68" y="17"/>
                  <a:pt x="85" y="10"/>
                </a:cubicBezTo>
                <a:cubicBezTo>
                  <a:pt x="102" y="3"/>
                  <a:pt x="120" y="0"/>
                  <a:pt x="138" y="0"/>
                </a:cubicBezTo>
                <a:lnTo>
                  <a:pt x="830" y="0"/>
                </a:lnTo>
                <a:cubicBezTo>
                  <a:pt x="848" y="0"/>
                  <a:pt x="866" y="3"/>
                  <a:pt x="883" y="10"/>
                </a:cubicBezTo>
                <a:cubicBezTo>
                  <a:pt x="900" y="17"/>
                  <a:pt x="915" y="27"/>
                  <a:pt x="928" y="40"/>
                </a:cubicBezTo>
                <a:cubicBezTo>
                  <a:pt x="941" y="53"/>
                  <a:pt x="951" y="68"/>
                  <a:pt x="958" y="85"/>
                </a:cubicBezTo>
                <a:cubicBezTo>
                  <a:pt x="965" y="103"/>
                  <a:pt x="968" y="121"/>
                  <a:pt x="968" y="139"/>
                </a:cubicBezTo>
                <a:lnTo>
                  <a:pt x="968" y="622"/>
                </a:lnTo>
                <a:close/>
              </a:path>
            </a:pathLst>
          </a:custGeom>
          <a:solidFill>
            <a:srgbClr val="FFAC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8" name=""/>
          <p:cNvSpPr txBox="1"/>
          <p:nvPr/>
        </p:nvSpPr>
        <p:spPr>
          <a:xfrm>
            <a:off x="4668120" y="123120"/>
            <a:ext cx="441720" cy="58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480" b="1" u="none" strike="noStrike">
                <a:solidFill>
                  <a:srgbClr val="224466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34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99" name=""/>
          <p:cNvPicPr/>
          <p:nvPr/>
        </p:nvPicPr>
        <p:blipFill>
          <a:blip r:embed="rId1"/>
          <a:stretch/>
        </p:blipFill>
        <p:spPr>
          <a:xfrm>
            <a:off x="752400" y="1542960"/>
            <a:ext cx="10696320" cy="4571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0" name=""/>
          <p:cNvSpPr txBox="1"/>
          <p:nvPr/>
        </p:nvSpPr>
        <p:spPr>
          <a:xfrm>
            <a:off x="747720" y="1019160"/>
            <a:ext cx="27590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下单时的完整防护链路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1" name=""/>
          <p:cNvSpPr txBox="1"/>
          <p:nvPr/>
        </p:nvSpPr>
        <p:spPr>
          <a:xfrm>
            <a:off x="747720" y="6410160"/>
            <a:ext cx="27590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关键数据：竞争失败率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2" name=""/>
          <p:cNvSpPr txBox="1"/>
          <p:nvPr/>
        </p:nvSpPr>
        <p:spPr>
          <a:xfrm>
            <a:off x="3510000" y="6388560"/>
            <a:ext cx="42372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vs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3" name=""/>
          <p:cNvSpPr txBox="1"/>
          <p:nvPr/>
        </p:nvSpPr>
        <p:spPr>
          <a:xfrm>
            <a:off x="3921120" y="6410160"/>
            <a:ext cx="82836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⽤⼾数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4" name=""/>
          <p:cNvSpPr txBox="1"/>
          <p:nvPr/>
        </p:nvSpPr>
        <p:spPr>
          <a:xfrm>
            <a:off x="11659680" y="6335280"/>
            <a:ext cx="24732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SegoeUI"/>
                <a:ea typeface="SegoeUI"/>
              </a:rPr>
              <a:t>11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8" name=""/>
          <p:cNvSpPr/>
          <p:nvPr/>
        </p:nvSpPr>
        <p:spPr>
          <a:xfrm>
            <a:off x="752400" y="1552320"/>
            <a:ext cx="4410360" cy="533880"/>
          </a:xfrm>
          <a:custGeom>
            <a:avLst/>
            <a:gdLst/>
            <a:ahLst/>
            <a:rect l="0" t="0" r="r" b="b"/>
            <a:pathLst>
              <a:path w="12251" h="1483">
                <a:moveTo>
                  <a:pt x="0" y="0"/>
                </a:moveTo>
                <a:lnTo>
                  <a:pt x="12251" y="0"/>
                </a:lnTo>
                <a:lnTo>
                  <a:pt x="12251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9" name=""/>
          <p:cNvSpPr/>
          <p:nvPr/>
        </p:nvSpPr>
        <p:spPr>
          <a:xfrm>
            <a:off x="5162400" y="1552320"/>
            <a:ext cx="2381400" cy="533880"/>
          </a:xfrm>
          <a:custGeom>
            <a:avLst/>
            <a:gdLst/>
            <a:ahLst/>
            <a:rect l="0" t="0" r="r" b="b"/>
            <a:pathLst>
              <a:path w="6615" h="1483">
                <a:moveTo>
                  <a:pt x="0" y="0"/>
                </a:moveTo>
                <a:lnTo>
                  <a:pt x="6615" y="0"/>
                </a:lnTo>
                <a:lnTo>
                  <a:pt x="6615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0" name=""/>
          <p:cNvSpPr/>
          <p:nvPr/>
        </p:nvSpPr>
        <p:spPr>
          <a:xfrm>
            <a:off x="7543440" y="1552320"/>
            <a:ext cx="2439000" cy="533880"/>
          </a:xfrm>
          <a:custGeom>
            <a:avLst/>
            <a:gdLst/>
            <a:ahLst/>
            <a:rect l="0" t="0" r="r" b="b"/>
            <a:pathLst>
              <a:path w="6775" h="1483">
                <a:moveTo>
                  <a:pt x="0" y="0"/>
                </a:moveTo>
                <a:lnTo>
                  <a:pt x="6775" y="0"/>
                </a:lnTo>
                <a:lnTo>
                  <a:pt x="6775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1" name=""/>
          <p:cNvSpPr/>
          <p:nvPr/>
        </p:nvSpPr>
        <p:spPr>
          <a:xfrm>
            <a:off x="752400" y="2085840"/>
            <a:ext cx="4410360" cy="543240"/>
          </a:xfrm>
          <a:custGeom>
            <a:avLst/>
            <a:gdLst/>
            <a:ahLst/>
            <a:rect l="0" t="0" r="r" b="b"/>
            <a:pathLst>
              <a:path w="12251" h="1509">
                <a:moveTo>
                  <a:pt x="0" y="0"/>
                </a:moveTo>
                <a:lnTo>
                  <a:pt x="12251" y="0"/>
                </a:lnTo>
                <a:lnTo>
                  <a:pt x="12251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2" name=""/>
          <p:cNvSpPr/>
          <p:nvPr/>
        </p:nvSpPr>
        <p:spPr>
          <a:xfrm>
            <a:off x="5162400" y="2085840"/>
            <a:ext cx="2381400" cy="543240"/>
          </a:xfrm>
          <a:custGeom>
            <a:avLst/>
            <a:gdLst/>
            <a:ahLst/>
            <a:rect l="0" t="0" r="r" b="b"/>
            <a:pathLst>
              <a:path w="6615" h="1509">
                <a:moveTo>
                  <a:pt x="0" y="0"/>
                </a:moveTo>
                <a:lnTo>
                  <a:pt x="6615" y="0"/>
                </a:lnTo>
                <a:lnTo>
                  <a:pt x="6615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3" name=""/>
          <p:cNvSpPr/>
          <p:nvPr/>
        </p:nvSpPr>
        <p:spPr>
          <a:xfrm>
            <a:off x="7543440" y="2085840"/>
            <a:ext cx="2439000" cy="543240"/>
          </a:xfrm>
          <a:custGeom>
            <a:avLst/>
            <a:gdLst/>
            <a:ahLst/>
            <a:rect l="0" t="0" r="r" b="b"/>
            <a:pathLst>
              <a:path w="6775" h="1509">
                <a:moveTo>
                  <a:pt x="0" y="0"/>
                </a:moveTo>
                <a:lnTo>
                  <a:pt x="6775" y="0"/>
                </a:lnTo>
                <a:lnTo>
                  <a:pt x="6775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4" name=""/>
          <p:cNvSpPr/>
          <p:nvPr/>
        </p:nvSpPr>
        <p:spPr>
          <a:xfrm>
            <a:off x="752400" y="2628720"/>
            <a:ext cx="4410360" cy="533880"/>
          </a:xfrm>
          <a:custGeom>
            <a:avLst/>
            <a:gdLst/>
            <a:ahLst/>
            <a:rect l="0" t="0" r="r" b="b"/>
            <a:pathLst>
              <a:path w="12251" h="1483">
                <a:moveTo>
                  <a:pt x="0" y="0"/>
                </a:moveTo>
                <a:lnTo>
                  <a:pt x="12251" y="0"/>
                </a:lnTo>
                <a:lnTo>
                  <a:pt x="12251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5" name=""/>
          <p:cNvSpPr/>
          <p:nvPr/>
        </p:nvSpPr>
        <p:spPr>
          <a:xfrm>
            <a:off x="5162400" y="2628720"/>
            <a:ext cx="2381400" cy="533880"/>
          </a:xfrm>
          <a:custGeom>
            <a:avLst/>
            <a:gdLst/>
            <a:ahLst/>
            <a:rect l="0" t="0" r="r" b="b"/>
            <a:pathLst>
              <a:path w="6615" h="1483">
                <a:moveTo>
                  <a:pt x="0" y="0"/>
                </a:moveTo>
                <a:lnTo>
                  <a:pt x="6615" y="0"/>
                </a:lnTo>
                <a:lnTo>
                  <a:pt x="6615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6" name=""/>
          <p:cNvSpPr/>
          <p:nvPr/>
        </p:nvSpPr>
        <p:spPr>
          <a:xfrm>
            <a:off x="7543440" y="2628720"/>
            <a:ext cx="2439000" cy="533880"/>
          </a:xfrm>
          <a:custGeom>
            <a:avLst/>
            <a:gdLst/>
            <a:ahLst/>
            <a:rect l="0" t="0" r="r" b="b"/>
            <a:pathLst>
              <a:path w="6775" h="1483">
                <a:moveTo>
                  <a:pt x="0" y="0"/>
                </a:moveTo>
                <a:lnTo>
                  <a:pt x="6775" y="0"/>
                </a:lnTo>
                <a:lnTo>
                  <a:pt x="6775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7" name=""/>
          <p:cNvSpPr/>
          <p:nvPr/>
        </p:nvSpPr>
        <p:spPr>
          <a:xfrm>
            <a:off x="752400" y="3162240"/>
            <a:ext cx="4410360" cy="543240"/>
          </a:xfrm>
          <a:custGeom>
            <a:avLst/>
            <a:gdLst/>
            <a:ahLst/>
            <a:rect l="0" t="0" r="r" b="b"/>
            <a:pathLst>
              <a:path w="12251" h="1509">
                <a:moveTo>
                  <a:pt x="0" y="0"/>
                </a:moveTo>
                <a:lnTo>
                  <a:pt x="12251" y="0"/>
                </a:lnTo>
                <a:lnTo>
                  <a:pt x="12251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8" name=""/>
          <p:cNvSpPr/>
          <p:nvPr/>
        </p:nvSpPr>
        <p:spPr>
          <a:xfrm>
            <a:off x="5162400" y="3162240"/>
            <a:ext cx="2381400" cy="543240"/>
          </a:xfrm>
          <a:custGeom>
            <a:avLst/>
            <a:gdLst/>
            <a:ahLst/>
            <a:rect l="0" t="0" r="r" b="b"/>
            <a:pathLst>
              <a:path w="6615" h="1509">
                <a:moveTo>
                  <a:pt x="0" y="0"/>
                </a:moveTo>
                <a:lnTo>
                  <a:pt x="6615" y="0"/>
                </a:lnTo>
                <a:lnTo>
                  <a:pt x="6615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9" name=""/>
          <p:cNvSpPr/>
          <p:nvPr/>
        </p:nvSpPr>
        <p:spPr>
          <a:xfrm>
            <a:off x="7543440" y="3162240"/>
            <a:ext cx="2439000" cy="543240"/>
          </a:xfrm>
          <a:custGeom>
            <a:avLst/>
            <a:gdLst/>
            <a:ahLst/>
            <a:rect l="0" t="0" r="r" b="b"/>
            <a:pathLst>
              <a:path w="6775" h="1509">
                <a:moveTo>
                  <a:pt x="0" y="0"/>
                </a:moveTo>
                <a:lnTo>
                  <a:pt x="6775" y="0"/>
                </a:lnTo>
                <a:lnTo>
                  <a:pt x="6775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0" name=""/>
          <p:cNvSpPr/>
          <p:nvPr/>
        </p:nvSpPr>
        <p:spPr>
          <a:xfrm>
            <a:off x="752400" y="3705120"/>
            <a:ext cx="4410360" cy="533520"/>
          </a:xfrm>
          <a:custGeom>
            <a:avLst/>
            <a:gdLst/>
            <a:ahLst/>
            <a:rect l="0" t="0" r="r" b="b"/>
            <a:pathLst>
              <a:path w="12251" h="1482">
                <a:moveTo>
                  <a:pt x="0" y="0"/>
                </a:moveTo>
                <a:lnTo>
                  <a:pt x="12251" y="0"/>
                </a:lnTo>
                <a:lnTo>
                  <a:pt x="12251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1" name=""/>
          <p:cNvSpPr/>
          <p:nvPr/>
        </p:nvSpPr>
        <p:spPr>
          <a:xfrm>
            <a:off x="5162400" y="3705120"/>
            <a:ext cx="2381400" cy="533520"/>
          </a:xfrm>
          <a:custGeom>
            <a:avLst/>
            <a:gdLst/>
            <a:ahLst/>
            <a:rect l="0" t="0" r="r" b="b"/>
            <a:pathLst>
              <a:path w="6615" h="1482">
                <a:moveTo>
                  <a:pt x="0" y="0"/>
                </a:moveTo>
                <a:lnTo>
                  <a:pt x="6615" y="0"/>
                </a:lnTo>
                <a:lnTo>
                  <a:pt x="6615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2" name=""/>
          <p:cNvSpPr/>
          <p:nvPr/>
        </p:nvSpPr>
        <p:spPr>
          <a:xfrm>
            <a:off x="7543440" y="3705120"/>
            <a:ext cx="2439000" cy="533520"/>
          </a:xfrm>
          <a:custGeom>
            <a:avLst/>
            <a:gdLst/>
            <a:ahLst/>
            <a:rect l="0" t="0" r="r" b="b"/>
            <a:pathLst>
              <a:path w="6775" h="1482">
                <a:moveTo>
                  <a:pt x="0" y="0"/>
                </a:moveTo>
                <a:lnTo>
                  <a:pt x="6775" y="0"/>
                </a:lnTo>
                <a:lnTo>
                  <a:pt x="6775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3" name=""/>
          <p:cNvSpPr/>
          <p:nvPr/>
        </p:nvSpPr>
        <p:spPr>
          <a:xfrm>
            <a:off x="752400" y="1542960"/>
            <a:ext cx="9720" cy="552600"/>
          </a:xfrm>
          <a:custGeom>
            <a:avLst/>
            <a:gdLst/>
            <a:ahLst/>
            <a:rect l="0" t="0" r="r" b="b"/>
            <a:pathLst>
              <a:path w="27" h="1535">
                <a:moveTo>
                  <a:pt x="0" y="0"/>
                </a:moveTo>
                <a:lnTo>
                  <a:pt x="27" y="0"/>
                </a:lnTo>
                <a:lnTo>
                  <a:pt x="27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4" name=""/>
          <p:cNvSpPr/>
          <p:nvPr/>
        </p:nvSpPr>
        <p:spPr>
          <a:xfrm>
            <a:off x="752400" y="1542960"/>
            <a:ext cx="4410360" cy="9720"/>
          </a:xfrm>
          <a:custGeom>
            <a:avLst/>
            <a:gdLst/>
            <a:ahLst/>
            <a:rect l="0" t="0" r="r" b="b"/>
            <a:pathLst>
              <a:path w="12251" h="27">
                <a:moveTo>
                  <a:pt x="0" y="0"/>
                </a:moveTo>
                <a:lnTo>
                  <a:pt x="12251" y="0"/>
                </a:lnTo>
                <a:lnTo>
                  <a:pt x="1225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5" name=""/>
          <p:cNvSpPr/>
          <p:nvPr/>
        </p:nvSpPr>
        <p:spPr>
          <a:xfrm>
            <a:off x="5152680" y="1542960"/>
            <a:ext cx="10080" cy="552600"/>
          </a:xfrm>
          <a:custGeom>
            <a:avLst/>
            <a:gdLst/>
            <a:ahLst/>
            <a:rect l="0" t="0" r="r" b="b"/>
            <a:pathLst>
              <a:path w="28" h="1535">
                <a:moveTo>
                  <a:pt x="0" y="0"/>
                </a:moveTo>
                <a:lnTo>
                  <a:pt x="28" y="0"/>
                </a:lnTo>
                <a:lnTo>
                  <a:pt x="28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6" name=""/>
          <p:cNvSpPr/>
          <p:nvPr/>
        </p:nvSpPr>
        <p:spPr>
          <a:xfrm>
            <a:off x="5162400" y="1542960"/>
            <a:ext cx="2391120" cy="9720"/>
          </a:xfrm>
          <a:custGeom>
            <a:avLst/>
            <a:gdLst/>
            <a:ahLst/>
            <a:rect l="0" t="0" r="r" b="b"/>
            <a:pathLst>
              <a:path w="6642" h="27">
                <a:moveTo>
                  <a:pt x="0" y="0"/>
                </a:moveTo>
                <a:lnTo>
                  <a:pt x="6642" y="0"/>
                </a:lnTo>
                <a:lnTo>
                  <a:pt x="664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7" name=""/>
          <p:cNvSpPr/>
          <p:nvPr/>
        </p:nvSpPr>
        <p:spPr>
          <a:xfrm>
            <a:off x="7543440" y="1542960"/>
            <a:ext cx="10080" cy="552600"/>
          </a:xfrm>
          <a:custGeom>
            <a:avLst/>
            <a:gdLst/>
            <a:ahLst/>
            <a:rect l="0" t="0" r="r" b="b"/>
            <a:pathLst>
              <a:path w="28" h="1535">
                <a:moveTo>
                  <a:pt x="0" y="0"/>
                </a:moveTo>
                <a:lnTo>
                  <a:pt x="28" y="0"/>
                </a:lnTo>
                <a:lnTo>
                  <a:pt x="28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8" name=""/>
          <p:cNvSpPr/>
          <p:nvPr/>
        </p:nvSpPr>
        <p:spPr>
          <a:xfrm>
            <a:off x="7553160" y="1542960"/>
            <a:ext cx="2429280" cy="9720"/>
          </a:xfrm>
          <a:custGeom>
            <a:avLst/>
            <a:gdLst/>
            <a:ahLst/>
            <a:rect l="0" t="0" r="r" b="b"/>
            <a:pathLst>
              <a:path w="6748" h="27">
                <a:moveTo>
                  <a:pt x="0" y="0"/>
                </a:moveTo>
                <a:lnTo>
                  <a:pt x="6748" y="0"/>
                </a:lnTo>
                <a:lnTo>
                  <a:pt x="674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9" name=""/>
          <p:cNvSpPr/>
          <p:nvPr/>
        </p:nvSpPr>
        <p:spPr>
          <a:xfrm>
            <a:off x="9972360" y="1542960"/>
            <a:ext cx="10080" cy="552600"/>
          </a:xfrm>
          <a:custGeom>
            <a:avLst/>
            <a:gdLst/>
            <a:ahLst/>
            <a:rect l="0" t="0" r="r" b="b"/>
            <a:pathLst>
              <a:path w="28" h="1535">
                <a:moveTo>
                  <a:pt x="0" y="0"/>
                </a:moveTo>
                <a:lnTo>
                  <a:pt x="28" y="0"/>
                </a:lnTo>
                <a:lnTo>
                  <a:pt x="28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0" name=""/>
          <p:cNvSpPr/>
          <p:nvPr/>
        </p:nvSpPr>
        <p:spPr>
          <a:xfrm>
            <a:off x="752400" y="2085840"/>
            <a:ext cx="4410360" cy="9720"/>
          </a:xfrm>
          <a:custGeom>
            <a:avLst/>
            <a:gdLst/>
            <a:ahLst/>
            <a:rect l="0" t="0" r="r" b="b"/>
            <a:pathLst>
              <a:path w="12251" h="27">
                <a:moveTo>
                  <a:pt x="0" y="0"/>
                </a:moveTo>
                <a:lnTo>
                  <a:pt x="12251" y="0"/>
                </a:lnTo>
                <a:lnTo>
                  <a:pt x="1225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1" name=""/>
          <p:cNvSpPr/>
          <p:nvPr/>
        </p:nvSpPr>
        <p:spPr>
          <a:xfrm>
            <a:off x="5162400" y="2085840"/>
            <a:ext cx="2391120" cy="9720"/>
          </a:xfrm>
          <a:custGeom>
            <a:avLst/>
            <a:gdLst/>
            <a:ahLst/>
            <a:rect l="0" t="0" r="r" b="b"/>
            <a:pathLst>
              <a:path w="6642" h="27">
                <a:moveTo>
                  <a:pt x="0" y="0"/>
                </a:moveTo>
                <a:lnTo>
                  <a:pt x="6642" y="0"/>
                </a:lnTo>
                <a:lnTo>
                  <a:pt x="664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2" name=""/>
          <p:cNvSpPr/>
          <p:nvPr/>
        </p:nvSpPr>
        <p:spPr>
          <a:xfrm>
            <a:off x="7553160" y="2085840"/>
            <a:ext cx="2429280" cy="9720"/>
          </a:xfrm>
          <a:custGeom>
            <a:avLst/>
            <a:gdLst/>
            <a:ahLst/>
            <a:rect l="0" t="0" r="r" b="b"/>
            <a:pathLst>
              <a:path w="6748" h="27">
                <a:moveTo>
                  <a:pt x="0" y="0"/>
                </a:moveTo>
                <a:lnTo>
                  <a:pt x="6748" y="0"/>
                </a:lnTo>
                <a:lnTo>
                  <a:pt x="674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3" name=""/>
          <p:cNvSpPr/>
          <p:nvPr/>
        </p:nvSpPr>
        <p:spPr>
          <a:xfrm>
            <a:off x="752400" y="2095200"/>
            <a:ext cx="9720" cy="533880"/>
          </a:xfrm>
          <a:custGeom>
            <a:avLst/>
            <a:gdLst/>
            <a:ah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4" name=""/>
          <p:cNvSpPr/>
          <p:nvPr/>
        </p:nvSpPr>
        <p:spPr>
          <a:xfrm>
            <a:off x="5152680" y="2095200"/>
            <a:ext cx="10080" cy="533880"/>
          </a:xfrm>
          <a:custGeom>
            <a:avLst/>
            <a:gdLst/>
            <a:ahLst/>
            <a:rect l="0" t="0" r="r" b="b"/>
            <a:pathLst>
              <a:path w="28" h="1483">
                <a:moveTo>
                  <a:pt x="0" y="0"/>
                </a:moveTo>
                <a:lnTo>
                  <a:pt x="28" y="0"/>
                </a:lnTo>
                <a:lnTo>
                  <a:pt x="28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5" name=""/>
          <p:cNvSpPr/>
          <p:nvPr/>
        </p:nvSpPr>
        <p:spPr>
          <a:xfrm>
            <a:off x="7543440" y="2095200"/>
            <a:ext cx="10080" cy="533880"/>
          </a:xfrm>
          <a:custGeom>
            <a:avLst/>
            <a:gdLst/>
            <a:ahLst/>
            <a:rect l="0" t="0" r="r" b="b"/>
            <a:pathLst>
              <a:path w="28" h="1483">
                <a:moveTo>
                  <a:pt x="0" y="0"/>
                </a:moveTo>
                <a:lnTo>
                  <a:pt x="28" y="0"/>
                </a:lnTo>
                <a:lnTo>
                  <a:pt x="28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6" name=""/>
          <p:cNvSpPr/>
          <p:nvPr/>
        </p:nvSpPr>
        <p:spPr>
          <a:xfrm>
            <a:off x="9972360" y="2095200"/>
            <a:ext cx="10080" cy="533880"/>
          </a:xfrm>
          <a:custGeom>
            <a:avLst/>
            <a:gdLst/>
            <a:ahLst/>
            <a:rect l="0" t="0" r="r" b="b"/>
            <a:pathLst>
              <a:path w="28" h="1483">
                <a:moveTo>
                  <a:pt x="0" y="0"/>
                </a:moveTo>
                <a:lnTo>
                  <a:pt x="28" y="0"/>
                </a:lnTo>
                <a:lnTo>
                  <a:pt x="28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7" name=""/>
          <p:cNvSpPr/>
          <p:nvPr/>
        </p:nvSpPr>
        <p:spPr>
          <a:xfrm>
            <a:off x="752400" y="262872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8" name=""/>
          <p:cNvSpPr/>
          <p:nvPr/>
        </p:nvSpPr>
        <p:spPr>
          <a:xfrm>
            <a:off x="752400" y="2619360"/>
            <a:ext cx="4410360" cy="9720"/>
          </a:xfrm>
          <a:custGeom>
            <a:avLst/>
            <a:gdLst/>
            <a:ahLst/>
            <a:rect l="0" t="0" r="r" b="b"/>
            <a:pathLst>
              <a:path w="12251" h="27">
                <a:moveTo>
                  <a:pt x="0" y="0"/>
                </a:moveTo>
                <a:lnTo>
                  <a:pt x="12251" y="0"/>
                </a:lnTo>
                <a:lnTo>
                  <a:pt x="1225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9" name=""/>
          <p:cNvSpPr/>
          <p:nvPr/>
        </p:nvSpPr>
        <p:spPr>
          <a:xfrm>
            <a:off x="5152680" y="2628720"/>
            <a:ext cx="10080" cy="543240"/>
          </a:xfrm>
          <a:custGeom>
            <a:avLst/>
            <a:gdLst/>
            <a:ah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0" name=""/>
          <p:cNvSpPr/>
          <p:nvPr/>
        </p:nvSpPr>
        <p:spPr>
          <a:xfrm>
            <a:off x="5162400" y="2619360"/>
            <a:ext cx="2391120" cy="9720"/>
          </a:xfrm>
          <a:custGeom>
            <a:avLst/>
            <a:gdLst/>
            <a:ahLst/>
            <a:rect l="0" t="0" r="r" b="b"/>
            <a:pathLst>
              <a:path w="6642" h="27">
                <a:moveTo>
                  <a:pt x="0" y="0"/>
                </a:moveTo>
                <a:lnTo>
                  <a:pt x="6642" y="0"/>
                </a:lnTo>
                <a:lnTo>
                  <a:pt x="664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1" name=""/>
          <p:cNvSpPr/>
          <p:nvPr/>
        </p:nvSpPr>
        <p:spPr>
          <a:xfrm>
            <a:off x="7543440" y="2628720"/>
            <a:ext cx="10080" cy="543240"/>
          </a:xfrm>
          <a:custGeom>
            <a:avLst/>
            <a:gdLst/>
            <a:ah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2" name=""/>
          <p:cNvSpPr/>
          <p:nvPr/>
        </p:nvSpPr>
        <p:spPr>
          <a:xfrm>
            <a:off x="7553160" y="2619360"/>
            <a:ext cx="2429280" cy="9720"/>
          </a:xfrm>
          <a:custGeom>
            <a:avLst/>
            <a:gdLst/>
            <a:ahLst/>
            <a:rect l="0" t="0" r="r" b="b"/>
            <a:pathLst>
              <a:path w="6748" h="27">
                <a:moveTo>
                  <a:pt x="0" y="0"/>
                </a:moveTo>
                <a:lnTo>
                  <a:pt x="6748" y="0"/>
                </a:lnTo>
                <a:lnTo>
                  <a:pt x="674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3" name=""/>
          <p:cNvSpPr/>
          <p:nvPr/>
        </p:nvSpPr>
        <p:spPr>
          <a:xfrm>
            <a:off x="9972360" y="2628720"/>
            <a:ext cx="10080" cy="543240"/>
          </a:xfrm>
          <a:custGeom>
            <a:avLst/>
            <a:gdLst/>
            <a:ah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4" name=""/>
          <p:cNvSpPr/>
          <p:nvPr/>
        </p:nvSpPr>
        <p:spPr>
          <a:xfrm>
            <a:off x="752400" y="3171600"/>
            <a:ext cx="9720" cy="533880"/>
          </a:xfrm>
          <a:custGeom>
            <a:avLst/>
            <a:gdLst/>
            <a:ah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5" name=""/>
          <p:cNvSpPr/>
          <p:nvPr/>
        </p:nvSpPr>
        <p:spPr>
          <a:xfrm>
            <a:off x="752400" y="3162240"/>
            <a:ext cx="4410360" cy="9720"/>
          </a:xfrm>
          <a:custGeom>
            <a:avLst/>
            <a:gdLst/>
            <a:ahLst/>
            <a:rect l="0" t="0" r="r" b="b"/>
            <a:pathLst>
              <a:path w="12251" h="27">
                <a:moveTo>
                  <a:pt x="0" y="0"/>
                </a:moveTo>
                <a:lnTo>
                  <a:pt x="12251" y="0"/>
                </a:lnTo>
                <a:lnTo>
                  <a:pt x="1225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6" name=""/>
          <p:cNvSpPr/>
          <p:nvPr/>
        </p:nvSpPr>
        <p:spPr>
          <a:xfrm>
            <a:off x="5152680" y="3171600"/>
            <a:ext cx="10080" cy="533880"/>
          </a:xfrm>
          <a:custGeom>
            <a:avLst/>
            <a:gdLst/>
            <a:ahLst/>
            <a:rect l="0" t="0" r="r" b="b"/>
            <a:pathLst>
              <a:path w="28" h="1483">
                <a:moveTo>
                  <a:pt x="0" y="0"/>
                </a:moveTo>
                <a:lnTo>
                  <a:pt x="28" y="0"/>
                </a:lnTo>
                <a:lnTo>
                  <a:pt x="28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7" name=""/>
          <p:cNvSpPr/>
          <p:nvPr/>
        </p:nvSpPr>
        <p:spPr>
          <a:xfrm>
            <a:off x="5162400" y="3162240"/>
            <a:ext cx="2391120" cy="9720"/>
          </a:xfrm>
          <a:custGeom>
            <a:avLst/>
            <a:gdLst/>
            <a:ahLst/>
            <a:rect l="0" t="0" r="r" b="b"/>
            <a:pathLst>
              <a:path w="6642" h="27">
                <a:moveTo>
                  <a:pt x="0" y="0"/>
                </a:moveTo>
                <a:lnTo>
                  <a:pt x="6642" y="0"/>
                </a:lnTo>
                <a:lnTo>
                  <a:pt x="664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8" name=""/>
          <p:cNvSpPr/>
          <p:nvPr/>
        </p:nvSpPr>
        <p:spPr>
          <a:xfrm>
            <a:off x="7543440" y="3171600"/>
            <a:ext cx="10080" cy="533880"/>
          </a:xfrm>
          <a:custGeom>
            <a:avLst/>
            <a:gdLst/>
            <a:ahLst/>
            <a:rect l="0" t="0" r="r" b="b"/>
            <a:pathLst>
              <a:path w="28" h="1483">
                <a:moveTo>
                  <a:pt x="0" y="0"/>
                </a:moveTo>
                <a:lnTo>
                  <a:pt x="28" y="0"/>
                </a:lnTo>
                <a:lnTo>
                  <a:pt x="28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9" name=""/>
          <p:cNvSpPr/>
          <p:nvPr/>
        </p:nvSpPr>
        <p:spPr>
          <a:xfrm>
            <a:off x="7553160" y="3162240"/>
            <a:ext cx="2429280" cy="9720"/>
          </a:xfrm>
          <a:custGeom>
            <a:avLst/>
            <a:gdLst/>
            <a:ahLst/>
            <a:rect l="0" t="0" r="r" b="b"/>
            <a:pathLst>
              <a:path w="6748" h="27">
                <a:moveTo>
                  <a:pt x="0" y="0"/>
                </a:moveTo>
                <a:lnTo>
                  <a:pt x="6748" y="0"/>
                </a:lnTo>
                <a:lnTo>
                  <a:pt x="674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0" name=""/>
          <p:cNvSpPr/>
          <p:nvPr/>
        </p:nvSpPr>
        <p:spPr>
          <a:xfrm>
            <a:off x="9972360" y="3171600"/>
            <a:ext cx="10080" cy="533880"/>
          </a:xfrm>
          <a:custGeom>
            <a:avLst/>
            <a:gdLst/>
            <a:ahLst/>
            <a:rect l="0" t="0" r="r" b="b"/>
            <a:pathLst>
              <a:path w="28" h="1483">
                <a:moveTo>
                  <a:pt x="0" y="0"/>
                </a:moveTo>
                <a:lnTo>
                  <a:pt x="28" y="0"/>
                </a:lnTo>
                <a:lnTo>
                  <a:pt x="28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1" name=""/>
          <p:cNvSpPr/>
          <p:nvPr/>
        </p:nvSpPr>
        <p:spPr>
          <a:xfrm>
            <a:off x="752400" y="370512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2" name=""/>
          <p:cNvSpPr/>
          <p:nvPr/>
        </p:nvSpPr>
        <p:spPr>
          <a:xfrm>
            <a:off x="752400" y="3695400"/>
            <a:ext cx="4410360" cy="10080"/>
          </a:xfrm>
          <a:custGeom>
            <a:avLst/>
            <a:gdLst/>
            <a:ahLst/>
            <a:rect l="0" t="0" r="r" b="b"/>
            <a:pathLst>
              <a:path w="12251" h="28">
                <a:moveTo>
                  <a:pt x="0" y="0"/>
                </a:moveTo>
                <a:lnTo>
                  <a:pt x="12251" y="0"/>
                </a:lnTo>
                <a:lnTo>
                  <a:pt x="1225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3" name=""/>
          <p:cNvSpPr/>
          <p:nvPr/>
        </p:nvSpPr>
        <p:spPr>
          <a:xfrm>
            <a:off x="5152680" y="3705120"/>
            <a:ext cx="10080" cy="543240"/>
          </a:xfrm>
          <a:custGeom>
            <a:avLst/>
            <a:gdLst/>
            <a:ah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4" name=""/>
          <p:cNvSpPr/>
          <p:nvPr/>
        </p:nvSpPr>
        <p:spPr>
          <a:xfrm>
            <a:off x="5162400" y="3695400"/>
            <a:ext cx="2391120" cy="10080"/>
          </a:xfrm>
          <a:custGeom>
            <a:avLst/>
            <a:gdLst/>
            <a:ahLst/>
            <a:rect l="0" t="0" r="r" b="b"/>
            <a:pathLst>
              <a:path w="6642" h="28">
                <a:moveTo>
                  <a:pt x="0" y="0"/>
                </a:moveTo>
                <a:lnTo>
                  <a:pt x="6642" y="0"/>
                </a:lnTo>
                <a:lnTo>
                  <a:pt x="664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5" name=""/>
          <p:cNvSpPr/>
          <p:nvPr/>
        </p:nvSpPr>
        <p:spPr>
          <a:xfrm>
            <a:off x="7543440" y="3705120"/>
            <a:ext cx="10080" cy="543240"/>
          </a:xfrm>
          <a:custGeom>
            <a:avLst/>
            <a:gdLst/>
            <a:ah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6" name=""/>
          <p:cNvSpPr/>
          <p:nvPr/>
        </p:nvSpPr>
        <p:spPr>
          <a:xfrm>
            <a:off x="7553160" y="3695400"/>
            <a:ext cx="2429280" cy="10080"/>
          </a:xfrm>
          <a:custGeom>
            <a:avLst/>
            <a:gdLst/>
            <a:ahLst/>
            <a:rect l="0" t="0" r="r" b="b"/>
            <a:pathLst>
              <a:path w="6748" h="28">
                <a:moveTo>
                  <a:pt x="0" y="0"/>
                </a:moveTo>
                <a:lnTo>
                  <a:pt x="6748" y="0"/>
                </a:lnTo>
                <a:lnTo>
                  <a:pt x="674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7" name=""/>
          <p:cNvSpPr/>
          <p:nvPr/>
        </p:nvSpPr>
        <p:spPr>
          <a:xfrm>
            <a:off x="9972360" y="3705120"/>
            <a:ext cx="10080" cy="543240"/>
          </a:xfrm>
          <a:custGeom>
            <a:avLst/>
            <a:gdLst/>
            <a:ah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8" name=""/>
          <p:cNvSpPr/>
          <p:nvPr/>
        </p:nvSpPr>
        <p:spPr>
          <a:xfrm>
            <a:off x="752400" y="4238280"/>
            <a:ext cx="4410360" cy="10080"/>
          </a:xfrm>
          <a:custGeom>
            <a:avLst/>
            <a:gdLst/>
            <a:ahLst/>
            <a:rect l="0" t="0" r="r" b="b"/>
            <a:pathLst>
              <a:path w="12251" h="28">
                <a:moveTo>
                  <a:pt x="0" y="0"/>
                </a:moveTo>
                <a:lnTo>
                  <a:pt x="12251" y="0"/>
                </a:lnTo>
                <a:lnTo>
                  <a:pt x="1225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9" name=""/>
          <p:cNvSpPr/>
          <p:nvPr/>
        </p:nvSpPr>
        <p:spPr>
          <a:xfrm>
            <a:off x="5162400" y="4238280"/>
            <a:ext cx="2391120" cy="10080"/>
          </a:xfrm>
          <a:custGeom>
            <a:avLst/>
            <a:gdLst/>
            <a:ahLst/>
            <a:rect l="0" t="0" r="r" b="b"/>
            <a:pathLst>
              <a:path w="6642" h="28">
                <a:moveTo>
                  <a:pt x="0" y="0"/>
                </a:moveTo>
                <a:lnTo>
                  <a:pt x="6642" y="0"/>
                </a:lnTo>
                <a:lnTo>
                  <a:pt x="664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0" name=""/>
          <p:cNvSpPr/>
          <p:nvPr/>
        </p:nvSpPr>
        <p:spPr>
          <a:xfrm>
            <a:off x="7553160" y="4238280"/>
            <a:ext cx="2429280" cy="10080"/>
          </a:xfrm>
          <a:custGeom>
            <a:avLst/>
            <a:gdLst/>
            <a:ahLst/>
            <a:rect l="0" t="0" r="r" b="b"/>
            <a:pathLst>
              <a:path w="6748" h="28">
                <a:moveTo>
                  <a:pt x="0" y="0"/>
                </a:moveTo>
                <a:lnTo>
                  <a:pt x="6748" y="0"/>
                </a:lnTo>
                <a:lnTo>
                  <a:pt x="674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1" name=""/>
          <p:cNvSpPr/>
          <p:nvPr/>
        </p:nvSpPr>
        <p:spPr>
          <a:xfrm>
            <a:off x="757080" y="4967280"/>
            <a:ext cx="10687320" cy="1667160"/>
          </a:xfrm>
          <a:custGeom>
            <a:avLst/>
            <a:gdLst/>
            <a:ahLst/>
            <a:rect l="0" t="0" r="r" b="b"/>
            <a:pathLst>
              <a:path w="29687" h="4631">
                <a:moveTo>
                  <a:pt x="0" y="4485"/>
                </a:moveTo>
                <a:lnTo>
                  <a:pt x="0" y="145"/>
                </a:lnTo>
                <a:cubicBezTo>
                  <a:pt x="0" y="135"/>
                  <a:pt x="1" y="126"/>
                  <a:pt x="3" y="117"/>
                </a:cubicBezTo>
                <a:cubicBezTo>
                  <a:pt x="5" y="107"/>
                  <a:pt x="7" y="98"/>
                  <a:pt x="11" y="89"/>
                </a:cubicBezTo>
                <a:cubicBezTo>
                  <a:pt x="15" y="81"/>
                  <a:pt x="19" y="72"/>
                  <a:pt x="24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49" y="35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7" y="2"/>
                </a:cubicBezTo>
                <a:cubicBezTo>
                  <a:pt x="126" y="0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0"/>
                  <a:pt x="29570" y="2"/>
                </a:cubicBezTo>
                <a:cubicBezTo>
                  <a:pt x="29579" y="4"/>
                  <a:pt x="29589" y="7"/>
                  <a:pt x="29597" y="11"/>
                </a:cubicBezTo>
                <a:cubicBezTo>
                  <a:pt x="29606" y="14"/>
                  <a:pt x="29615" y="19"/>
                  <a:pt x="29623" y="24"/>
                </a:cubicBezTo>
                <a:cubicBezTo>
                  <a:pt x="29630" y="29"/>
                  <a:pt x="29638" y="35"/>
                  <a:pt x="29645" y="42"/>
                </a:cubicBezTo>
                <a:cubicBezTo>
                  <a:pt x="29651" y="49"/>
                  <a:pt x="29657" y="56"/>
                  <a:pt x="29663" y="64"/>
                </a:cubicBezTo>
                <a:cubicBezTo>
                  <a:pt x="29668" y="72"/>
                  <a:pt x="29672" y="81"/>
                  <a:pt x="29676" y="89"/>
                </a:cubicBezTo>
                <a:cubicBezTo>
                  <a:pt x="29680" y="98"/>
                  <a:pt x="29683" y="107"/>
                  <a:pt x="29684" y="117"/>
                </a:cubicBezTo>
                <a:cubicBezTo>
                  <a:pt x="29686" y="126"/>
                  <a:pt x="29687" y="135"/>
                  <a:pt x="29687" y="145"/>
                </a:cubicBezTo>
                <a:lnTo>
                  <a:pt x="29687" y="4485"/>
                </a:lnTo>
                <a:cubicBezTo>
                  <a:pt x="29687" y="4495"/>
                  <a:pt x="29686" y="4504"/>
                  <a:pt x="29684" y="4514"/>
                </a:cubicBezTo>
                <a:cubicBezTo>
                  <a:pt x="29683" y="4523"/>
                  <a:pt x="29680" y="4532"/>
                  <a:pt x="29676" y="4541"/>
                </a:cubicBezTo>
                <a:cubicBezTo>
                  <a:pt x="29672" y="4550"/>
                  <a:pt x="29668" y="4558"/>
                  <a:pt x="29663" y="4566"/>
                </a:cubicBezTo>
                <a:cubicBezTo>
                  <a:pt x="29657" y="4574"/>
                  <a:pt x="29651" y="4581"/>
                  <a:pt x="29645" y="4588"/>
                </a:cubicBezTo>
                <a:cubicBezTo>
                  <a:pt x="29638" y="4595"/>
                  <a:pt x="29630" y="4601"/>
                  <a:pt x="29623" y="4606"/>
                </a:cubicBezTo>
                <a:cubicBezTo>
                  <a:pt x="29615" y="4612"/>
                  <a:pt x="29606" y="4616"/>
                  <a:pt x="29597" y="4620"/>
                </a:cubicBezTo>
                <a:cubicBezTo>
                  <a:pt x="29589" y="4623"/>
                  <a:pt x="29579" y="4626"/>
                  <a:pt x="29570" y="4628"/>
                </a:cubicBezTo>
                <a:cubicBezTo>
                  <a:pt x="29561" y="4630"/>
                  <a:pt x="29551" y="4631"/>
                  <a:pt x="29542" y="4631"/>
                </a:cubicBezTo>
                <a:lnTo>
                  <a:pt x="145" y="4631"/>
                </a:lnTo>
                <a:cubicBezTo>
                  <a:pt x="136" y="4631"/>
                  <a:pt x="126" y="4630"/>
                  <a:pt x="117" y="4628"/>
                </a:cubicBezTo>
                <a:cubicBezTo>
                  <a:pt x="108" y="4626"/>
                  <a:pt x="99" y="4623"/>
                  <a:pt x="90" y="4620"/>
                </a:cubicBezTo>
                <a:cubicBezTo>
                  <a:pt x="81" y="4616"/>
                  <a:pt x="73" y="4612"/>
                  <a:pt x="65" y="4606"/>
                </a:cubicBezTo>
                <a:cubicBezTo>
                  <a:pt x="57" y="4601"/>
                  <a:pt x="49" y="4595"/>
                  <a:pt x="43" y="4588"/>
                </a:cubicBezTo>
                <a:cubicBezTo>
                  <a:pt x="36" y="4581"/>
                  <a:pt x="30" y="4574"/>
                  <a:pt x="24" y="4566"/>
                </a:cubicBezTo>
                <a:cubicBezTo>
                  <a:pt x="19" y="4558"/>
                  <a:pt x="15" y="4550"/>
                  <a:pt x="11" y="4541"/>
                </a:cubicBezTo>
                <a:cubicBezTo>
                  <a:pt x="7" y="4532"/>
                  <a:pt x="5" y="4523"/>
                  <a:pt x="3" y="4514"/>
                </a:cubicBezTo>
                <a:cubicBezTo>
                  <a:pt x="1" y="4504"/>
                  <a:pt x="0" y="4495"/>
                  <a:pt x="0" y="4485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2" name=""/>
          <p:cNvSpPr/>
          <p:nvPr/>
        </p:nvSpPr>
        <p:spPr>
          <a:xfrm>
            <a:off x="757080" y="4967280"/>
            <a:ext cx="10687320" cy="1667160"/>
          </a:xfrm>
          <a:custGeom>
            <a:avLst/>
            <a:gdLst/>
            <a:ahLst/>
            <a:rect l="0" t="0" r="r" b="b"/>
            <a:pathLst>
              <a:path w="29687" h="4631">
                <a:moveTo>
                  <a:pt x="0" y="4485"/>
                </a:moveTo>
                <a:lnTo>
                  <a:pt x="0" y="145"/>
                </a:lnTo>
                <a:cubicBezTo>
                  <a:pt x="0" y="135"/>
                  <a:pt x="1" y="126"/>
                  <a:pt x="3" y="117"/>
                </a:cubicBezTo>
                <a:cubicBezTo>
                  <a:pt x="5" y="107"/>
                  <a:pt x="7" y="98"/>
                  <a:pt x="11" y="89"/>
                </a:cubicBezTo>
                <a:cubicBezTo>
                  <a:pt x="15" y="81"/>
                  <a:pt x="19" y="72"/>
                  <a:pt x="24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49" y="35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7" y="2"/>
                </a:cubicBezTo>
                <a:cubicBezTo>
                  <a:pt x="126" y="0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0"/>
                  <a:pt x="29570" y="2"/>
                </a:cubicBezTo>
                <a:cubicBezTo>
                  <a:pt x="29579" y="4"/>
                  <a:pt x="29589" y="7"/>
                  <a:pt x="29597" y="11"/>
                </a:cubicBezTo>
                <a:cubicBezTo>
                  <a:pt x="29606" y="14"/>
                  <a:pt x="29615" y="19"/>
                  <a:pt x="29623" y="24"/>
                </a:cubicBezTo>
                <a:cubicBezTo>
                  <a:pt x="29630" y="29"/>
                  <a:pt x="29638" y="35"/>
                  <a:pt x="29645" y="42"/>
                </a:cubicBezTo>
                <a:cubicBezTo>
                  <a:pt x="29651" y="49"/>
                  <a:pt x="29657" y="56"/>
                  <a:pt x="29663" y="64"/>
                </a:cubicBezTo>
                <a:cubicBezTo>
                  <a:pt x="29668" y="72"/>
                  <a:pt x="29672" y="81"/>
                  <a:pt x="29676" y="89"/>
                </a:cubicBezTo>
                <a:cubicBezTo>
                  <a:pt x="29680" y="98"/>
                  <a:pt x="29683" y="107"/>
                  <a:pt x="29684" y="117"/>
                </a:cubicBezTo>
                <a:cubicBezTo>
                  <a:pt x="29686" y="126"/>
                  <a:pt x="29687" y="135"/>
                  <a:pt x="29687" y="145"/>
                </a:cubicBezTo>
                <a:lnTo>
                  <a:pt x="29687" y="4485"/>
                </a:lnTo>
                <a:cubicBezTo>
                  <a:pt x="29687" y="4495"/>
                  <a:pt x="29686" y="4504"/>
                  <a:pt x="29684" y="4514"/>
                </a:cubicBezTo>
                <a:cubicBezTo>
                  <a:pt x="29683" y="4523"/>
                  <a:pt x="29680" y="4532"/>
                  <a:pt x="29676" y="4541"/>
                </a:cubicBezTo>
                <a:cubicBezTo>
                  <a:pt x="29672" y="4550"/>
                  <a:pt x="29668" y="4558"/>
                  <a:pt x="29663" y="4566"/>
                </a:cubicBezTo>
                <a:cubicBezTo>
                  <a:pt x="29657" y="4574"/>
                  <a:pt x="29651" y="4581"/>
                  <a:pt x="29645" y="4588"/>
                </a:cubicBezTo>
                <a:cubicBezTo>
                  <a:pt x="29638" y="4595"/>
                  <a:pt x="29630" y="4601"/>
                  <a:pt x="29623" y="4606"/>
                </a:cubicBezTo>
                <a:cubicBezTo>
                  <a:pt x="29615" y="4612"/>
                  <a:pt x="29606" y="4616"/>
                  <a:pt x="29597" y="4620"/>
                </a:cubicBezTo>
                <a:cubicBezTo>
                  <a:pt x="29589" y="4623"/>
                  <a:pt x="29579" y="4626"/>
                  <a:pt x="29570" y="4628"/>
                </a:cubicBezTo>
                <a:cubicBezTo>
                  <a:pt x="29561" y="4630"/>
                  <a:pt x="29551" y="4631"/>
                  <a:pt x="29542" y="4631"/>
                </a:cubicBezTo>
                <a:lnTo>
                  <a:pt x="145" y="4631"/>
                </a:lnTo>
                <a:cubicBezTo>
                  <a:pt x="136" y="4631"/>
                  <a:pt x="126" y="4630"/>
                  <a:pt x="117" y="4628"/>
                </a:cubicBezTo>
                <a:cubicBezTo>
                  <a:pt x="108" y="4626"/>
                  <a:pt x="99" y="4623"/>
                  <a:pt x="90" y="4620"/>
                </a:cubicBezTo>
                <a:cubicBezTo>
                  <a:pt x="81" y="4616"/>
                  <a:pt x="73" y="4612"/>
                  <a:pt x="65" y="4606"/>
                </a:cubicBezTo>
                <a:cubicBezTo>
                  <a:pt x="57" y="4601"/>
                  <a:pt x="49" y="4595"/>
                  <a:pt x="43" y="4588"/>
                </a:cubicBezTo>
                <a:cubicBezTo>
                  <a:pt x="36" y="4581"/>
                  <a:pt x="30" y="4574"/>
                  <a:pt x="24" y="4566"/>
                </a:cubicBezTo>
                <a:cubicBezTo>
                  <a:pt x="19" y="4558"/>
                  <a:pt x="15" y="4550"/>
                  <a:pt x="11" y="4541"/>
                </a:cubicBezTo>
                <a:cubicBezTo>
                  <a:pt x="7" y="4532"/>
                  <a:pt x="5" y="4523"/>
                  <a:pt x="3" y="4514"/>
                </a:cubicBezTo>
                <a:cubicBezTo>
                  <a:pt x="1" y="4504"/>
                  <a:pt x="0" y="4495"/>
                  <a:pt x="0" y="4485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3" name=""/>
          <p:cNvSpPr txBox="1"/>
          <p:nvPr/>
        </p:nvSpPr>
        <p:spPr>
          <a:xfrm>
            <a:off x="747720" y="123120"/>
            <a:ext cx="2732040" cy="58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480" b="1" u="none" strike="noStrike">
                <a:solidFill>
                  <a:srgbClr val="224466"/>
                </a:solidFill>
                <a:effectLst/>
                <a:uFillTx/>
                <a:latin typeface="SegoeUI"/>
                <a:ea typeface="SegoeUI"/>
              </a:rPr>
              <a:t>7. MongoDB </a:t>
            </a:r>
            <a:endParaRPr lang="en-US" sz="34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4" name=""/>
          <p:cNvSpPr txBox="1"/>
          <p:nvPr/>
        </p:nvSpPr>
        <p:spPr>
          <a:xfrm>
            <a:off x="3378600" y="158040"/>
            <a:ext cx="3094560" cy="53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3480" b="0" u="none" strike="noStrike">
                <a:solidFill>
                  <a:srgbClr val="224466"/>
                </a:solidFill>
                <a:effectLst/>
                <a:uFillTx/>
                <a:latin typeface="NotoSansSC"/>
                <a:ea typeface="NotoSansSC"/>
              </a:rPr>
              <a:t>数据建模与索引</a:t>
            </a:r>
            <a:endParaRPr lang="en-US" sz="34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5" name=""/>
          <p:cNvSpPr txBox="1"/>
          <p:nvPr/>
        </p:nvSpPr>
        <p:spPr>
          <a:xfrm>
            <a:off x="747720" y="1019160"/>
            <a:ext cx="11041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为什么选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6" name=""/>
          <p:cNvSpPr txBox="1"/>
          <p:nvPr/>
        </p:nvSpPr>
        <p:spPr>
          <a:xfrm>
            <a:off x="1852560" y="997200"/>
            <a:ext cx="139608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MongoDB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7" name=""/>
          <p:cNvSpPr txBox="1"/>
          <p:nvPr/>
        </p:nvSpPr>
        <p:spPr>
          <a:xfrm>
            <a:off x="3206520" y="1019160"/>
            <a:ext cx="5522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？（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8" name=""/>
          <p:cNvSpPr txBox="1"/>
          <p:nvPr/>
        </p:nvSpPr>
        <p:spPr>
          <a:xfrm>
            <a:off x="3758760" y="997200"/>
            <a:ext cx="85248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vs SQL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9" name=""/>
          <p:cNvSpPr txBox="1"/>
          <p:nvPr/>
        </p:nvSpPr>
        <p:spPr>
          <a:xfrm>
            <a:off x="4588200" y="1019160"/>
            <a:ext cx="2764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）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0" name=""/>
          <p:cNvSpPr txBox="1"/>
          <p:nvPr/>
        </p:nvSpPr>
        <p:spPr>
          <a:xfrm>
            <a:off x="2681280" y="1647720"/>
            <a:ext cx="5522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需求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1" name=""/>
          <p:cNvSpPr txBox="1"/>
          <p:nvPr/>
        </p:nvSpPr>
        <p:spPr>
          <a:xfrm>
            <a:off x="5715000" y="1626120"/>
            <a:ext cx="131976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MongoDB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2" name=""/>
          <p:cNvSpPr txBox="1"/>
          <p:nvPr/>
        </p:nvSpPr>
        <p:spPr>
          <a:xfrm>
            <a:off x="8514000" y="1626120"/>
            <a:ext cx="50544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SQL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3" name=""/>
          <p:cNvSpPr txBox="1"/>
          <p:nvPr/>
        </p:nvSpPr>
        <p:spPr>
          <a:xfrm>
            <a:off x="880920" y="2190600"/>
            <a:ext cx="13798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嵌套数据（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4" name=""/>
          <p:cNvSpPr txBox="1"/>
          <p:nvPr/>
        </p:nvSpPr>
        <p:spPr>
          <a:xfrm>
            <a:off x="2262240" y="2169000"/>
            <a:ext cx="84996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rooms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5" name=""/>
          <p:cNvSpPr txBox="1"/>
          <p:nvPr/>
        </p:nvSpPr>
        <p:spPr>
          <a:xfrm>
            <a:off x="3112560" y="2190600"/>
            <a:ext cx="82836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数组在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6" name=""/>
          <p:cNvSpPr txBox="1"/>
          <p:nvPr/>
        </p:nvSpPr>
        <p:spPr>
          <a:xfrm>
            <a:off x="3941280" y="2169000"/>
            <a:ext cx="81576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hotels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7" name=""/>
          <p:cNvSpPr txBox="1"/>
          <p:nvPr/>
        </p:nvSpPr>
        <p:spPr>
          <a:xfrm>
            <a:off x="4757400" y="2190600"/>
            <a:ext cx="144180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） 直接存（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8" name=""/>
          <p:cNvSpPr txBox="1"/>
          <p:nvPr/>
        </p:nvSpPr>
        <p:spPr>
          <a:xfrm>
            <a:off x="6395760" y="2169000"/>
            <a:ext cx="65988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JSON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9" name=""/>
          <p:cNvSpPr txBox="1"/>
          <p:nvPr/>
        </p:nvSpPr>
        <p:spPr>
          <a:xfrm>
            <a:off x="7056000" y="2190600"/>
            <a:ext cx="8899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） 需要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0" name=""/>
          <p:cNvSpPr txBox="1"/>
          <p:nvPr/>
        </p:nvSpPr>
        <p:spPr>
          <a:xfrm>
            <a:off x="8226360" y="2169000"/>
            <a:ext cx="73800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JOIN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1" name=""/>
          <p:cNvSpPr txBox="1"/>
          <p:nvPr/>
        </p:nvSpPr>
        <p:spPr>
          <a:xfrm>
            <a:off x="8964720" y="2190600"/>
            <a:ext cx="5522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查询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2" name=""/>
          <p:cNvSpPr txBox="1"/>
          <p:nvPr/>
        </p:nvSpPr>
        <p:spPr>
          <a:xfrm>
            <a:off x="880920" y="2724120"/>
            <a:ext cx="303516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⽀持事务（⽀付原⼦性）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3" name=""/>
          <p:cNvSpPr txBox="1"/>
          <p:nvPr/>
        </p:nvSpPr>
        <p:spPr>
          <a:xfrm>
            <a:off x="5290920" y="2724120"/>
            <a:ext cx="27576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✓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4" name=""/>
          <p:cNvSpPr txBox="1"/>
          <p:nvPr/>
        </p:nvSpPr>
        <p:spPr>
          <a:xfrm>
            <a:off x="5479560" y="2702160"/>
            <a:ext cx="138888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4.0+ ACID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5" name=""/>
          <p:cNvSpPr txBox="1"/>
          <p:nvPr/>
        </p:nvSpPr>
        <p:spPr>
          <a:xfrm>
            <a:off x="6864120" y="2724120"/>
            <a:ext cx="8024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事务 ✓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6" name=""/>
          <p:cNvSpPr txBox="1"/>
          <p:nvPr/>
        </p:nvSpPr>
        <p:spPr>
          <a:xfrm>
            <a:off x="880920" y="3267000"/>
            <a:ext cx="303516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灵活扩展（后续加字段）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7" name=""/>
          <p:cNvSpPr txBox="1"/>
          <p:nvPr/>
        </p:nvSpPr>
        <p:spPr>
          <a:xfrm>
            <a:off x="5290920" y="3267000"/>
            <a:ext cx="13798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⽆需迁移表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8" name=""/>
          <p:cNvSpPr txBox="1"/>
          <p:nvPr/>
        </p:nvSpPr>
        <p:spPr>
          <a:xfrm>
            <a:off x="7673760" y="3267000"/>
            <a:ext cx="5522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需要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9" name=""/>
          <p:cNvSpPr txBox="1"/>
          <p:nvPr/>
        </p:nvSpPr>
        <p:spPr>
          <a:xfrm>
            <a:off x="8226360" y="3245400"/>
            <a:ext cx="165852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ALTER TABLE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0" name=""/>
          <p:cNvSpPr txBox="1"/>
          <p:nvPr/>
        </p:nvSpPr>
        <p:spPr>
          <a:xfrm>
            <a:off x="880920" y="3800520"/>
            <a:ext cx="193176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库存扣减乐观锁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1" name=""/>
          <p:cNvSpPr txBox="1"/>
          <p:nvPr/>
        </p:nvSpPr>
        <p:spPr>
          <a:xfrm>
            <a:off x="5290920" y="3778560"/>
            <a:ext cx="57528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$inc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2" name=""/>
          <p:cNvSpPr txBox="1"/>
          <p:nvPr/>
        </p:nvSpPr>
        <p:spPr>
          <a:xfrm>
            <a:off x="5866200" y="3800520"/>
            <a:ext cx="11041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原⼦操作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3" name=""/>
          <p:cNvSpPr txBox="1"/>
          <p:nvPr/>
        </p:nvSpPr>
        <p:spPr>
          <a:xfrm>
            <a:off x="7673760" y="3800520"/>
            <a:ext cx="27576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✓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4" name=""/>
          <p:cNvSpPr txBox="1"/>
          <p:nvPr/>
        </p:nvSpPr>
        <p:spPr>
          <a:xfrm>
            <a:off x="747720" y="4438800"/>
            <a:ext cx="11041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三⼤集合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5" name=""/>
          <p:cNvSpPr txBox="1"/>
          <p:nvPr/>
        </p:nvSpPr>
        <p:spPr>
          <a:xfrm>
            <a:off x="1852560" y="4416840"/>
            <a:ext cx="34812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+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6" name=""/>
          <p:cNvSpPr txBox="1"/>
          <p:nvPr/>
        </p:nvSpPr>
        <p:spPr>
          <a:xfrm>
            <a:off x="2196360" y="4438800"/>
            <a:ext cx="11041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字段设计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7" name=""/>
          <p:cNvSpPr txBox="1"/>
          <p:nvPr/>
        </p:nvSpPr>
        <p:spPr>
          <a:xfrm>
            <a:off x="914400" y="5159520"/>
            <a:ext cx="85172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users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:    { _id, username, </a:t>
            </a:r>
            <a:r>
              <a:rPr lang="en-US" sz="185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role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:[user/merchant/admin], createdAt }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8" name=""/>
          <p:cNvSpPr txBox="1"/>
          <p:nvPr/>
        </p:nvSpPr>
        <p:spPr>
          <a:xfrm>
            <a:off x="914400" y="5426280"/>
            <a:ext cx="748476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hotels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:   { _id, nameCn, </a:t>
            </a:r>
            <a:r>
              <a:rPr lang="en-US" sz="185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rooms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:[{type, quantity, price}], 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9" name=""/>
          <p:cNvSpPr txBox="1"/>
          <p:nvPr/>
        </p:nvSpPr>
        <p:spPr>
          <a:xfrm>
            <a:off x="914400" y="5702400"/>
            <a:ext cx="916236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           </a:t>
            </a:r>
            <a:r>
              <a:rPr lang="en-US" sz="185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status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:[draft/published], </a:t>
            </a:r>
            <a:r>
              <a:rPr lang="en-US" sz="185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reviewStatus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:[pending/approved] }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0" name=""/>
          <p:cNvSpPr txBox="1"/>
          <p:nvPr/>
        </p:nvSpPr>
        <p:spPr>
          <a:xfrm>
            <a:off x="914400" y="5969160"/>
            <a:ext cx="632376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orders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:   { _id, userId, hotelId, items, </a:t>
            </a:r>
            <a:r>
              <a:rPr lang="en-US" sz="185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status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:[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1" name=""/>
          <p:cNvSpPr txBox="1"/>
          <p:nvPr/>
        </p:nvSpPr>
        <p:spPr>
          <a:xfrm>
            <a:off x="7239960" y="5941800"/>
            <a:ext cx="70488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850" b="0" u="none" strike="noStrike">
                <a:solidFill>
                  <a:srgbClr val="1F2328"/>
                </a:solidFill>
                <a:effectLst/>
                <a:uFillTx/>
                <a:latin typeface="NSimSun"/>
                <a:ea typeface="NSimSun"/>
              </a:rPr>
              <a:t>待支付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2" name=""/>
          <p:cNvSpPr txBox="1"/>
          <p:nvPr/>
        </p:nvSpPr>
        <p:spPr>
          <a:xfrm>
            <a:off x="7944480" y="5969160"/>
            <a:ext cx="23436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/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3" name=""/>
          <p:cNvSpPr txBox="1"/>
          <p:nvPr/>
        </p:nvSpPr>
        <p:spPr>
          <a:xfrm>
            <a:off x="8073360" y="5941800"/>
            <a:ext cx="70488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850" b="0" u="none" strike="noStrike">
                <a:solidFill>
                  <a:srgbClr val="1F2328"/>
                </a:solidFill>
                <a:effectLst/>
                <a:uFillTx/>
                <a:latin typeface="NSimSun"/>
                <a:ea typeface="NSimSun"/>
              </a:rPr>
              <a:t>已支付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4" name=""/>
          <p:cNvSpPr txBox="1"/>
          <p:nvPr/>
        </p:nvSpPr>
        <p:spPr>
          <a:xfrm>
            <a:off x="8777880" y="5969160"/>
            <a:ext cx="38772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], 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5" name=""/>
          <p:cNvSpPr txBox="1"/>
          <p:nvPr/>
        </p:nvSpPr>
        <p:spPr>
          <a:xfrm>
            <a:off x="914400" y="6235920"/>
            <a:ext cx="296856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           createdAt }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6" name=""/>
          <p:cNvSpPr txBox="1"/>
          <p:nvPr/>
        </p:nvSpPr>
        <p:spPr>
          <a:xfrm>
            <a:off x="11659680" y="6335280"/>
            <a:ext cx="24732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SegoeUI"/>
                <a:ea typeface="SegoeUI"/>
              </a:rPr>
              <a:t>12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0" name=""/>
          <p:cNvSpPr/>
          <p:nvPr/>
        </p:nvSpPr>
        <p:spPr>
          <a:xfrm>
            <a:off x="757080" y="1547640"/>
            <a:ext cx="10687320" cy="2752920"/>
          </a:xfrm>
          <a:custGeom>
            <a:avLst/>
            <a:gdLst/>
            <a:ahLst/>
            <a:rect l="0" t="0" r="r" b="b"/>
            <a:pathLst>
              <a:path w="29687" h="7647">
                <a:moveTo>
                  <a:pt x="0" y="7502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7"/>
                  <a:pt x="29597" y="11"/>
                </a:cubicBezTo>
                <a:cubicBezTo>
                  <a:pt x="29606" y="15"/>
                  <a:pt x="29615" y="19"/>
                  <a:pt x="29623" y="25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49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7502"/>
                </a:lnTo>
                <a:cubicBezTo>
                  <a:pt x="29687" y="7511"/>
                  <a:pt x="29686" y="7521"/>
                  <a:pt x="29684" y="7530"/>
                </a:cubicBezTo>
                <a:cubicBezTo>
                  <a:pt x="29683" y="7540"/>
                  <a:pt x="29680" y="7549"/>
                  <a:pt x="29676" y="7558"/>
                </a:cubicBezTo>
                <a:cubicBezTo>
                  <a:pt x="29672" y="7566"/>
                  <a:pt x="29668" y="7575"/>
                  <a:pt x="29663" y="7583"/>
                </a:cubicBezTo>
                <a:cubicBezTo>
                  <a:pt x="29657" y="7591"/>
                  <a:pt x="29651" y="7598"/>
                  <a:pt x="29645" y="7605"/>
                </a:cubicBezTo>
                <a:cubicBezTo>
                  <a:pt x="29638" y="7612"/>
                  <a:pt x="29630" y="7618"/>
                  <a:pt x="29623" y="7623"/>
                </a:cubicBezTo>
                <a:cubicBezTo>
                  <a:pt x="29615" y="7628"/>
                  <a:pt x="29606" y="7633"/>
                  <a:pt x="29597" y="7636"/>
                </a:cubicBezTo>
                <a:cubicBezTo>
                  <a:pt x="29589" y="7640"/>
                  <a:pt x="29579" y="7643"/>
                  <a:pt x="29570" y="7645"/>
                </a:cubicBezTo>
                <a:cubicBezTo>
                  <a:pt x="29561" y="7647"/>
                  <a:pt x="29551" y="7647"/>
                  <a:pt x="29542" y="7647"/>
                </a:cubicBezTo>
                <a:lnTo>
                  <a:pt x="145" y="7647"/>
                </a:lnTo>
                <a:cubicBezTo>
                  <a:pt x="136" y="7647"/>
                  <a:pt x="126" y="7647"/>
                  <a:pt x="117" y="7645"/>
                </a:cubicBezTo>
                <a:cubicBezTo>
                  <a:pt x="108" y="7643"/>
                  <a:pt x="99" y="7640"/>
                  <a:pt x="90" y="7636"/>
                </a:cubicBezTo>
                <a:cubicBezTo>
                  <a:pt x="81" y="7633"/>
                  <a:pt x="73" y="7628"/>
                  <a:pt x="65" y="7623"/>
                </a:cubicBezTo>
                <a:cubicBezTo>
                  <a:pt x="57" y="7618"/>
                  <a:pt x="49" y="7612"/>
                  <a:pt x="43" y="7605"/>
                </a:cubicBezTo>
                <a:cubicBezTo>
                  <a:pt x="36" y="7598"/>
                  <a:pt x="30" y="7591"/>
                  <a:pt x="24" y="7583"/>
                </a:cubicBezTo>
                <a:cubicBezTo>
                  <a:pt x="19" y="7575"/>
                  <a:pt x="15" y="7566"/>
                  <a:pt x="11" y="7558"/>
                </a:cubicBezTo>
                <a:cubicBezTo>
                  <a:pt x="7" y="7549"/>
                  <a:pt x="5" y="7540"/>
                  <a:pt x="3" y="7530"/>
                </a:cubicBezTo>
                <a:cubicBezTo>
                  <a:pt x="1" y="7521"/>
                  <a:pt x="0" y="7511"/>
                  <a:pt x="0" y="7502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1" name=""/>
          <p:cNvSpPr/>
          <p:nvPr/>
        </p:nvSpPr>
        <p:spPr>
          <a:xfrm>
            <a:off x="757080" y="1547640"/>
            <a:ext cx="10687320" cy="2752920"/>
          </a:xfrm>
          <a:custGeom>
            <a:avLst/>
            <a:gdLst/>
            <a:ahLst/>
            <a:rect l="0" t="0" r="r" b="b"/>
            <a:pathLst>
              <a:path w="29687" h="7647">
                <a:moveTo>
                  <a:pt x="0" y="7502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7"/>
                  <a:pt x="29597" y="11"/>
                </a:cubicBezTo>
                <a:cubicBezTo>
                  <a:pt x="29606" y="15"/>
                  <a:pt x="29615" y="19"/>
                  <a:pt x="29623" y="25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49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7502"/>
                </a:lnTo>
                <a:cubicBezTo>
                  <a:pt x="29687" y="7511"/>
                  <a:pt x="29686" y="7521"/>
                  <a:pt x="29684" y="7530"/>
                </a:cubicBezTo>
                <a:cubicBezTo>
                  <a:pt x="29683" y="7540"/>
                  <a:pt x="29680" y="7549"/>
                  <a:pt x="29676" y="7558"/>
                </a:cubicBezTo>
                <a:cubicBezTo>
                  <a:pt x="29672" y="7566"/>
                  <a:pt x="29668" y="7575"/>
                  <a:pt x="29663" y="7583"/>
                </a:cubicBezTo>
                <a:cubicBezTo>
                  <a:pt x="29657" y="7591"/>
                  <a:pt x="29651" y="7598"/>
                  <a:pt x="29645" y="7605"/>
                </a:cubicBezTo>
                <a:cubicBezTo>
                  <a:pt x="29638" y="7612"/>
                  <a:pt x="29630" y="7618"/>
                  <a:pt x="29623" y="7623"/>
                </a:cubicBezTo>
                <a:cubicBezTo>
                  <a:pt x="29615" y="7628"/>
                  <a:pt x="29606" y="7633"/>
                  <a:pt x="29597" y="7636"/>
                </a:cubicBezTo>
                <a:cubicBezTo>
                  <a:pt x="29589" y="7640"/>
                  <a:pt x="29579" y="7643"/>
                  <a:pt x="29570" y="7645"/>
                </a:cubicBezTo>
                <a:cubicBezTo>
                  <a:pt x="29561" y="7647"/>
                  <a:pt x="29551" y="7647"/>
                  <a:pt x="29542" y="7647"/>
                </a:cubicBezTo>
                <a:lnTo>
                  <a:pt x="145" y="7647"/>
                </a:lnTo>
                <a:cubicBezTo>
                  <a:pt x="136" y="7647"/>
                  <a:pt x="126" y="7647"/>
                  <a:pt x="117" y="7645"/>
                </a:cubicBezTo>
                <a:cubicBezTo>
                  <a:pt x="108" y="7643"/>
                  <a:pt x="99" y="7640"/>
                  <a:pt x="90" y="7636"/>
                </a:cubicBezTo>
                <a:cubicBezTo>
                  <a:pt x="81" y="7633"/>
                  <a:pt x="73" y="7628"/>
                  <a:pt x="65" y="7623"/>
                </a:cubicBezTo>
                <a:cubicBezTo>
                  <a:pt x="57" y="7618"/>
                  <a:pt x="49" y="7612"/>
                  <a:pt x="43" y="7605"/>
                </a:cubicBezTo>
                <a:cubicBezTo>
                  <a:pt x="36" y="7598"/>
                  <a:pt x="30" y="7591"/>
                  <a:pt x="24" y="7583"/>
                </a:cubicBezTo>
                <a:cubicBezTo>
                  <a:pt x="19" y="7575"/>
                  <a:pt x="15" y="7566"/>
                  <a:pt x="11" y="7558"/>
                </a:cubicBezTo>
                <a:cubicBezTo>
                  <a:pt x="7" y="7549"/>
                  <a:pt x="5" y="7540"/>
                  <a:pt x="3" y="7530"/>
                </a:cubicBezTo>
                <a:cubicBezTo>
                  <a:pt x="1" y="7521"/>
                  <a:pt x="0" y="7511"/>
                  <a:pt x="0" y="7502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2" name=""/>
          <p:cNvSpPr txBox="1"/>
          <p:nvPr/>
        </p:nvSpPr>
        <p:spPr>
          <a:xfrm>
            <a:off x="747720" y="123120"/>
            <a:ext cx="496800" cy="58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480" b="1" u="none" strike="noStrike">
                <a:solidFill>
                  <a:srgbClr val="224466"/>
                </a:solidFill>
                <a:effectLst/>
                <a:uFillTx/>
                <a:latin typeface="SegoeUI"/>
                <a:ea typeface="SegoeUI"/>
              </a:rPr>
              <a:t>8. </a:t>
            </a:r>
            <a:endParaRPr lang="en-US" sz="34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3" name=""/>
          <p:cNvSpPr txBox="1"/>
          <p:nvPr/>
        </p:nvSpPr>
        <p:spPr>
          <a:xfrm>
            <a:off x="1221120" y="158040"/>
            <a:ext cx="3536280" cy="53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3480" b="0" u="none" strike="noStrike">
                <a:solidFill>
                  <a:srgbClr val="224466"/>
                </a:solidFill>
                <a:effectLst/>
                <a:uFillTx/>
                <a:latin typeface="NotoSansSC"/>
                <a:ea typeface="NotoSansSC"/>
              </a:rPr>
              <a:t>稳定性与安全设计</a:t>
            </a:r>
            <a:endParaRPr lang="en-US" sz="34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4" name=""/>
          <p:cNvSpPr txBox="1"/>
          <p:nvPr/>
        </p:nvSpPr>
        <p:spPr>
          <a:xfrm>
            <a:off x="747720" y="1019160"/>
            <a:ext cx="13798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稳定性机制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5" name=""/>
          <p:cNvSpPr txBox="1"/>
          <p:nvPr/>
        </p:nvSpPr>
        <p:spPr>
          <a:xfrm>
            <a:off x="914400" y="1740240"/>
            <a:ext cx="38772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59636E"/>
                </a:solidFill>
                <a:effectLst/>
                <a:uFillTx/>
                <a:latin typeface="Consolas"/>
                <a:ea typeface="Consolas"/>
              </a:rPr>
              <a:t>// 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6" name=""/>
          <p:cNvSpPr txBox="1"/>
          <p:nvPr/>
        </p:nvSpPr>
        <p:spPr>
          <a:xfrm>
            <a:off x="1301760" y="1712880"/>
            <a:ext cx="14090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850" b="0" u="none" strike="noStrike">
                <a:solidFill>
                  <a:srgbClr val="59636E"/>
                </a:solidFill>
                <a:effectLst/>
                <a:uFillTx/>
                <a:latin typeface="NSimSun"/>
                <a:ea typeface="NSimSun"/>
              </a:rPr>
              <a:t>全局错误处理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7" name=""/>
          <p:cNvSpPr txBox="1"/>
          <p:nvPr/>
        </p:nvSpPr>
        <p:spPr>
          <a:xfrm>
            <a:off x="914400" y="2006640"/>
            <a:ext cx="43880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app.</a:t>
            </a:r>
            <a:r>
              <a:rPr lang="en-US" sz="1850" b="0" u="none" strike="noStrike">
                <a:solidFill>
                  <a:srgbClr val="6639BA"/>
                </a:solidFill>
                <a:effectLst/>
                <a:uFillTx/>
                <a:latin typeface="Consolas"/>
                <a:ea typeface="Consolas"/>
              </a:rPr>
              <a:t>use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((err, req, res, next) =&gt; {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8" name=""/>
          <p:cNvSpPr txBox="1"/>
          <p:nvPr/>
        </p:nvSpPr>
        <p:spPr>
          <a:xfrm>
            <a:off x="914400" y="2283120"/>
            <a:ext cx="42584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 </a:t>
            </a:r>
            <a:r>
              <a:rPr lang="en-US" sz="185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console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.</a:t>
            </a:r>
            <a:r>
              <a:rPr lang="en-US" sz="1850" b="0" u="none" strike="noStrike">
                <a:solidFill>
                  <a:srgbClr val="6639BA"/>
                </a:solidFill>
                <a:effectLst/>
                <a:uFillTx/>
                <a:latin typeface="Consolas"/>
                <a:ea typeface="Consolas"/>
              </a:rPr>
              <a:t>error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(</a:t>
            </a:r>
            <a:r>
              <a:rPr lang="en-US" sz="1850" b="0" u="none" strike="noStrike">
                <a:solidFill>
                  <a:srgbClr val="0A3069"/>
                </a:solidFill>
                <a:effectLst/>
                <a:uFillTx/>
                <a:latin typeface="Consolas"/>
                <a:ea typeface="Consolas"/>
              </a:rPr>
              <a:t>`[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${</a:t>
            </a:r>
            <a:r>
              <a:rPr lang="en-US" sz="1850" b="0" u="none" strike="noStrike">
                <a:solidFill>
                  <a:srgbClr val="CF222E"/>
                </a:solidFill>
                <a:effectLst/>
                <a:uFillTx/>
                <a:latin typeface="Consolas"/>
                <a:ea typeface="Consolas"/>
              </a:rPr>
              <a:t>new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</a:t>
            </a:r>
            <a:r>
              <a:rPr lang="en-US" sz="1850" b="0" u="none" strike="noStrike">
                <a:solidFill>
                  <a:srgbClr val="953800"/>
                </a:solidFill>
                <a:effectLst/>
                <a:uFillTx/>
                <a:latin typeface="Consolas"/>
                <a:ea typeface="Consolas"/>
              </a:rPr>
              <a:t>Date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()}</a:t>
            </a:r>
            <a:r>
              <a:rPr lang="en-US" sz="1850" b="0" u="none" strike="noStrike">
                <a:solidFill>
                  <a:srgbClr val="0A3069"/>
                </a:solidFill>
                <a:effectLst/>
                <a:uFillTx/>
                <a:latin typeface="Consolas"/>
                <a:ea typeface="Consolas"/>
              </a:rPr>
              <a:t>] 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9" name=""/>
          <p:cNvSpPr txBox="1"/>
          <p:nvPr/>
        </p:nvSpPr>
        <p:spPr>
          <a:xfrm>
            <a:off x="5175000" y="2255760"/>
            <a:ext cx="47016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850" b="0" u="none" strike="noStrike">
                <a:solidFill>
                  <a:srgbClr val="0A3069"/>
                </a:solidFill>
                <a:effectLst/>
                <a:uFillTx/>
                <a:latin typeface="NSimSun"/>
                <a:ea typeface="NSimSun"/>
              </a:rPr>
              <a:t>错误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0" name=""/>
          <p:cNvSpPr txBox="1"/>
          <p:nvPr/>
        </p:nvSpPr>
        <p:spPr>
          <a:xfrm>
            <a:off x="5644800" y="2283120"/>
            <a:ext cx="245232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0A3069"/>
                </a:solidFill>
                <a:effectLst/>
                <a:uFillTx/>
                <a:latin typeface="Consolas"/>
                <a:ea typeface="Consolas"/>
              </a:rPr>
              <a:t>: 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${err.message}</a:t>
            </a:r>
            <a:r>
              <a:rPr lang="en-US" sz="1850" b="0" u="none" strike="noStrike">
                <a:solidFill>
                  <a:srgbClr val="0A3069"/>
                </a:solidFill>
                <a:effectLst/>
                <a:uFillTx/>
                <a:latin typeface="Consolas"/>
                <a:ea typeface="Consolas"/>
              </a:rPr>
              <a:t>`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);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1" name=""/>
          <p:cNvSpPr txBox="1"/>
          <p:nvPr/>
        </p:nvSpPr>
        <p:spPr>
          <a:xfrm>
            <a:off x="914400" y="2549520"/>
            <a:ext cx="722700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 res.</a:t>
            </a:r>
            <a:r>
              <a:rPr lang="en-US" sz="1850" b="0" u="none" strike="noStrike">
                <a:solidFill>
                  <a:srgbClr val="6639BA"/>
                </a:solidFill>
                <a:effectLst/>
                <a:uFillTx/>
                <a:latin typeface="Consolas"/>
                <a:ea typeface="Consolas"/>
              </a:rPr>
              <a:t>status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(</a:t>
            </a:r>
            <a:r>
              <a:rPr lang="en-US" sz="185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500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).</a:t>
            </a:r>
            <a:r>
              <a:rPr lang="en-US" sz="1850" b="0" u="none" strike="noStrike">
                <a:solidFill>
                  <a:srgbClr val="6639BA"/>
                </a:solidFill>
                <a:effectLst/>
                <a:uFillTx/>
                <a:latin typeface="Consolas"/>
                <a:ea typeface="Consolas"/>
              </a:rPr>
              <a:t>json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({</a:t>
            </a:r>
            <a:r>
              <a:rPr lang="en-US" sz="185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code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:</a:t>
            </a:r>
            <a:r>
              <a:rPr lang="en-US" sz="185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500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, </a:t>
            </a:r>
            <a:r>
              <a:rPr lang="en-US" sz="185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message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:err.message});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2" name=""/>
          <p:cNvSpPr txBox="1"/>
          <p:nvPr/>
        </p:nvSpPr>
        <p:spPr>
          <a:xfrm>
            <a:off x="914400" y="2816280"/>
            <a:ext cx="38772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});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3" name=""/>
          <p:cNvSpPr txBox="1"/>
          <p:nvPr/>
        </p:nvSpPr>
        <p:spPr>
          <a:xfrm>
            <a:off x="914400" y="3359160"/>
            <a:ext cx="38772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59636E"/>
                </a:solidFill>
                <a:effectLst/>
                <a:uFillTx/>
                <a:latin typeface="Consolas"/>
                <a:ea typeface="Consolas"/>
              </a:rPr>
              <a:t>// 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4" name=""/>
          <p:cNvSpPr txBox="1"/>
          <p:nvPr/>
        </p:nvSpPr>
        <p:spPr>
          <a:xfrm>
            <a:off x="1301760" y="3332160"/>
            <a:ext cx="14090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850" b="0" u="none" strike="noStrike">
                <a:solidFill>
                  <a:srgbClr val="59636E"/>
                </a:solidFill>
                <a:effectLst/>
                <a:uFillTx/>
                <a:latin typeface="NSimSun"/>
                <a:ea typeface="NSimSun"/>
              </a:rPr>
              <a:t>关键链路日志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5" name=""/>
          <p:cNvSpPr txBox="1"/>
          <p:nvPr/>
        </p:nvSpPr>
        <p:spPr>
          <a:xfrm>
            <a:off x="914400" y="3625920"/>
            <a:ext cx="18068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console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.</a:t>
            </a:r>
            <a:r>
              <a:rPr lang="en-US" sz="1850" b="0" u="none" strike="noStrike">
                <a:solidFill>
                  <a:srgbClr val="6639BA"/>
                </a:solidFill>
                <a:effectLst/>
                <a:uFillTx/>
                <a:latin typeface="Consolas"/>
                <a:ea typeface="Consolas"/>
              </a:rPr>
              <a:t>log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(</a:t>
            </a:r>
            <a:r>
              <a:rPr lang="en-US" sz="1850" b="0" u="none" strike="noStrike">
                <a:solidFill>
                  <a:srgbClr val="0A3069"/>
                </a:solidFill>
                <a:effectLst/>
                <a:uFillTx/>
                <a:latin typeface="Consolas"/>
                <a:ea typeface="Consolas"/>
              </a:rPr>
              <a:t>`[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6" name=""/>
          <p:cNvSpPr txBox="1"/>
          <p:nvPr/>
        </p:nvSpPr>
        <p:spPr>
          <a:xfrm>
            <a:off x="2721960" y="3598920"/>
            <a:ext cx="47016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850" b="0" u="none" strike="noStrike">
                <a:solidFill>
                  <a:srgbClr val="0A3069"/>
                </a:solidFill>
                <a:effectLst/>
                <a:uFillTx/>
                <a:latin typeface="NSimSun"/>
                <a:ea typeface="NSimSun"/>
              </a:rPr>
              <a:t>支付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7" name=""/>
          <p:cNvSpPr txBox="1"/>
          <p:nvPr/>
        </p:nvSpPr>
        <p:spPr>
          <a:xfrm>
            <a:off x="3191760" y="3625920"/>
            <a:ext cx="2588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0A3069"/>
                </a:solidFill>
                <a:effectLst/>
                <a:uFillTx/>
                <a:latin typeface="Consolas"/>
                <a:ea typeface="Consolas"/>
              </a:rPr>
              <a:t>] 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8" name=""/>
          <p:cNvSpPr txBox="1"/>
          <p:nvPr/>
        </p:nvSpPr>
        <p:spPr>
          <a:xfrm>
            <a:off x="3449880" y="3598920"/>
            <a:ext cx="47016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850" b="0" u="none" strike="noStrike">
                <a:solidFill>
                  <a:srgbClr val="0A3069"/>
                </a:solidFill>
                <a:effectLst/>
                <a:uFillTx/>
                <a:latin typeface="NSimSun"/>
                <a:ea typeface="NSimSun"/>
              </a:rPr>
              <a:t>用户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9" name=""/>
          <p:cNvSpPr txBox="1"/>
          <p:nvPr/>
        </p:nvSpPr>
        <p:spPr>
          <a:xfrm>
            <a:off x="3919320" y="3625920"/>
            <a:ext cx="14198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0A3069"/>
                </a:solidFill>
                <a:effectLst/>
                <a:uFillTx/>
                <a:latin typeface="Consolas"/>
                <a:ea typeface="Consolas"/>
              </a:rPr>
              <a:t> 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${userId}</a:t>
            </a:r>
            <a:r>
              <a:rPr lang="en-US" sz="1850" b="0" u="none" strike="noStrike">
                <a:solidFill>
                  <a:srgbClr val="0A3069"/>
                </a:solidFill>
                <a:effectLst/>
                <a:uFillTx/>
                <a:latin typeface="Consolas"/>
                <a:ea typeface="Consolas"/>
              </a:rPr>
              <a:t> 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0" name=""/>
          <p:cNvSpPr txBox="1"/>
          <p:nvPr/>
        </p:nvSpPr>
        <p:spPr>
          <a:xfrm>
            <a:off x="5339520" y="3598920"/>
            <a:ext cx="93960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850" b="0" u="none" strike="noStrike">
                <a:solidFill>
                  <a:srgbClr val="0A3069"/>
                </a:solidFill>
                <a:effectLst/>
                <a:uFillTx/>
                <a:latin typeface="NSimSun"/>
                <a:ea typeface="NSimSun"/>
              </a:rPr>
              <a:t>支付订单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1" name=""/>
          <p:cNvSpPr txBox="1"/>
          <p:nvPr/>
        </p:nvSpPr>
        <p:spPr>
          <a:xfrm>
            <a:off x="6278760" y="3625920"/>
            <a:ext cx="18068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0A3069"/>
                </a:solidFill>
                <a:effectLst/>
                <a:uFillTx/>
                <a:latin typeface="Consolas"/>
                <a:ea typeface="Consolas"/>
              </a:rPr>
              <a:t> 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${orderId}</a:t>
            </a:r>
            <a:r>
              <a:rPr lang="en-US" sz="1850" b="0" u="none" strike="noStrike">
                <a:solidFill>
                  <a:srgbClr val="0A3069"/>
                </a:solidFill>
                <a:effectLst/>
                <a:uFillTx/>
                <a:latin typeface="Consolas"/>
                <a:ea typeface="Consolas"/>
              </a:rPr>
              <a:t>`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);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2" name=""/>
          <p:cNvSpPr txBox="1"/>
          <p:nvPr/>
        </p:nvSpPr>
        <p:spPr>
          <a:xfrm>
            <a:off x="914400" y="3902400"/>
            <a:ext cx="18068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console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.</a:t>
            </a:r>
            <a:r>
              <a:rPr lang="en-US" sz="1850" b="0" u="none" strike="noStrike">
                <a:solidFill>
                  <a:srgbClr val="6639BA"/>
                </a:solidFill>
                <a:effectLst/>
                <a:uFillTx/>
                <a:latin typeface="Consolas"/>
                <a:ea typeface="Consolas"/>
              </a:rPr>
              <a:t>log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(</a:t>
            </a:r>
            <a:r>
              <a:rPr lang="en-US" sz="1850" b="0" u="none" strike="noStrike">
                <a:solidFill>
                  <a:srgbClr val="0A3069"/>
                </a:solidFill>
                <a:effectLst/>
                <a:uFillTx/>
                <a:latin typeface="Consolas"/>
                <a:ea typeface="Consolas"/>
              </a:rPr>
              <a:t>`[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3" name=""/>
          <p:cNvSpPr txBox="1"/>
          <p:nvPr/>
        </p:nvSpPr>
        <p:spPr>
          <a:xfrm>
            <a:off x="2721960" y="3875040"/>
            <a:ext cx="47016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850" b="0" u="none" strike="noStrike">
                <a:solidFill>
                  <a:srgbClr val="0A3069"/>
                </a:solidFill>
                <a:effectLst/>
                <a:uFillTx/>
                <a:latin typeface="NSimSun"/>
                <a:ea typeface="NSimSun"/>
              </a:rPr>
              <a:t>支付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4" name=""/>
          <p:cNvSpPr txBox="1"/>
          <p:nvPr/>
        </p:nvSpPr>
        <p:spPr>
          <a:xfrm>
            <a:off x="3191760" y="3902400"/>
            <a:ext cx="2588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0A3069"/>
                </a:solidFill>
                <a:effectLst/>
                <a:uFillTx/>
                <a:latin typeface="Consolas"/>
                <a:ea typeface="Consolas"/>
              </a:rPr>
              <a:t>] 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5" name=""/>
          <p:cNvSpPr txBox="1"/>
          <p:nvPr/>
        </p:nvSpPr>
        <p:spPr>
          <a:xfrm>
            <a:off x="3449880" y="3875040"/>
            <a:ext cx="93960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850" b="0" u="none" strike="noStrike">
                <a:solidFill>
                  <a:srgbClr val="0A3069"/>
                </a:solidFill>
                <a:effectLst/>
                <a:uFillTx/>
                <a:latin typeface="NSimSun"/>
                <a:ea typeface="NSimSun"/>
              </a:rPr>
              <a:t>库存扣减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6" name=""/>
          <p:cNvSpPr txBox="1"/>
          <p:nvPr/>
        </p:nvSpPr>
        <p:spPr>
          <a:xfrm>
            <a:off x="4389120" y="3902400"/>
            <a:ext cx="19364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0A3069"/>
                </a:solidFill>
                <a:effectLst/>
                <a:uFillTx/>
                <a:latin typeface="Consolas"/>
                <a:ea typeface="Consolas"/>
              </a:rPr>
              <a:t>: 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${roomType}</a:t>
            </a:r>
            <a:r>
              <a:rPr lang="en-US" sz="1850" b="0" u="none" strike="noStrike">
                <a:solidFill>
                  <a:srgbClr val="0A3069"/>
                </a:solidFill>
                <a:effectLst/>
                <a:uFillTx/>
                <a:latin typeface="Consolas"/>
                <a:ea typeface="Consolas"/>
              </a:rPr>
              <a:t>, 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7" name=""/>
          <p:cNvSpPr txBox="1"/>
          <p:nvPr/>
        </p:nvSpPr>
        <p:spPr>
          <a:xfrm>
            <a:off x="6325560" y="3875040"/>
            <a:ext cx="47016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850" b="0" u="none" strike="noStrike">
                <a:solidFill>
                  <a:srgbClr val="0A3069"/>
                </a:solidFill>
                <a:effectLst/>
                <a:uFillTx/>
                <a:latin typeface="NSimSun"/>
                <a:ea typeface="NSimSun"/>
              </a:rPr>
              <a:t>数量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8" name=""/>
          <p:cNvSpPr txBox="1"/>
          <p:nvPr/>
        </p:nvSpPr>
        <p:spPr>
          <a:xfrm>
            <a:off x="6795000" y="3902400"/>
            <a:ext cx="142020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0A3069"/>
                </a:solidFill>
                <a:effectLst/>
                <a:uFillTx/>
                <a:latin typeface="Consolas"/>
                <a:ea typeface="Consolas"/>
              </a:rPr>
              <a:t>: 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${qty}</a:t>
            </a:r>
            <a:r>
              <a:rPr lang="en-US" sz="1850" b="0" u="none" strike="noStrike">
                <a:solidFill>
                  <a:srgbClr val="0A3069"/>
                </a:solidFill>
                <a:effectLst/>
                <a:uFillTx/>
                <a:latin typeface="Consolas"/>
                <a:ea typeface="Consolas"/>
              </a:rPr>
              <a:t>`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);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9" name=""/>
          <p:cNvSpPr/>
          <p:nvPr/>
        </p:nvSpPr>
        <p:spPr>
          <a:xfrm>
            <a:off x="1047600" y="5200560"/>
            <a:ext cx="95400" cy="95400"/>
          </a:xfrm>
          <a:custGeom>
            <a:avLst/>
            <a:gdLst/>
            <a:ahLst/>
            <a:rect l="0" t="0" r="r" b="b"/>
            <a:pathLst>
              <a:path w="265" h="265">
                <a:moveTo>
                  <a:pt x="265" y="132"/>
                </a:moveTo>
                <a:cubicBezTo>
                  <a:pt x="265" y="150"/>
                  <a:pt x="262" y="166"/>
                  <a:pt x="255" y="183"/>
                </a:cubicBezTo>
                <a:cubicBezTo>
                  <a:pt x="249" y="199"/>
                  <a:pt x="239" y="214"/>
                  <a:pt x="227" y="227"/>
                </a:cubicBezTo>
                <a:cubicBezTo>
                  <a:pt x="214" y="239"/>
                  <a:pt x="200" y="249"/>
                  <a:pt x="184" y="255"/>
                </a:cubicBezTo>
                <a:cubicBezTo>
                  <a:pt x="168" y="262"/>
                  <a:pt x="151" y="265"/>
                  <a:pt x="133" y="265"/>
                </a:cubicBezTo>
                <a:cubicBezTo>
                  <a:pt x="115" y="265"/>
                  <a:pt x="98" y="262"/>
                  <a:pt x="82" y="255"/>
                </a:cubicBezTo>
                <a:cubicBezTo>
                  <a:pt x="65" y="249"/>
                  <a:pt x="51" y="239"/>
                  <a:pt x="39" y="227"/>
                </a:cubicBezTo>
                <a:cubicBezTo>
                  <a:pt x="26" y="214"/>
                  <a:pt x="17" y="199"/>
                  <a:pt x="10" y="183"/>
                </a:cubicBezTo>
                <a:cubicBezTo>
                  <a:pt x="3" y="166"/>
                  <a:pt x="0" y="150"/>
                  <a:pt x="0" y="132"/>
                </a:cubicBezTo>
                <a:cubicBezTo>
                  <a:pt x="0" y="114"/>
                  <a:pt x="3" y="98"/>
                  <a:pt x="10" y="81"/>
                </a:cubicBezTo>
                <a:cubicBezTo>
                  <a:pt x="17" y="65"/>
                  <a:pt x="26" y="51"/>
                  <a:pt x="39" y="38"/>
                </a:cubicBezTo>
                <a:cubicBezTo>
                  <a:pt x="51" y="26"/>
                  <a:pt x="65" y="17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1" y="0"/>
                  <a:pt x="168" y="3"/>
                  <a:pt x="184" y="10"/>
                </a:cubicBezTo>
                <a:cubicBezTo>
                  <a:pt x="200" y="17"/>
                  <a:pt x="214" y="26"/>
                  <a:pt x="227" y="38"/>
                </a:cubicBezTo>
                <a:cubicBezTo>
                  <a:pt x="239" y="51"/>
                  <a:pt x="249" y="65"/>
                  <a:pt x="255" y="81"/>
                </a:cubicBezTo>
                <a:cubicBezTo>
                  <a:pt x="262" y="98"/>
                  <a:pt x="265" y="114"/>
                  <a:pt x="265" y="132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40" name=""/>
          <p:cNvSpPr txBox="1"/>
          <p:nvPr/>
        </p:nvSpPr>
        <p:spPr>
          <a:xfrm>
            <a:off x="747720" y="4495680"/>
            <a:ext cx="11041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安全防线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1" name=""/>
          <p:cNvSpPr txBox="1"/>
          <p:nvPr/>
        </p:nvSpPr>
        <p:spPr>
          <a:xfrm>
            <a:off x="1300320" y="5067360"/>
            <a:ext cx="13798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登录限流：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2" name=""/>
          <p:cNvSpPr txBox="1"/>
          <p:nvPr/>
        </p:nvSpPr>
        <p:spPr>
          <a:xfrm>
            <a:off x="2681280" y="5045400"/>
            <a:ext cx="29808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15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3" name=""/>
          <p:cNvSpPr txBox="1"/>
          <p:nvPr/>
        </p:nvSpPr>
        <p:spPr>
          <a:xfrm>
            <a:off x="2979000" y="5067360"/>
            <a:ext cx="5522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分钟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4" name=""/>
          <p:cNvSpPr txBox="1"/>
          <p:nvPr/>
        </p:nvSpPr>
        <p:spPr>
          <a:xfrm>
            <a:off x="3531600" y="5045400"/>
            <a:ext cx="33804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×5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5" name=""/>
          <p:cNvSpPr txBox="1"/>
          <p:nvPr/>
        </p:nvSpPr>
        <p:spPr>
          <a:xfrm>
            <a:off x="3869280" y="5067360"/>
            <a:ext cx="13798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次（防暴⼒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6" name=""/>
          <p:cNvSpPr/>
          <p:nvPr/>
        </p:nvSpPr>
        <p:spPr>
          <a:xfrm>
            <a:off x="1047600" y="5686200"/>
            <a:ext cx="95400" cy="95760"/>
          </a:xfrm>
          <a:custGeom>
            <a:avLst/>
            <a:gdLst/>
            <a:ahLst/>
            <a:rect l="0" t="0" r="r" b="b"/>
            <a:pathLst>
              <a:path w="265" h="266">
                <a:moveTo>
                  <a:pt x="265" y="132"/>
                </a:moveTo>
                <a:cubicBezTo>
                  <a:pt x="265" y="150"/>
                  <a:pt x="262" y="167"/>
                  <a:pt x="255" y="184"/>
                </a:cubicBezTo>
                <a:cubicBezTo>
                  <a:pt x="249" y="200"/>
                  <a:pt x="239" y="215"/>
                  <a:pt x="227" y="227"/>
                </a:cubicBezTo>
                <a:cubicBezTo>
                  <a:pt x="214" y="239"/>
                  <a:pt x="200" y="249"/>
                  <a:pt x="184" y="256"/>
                </a:cubicBezTo>
                <a:cubicBezTo>
                  <a:pt x="168" y="262"/>
                  <a:pt x="151" y="266"/>
                  <a:pt x="133" y="266"/>
                </a:cubicBezTo>
                <a:cubicBezTo>
                  <a:pt x="115" y="266"/>
                  <a:pt x="98" y="262"/>
                  <a:pt x="82" y="256"/>
                </a:cubicBezTo>
                <a:cubicBezTo>
                  <a:pt x="65" y="249"/>
                  <a:pt x="51" y="239"/>
                  <a:pt x="39" y="227"/>
                </a:cubicBezTo>
                <a:cubicBezTo>
                  <a:pt x="26" y="215"/>
                  <a:pt x="17" y="200"/>
                  <a:pt x="10" y="184"/>
                </a:cubicBezTo>
                <a:cubicBezTo>
                  <a:pt x="3" y="167"/>
                  <a:pt x="0" y="150"/>
                  <a:pt x="0" y="132"/>
                </a:cubicBezTo>
                <a:cubicBezTo>
                  <a:pt x="0" y="115"/>
                  <a:pt x="3" y="98"/>
                  <a:pt x="10" y="82"/>
                </a:cubicBezTo>
                <a:cubicBezTo>
                  <a:pt x="17" y="66"/>
                  <a:pt x="26" y="51"/>
                  <a:pt x="39" y="39"/>
                </a:cubicBezTo>
                <a:cubicBezTo>
                  <a:pt x="51" y="26"/>
                  <a:pt x="65" y="17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1" y="0"/>
                  <a:pt x="168" y="3"/>
                  <a:pt x="184" y="10"/>
                </a:cubicBezTo>
                <a:cubicBezTo>
                  <a:pt x="200" y="17"/>
                  <a:pt x="214" y="26"/>
                  <a:pt x="227" y="39"/>
                </a:cubicBezTo>
                <a:cubicBezTo>
                  <a:pt x="239" y="51"/>
                  <a:pt x="249" y="66"/>
                  <a:pt x="255" y="82"/>
                </a:cubicBezTo>
                <a:cubicBezTo>
                  <a:pt x="262" y="98"/>
                  <a:pt x="265" y="115"/>
                  <a:pt x="265" y="132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47" name=""/>
          <p:cNvSpPr txBox="1"/>
          <p:nvPr/>
        </p:nvSpPr>
        <p:spPr>
          <a:xfrm>
            <a:off x="5250600" y="5045400"/>
            <a:ext cx="27576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)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8" name=""/>
          <p:cNvSpPr txBox="1"/>
          <p:nvPr/>
        </p:nvSpPr>
        <p:spPr>
          <a:xfrm>
            <a:off x="1300320" y="5531400"/>
            <a:ext cx="167436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Bearer Token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9" name=""/>
          <p:cNvSpPr txBox="1"/>
          <p:nvPr/>
        </p:nvSpPr>
        <p:spPr>
          <a:xfrm>
            <a:off x="2949120" y="5553000"/>
            <a:ext cx="11041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过期时间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0" name=""/>
          <p:cNvSpPr txBox="1"/>
          <p:nvPr/>
        </p:nvSpPr>
        <p:spPr>
          <a:xfrm>
            <a:off x="4053960" y="5531400"/>
            <a:ext cx="132516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+ Refresh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1" name=""/>
          <p:cNvSpPr/>
          <p:nvPr/>
        </p:nvSpPr>
        <p:spPr>
          <a:xfrm>
            <a:off x="1047600" y="6162480"/>
            <a:ext cx="95400" cy="95760"/>
          </a:xfrm>
          <a:custGeom>
            <a:avLst/>
            <a:gdLst/>
            <a:ahLst/>
            <a:rect l="0" t="0" r="r" b="b"/>
            <a:pathLst>
              <a:path w="265" h="266">
                <a:moveTo>
                  <a:pt x="265" y="132"/>
                </a:moveTo>
                <a:cubicBezTo>
                  <a:pt x="265" y="150"/>
                  <a:pt x="262" y="167"/>
                  <a:pt x="255" y="184"/>
                </a:cubicBezTo>
                <a:cubicBezTo>
                  <a:pt x="249" y="200"/>
                  <a:pt x="239" y="214"/>
                  <a:pt x="227" y="227"/>
                </a:cubicBezTo>
                <a:cubicBezTo>
                  <a:pt x="214" y="239"/>
                  <a:pt x="200" y="249"/>
                  <a:pt x="184" y="256"/>
                </a:cubicBezTo>
                <a:cubicBezTo>
                  <a:pt x="168" y="262"/>
                  <a:pt x="151" y="266"/>
                  <a:pt x="133" y="266"/>
                </a:cubicBezTo>
                <a:cubicBezTo>
                  <a:pt x="115" y="266"/>
                  <a:pt x="98" y="262"/>
                  <a:pt x="82" y="256"/>
                </a:cubicBezTo>
                <a:cubicBezTo>
                  <a:pt x="65" y="249"/>
                  <a:pt x="51" y="239"/>
                  <a:pt x="39" y="227"/>
                </a:cubicBezTo>
                <a:cubicBezTo>
                  <a:pt x="26" y="214"/>
                  <a:pt x="17" y="200"/>
                  <a:pt x="10" y="184"/>
                </a:cubicBezTo>
                <a:cubicBezTo>
                  <a:pt x="3" y="167"/>
                  <a:pt x="0" y="150"/>
                  <a:pt x="0" y="132"/>
                </a:cubicBezTo>
                <a:cubicBezTo>
                  <a:pt x="0" y="115"/>
                  <a:pt x="3" y="98"/>
                  <a:pt x="10" y="82"/>
                </a:cubicBezTo>
                <a:cubicBezTo>
                  <a:pt x="17" y="65"/>
                  <a:pt x="26" y="51"/>
                  <a:pt x="39" y="39"/>
                </a:cubicBezTo>
                <a:cubicBezTo>
                  <a:pt x="51" y="26"/>
                  <a:pt x="65" y="17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1" y="0"/>
                  <a:pt x="168" y="3"/>
                  <a:pt x="184" y="10"/>
                </a:cubicBezTo>
                <a:cubicBezTo>
                  <a:pt x="200" y="17"/>
                  <a:pt x="214" y="26"/>
                  <a:pt x="227" y="39"/>
                </a:cubicBezTo>
                <a:cubicBezTo>
                  <a:pt x="239" y="51"/>
                  <a:pt x="249" y="65"/>
                  <a:pt x="255" y="82"/>
                </a:cubicBezTo>
                <a:cubicBezTo>
                  <a:pt x="262" y="98"/>
                  <a:pt x="265" y="115"/>
                  <a:pt x="265" y="132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52" name=""/>
          <p:cNvSpPr txBox="1"/>
          <p:nvPr/>
        </p:nvSpPr>
        <p:spPr>
          <a:xfrm>
            <a:off x="5371920" y="5553000"/>
            <a:ext cx="5522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轮换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3" name=""/>
          <p:cNvSpPr/>
          <p:nvPr/>
        </p:nvSpPr>
        <p:spPr>
          <a:xfrm>
            <a:off x="3238200" y="6038640"/>
            <a:ext cx="2248200" cy="371880"/>
          </a:xfrm>
          <a:custGeom>
            <a:avLst/>
            <a:gdLst/>
            <a:ahLst/>
            <a:rect l="0" t="0" r="r" b="b"/>
            <a:pathLst>
              <a:path w="6245" h="1033">
                <a:moveTo>
                  <a:pt x="0" y="874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8"/>
                  <a:pt x="21" y="79"/>
                  <a:pt x="27" y="71"/>
                </a:cubicBezTo>
                <a:cubicBezTo>
                  <a:pt x="33" y="62"/>
                  <a:pt x="39" y="54"/>
                  <a:pt x="47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6087" y="0"/>
                </a:lnTo>
                <a:cubicBezTo>
                  <a:pt x="6097" y="0"/>
                  <a:pt x="6107" y="1"/>
                  <a:pt x="6118" y="3"/>
                </a:cubicBezTo>
                <a:cubicBezTo>
                  <a:pt x="6128" y="5"/>
                  <a:pt x="6138" y="8"/>
                  <a:pt x="6147" y="12"/>
                </a:cubicBezTo>
                <a:cubicBezTo>
                  <a:pt x="6157" y="16"/>
                  <a:pt x="6166" y="21"/>
                  <a:pt x="6175" y="27"/>
                </a:cubicBezTo>
                <a:cubicBezTo>
                  <a:pt x="6184" y="33"/>
                  <a:pt x="6192" y="39"/>
                  <a:pt x="6199" y="47"/>
                </a:cubicBezTo>
                <a:cubicBezTo>
                  <a:pt x="6206" y="54"/>
                  <a:pt x="6213" y="62"/>
                  <a:pt x="6219" y="71"/>
                </a:cubicBezTo>
                <a:cubicBezTo>
                  <a:pt x="6225" y="79"/>
                  <a:pt x="6229" y="88"/>
                  <a:pt x="6233" y="98"/>
                </a:cubicBezTo>
                <a:cubicBezTo>
                  <a:pt x="6237" y="108"/>
                  <a:pt x="6240" y="118"/>
                  <a:pt x="6242" y="128"/>
                </a:cubicBezTo>
                <a:cubicBezTo>
                  <a:pt x="6244" y="138"/>
                  <a:pt x="6245" y="148"/>
                  <a:pt x="6245" y="159"/>
                </a:cubicBezTo>
                <a:lnTo>
                  <a:pt x="6245" y="874"/>
                </a:lnTo>
                <a:cubicBezTo>
                  <a:pt x="6245" y="885"/>
                  <a:pt x="6244" y="895"/>
                  <a:pt x="6242" y="905"/>
                </a:cubicBezTo>
                <a:cubicBezTo>
                  <a:pt x="6240" y="915"/>
                  <a:pt x="6237" y="925"/>
                  <a:pt x="6233" y="935"/>
                </a:cubicBezTo>
                <a:cubicBezTo>
                  <a:pt x="6229" y="945"/>
                  <a:pt x="6225" y="954"/>
                  <a:pt x="6219" y="962"/>
                </a:cubicBezTo>
                <a:cubicBezTo>
                  <a:pt x="6213" y="971"/>
                  <a:pt x="6206" y="979"/>
                  <a:pt x="6199" y="986"/>
                </a:cubicBezTo>
                <a:cubicBezTo>
                  <a:pt x="6192" y="994"/>
                  <a:pt x="6184" y="1000"/>
                  <a:pt x="6175" y="1006"/>
                </a:cubicBezTo>
                <a:cubicBezTo>
                  <a:pt x="6166" y="1012"/>
                  <a:pt x="6157" y="1017"/>
                  <a:pt x="6147" y="1021"/>
                </a:cubicBezTo>
                <a:cubicBezTo>
                  <a:pt x="6138" y="1025"/>
                  <a:pt x="6128" y="1028"/>
                  <a:pt x="6118" y="1030"/>
                </a:cubicBezTo>
                <a:cubicBezTo>
                  <a:pt x="6107" y="1032"/>
                  <a:pt x="6097" y="1033"/>
                  <a:pt x="6087" y="1033"/>
                </a:cubicBezTo>
                <a:lnTo>
                  <a:pt x="159" y="1033"/>
                </a:lnTo>
                <a:cubicBezTo>
                  <a:pt x="149" y="1033"/>
                  <a:pt x="138" y="1032"/>
                  <a:pt x="128" y="1030"/>
                </a:cubicBezTo>
                <a:cubicBezTo>
                  <a:pt x="118" y="1028"/>
                  <a:pt x="108" y="1025"/>
                  <a:pt x="98" y="1021"/>
                </a:cubicBezTo>
                <a:cubicBezTo>
                  <a:pt x="89" y="1017"/>
                  <a:pt x="80" y="1012"/>
                  <a:pt x="71" y="1006"/>
                </a:cubicBezTo>
                <a:cubicBezTo>
                  <a:pt x="62" y="1000"/>
                  <a:pt x="54" y="994"/>
                  <a:pt x="47" y="986"/>
                </a:cubicBezTo>
                <a:cubicBezTo>
                  <a:pt x="39" y="979"/>
                  <a:pt x="33" y="971"/>
                  <a:pt x="27" y="962"/>
                </a:cubicBezTo>
                <a:cubicBezTo>
                  <a:pt x="21" y="954"/>
                  <a:pt x="16" y="945"/>
                  <a:pt x="12" y="935"/>
                </a:cubicBezTo>
                <a:cubicBezTo>
                  <a:pt x="8" y="925"/>
                  <a:pt x="5" y="915"/>
                  <a:pt x="3" y="905"/>
                </a:cubicBezTo>
                <a:cubicBezTo>
                  <a:pt x="1" y="895"/>
                  <a:pt x="0" y="885"/>
                  <a:pt x="0" y="874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54" name=""/>
          <p:cNvSpPr txBox="1"/>
          <p:nvPr/>
        </p:nvSpPr>
        <p:spPr>
          <a:xfrm>
            <a:off x="1300320" y="6029280"/>
            <a:ext cx="193176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权限检查前置（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5" name=""/>
          <p:cNvSpPr txBox="1"/>
          <p:nvPr/>
        </p:nvSpPr>
        <p:spPr>
          <a:xfrm>
            <a:off x="3327480" y="6130440"/>
            <a:ext cx="206532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router.use(auth)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6" name=""/>
          <p:cNvSpPr/>
          <p:nvPr/>
        </p:nvSpPr>
        <p:spPr>
          <a:xfrm>
            <a:off x="1047600" y="6657840"/>
            <a:ext cx="95400" cy="95400"/>
          </a:xfrm>
          <a:custGeom>
            <a:avLst/>
            <a:gdLst/>
            <a:ahLst/>
            <a:rect l="0" t="0" r="r" b="b"/>
            <a:pathLst>
              <a:path w="265" h="265">
                <a:moveTo>
                  <a:pt x="265" y="133"/>
                </a:moveTo>
                <a:cubicBezTo>
                  <a:pt x="265" y="151"/>
                  <a:pt x="262" y="168"/>
                  <a:pt x="255" y="184"/>
                </a:cubicBezTo>
                <a:cubicBezTo>
                  <a:pt x="249" y="200"/>
                  <a:pt x="239" y="214"/>
                  <a:pt x="227" y="227"/>
                </a:cubicBezTo>
                <a:cubicBezTo>
                  <a:pt x="214" y="239"/>
                  <a:pt x="200" y="249"/>
                  <a:pt x="184" y="255"/>
                </a:cubicBezTo>
                <a:cubicBezTo>
                  <a:pt x="168" y="262"/>
                  <a:pt x="151" y="265"/>
                  <a:pt x="133" y="265"/>
                </a:cubicBezTo>
                <a:cubicBezTo>
                  <a:pt x="115" y="265"/>
                  <a:pt x="98" y="262"/>
                  <a:pt x="82" y="255"/>
                </a:cubicBezTo>
                <a:cubicBezTo>
                  <a:pt x="65" y="249"/>
                  <a:pt x="51" y="239"/>
                  <a:pt x="39" y="227"/>
                </a:cubicBezTo>
                <a:cubicBezTo>
                  <a:pt x="26" y="214"/>
                  <a:pt x="17" y="200"/>
                  <a:pt x="10" y="184"/>
                </a:cubicBezTo>
                <a:cubicBezTo>
                  <a:pt x="3" y="168"/>
                  <a:pt x="0" y="151"/>
                  <a:pt x="0" y="133"/>
                </a:cubicBezTo>
                <a:cubicBezTo>
                  <a:pt x="0" y="115"/>
                  <a:pt x="3" y="98"/>
                  <a:pt x="10" y="82"/>
                </a:cubicBezTo>
                <a:cubicBezTo>
                  <a:pt x="17" y="65"/>
                  <a:pt x="26" y="51"/>
                  <a:pt x="39" y="39"/>
                </a:cubicBezTo>
                <a:cubicBezTo>
                  <a:pt x="51" y="26"/>
                  <a:pt x="65" y="17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1" y="0"/>
                  <a:pt x="168" y="3"/>
                  <a:pt x="184" y="10"/>
                </a:cubicBezTo>
                <a:cubicBezTo>
                  <a:pt x="200" y="17"/>
                  <a:pt x="214" y="26"/>
                  <a:pt x="227" y="39"/>
                </a:cubicBezTo>
                <a:cubicBezTo>
                  <a:pt x="239" y="51"/>
                  <a:pt x="249" y="65"/>
                  <a:pt x="255" y="82"/>
                </a:cubicBezTo>
                <a:cubicBezTo>
                  <a:pt x="262" y="98"/>
                  <a:pt x="265" y="115"/>
                  <a:pt x="265" y="133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57" name=""/>
          <p:cNvSpPr txBox="1"/>
          <p:nvPr/>
        </p:nvSpPr>
        <p:spPr>
          <a:xfrm>
            <a:off x="5487120" y="6029280"/>
            <a:ext cx="2764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）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8" name=""/>
          <p:cNvSpPr txBox="1"/>
          <p:nvPr/>
        </p:nvSpPr>
        <p:spPr>
          <a:xfrm>
            <a:off x="1300320" y="6524640"/>
            <a:ext cx="49658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字段级访问控制（⽤⼾只查⾃⼰的订单）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9" name=""/>
          <p:cNvSpPr txBox="1"/>
          <p:nvPr/>
        </p:nvSpPr>
        <p:spPr>
          <a:xfrm>
            <a:off x="11659680" y="6335280"/>
            <a:ext cx="24732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SegoeUI"/>
                <a:ea typeface="SegoeUI"/>
              </a:rPr>
              <a:t>13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3" name=""/>
          <p:cNvSpPr/>
          <p:nvPr/>
        </p:nvSpPr>
        <p:spPr>
          <a:xfrm>
            <a:off x="752400" y="1552320"/>
            <a:ext cx="1086120" cy="533880"/>
          </a:xfrm>
          <a:custGeom>
            <a:avLst/>
            <a:gdLst/>
            <a:ahLst/>
            <a:rect l="0" t="0" r="r" b="b"/>
            <a:pathLst>
              <a:path w="3017" h="1483">
                <a:moveTo>
                  <a:pt x="0" y="0"/>
                </a:moveTo>
                <a:lnTo>
                  <a:pt x="3017" y="0"/>
                </a:lnTo>
                <a:lnTo>
                  <a:pt x="301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4" name=""/>
          <p:cNvSpPr/>
          <p:nvPr/>
        </p:nvSpPr>
        <p:spPr>
          <a:xfrm>
            <a:off x="1838160" y="1552320"/>
            <a:ext cx="2000520" cy="533880"/>
          </a:xfrm>
          <a:custGeom>
            <a:avLst/>
            <a:gdLst/>
            <a:ahLst/>
            <a:rect l="0" t="0" r="r" b="b"/>
            <a:pathLst>
              <a:path w="5557" h="1483">
                <a:moveTo>
                  <a:pt x="0" y="0"/>
                </a:moveTo>
                <a:lnTo>
                  <a:pt x="5557" y="0"/>
                </a:lnTo>
                <a:lnTo>
                  <a:pt x="555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5" name=""/>
          <p:cNvSpPr/>
          <p:nvPr/>
        </p:nvSpPr>
        <p:spPr>
          <a:xfrm>
            <a:off x="3838320" y="1552320"/>
            <a:ext cx="1848240" cy="533880"/>
          </a:xfrm>
          <a:custGeom>
            <a:avLst/>
            <a:gdLst/>
            <a:ahLst/>
            <a:rect l="0" t="0" r="r" b="b"/>
            <a:pathLst>
              <a:path w="5134" h="1483">
                <a:moveTo>
                  <a:pt x="0" y="0"/>
                </a:moveTo>
                <a:lnTo>
                  <a:pt x="5134" y="0"/>
                </a:lnTo>
                <a:lnTo>
                  <a:pt x="5134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6" name=""/>
          <p:cNvSpPr/>
          <p:nvPr/>
        </p:nvSpPr>
        <p:spPr>
          <a:xfrm>
            <a:off x="5686200" y="1552320"/>
            <a:ext cx="2743560" cy="533880"/>
          </a:xfrm>
          <a:custGeom>
            <a:avLst/>
            <a:gdLst/>
            <a:ahLst/>
            <a:rect l="0" t="0" r="r" b="b"/>
            <a:pathLst>
              <a:path w="7621" h="1483">
                <a:moveTo>
                  <a:pt x="0" y="0"/>
                </a:moveTo>
                <a:lnTo>
                  <a:pt x="7621" y="0"/>
                </a:lnTo>
                <a:lnTo>
                  <a:pt x="7621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7" name=""/>
          <p:cNvSpPr/>
          <p:nvPr/>
        </p:nvSpPr>
        <p:spPr>
          <a:xfrm>
            <a:off x="752400" y="2085840"/>
            <a:ext cx="1086120" cy="543240"/>
          </a:xfrm>
          <a:custGeom>
            <a:avLst/>
            <a:gdLst/>
            <a:ahLst/>
            <a:rect l="0" t="0" r="r" b="b"/>
            <a:pathLst>
              <a:path w="3017" h="1509">
                <a:moveTo>
                  <a:pt x="0" y="0"/>
                </a:moveTo>
                <a:lnTo>
                  <a:pt x="3017" y="0"/>
                </a:lnTo>
                <a:lnTo>
                  <a:pt x="301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8" name=""/>
          <p:cNvSpPr/>
          <p:nvPr/>
        </p:nvSpPr>
        <p:spPr>
          <a:xfrm>
            <a:off x="1838160" y="2085840"/>
            <a:ext cx="2000520" cy="543240"/>
          </a:xfrm>
          <a:custGeom>
            <a:avLst/>
            <a:gdLst/>
            <a:ahLst/>
            <a:rect l="0" t="0" r="r" b="b"/>
            <a:pathLst>
              <a:path w="5557" h="1509">
                <a:moveTo>
                  <a:pt x="0" y="0"/>
                </a:moveTo>
                <a:lnTo>
                  <a:pt x="5557" y="0"/>
                </a:lnTo>
                <a:lnTo>
                  <a:pt x="555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9" name=""/>
          <p:cNvSpPr/>
          <p:nvPr/>
        </p:nvSpPr>
        <p:spPr>
          <a:xfrm>
            <a:off x="3838320" y="2085840"/>
            <a:ext cx="1848240" cy="543240"/>
          </a:xfrm>
          <a:custGeom>
            <a:avLst/>
            <a:gdLst/>
            <a:ahLst/>
            <a:rect l="0" t="0" r="r" b="b"/>
            <a:pathLst>
              <a:path w="5134" h="1509">
                <a:moveTo>
                  <a:pt x="0" y="0"/>
                </a:moveTo>
                <a:lnTo>
                  <a:pt x="5134" y="0"/>
                </a:lnTo>
                <a:lnTo>
                  <a:pt x="5134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0" name=""/>
          <p:cNvSpPr/>
          <p:nvPr/>
        </p:nvSpPr>
        <p:spPr>
          <a:xfrm>
            <a:off x="5686200" y="2085840"/>
            <a:ext cx="2743560" cy="543240"/>
          </a:xfrm>
          <a:custGeom>
            <a:avLst/>
            <a:gdLst/>
            <a:ahLst/>
            <a:rect l="0" t="0" r="r" b="b"/>
            <a:pathLst>
              <a:path w="7621" h="1509">
                <a:moveTo>
                  <a:pt x="0" y="0"/>
                </a:moveTo>
                <a:lnTo>
                  <a:pt x="7621" y="0"/>
                </a:lnTo>
                <a:lnTo>
                  <a:pt x="7621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1" name=""/>
          <p:cNvSpPr/>
          <p:nvPr/>
        </p:nvSpPr>
        <p:spPr>
          <a:xfrm>
            <a:off x="752400" y="2628720"/>
            <a:ext cx="1086120" cy="533880"/>
          </a:xfrm>
          <a:custGeom>
            <a:avLst/>
            <a:gdLst/>
            <a:ahLst/>
            <a:rect l="0" t="0" r="r" b="b"/>
            <a:pathLst>
              <a:path w="3017" h="1483">
                <a:moveTo>
                  <a:pt x="0" y="0"/>
                </a:moveTo>
                <a:lnTo>
                  <a:pt x="3017" y="0"/>
                </a:lnTo>
                <a:lnTo>
                  <a:pt x="301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2" name=""/>
          <p:cNvSpPr/>
          <p:nvPr/>
        </p:nvSpPr>
        <p:spPr>
          <a:xfrm>
            <a:off x="1838160" y="2628720"/>
            <a:ext cx="2000520" cy="533880"/>
          </a:xfrm>
          <a:custGeom>
            <a:avLst/>
            <a:gdLst/>
            <a:ahLst/>
            <a:rect l="0" t="0" r="r" b="b"/>
            <a:pathLst>
              <a:path w="5557" h="1483">
                <a:moveTo>
                  <a:pt x="0" y="0"/>
                </a:moveTo>
                <a:lnTo>
                  <a:pt x="5557" y="0"/>
                </a:lnTo>
                <a:lnTo>
                  <a:pt x="555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3" name=""/>
          <p:cNvSpPr/>
          <p:nvPr/>
        </p:nvSpPr>
        <p:spPr>
          <a:xfrm>
            <a:off x="3838320" y="2628720"/>
            <a:ext cx="1848240" cy="533880"/>
          </a:xfrm>
          <a:custGeom>
            <a:avLst/>
            <a:gdLst/>
            <a:ahLst/>
            <a:rect l="0" t="0" r="r" b="b"/>
            <a:pathLst>
              <a:path w="5134" h="1483">
                <a:moveTo>
                  <a:pt x="0" y="0"/>
                </a:moveTo>
                <a:lnTo>
                  <a:pt x="5134" y="0"/>
                </a:lnTo>
                <a:lnTo>
                  <a:pt x="5134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4" name=""/>
          <p:cNvSpPr/>
          <p:nvPr/>
        </p:nvSpPr>
        <p:spPr>
          <a:xfrm>
            <a:off x="5686200" y="2628720"/>
            <a:ext cx="2743560" cy="533880"/>
          </a:xfrm>
          <a:custGeom>
            <a:avLst/>
            <a:gdLst/>
            <a:ahLst/>
            <a:rect l="0" t="0" r="r" b="b"/>
            <a:pathLst>
              <a:path w="7621" h="1483">
                <a:moveTo>
                  <a:pt x="0" y="0"/>
                </a:moveTo>
                <a:lnTo>
                  <a:pt x="7621" y="0"/>
                </a:lnTo>
                <a:lnTo>
                  <a:pt x="7621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5" name=""/>
          <p:cNvSpPr/>
          <p:nvPr/>
        </p:nvSpPr>
        <p:spPr>
          <a:xfrm>
            <a:off x="752400" y="3162240"/>
            <a:ext cx="1086120" cy="543240"/>
          </a:xfrm>
          <a:custGeom>
            <a:avLst/>
            <a:gdLst/>
            <a:ahLst/>
            <a:rect l="0" t="0" r="r" b="b"/>
            <a:pathLst>
              <a:path w="3017" h="1509">
                <a:moveTo>
                  <a:pt x="0" y="0"/>
                </a:moveTo>
                <a:lnTo>
                  <a:pt x="3017" y="0"/>
                </a:lnTo>
                <a:lnTo>
                  <a:pt x="301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6" name=""/>
          <p:cNvSpPr/>
          <p:nvPr/>
        </p:nvSpPr>
        <p:spPr>
          <a:xfrm>
            <a:off x="1838160" y="3162240"/>
            <a:ext cx="2000520" cy="543240"/>
          </a:xfrm>
          <a:custGeom>
            <a:avLst/>
            <a:gdLst/>
            <a:ahLst/>
            <a:rect l="0" t="0" r="r" b="b"/>
            <a:pathLst>
              <a:path w="5557" h="1509">
                <a:moveTo>
                  <a:pt x="0" y="0"/>
                </a:moveTo>
                <a:lnTo>
                  <a:pt x="5557" y="0"/>
                </a:lnTo>
                <a:lnTo>
                  <a:pt x="555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7" name=""/>
          <p:cNvSpPr/>
          <p:nvPr/>
        </p:nvSpPr>
        <p:spPr>
          <a:xfrm>
            <a:off x="3838320" y="3162240"/>
            <a:ext cx="1848240" cy="543240"/>
          </a:xfrm>
          <a:custGeom>
            <a:avLst/>
            <a:gdLst/>
            <a:ahLst/>
            <a:rect l="0" t="0" r="r" b="b"/>
            <a:pathLst>
              <a:path w="5134" h="1509">
                <a:moveTo>
                  <a:pt x="0" y="0"/>
                </a:moveTo>
                <a:lnTo>
                  <a:pt x="5134" y="0"/>
                </a:lnTo>
                <a:lnTo>
                  <a:pt x="5134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8" name=""/>
          <p:cNvSpPr/>
          <p:nvPr/>
        </p:nvSpPr>
        <p:spPr>
          <a:xfrm>
            <a:off x="5686200" y="3162240"/>
            <a:ext cx="2743560" cy="543240"/>
          </a:xfrm>
          <a:custGeom>
            <a:avLst/>
            <a:gdLst/>
            <a:ahLst/>
            <a:rect l="0" t="0" r="r" b="b"/>
            <a:pathLst>
              <a:path w="7621" h="1509">
                <a:moveTo>
                  <a:pt x="0" y="0"/>
                </a:moveTo>
                <a:lnTo>
                  <a:pt x="7621" y="0"/>
                </a:lnTo>
                <a:lnTo>
                  <a:pt x="7621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9" name=""/>
          <p:cNvSpPr/>
          <p:nvPr/>
        </p:nvSpPr>
        <p:spPr>
          <a:xfrm>
            <a:off x="752400" y="3705120"/>
            <a:ext cx="1086120" cy="533520"/>
          </a:xfrm>
          <a:custGeom>
            <a:avLst/>
            <a:gdLst/>
            <a:ahLst/>
            <a:rect l="0" t="0" r="r" b="b"/>
            <a:pathLst>
              <a:path w="3017" h="1482">
                <a:moveTo>
                  <a:pt x="0" y="0"/>
                </a:moveTo>
                <a:lnTo>
                  <a:pt x="3017" y="0"/>
                </a:lnTo>
                <a:lnTo>
                  <a:pt x="301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0" name=""/>
          <p:cNvSpPr/>
          <p:nvPr/>
        </p:nvSpPr>
        <p:spPr>
          <a:xfrm>
            <a:off x="1838160" y="3705120"/>
            <a:ext cx="2000520" cy="533520"/>
          </a:xfrm>
          <a:custGeom>
            <a:avLst/>
            <a:gdLst/>
            <a:ahLst/>
            <a:rect l="0" t="0" r="r" b="b"/>
            <a:pathLst>
              <a:path w="5557" h="1482">
                <a:moveTo>
                  <a:pt x="0" y="0"/>
                </a:moveTo>
                <a:lnTo>
                  <a:pt x="5557" y="0"/>
                </a:lnTo>
                <a:lnTo>
                  <a:pt x="555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1" name=""/>
          <p:cNvSpPr/>
          <p:nvPr/>
        </p:nvSpPr>
        <p:spPr>
          <a:xfrm>
            <a:off x="3838320" y="3705120"/>
            <a:ext cx="1848240" cy="533520"/>
          </a:xfrm>
          <a:custGeom>
            <a:avLst/>
            <a:gdLst/>
            <a:ahLst/>
            <a:rect l="0" t="0" r="r" b="b"/>
            <a:pathLst>
              <a:path w="5134" h="1482">
                <a:moveTo>
                  <a:pt x="0" y="0"/>
                </a:moveTo>
                <a:lnTo>
                  <a:pt x="5134" y="0"/>
                </a:lnTo>
                <a:lnTo>
                  <a:pt x="5134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2" name=""/>
          <p:cNvSpPr/>
          <p:nvPr/>
        </p:nvSpPr>
        <p:spPr>
          <a:xfrm>
            <a:off x="5686200" y="3705120"/>
            <a:ext cx="2743560" cy="533520"/>
          </a:xfrm>
          <a:custGeom>
            <a:avLst/>
            <a:gdLst/>
            <a:ahLst/>
            <a:rect l="0" t="0" r="r" b="b"/>
            <a:pathLst>
              <a:path w="7621" h="1482">
                <a:moveTo>
                  <a:pt x="0" y="0"/>
                </a:moveTo>
                <a:lnTo>
                  <a:pt x="7621" y="0"/>
                </a:lnTo>
                <a:lnTo>
                  <a:pt x="7621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3" name=""/>
          <p:cNvSpPr/>
          <p:nvPr/>
        </p:nvSpPr>
        <p:spPr>
          <a:xfrm>
            <a:off x="752400" y="4238280"/>
            <a:ext cx="1086120" cy="543600"/>
          </a:xfrm>
          <a:custGeom>
            <a:avLst/>
            <a:gdLst/>
            <a:ahLst/>
            <a:rect l="0" t="0" r="r" b="b"/>
            <a:pathLst>
              <a:path w="3017" h="1510">
                <a:moveTo>
                  <a:pt x="0" y="0"/>
                </a:moveTo>
                <a:lnTo>
                  <a:pt x="3017" y="0"/>
                </a:lnTo>
                <a:lnTo>
                  <a:pt x="3017" y="1510"/>
                </a:lnTo>
                <a:lnTo>
                  <a:pt x="0" y="151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4" name=""/>
          <p:cNvSpPr/>
          <p:nvPr/>
        </p:nvSpPr>
        <p:spPr>
          <a:xfrm>
            <a:off x="1838160" y="4238280"/>
            <a:ext cx="2000520" cy="543600"/>
          </a:xfrm>
          <a:custGeom>
            <a:avLst/>
            <a:gdLst/>
            <a:ahLst/>
            <a:rect l="0" t="0" r="r" b="b"/>
            <a:pathLst>
              <a:path w="5557" h="1510">
                <a:moveTo>
                  <a:pt x="0" y="0"/>
                </a:moveTo>
                <a:lnTo>
                  <a:pt x="5557" y="0"/>
                </a:lnTo>
                <a:lnTo>
                  <a:pt x="5557" y="1510"/>
                </a:lnTo>
                <a:lnTo>
                  <a:pt x="0" y="151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5" name=""/>
          <p:cNvSpPr/>
          <p:nvPr/>
        </p:nvSpPr>
        <p:spPr>
          <a:xfrm>
            <a:off x="3838320" y="4238280"/>
            <a:ext cx="1848240" cy="543600"/>
          </a:xfrm>
          <a:custGeom>
            <a:avLst/>
            <a:gdLst/>
            <a:ahLst/>
            <a:rect l="0" t="0" r="r" b="b"/>
            <a:pathLst>
              <a:path w="5134" h="1510">
                <a:moveTo>
                  <a:pt x="0" y="0"/>
                </a:moveTo>
                <a:lnTo>
                  <a:pt x="5134" y="0"/>
                </a:lnTo>
                <a:lnTo>
                  <a:pt x="5134" y="1510"/>
                </a:lnTo>
                <a:lnTo>
                  <a:pt x="0" y="151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6" name=""/>
          <p:cNvSpPr/>
          <p:nvPr/>
        </p:nvSpPr>
        <p:spPr>
          <a:xfrm>
            <a:off x="5686200" y="4238280"/>
            <a:ext cx="2743560" cy="543600"/>
          </a:xfrm>
          <a:custGeom>
            <a:avLst/>
            <a:gdLst/>
            <a:ahLst/>
            <a:rect l="0" t="0" r="r" b="b"/>
            <a:pathLst>
              <a:path w="7621" h="1510">
                <a:moveTo>
                  <a:pt x="0" y="0"/>
                </a:moveTo>
                <a:lnTo>
                  <a:pt x="7621" y="0"/>
                </a:lnTo>
                <a:lnTo>
                  <a:pt x="7621" y="1510"/>
                </a:lnTo>
                <a:lnTo>
                  <a:pt x="0" y="151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7" name=""/>
          <p:cNvSpPr/>
          <p:nvPr/>
        </p:nvSpPr>
        <p:spPr>
          <a:xfrm>
            <a:off x="752400" y="4781520"/>
            <a:ext cx="1086120" cy="533520"/>
          </a:xfrm>
          <a:custGeom>
            <a:avLst/>
            <a:gdLst/>
            <a:ahLst/>
            <a:rect l="0" t="0" r="r" b="b"/>
            <a:pathLst>
              <a:path w="3017" h="1482">
                <a:moveTo>
                  <a:pt x="0" y="0"/>
                </a:moveTo>
                <a:lnTo>
                  <a:pt x="3017" y="0"/>
                </a:lnTo>
                <a:lnTo>
                  <a:pt x="301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8" name=""/>
          <p:cNvSpPr/>
          <p:nvPr/>
        </p:nvSpPr>
        <p:spPr>
          <a:xfrm>
            <a:off x="1838160" y="4781520"/>
            <a:ext cx="2000520" cy="533520"/>
          </a:xfrm>
          <a:custGeom>
            <a:avLst/>
            <a:gdLst/>
            <a:ahLst/>
            <a:rect l="0" t="0" r="r" b="b"/>
            <a:pathLst>
              <a:path w="5557" h="1482">
                <a:moveTo>
                  <a:pt x="0" y="0"/>
                </a:moveTo>
                <a:lnTo>
                  <a:pt x="5557" y="0"/>
                </a:lnTo>
                <a:lnTo>
                  <a:pt x="555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9" name=""/>
          <p:cNvSpPr/>
          <p:nvPr/>
        </p:nvSpPr>
        <p:spPr>
          <a:xfrm>
            <a:off x="3838320" y="4781520"/>
            <a:ext cx="1848240" cy="533520"/>
          </a:xfrm>
          <a:custGeom>
            <a:avLst/>
            <a:gdLst/>
            <a:ahLst/>
            <a:rect l="0" t="0" r="r" b="b"/>
            <a:pathLst>
              <a:path w="5134" h="1482">
                <a:moveTo>
                  <a:pt x="0" y="0"/>
                </a:moveTo>
                <a:lnTo>
                  <a:pt x="5134" y="0"/>
                </a:lnTo>
                <a:lnTo>
                  <a:pt x="5134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0" name=""/>
          <p:cNvSpPr/>
          <p:nvPr/>
        </p:nvSpPr>
        <p:spPr>
          <a:xfrm>
            <a:off x="5686200" y="4781520"/>
            <a:ext cx="2743560" cy="533520"/>
          </a:xfrm>
          <a:custGeom>
            <a:avLst/>
            <a:gdLst/>
            <a:ahLst/>
            <a:rect l="0" t="0" r="r" b="b"/>
            <a:pathLst>
              <a:path w="7621" h="1482">
                <a:moveTo>
                  <a:pt x="0" y="0"/>
                </a:moveTo>
                <a:lnTo>
                  <a:pt x="7621" y="0"/>
                </a:lnTo>
                <a:lnTo>
                  <a:pt x="7621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1" name=""/>
          <p:cNvSpPr/>
          <p:nvPr/>
        </p:nvSpPr>
        <p:spPr>
          <a:xfrm>
            <a:off x="752400" y="5314680"/>
            <a:ext cx="1086120" cy="543240"/>
          </a:xfrm>
          <a:custGeom>
            <a:avLst/>
            <a:gdLst/>
            <a:ahLst/>
            <a:rect l="0" t="0" r="r" b="b"/>
            <a:pathLst>
              <a:path w="3017" h="1509">
                <a:moveTo>
                  <a:pt x="0" y="0"/>
                </a:moveTo>
                <a:lnTo>
                  <a:pt x="3017" y="0"/>
                </a:lnTo>
                <a:lnTo>
                  <a:pt x="301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2" name=""/>
          <p:cNvSpPr/>
          <p:nvPr/>
        </p:nvSpPr>
        <p:spPr>
          <a:xfrm>
            <a:off x="1838160" y="5314680"/>
            <a:ext cx="2000520" cy="543240"/>
          </a:xfrm>
          <a:custGeom>
            <a:avLst/>
            <a:gdLst/>
            <a:ahLst/>
            <a:rect l="0" t="0" r="r" b="b"/>
            <a:pathLst>
              <a:path w="5557" h="1509">
                <a:moveTo>
                  <a:pt x="0" y="0"/>
                </a:moveTo>
                <a:lnTo>
                  <a:pt x="5557" y="0"/>
                </a:lnTo>
                <a:lnTo>
                  <a:pt x="555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3" name=""/>
          <p:cNvSpPr/>
          <p:nvPr/>
        </p:nvSpPr>
        <p:spPr>
          <a:xfrm>
            <a:off x="3838320" y="5314680"/>
            <a:ext cx="1848240" cy="543240"/>
          </a:xfrm>
          <a:custGeom>
            <a:avLst/>
            <a:gdLst/>
            <a:ahLst/>
            <a:rect l="0" t="0" r="r" b="b"/>
            <a:pathLst>
              <a:path w="5134" h="1509">
                <a:moveTo>
                  <a:pt x="0" y="0"/>
                </a:moveTo>
                <a:lnTo>
                  <a:pt x="5134" y="0"/>
                </a:lnTo>
                <a:lnTo>
                  <a:pt x="5134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4" name=""/>
          <p:cNvSpPr/>
          <p:nvPr/>
        </p:nvSpPr>
        <p:spPr>
          <a:xfrm>
            <a:off x="5686200" y="5314680"/>
            <a:ext cx="2743560" cy="543240"/>
          </a:xfrm>
          <a:custGeom>
            <a:avLst/>
            <a:gdLst/>
            <a:ahLst/>
            <a:rect l="0" t="0" r="r" b="b"/>
            <a:pathLst>
              <a:path w="7621" h="1509">
                <a:moveTo>
                  <a:pt x="0" y="0"/>
                </a:moveTo>
                <a:lnTo>
                  <a:pt x="7621" y="0"/>
                </a:lnTo>
                <a:lnTo>
                  <a:pt x="7621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5" name=""/>
          <p:cNvSpPr/>
          <p:nvPr/>
        </p:nvSpPr>
        <p:spPr>
          <a:xfrm>
            <a:off x="752400" y="5857560"/>
            <a:ext cx="1086120" cy="533880"/>
          </a:xfrm>
          <a:custGeom>
            <a:avLst/>
            <a:gdLst/>
            <a:ahLst/>
            <a:rect l="0" t="0" r="r" b="b"/>
            <a:pathLst>
              <a:path w="3017" h="1483">
                <a:moveTo>
                  <a:pt x="0" y="0"/>
                </a:moveTo>
                <a:lnTo>
                  <a:pt x="3017" y="0"/>
                </a:lnTo>
                <a:lnTo>
                  <a:pt x="301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6" name=""/>
          <p:cNvSpPr/>
          <p:nvPr/>
        </p:nvSpPr>
        <p:spPr>
          <a:xfrm>
            <a:off x="1838160" y="5857560"/>
            <a:ext cx="2000520" cy="533880"/>
          </a:xfrm>
          <a:custGeom>
            <a:avLst/>
            <a:gdLst/>
            <a:ahLst/>
            <a:rect l="0" t="0" r="r" b="b"/>
            <a:pathLst>
              <a:path w="5557" h="1483">
                <a:moveTo>
                  <a:pt x="0" y="0"/>
                </a:moveTo>
                <a:lnTo>
                  <a:pt x="5557" y="0"/>
                </a:lnTo>
                <a:lnTo>
                  <a:pt x="555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7" name=""/>
          <p:cNvSpPr/>
          <p:nvPr/>
        </p:nvSpPr>
        <p:spPr>
          <a:xfrm>
            <a:off x="3838320" y="5857560"/>
            <a:ext cx="1848240" cy="533880"/>
          </a:xfrm>
          <a:custGeom>
            <a:avLst/>
            <a:gdLst/>
            <a:ahLst/>
            <a:rect l="0" t="0" r="r" b="b"/>
            <a:pathLst>
              <a:path w="5134" h="1483">
                <a:moveTo>
                  <a:pt x="0" y="0"/>
                </a:moveTo>
                <a:lnTo>
                  <a:pt x="5134" y="0"/>
                </a:lnTo>
                <a:lnTo>
                  <a:pt x="5134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8" name=""/>
          <p:cNvSpPr/>
          <p:nvPr/>
        </p:nvSpPr>
        <p:spPr>
          <a:xfrm>
            <a:off x="5686200" y="5857560"/>
            <a:ext cx="2743560" cy="533880"/>
          </a:xfrm>
          <a:custGeom>
            <a:avLst/>
            <a:gdLst/>
            <a:ahLst/>
            <a:rect l="0" t="0" r="r" b="b"/>
            <a:pathLst>
              <a:path w="7621" h="1483">
                <a:moveTo>
                  <a:pt x="0" y="0"/>
                </a:moveTo>
                <a:lnTo>
                  <a:pt x="7621" y="0"/>
                </a:lnTo>
                <a:lnTo>
                  <a:pt x="7621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9" name=""/>
          <p:cNvSpPr/>
          <p:nvPr/>
        </p:nvSpPr>
        <p:spPr>
          <a:xfrm>
            <a:off x="752400" y="6391080"/>
            <a:ext cx="1086120" cy="466920"/>
          </a:xfrm>
          <a:custGeom>
            <a:avLst/>
            <a:gdLst/>
            <a:ahLst/>
            <a:rect l="0" t="0" r="r" b="b"/>
            <a:pathLst>
              <a:path w="3017" h="1297">
                <a:moveTo>
                  <a:pt x="0" y="0"/>
                </a:moveTo>
                <a:lnTo>
                  <a:pt x="3017" y="0"/>
                </a:lnTo>
                <a:lnTo>
                  <a:pt x="3017" y="1297"/>
                </a:lnTo>
                <a:lnTo>
                  <a:pt x="0" y="129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0" name=""/>
          <p:cNvSpPr/>
          <p:nvPr/>
        </p:nvSpPr>
        <p:spPr>
          <a:xfrm>
            <a:off x="1838160" y="6391080"/>
            <a:ext cx="2000520" cy="466920"/>
          </a:xfrm>
          <a:custGeom>
            <a:avLst/>
            <a:gdLst/>
            <a:ahLst/>
            <a:rect l="0" t="0" r="r" b="b"/>
            <a:pathLst>
              <a:path w="5557" h="1297">
                <a:moveTo>
                  <a:pt x="0" y="0"/>
                </a:moveTo>
                <a:lnTo>
                  <a:pt x="5557" y="0"/>
                </a:lnTo>
                <a:lnTo>
                  <a:pt x="5557" y="1297"/>
                </a:lnTo>
                <a:lnTo>
                  <a:pt x="0" y="129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1" name=""/>
          <p:cNvSpPr/>
          <p:nvPr/>
        </p:nvSpPr>
        <p:spPr>
          <a:xfrm>
            <a:off x="3838320" y="6391080"/>
            <a:ext cx="1848240" cy="466920"/>
          </a:xfrm>
          <a:custGeom>
            <a:avLst/>
            <a:gdLst/>
            <a:ahLst/>
            <a:rect l="0" t="0" r="r" b="b"/>
            <a:pathLst>
              <a:path w="5134" h="1297">
                <a:moveTo>
                  <a:pt x="0" y="0"/>
                </a:moveTo>
                <a:lnTo>
                  <a:pt x="5134" y="0"/>
                </a:lnTo>
                <a:lnTo>
                  <a:pt x="5134" y="1297"/>
                </a:lnTo>
                <a:lnTo>
                  <a:pt x="0" y="129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2" name=""/>
          <p:cNvSpPr/>
          <p:nvPr/>
        </p:nvSpPr>
        <p:spPr>
          <a:xfrm>
            <a:off x="5686200" y="6391080"/>
            <a:ext cx="2743560" cy="466920"/>
          </a:xfrm>
          <a:custGeom>
            <a:avLst/>
            <a:gdLst/>
            <a:ahLst/>
            <a:rect l="0" t="0" r="r" b="b"/>
            <a:pathLst>
              <a:path w="7621" h="1297">
                <a:moveTo>
                  <a:pt x="0" y="0"/>
                </a:moveTo>
                <a:lnTo>
                  <a:pt x="7621" y="0"/>
                </a:lnTo>
                <a:lnTo>
                  <a:pt x="7621" y="1297"/>
                </a:lnTo>
                <a:lnTo>
                  <a:pt x="0" y="129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3" name=""/>
          <p:cNvSpPr/>
          <p:nvPr/>
        </p:nvSpPr>
        <p:spPr>
          <a:xfrm>
            <a:off x="752400" y="1542960"/>
            <a:ext cx="9720" cy="552600"/>
          </a:xfrm>
          <a:custGeom>
            <a:avLst/>
            <a:gdLst/>
            <a:ahLst/>
            <a:rect l="0" t="0" r="r" b="b"/>
            <a:pathLst>
              <a:path w="27" h="1535">
                <a:moveTo>
                  <a:pt x="0" y="0"/>
                </a:moveTo>
                <a:lnTo>
                  <a:pt x="27" y="0"/>
                </a:lnTo>
                <a:lnTo>
                  <a:pt x="27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4" name=""/>
          <p:cNvSpPr/>
          <p:nvPr/>
        </p:nvSpPr>
        <p:spPr>
          <a:xfrm>
            <a:off x="752400" y="1542960"/>
            <a:ext cx="1095480" cy="9720"/>
          </a:xfrm>
          <a:custGeom>
            <a:avLst/>
            <a:gdLst/>
            <a:ahLst/>
            <a:rect l="0" t="0" r="r" b="b"/>
            <a:pathLst>
              <a:path w="3043" h="27">
                <a:moveTo>
                  <a:pt x="0" y="0"/>
                </a:moveTo>
                <a:lnTo>
                  <a:pt x="3043" y="0"/>
                </a:lnTo>
                <a:lnTo>
                  <a:pt x="304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5" name=""/>
          <p:cNvSpPr/>
          <p:nvPr/>
        </p:nvSpPr>
        <p:spPr>
          <a:xfrm>
            <a:off x="1838160" y="1542960"/>
            <a:ext cx="9720" cy="552600"/>
          </a:xfrm>
          <a:custGeom>
            <a:avLst/>
            <a:gdLst/>
            <a:ahLst/>
            <a:rect l="0" t="0" r="r" b="b"/>
            <a:pathLst>
              <a:path w="27" h="1535">
                <a:moveTo>
                  <a:pt x="0" y="0"/>
                </a:moveTo>
                <a:lnTo>
                  <a:pt x="27" y="0"/>
                </a:lnTo>
                <a:lnTo>
                  <a:pt x="27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6" name=""/>
          <p:cNvSpPr/>
          <p:nvPr/>
        </p:nvSpPr>
        <p:spPr>
          <a:xfrm>
            <a:off x="1847520" y="1542960"/>
            <a:ext cx="2000880" cy="9720"/>
          </a:xfrm>
          <a:custGeom>
            <a:avLst/>
            <a:gdLst/>
            <a:ahLst/>
            <a:rect l="0" t="0" r="r" b="b"/>
            <a:pathLst>
              <a:path w="5558" h="27">
                <a:moveTo>
                  <a:pt x="0" y="0"/>
                </a:moveTo>
                <a:lnTo>
                  <a:pt x="5558" y="0"/>
                </a:lnTo>
                <a:lnTo>
                  <a:pt x="555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7" name=""/>
          <p:cNvSpPr/>
          <p:nvPr/>
        </p:nvSpPr>
        <p:spPr>
          <a:xfrm>
            <a:off x="3838320" y="1542960"/>
            <a:ext cx="10080" cy="552600"/>
          </a:xfrm>
          <a:custGeom>
            <a:avLst/>
            <a:gdLst/>
            <a:ahLst/>
            <a:rect l="0" t="0" r="r" b="b"/>
            <a:pathLst>
              <a:path w="28" h="1535">
                <a:moveTo>
                  <a:pt x="0" y="0"/>
                </a:moveTo>
                <a:lnTo>
                  <a:pt x="28" y="0"/>
                </a:lnTo>
                <a:lnTo>
                  <a:pt x="28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8" name=""/>
          <p:cNvSpPr/>
          <p:nvPr/>
        </p:nvSpPr>
        <p:spPr>
          <a:xfrm>
            <a:off x="3848040" y="1542960"/>
            <a:ext cx="1848240" cy="9720"/>
          </a:xfrm>
          <a:custGeom>
            <a:avLst/>
            <a:gdLst/>
            <a:ahLst/>
            <a:rect l="0" t="0" r="r" b="b"/>
            <a:pathLst>
              <a:path w="5134" h="27">
                <a:moveTo>
                  <a:pt x="0" y="0"/>
                </a:moveTo>
                <a:lnTo>
                  <a:pt x="5134" y="0"/>
                </a:lnTo>
                <a:lnTo>
                  <a:pt x="513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9" name=""/>
          <p:cNvSpPr/>
          <p:nvPr/>
        </p:nvSpPr>
        <p:spPr>
          <a:xfrm>
            <a:off x="5686200" y="1542960"/>
            <a:ext cx="10080" cy="552600"/>
          </a:xfrm>
          <a:custGeom>
            <a:avLst/>
            <a:gdLst/>
            <a:ahLst/>
            <a:rect l="0" t="0" r="r" b="b"/>
            <a:pathLst>
              <a:path w="28" h="1535">
                <a:moveTo>
                  <a:pt x="0" y="0"/>
                </a:moveTo>
                <a:lnTo>
                  <a:pt x="28" y="0"/>
                </a:lnTo>
                <a:lnTo>
                  <a:pt x="28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0" name=""/>
          <p:cNvSpPr/>
          <p:nvPr/>
        </p:nvSpPr>
        <p:spPr>
          <a:xfrm>
            <a:off x="5695920" y="1542960"/>
            <a:ext cx="2743560" cy="9720"/>
          </a:xfrm>
          <a:custGeom>
            <a:avLst/>
            <a:gdLst/>
            <a:ahLst/>
            <a:rect l="0" t="0" r="r" b="b"/>
            <a:pathLst>
              <a:path w="7621" h="27">
                <a:moveTo>
                  <a:pt x="0" y="0"/>
                </a:moveTo>
                <a:lnTo>
                  <a:pt x="7621" y="0"/>
                </a:lnTo>
                <a:lnTo>
                  <a:pt x="762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1" name=""/>
          <p:cNvSpPr/>
          <p:nvPr/>
        </p:nvSpPr>
        <p:spPr>
          <a:xfrm>
            <a:off x="8429400" y="1542960"/>
            <a:ext cx="10080" cy="552600"/>
          </a:xfrm>
          <a:custGeom>
            <a:avLst/>
            <a:gdLst/>
            <a:ahLst/>
            <a:rect l="0" t="0" r="r" b="b"/>
            <a:pathLst>
              <a:path w="28" h="1535">
                <a:moveTo>
                  <a:pt x="0" y="0"/>
                </a:moveTo>
                <a:lnTo>
                  <a:pt x="28" y="0"/>
                </a:lnTo>
                <a:lnTo>
                  <a:pt x="28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2" name=""/>
          <p:cNvSpPr/>
          <p:nvPr/>
        </p:nvSpPr>
        <p:spPr>
          <a:xfrm>
            <a:off x="752400" y="2085840"/>
            <a:ext cx="1095480" cy="9720"/>
          </a:xfrm>
          <a:custGeom>
            <a:avLst/>
            <a:gdLst/>
            <a:ahLst/>
            <a:rect l="0" t="0" r="r" b="b"/>
            <a:pathLst>
              <a:path w="3043" h="27">
                <a:moveTo>
                  <a:pt x="0" y="0"/>
                </a:moveTo>
                <a:lnTo>
                  <a:pt x="3043" y="0"/>
                </a:lnTo>
                <a:lnTo>
                  <a:pt x="304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3" name=""/>
          <p:cNvSpPr/>
          <p:nvPr/>
        </p:nvSpPr>
        <p:spPr>
          <a:xfrm>
            <a:off x="1847520" y="2085840"/>
            <a:ext cx="2000880" cy="9720"/>
          </a:xfrm>
          <a:custGeom>
            <a:avLst/>
            <a:gdLst/>
            <a:ahLst/>
            <a:rect l="0" t="0" r="r" b="b"/>
            <a:pathLst>
              <a:path w="5558" h="27">
                <a:moveTo>
                  <a:pt x="0" y="0"/>
                </a:moveTo>
                <a:lnTo>
                  <a:pt x="5558" y="0"/>
                </a:lnTo>
                <a:lnTo>
                  <a:pt x="555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4" name=""/>
          <p:cNvSpPr/>
          <p:nvPr/>
        </p:nvSpPr>
        <p:spPr>
          <a:xfrm>
            <a:off x="3848040" y="2085840"/>
            <a:ext cx="1848240" cy="9720"/>
          </a:xfrm>
          <a:custGeom>
            <a:avLst/>
            <a:gdLst/>
            <a:ahLst/>
            <a:rect l="0" t="0" r="r" b="b"/>
            <a:pathLst>
              <a:path w="5134" h="27">
                <a:moveTo>
                  <a:pt x="0" y="0"/>
                </a:moveTo>
                <a:lnTo>
                  <a:pt x="5134" y="0"/>
                </a:lnTo>
                <a:lnTo>
                  <a:pt x="513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5" name=""/>
          <p:cNvSpPr/>
          <p:nvPr/>
        </p:nvSpPr>
        <p:spPr>
          <a:xfrm>
            <a:off x="5695920" y="2085840"/>
            <a:ext cx="2743560" cy="9720"/>
          </a:xfrm>
          <a:custGeom>
            <a:avLst/>
            <a:gdLst/>
            <a:ahLst/>
            <a:rect l="0" t="0" r="r" b="b"/>
            <a:pathLst>
              <a:path w="7621" h="27">
                <a:moveTo>
                  <a:pt x="0" y="0"/>
                </a:moveTo>
                <a:lnTo>
                  <a:pt x="7621" y="0"/>
                </a:lnTo>
                <a:lnTo>
                  <a:pt x="762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6" name=""/>
          <p:cNvSpPr/>
          <p:nvPr/>
        </p:nvSpPr>
        <p:spPr>
          <a:xfrm>
            <a:off x="752400" y="2095200"/>
            <a:ext cx="9720" cy="533880"/>
          </a:xfrm>
          <a:custGeom>
            <a:avLst/>
            <a:gdLst/>
            <a:ah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7" name=""/>
          <p:cNvSpPr/>
          <p:nvPr/>
        </p:nvSpPr>
        <p:spPr>
          <a:xfrm>
            <a:off x="1838160" y="2095200"/>
            <a:ext cx="9720" cy="533880"/>
          </a:xfrm>
          <a:custGeom>
            <a:avLst/>
            <a:gdLst/>
            <a:ah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8" name=""/>
          <p:cNvSpPr/>
          <p:nvPr/>
        </p:nvSpPr>
        <p:spPr>
          <a:xfrm>
            <a:off x="3838320" y="2095200"/>
            <a:ext cx="10080" cy="533880"/>
          </a:xfrm>
          <a:custGeom>
            <a:avLst/>
            <a:gdLst/>
            <a:ahLst/>
            <a:rect l="0" t="0" r="r" b="b"/>
            <a:pathLst>
              <a:path w="28" h="1483">
                <a:moveTo>
                  <a:pt x="0" y="0"/>
                </a:moveTo>
                <a:lnTo>
                  <a:pt x="28" y="0"/>
                </a:lnTo>
                <a:lnTo>
                  <a:pt x="28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9" name=""/>
          <p:cNvSpPr/>
          <p:nvPr/>
        </p:nvSpPr>
        <p:spPr>
          <a:xfrm>
            <a:off x="5686200" y="2095200"/>
            <a:ext cx="10080" cy="533880"/>
          </a:xfrm>
          <a:custGeom>
            <a:avLst/>
            <a:gdLst/>
            <a:ahLst/>
            <a:rect l="0" t="0" r="r" b="b"/>
            <a:pathLst>
              <a:path w="28" h="1483">
                <a:moveTo>
                  <a:pt x="0" y="0"/>
                </a:moveTo>
                <a:lnTo>
                  <a:pt x="28" y="0"/>
                </a:lnTo>
                <a:lnTo>
                  <a:pt x="28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0" name=""/>
          <p:cNvSpPr/>
          <p:nvPr/>
        </p:nvSpPr>
        <p:spPr>
          <a:xfrm>
            <a:off x="8429400" y="2095200"/>
            <a:ext cx="10080" cy="533880"/>
          </a:xfrm>
          <a:custGeom>
            <a:avLst/>
            <a:gdLst/>
            <a:ahLst/>
            <a:rect l="0" t="0" r="r" b="b"/>
            <a:pathLst>
              <a:path w="28" h="1483">
                <a:moveTo>
                  <a:pt x="0" y="0"/>
                </a:moveTo>
                <a:lnTo>
                  <a:pt x="28" y="0"/>
                </a:lnTo>
                <a:lnTo>
                  <a:pt x="28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1" name=""/>
          <p:cNvSpPr/>
          <p:nvPr/>
        </p:nvSpPr>
        <p:spPr>
          <a:xfrm>
            <a:off x="752400" y="262872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2" name=""/>
          <p:cNvSpPr/>
          <p:nvPr/>
        </p:nvSpPr>
        <p:spPr>
          <a:xfrm>
            <a:off x="752400" y="2619360"/>
            <a:ext cx="1095480" cy="9720"/>
          </a:xfrm>
          <a:custGeom>
            <a:avLst/>
            <a:gdLst/>
            <a:ahLst/>
            <a:rect l="0" t="0" r="r" b="b"/>
            <a:pathLst>
              <a:path w="3043" h="27">
                <a:moveTo>
                  <a:pt x="0" y="0"/>
                </a:moveTo>
                <a:lnTo>
                  <a:pt x="3043" y="0"/>
                </a:lnTo>
                <a:lnTo>
                  <a:pt x="304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3" name=""/>
          <p:cNvSpPr/>
          <p:nvPr/>
        </p:nvSpPr>
        <p:spPr>
          <a:xfrm>
            <a:off x="1838160" y="262872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4" name=""/>
          <p:cNvSpPr/>
          <p:nvPr/>
        </p:nvSpPr>
        <p:spPr>
          <a:xfrm>
            <a:off x="1847520" y="2619360"/>
            <a:ext cx="2000880" cy="9720"/>
          </a:xfrm>
          <a:custGeom>
            <a:avLst/>
            <a:gdLst/>
            <a:ahLst/>
            <a:rect l="0" t="0" r="r" b="b"/>
            <a:pathLst>
              <a:path w="5558" h="27">
                <a:moveTo>
                  <a:pt x="0" y="0"/>
                </a:moveTo>
                <a:lnTo>
                  <a:pt x="5558" y="0"/>
                </a:lnTo>
                <a:lnTo>
                  <a:pt x="555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5" name=""/>
          <p:cNvSpPr/>
          <p:nvPr/>
        </p:nvSpPr>
        <p:spPr>
          <a:xfrm>
            <a:off x="3838320" y="2628720"/>
            <a:ext cx="10080" cy="543240"/>
          </a:xfrm>
          <a:custGeom>
            <a:avLst/>
            <a:gdLst/>
            <a:ah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6" name=""/>
          <p:cNvSpPr/>
          <p:nvPr/>
        </p:nvSpPr>
        <p:spPr>
          <a:xfrm>
            <a:off x="3848040" y="2619360"/>
            <a:ext cx="1848240" cy="9720"/>
          </a:xfrm>
          <a:custGeom>
            <a:avLst/>
            <a:gdLst/>
            <a:ahLst/>
            <a:rect l="0" t="0" r="r" b="b"/>
            <a:pathLst>
              <a:path w="5134" h="27">
                <a:moveTo>
                  <a:pt x="0" y="0"/>
                </a:moveTo>
                <a:lnTo>
                  <a:pt x="5134" y="0"/>
                </a:lnTo>
                <a:lnTo>
                  <a:pt x="513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7" name=""/>
          <p:cNvSpPr/>
          <p:nvPr/>
        </p:nvSpPr>
        <p:spPr>
          <a:xfrm>
            <a:off x="5686200" y="2628720"/>
            <a:ext cx="10080" cy="543240"/>
          </a:xfrm>
          <a:custGeom>
            <a:avLst/>
            <a:gdLst/>
            <a:ah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8" name=""/>
          <p:cNvSpPr/>
          <p:nvPr/>
        </p:nvSpPr>
        <p:spPr>
          <a:xfrm>
            <a:off x="5695920" y="2619360"/>
            <a:ext cx="2743560" cy="9720"/>
          </a:xfrm>
          <a:custGeom>
            <a:avLst/>
            <a:gdLst/>
            <a:ahLst/>
            <a:rect l="0" t="0" r="r" b="b"/>
            <a:pathLst>
              <a:path w="7621" h="27">
                <a:moveTo>
                  <a:pt x="0" y="0"/>
                </a:moveTo>
                <a:lnTo>
                  <a:pt x="7621" y="0"/>
                </a:lnTo>
                <a:lnTo>
                  <a:pt x="762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9" name=""/>
          <p:cNvSpPr/>
          <p:nvPr/>
        </p:nvSpPr>
        <p:spPr>
          <a:xfrm>
            <a:off x="8429400" y="2628720"/>
            <a:ext cx="10080" cy="543240"/>
          </a:xfrm>
          <a:custGeom>
            <a:avLst/>
            <a:gdLst/>
            <a:ah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0" name=""/>
          <p:cNvSpPr/>
          <p:nvPr/>
        </p:nvSpPr>
        <p:spPr>
          <a:xfrm>
            <a:off x="752400" y="3171600"/>
            <a:ext cx="9720" cy="533880"/>
          </a:xfrm>
          <a:custGeom>
            <a:avLst/>
            <a:gdLst/>
            <a:ah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1" name=""/>
          <p:cNvSpPr/>
          <p:nvPr/>
        </p:nvSpPr>
        <p:spPr>
          <a:xfrm>
            <a:off x="752400" y="3162240"/>
            <a:ext cx="1095480" cy="9720"/>
          </a:xfrm>
          <a:custGeom>
            <a:avLst/>
            <a:gdLst/>
            <a:ahLst/>
            <a:rect l="0" t="0" r="r" b="b"/>
            <a:pathLst>
              <a:path w="3043" h="27">
                <a:moveTo>
                  <a:pt x="0" y="0"/>
                </a:moveTo>
                <a:lnTo>
                  <a:pt x="3043" y="0"/>
                </a:lnTo>
                <a:lnTo>
                  <a:pt x="304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2" name=""/>
          <p:cNvSpPr/>
          <p:nvPr/>
        </p:nvSpPr>
        <p:spPr>
          <a:xfrm>
            <a:off x="1838160" y="3171600"/>
            <a:ext cx="9720" cy="533880"/>
          </a:xfrm>
          <a:custGeom>
            <a:avLst/>
            <a:gdLst/>
            <a:ah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3" name=""/>
          <p:cNvSpPr/>
          <p:nvPr/>
        </p:nvSpPr>
        <p:spPr>
          <a:xfrm>
            <a:off x="1847520" y="3162240"/>
            <a:ext cx="2000880" cy="9720"/>
          </a:xfrm>
          <a:custGeom>
            <a:avLst/>
            <a:gdLst/>
            <a:ahLst/>
            <a:rect l="0" t="0" r="r" b="b"/>
            <a:pathLst>
              <a:path w="5558" h="27">
                <a:moveTo>
                  <a:pt x="0" y="0"/>
                </a:moveTo>
                <a:lnTo>
                  <a:pt x="5558" y="0"/>
                </a:lnTo>
                <a:lnTo>
                  <a:pt x="555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4" name=""/>
          <p:cNvSpPr/>
          <p:nvPr/>
        </p:nvSpPr>
        <p:spPr>
          <a:xfrm>
            <a:off x="3838320" y="3171600"/>
            <a:ext cx="10080" cy="533880"/>
          </a:xfrm>
          <a:custGeom>
            <a:avLst/>
            <a:gdLst/>
            <a:ahLst/>
            <a:rect l="0" t="0" r="r" b="b"/>
            <a:pathLst>
              <a:path w="28" h="1483">
                <a:moveTo>
                  <a:pt x="0" y="0"/>
                </a:moveTo>
                <a:lnTo>
                  <a:pt x="28" y="0"/>
                </a:lnTo>
                <a:lnTo>
                  <a:pt x="28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5" name=""/>
          <p:cNvSpPr/>
          <p:nvPr/>
        </p:nvSpPr>
        <p:spPr>
          <a:xfrm>
            <a:off x="3848040" y="3162240"/>
            <a:ext cx="1848240" cy="9720"/>
          </a:xfrm>
          <a:custGeom>
            <a:avLst/>
            <a:gdLst/>
            <a:ahLst/>
            <a:rect l="0" t="0" r="r" b="b"/>
            <a:pathLst>
              <a:path w="5134" h="27">
                <a:moveTo>
                  <a:pt x="0" y="0"/>
                </a:moveTo>
                <a:lnTo>
                  <a:pt x="5134" y="0"/>
                </a:lnTo>
                <a:lnTo>
                  <a:pt x="513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6" name=""/>
          <p:cNvSpPr/>
          <p:nvPr/>
        </p:nvSpPr>
        <p:spPr>
          <a:xfrm>
            <a:off x="5686200" y="3171600"/>
            <a:ext cx="10080" cy="533880"/>
          </a:xfrm>
          <a:custGeom>
            <a:avLst/>
            <a:gdLst/>
            <a:ahLst/>
            <a:rect l="0" t="0" r="r" b="b"/>
            <a:pathLst>
              <a:path w="28" h="1483">
                <a:moveTo>
                  <a:pt x="0" y="0"/>
                </a:moveTo>
                <a:lnTo>
                  <a:pt x="28" y="0"/>
                </a:lnTo>
                <a:lnTo>
                  <a:pt x="28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7" name=""/>
          <p:cNvSpPr/>
          <p:nvPr/>
        </p:nvSpPr>
        <p:spPr>
          <a:xfrm>
            <a:off x="5695920" y="3162240"/>
            <a:ext cx="2743560" cy="9720"/>
          </a:xfrm>
          <a:custGeom>
            <a:avLst/>
            <a:gdLst/>
            <a:ahLst/>
            <a:rect l="0" t="0" r="r" b="b"/>
            <a:pathLst>
              <a:path w="7621" h="27">
                <a:moveTo>
                  <a:pt x="0" y="0"/>
                </a:moveTo>
                <a:lnTo>
                  <a:pt x="7621" y="0"/>
                </a:lnTo>
                <a:lnTo>
                  <a:pt x="762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8" name=""/>
          <p:cNvSpPr/>
          <p:nvPr/>
        </p:nvSpPr>
        <p:spPr>
          <a:xfrm>
            <a:off x="8429400" y="3171600"/>
            <a:ext cx="10080" cy="533880"/>
          </a:xfrm>
          <a:custGeom>
            <a:avLst/>
            <a:gdLst/>
            <a:ahLst/>
            <a:rect l="0" t="0" r="r" b="b"/>
            <a:pathLst>
              <a:path w="28" h="1483">
                <a:moveTo>
                  <a:pt x="0" y="0"/>
                </a:moveTo>
                <a:lnTo>
                  <a:pt x="28" y="0"/>
                </a:lnTo>
                <a:lnTo>
                  <a:pt x="28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9" name=""/>
          <p:cNvSpPr/>
          <p:nvPr/>
        </p:nvSpPr>
        <p:spPr>
          <a:xfrm>
            <a:off x="752400" y="370512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0" name=""/>
          <p:cNvSpPr/>
          <p:nvPr/>
        </p:nvSpPr>
        <p:spPr>
          <a:xfrm>
            <a:off x="752400" y="3695400"/>
            <a:ext cx="1095480" cy="10080"/>
          </a:xfrm>
          <a:custGeom>
            <a:avLst/>
            <a:gdLst/>
            <a:ahLst/>
            <a:rect l="0" t="0" r="r" b="b"/>
            <a:pathLst>
              <a:path w="3043" h="28">
                <a:moveTo>
                  <a:pt x="0" y="0"/>
                </a:moveTo>
                <a:lnTo>
                  <a:pt x="3043" y="0"/>
                </a:lnTo>
                <a:lnTo>
                  <a:pt x="304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1" name=""/>
          <p:cNvSpPr/>
          <p:nvPr/>
        </p:nvSpPr>
        <p:spPr>
          <a:xfrm>
            <a:off x="1838160" y="370512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2" name=""/>
          <p:cNvSpPr/>
          <p:nvPr/>
        </p:nvSpPr>
        <p:spPr>
          <a:xfrm>
            <a:off x="1847520" y="3695400"/>
            <a:ext cx="2000880" cy="10080"/>
          </a:xfrm>
          <a:custGeom>
            <a:avLst/>
            <a:gdLst/>
            <a:ahLst/>
            <a:rect l="0" t="0" r="r" b="b"/>
            <a:pathLst>
              <a:path w="5558" h="28">
                <a:moveTo>
                  <a:pt x="0" y="0"/>
                </a:moveTo>
                <a:lnTo>
                  <a:pt x="5558" y="0"/>
                </a:lnTo>
                <a:lnTo>
                  <a:pt x="555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3" name=""/>
          <p:cNvSpPr/>
          <p:nvPr/>
        </p:nvSpPr>
        <p:spPr>
          <a:xfrm>
            <a:off x="3838320" y="3705120"/>
            <a:ext cx="10080" cy="543240"/>
          </a:xfrm>
          <a:custGeom>
            <a:avLst/>
            <a:gdLst/>
            <a:ah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4" name=""/>
          <p:cNvSpPr/>
          <p:nvPr/>
        </p:nvSpPr>
        <p:spPr>
          <a:xfrm>
            <a:off x="3848040" y="3695400"/>
            <a:ext cx="1848240" cy="10080"/>
          </a:xfrm>
          <a:custGeom>
            <a:avLst/>
            <a:gdLst/>
            <a:ahLst/>
            <a:rect l="0" t="0" r="r" b="b"/>
            <a:pathLst>
              <a:path w="5134" h="28">
                <a:moveTo>
                  <a:pt x="0" y="0"/>
                </a:moveTo>
                <a:lnTo>
                  <a:pt x="5134" y="0"/>
                </a:lnTo>
                <a:lnTo>
                  <a:pt x="513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5" name=""/>
          <p:cNvSpPr/>
          <p:nvPr/>
        </p:nvSpPr>
        <p:spPr>
          <a:xfrm>
            <a:off x="5686200" y="3705120"/>
            <a:ext cx="10080" cy="543240"/>
          </a:xfrm>
          <a:custGeom>
            <a:avLst/>
            <a:gdLst/>
            <a:ah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6" name=""/>
          <p:cNvSpPr/>
          <p:nvPr/>
        </p:nvSpPr>
        <p:spPr>
          <a:xfrm>
            <a:off x="5695920" y="3695400"/>
            <a:ext cx="2743560" cy="10080"/>
          </a:xfrm>
          <a:custGeom>
            <a:avLst/>
            <a:gdLst/>
            <a:ahLst/>
            <a:rect l="0" t="0" r="r" b="b"/>
            <a:pathLst>
              <a:path w="7621" h="28">
                <a:moveTo>
                  <a:pt x="0" y="0"/>
                </a:moveTo>
                <a:lnTo>
                  <a:pt x="7621" y="0"/>
                </a:lnTo>
                <a:lnTo>
                  <a:pt x="762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7" name=""/>
          <p:cNvSpPr/>
          <p:nvPr/>
        </p:nvSpPr>
        <p:spPr>
          <a:xfrm>
            <a:off x="8429400" y="3705120"/>
            <a:ext cx="10080" cy="543240"/>
          </a:xfrm>
          <a:custGeom>
            <a:avLst/>
            <a:gdLst/>
            <a:ah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8" name=""/>
          <p:cNvSpPr/>
          <p:nvPr/>
        </p:nvSpPr>
        <p:spPr>
          <a:xfrm>
            <a:off x="752400" y="4248000"/>
            <a:ext cx="9720" cy="533880"/>
          </a:xfrm>
          <a:custGeom>
            <a:avLst/>
            <a:gdLst/>
            <a:ah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9" name=""/>
          <p:cNvSpPr/>
          <p:nvPr/>
        </p:nvSpPr>
        <p:spPr>
          <a:xfrm>
            <a:off x="752400" y="4238280"/>
            <a:ext cx="1095480" cy="10080"/>
          </a:xfrm>
          <a:custGeom>
            <a:avLst/>
            <a:gdLst/>
            <a:ahLst/>
            <a:rect l="0" t="0" r="r" b="b"/>
            <a:pathLst>
              <a:path w="3043" h="28">
                <a:moveTo>
                  <a:pt x="0" y="0"/>
                </a:moveTo>
                <a:lnTo>
                  <a:pt x="3043" y="0"/>
                </a:lnTo>
                <a:lnTo>
                  <a:pt x="304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0" name=""/>
          <p:cNvSpPr/>
          <p:nvPr/>
        </p:nvSpPr>
        <p:spPr>
          <a:xfrm>
            <a:off x="1838160" y="4248000"/>
            <a:ext cx="9720" cy="533880"/>
          </a:xfrm>
          <a:custGeom>
            <a:avLst/>
            <a:gdLst/>
            <a:ah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1" name=""/>
          <p:cNvSpPr/>
          <p:nvPr/>
        </p:nvSpPr>
        <p:spPr>
          <a:xfrm>
            <a:off x="1847520" y="4238280"/>
            <a:ext cx="2000880" cy="10080"/>
          </a:xfrm>
          <a:custGeom>
            <a:avLst/>
            <a:gdLst/>
            <a:ahLst/>
            <a:rect l="0" t="0" r="r" b="b"/>
            <a:pathLst>
              <a:path w="5558" h="28">
                <a:moveTo>
                  <a:pt x="0" y="0"/>
                </a:moveTo>
                <a:lnTo>
                  <a:pt x="5558" y="0"/>
                </a:lnTo>
                <a:lnTo>
                  <a:pt x="555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2" name=""/>
          <p:cNvSpPr/>
          <p:nvPr/>
        </p:nvSpPr>
        <p:spPr>
          <a:xfrm>
            <a:off x="3838320" y="4248000"/>
            <a:ext cx="10080" cy="533880"/>
          </a:xfrm>
          <a:custGeom>
            <a:avLst/>
            <a:gdLst/>
            <a:ahLst/>
            <a:rect l="0" t="0" r="r" b="b"/>
            <a:pathLst>
              <a:path w="28" h="1483">
                <a:moveTo>
                  <a:pt x="0" y="0"/>
                </a:moveTo>
                <a:lnTo>
                  <a:pt x="28" y="0"/>
                </a:lnTo>
                <a:lnTo>
                  <a:pt x="28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3" name=""/>
          <p:cNvSpPr/>
          <p:nvPr/>
        </p:nvSpPr>
        <p:spPr>
          <a:xfrm>
            <a:off x="3848040" y="4238280"/>
            <a:ext cx="1848240" cy="10080"/>
          </a:xfrm>
          <a:custGeom>
            <a:avLst/>
            <a:gdLst/>
            <a:ahLst/>
            <a:rect l="0" t="0" r="r" b="b"/>
            <a:pathLst>
              <a:path w="5134" h="28">
                <a:moveTo>
                  <a:pt x="0" y="0"/>
                </a:moveTo>
                <a:lnTo>
                  <a:pt x="5134" y="0"/>
                </a:lnTo>
                <a:lnTo>
                  <a:pt x="513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4" name=""/>
          <p:cNvSpPr/>
          <p:nvPr/>
        </p:nvSpPr>
        <p:spPr>
          <a:xfrm>
            <a:off x="5686200" y="4248000"/>
            <a:ext cx="10080" cy="533880"/>
          </a:xfrm>
          <a:custGeom>
            <a:avLst/>
            <a:gdLst/>
            <a:ahLst/>
            <a:rect l="0" t="0" r="r" b="b"/>
            <a:pathLst>
              <a:path w="28" h="1483">
                <a:moveTo>
                  <a:pt x="0" y="0"/>
                </a:moveTo>
                <a:lnTo>
                  <a:pt x="28" y="0"/>
                </a:lnTo>
                <a:lnTo>
                  <a:pt x="28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5" name=""/>
          <p:cNvSpPr/>
          <p:nvPr/>
        </p:nvSpPr>
        <p:spPr>
          <a:xfrm>
            <a:off x="5695920" y="4238280"/>
            <a:ext cx="2743560" cy="10080"/>
          </a:xfrm>
          <a:custGeom>
            <a:avLst/>
            <a:gdLst/>
            <a:ahLst/>
            <a:rect l="0" t="0" r="r" b="b"/>
            <a:pathLst>
              <a:path w="7621" h="28">
                <a:moveTo>
                  <a:pt x="0" y="0"/>
                </a:moveTo>
                <a:lnTo>
                  <a:pt x="7621" y="0"/>
                </a:lnTo>
                <a:lnTo>
                  <a:pt x="762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6" name=""/>
          <p:cNvSpPr/>
          <p:nvPr/>
        </p:nvSpPr>
        <p:spPr>
          <a:xfrm>
            <a:off x="8429400" y="4248000"/>
            <a:ext cx="10080" cy="533880"/>
          </a:xfrm>
          <a:custGeom>
            <a:avLst/>
            <a:gdLst/>
            <a:ahLst/>
            <a:rect l="0" t="0" r="r" b="b"/>
            <a:pathLst>
              <a:path w="28" h="1483">
                <a:moveTo>
                  <a:pt x="0" y="0"/>
                </a:moveTo>
                <a:lnTo>
                  <a:pt x="28" y="0"/>
                </a:lnTo>
                <a:lnTo>
                  <a:pt x="28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7" name=""/>
          <p:cNvSpPr/>
          <p:nvPr/>
        </p:nvSpPr>
        <p:spPr>
          <a:xfrm>
            <a:off x="752400" y="478152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8" name=""/>
          <p:cNvSpPr/>
          <p:nvPr/>
        </p:nvSpPr>
        <p:spPr>
          <a:xfrm>
            <a:off x="752400" y="4771800"/>
            <a:ext cx="1095480" cy="10080"/>
          </a:xfrm>
          <a:custGeom>
            <a:avLst/>
            <a:gdLst/>
            <a:ahLst/>
            <a:rect l="0" t="0" r="r" b="b"/>
            <a:pathLst>
              <a:path w="3043" h="28">
                <a:moveTo>
                  <a:pt x="0" y="0"/>
                </a:moveTo>
                <a:lnTo>
                  <a:pt x="3043" y="0"/>
                </a:lnTo>
                <a:lnTo>
                  <a:pt x="304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9" name=""/>
          <p:cNvSpPr/>
          <p:nvPr/>
        </p:nvSpPr>
        <p:spPr>
          <a:xfrm>
            <a:off x="1838160" y="478152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0" name=""/>
          <p:cNvSpPr/>
          <p:nvPr/>
        </p:nvSpPr>
        <p:spPr>
          <a:xfrm>
            <a:off x="1847520" y="4771800"/>
            <a:ext cx="2000880" cy="10080"/>
          </a:xfrm>
          <a:custGeom>
            <a:avLst/>
            <a:gdLst/>
            <a:ahLst/>
            <a:rect l="0" t="0" r="r" b="b"/>
            <a:pathLst>
              <a:path w="5558" h="28">
                <a:moveTo>
                  <a:pt x="0" y="0"/>
                </a:moveTo>
                <a:lnTo>
                  <a:pt x="5558" y="0"/>
                </a:lnTo>
                <a:lnTo>
                  <a:pt x="555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1" name=""/>
          <p:cNvSpPr/>
          <p:nvPr/>
        </p:nvSpPr>
        <p:spPr>
          <a:xfrm>
            <a:off x="3838320" y="4781520"/>
            <a:ext cx="10080" cy="543240"/>
          </a:xfrm>
          <a:custGeom>
            <a:avLst/>
            <a:gdLst/>
            <a:ah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2" name=""/>
          <p:cNvSpPr/>
          <p:nvPr/>
        </p:nvSpPr>
        <p:spPr>
          <a:xfrm>
            <a:off x="3848040" y="4771800"/>
            <a:ext cx="1848240" cy="10080"/>
          </a:xfrm>
          <a:custGeom>
            <a:avLst/>
            <a:gdLst/>
            <a:ahLst/>
            <a:rect l="0" t="0" r="r" b="b"/>
            <a:pathLst>
              <a:path w="5134" h="28">
                <a:moveTo>
                  <a:pt x="0" y="0"/>
                </a:moveTo>
                <a:lnTo>
                  <a:pt x="5134" y="0"/>
                </a:lnTo>
                <a:lnTo>
                  <a:pt x="513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3" name=""/>
          <p:cNvSpPr/>
          <p:nvPr/>
        </p:nvSpPr>
        <p:spPr>
          <a:xfrm>
            <a:off x="5686200" y="4781520"/>
            <a:ext cx="10080" cy="543240"/>
          </a:xfrm>
          <a:custGeom>
            <a:avLst/>
            <a:gdLst/>
            <a:ah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4" name=""/>
          <p:cNvSpPr/>
          <p:nvPr/>
        </p:nvSpPr>
        <p:spPr>
          <a:xfrm>
            <a:off x="5695920" y="4771800"/>
            <a:ext cx="2743560" cy="10080"/>
          </a:xfrm>
          <a:custGeom>
            <a:avLst/>
            <a:gdLst/>
            <a:ahLst/>
            <a:rect l="0" t="0" r="r" b="b"/>
            <a:pathLst>
              <a:path w="7621" h="28">
                <a:moveTo>
                  <a:pt x="0" y="0"/>
                </a:moveTo>
                <a:lnTo>
                  <a:pt x="7621" y="0"/>
                </a:lnTo>
                <a:lnTo>
                  <a:pt x="762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5" name=""/>
          <p:cNvSpPr/>
          <p:nvPr/>
        </p:nvSpPr>
        <p:spPr>
          <a:xfrm>
            <a:off x="8429400" y="4781520"/>
            <a:ext cx="10080" cy="543240"/>
          </a:xfrm>
          <a:custGeom>
            <a:avLst/>
            <a:gdLst/>
            <a:ah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6" name=""/>
          <p:cNvSpPr/>
          <p:nvPr/>
        </p:nvSpPr>
        <p:spPr>
          <a:xfrm>
            <a:off x="752400" y="5324400"/>
            <a:ext cx="9720" cy="533520"/>
          </a:xfrm>
          <a:custGeom>
            <a:avLst/>
            <a:gdLst/>
            <a:ahLst/>
            <a:rect l="0" t="0" r="r" b="b"/>
            <a:pathLst>
              <a:path w="27" h="1482">
                <a:moveTo>
                  <a:pt x="0" y="0"/>
                </a:moveTo>
                <a:lnTo>
                  <a:pt x="27" y="0"/>
                </a:lnTo>
                <a:lnTo>
                  <a:pt x="2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7" name=""/>
          <p:cNvSpPr/>
          <p:nvPr/>
        </p:nvSpPr>
        <p:spPr>
          <a:xfrm>
            <a:off x="752400" y="5314680"/>
            <a:ext cx="1095480" cy="10080"/>
          </a:xfrm>
          <a:custGeom>
            <a:avLst/>
            <a:gdLst/>
            <a:ahLst/>
            <a:rect l="0" t="0" r="r" b="b"/>
            <a:pathLst>
              <a:path w="3043" h="28">
                <a:moveTo>
                  <a:pt x="0" y="0"/>
                </a:moveTo>
                <a:lnTo>
                  <a:pt x="3043" y="0"/>
                </a:lnTo>
                <a:lnTo>
                  <a:pt x="304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8" name=""/>
          <p:cNvSpPr/>
          <p:nvPr/>
        </p:nvSpPr>
        <p:spPr>
          <a:xfrm>
            <a:off x="1838160" y="5324400"/>
            <a:ext cx="9720" cy="533520"/>
          </a:xfrm>
          <a:custGeom>
            <a:avLst/>
            <a:gdLst/>
            <a:ahLst/>
            <a:rect l="0" t="0" r="r" b="b"/>
            <a:pathLst>
              <a:path w="27" h="1482">
                <a:moveTo>
                  <a:pt x="0" y="0"/>
                </a:moveTo>
                <a:lnTo>
                  <a:pt x="27" y="0"/>
                </a:lnTo>
                <a:lnTo>
                  <a:pt x="2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9" name=""/>
          <p:cNvSpPr/>
          <p:nvPr/>
        </p:nvSpPr>
        <p:spPr>
          <a:xfrm>
            <a:off x="1847520" y="5314680"/>
            <a:ext cx="2000880" cy="10080"/>
          </a:xfrm>
          <a:custGeom>
            <a:avLst/>
            <a:gdLst/>
            <a:ahLst/>
            <a:rect l="0" t="0" r="r" b="b"/>
            <a:pathLst>
              <a:path w="5558" h="28">
                <a:moveTo>
                  <a:pt x="0" y="0"/>
                </a:moveTo>
                <a:lnTo>
                  <a:pt x="5558" y="0"/>
                </a:lnTo>
                <a:lnTo>
                  <a:pt x="555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0" name=""/>
          <p:cNvSpPr/>
          <p:nvPr/>
        </p:nvSpPr>
        <p:spPr>
          <a:xfrm>
            <a:off x="3838320" y="5324400"/>
            <a:ext cx="10080" cy="533520"/>
          </a:xfrm>
          <a:custGeom>
            <a:avLst/>
            <a:gdLst/>
            <a:ahLst/>
            <a:rect l="0" t="0" r="r" b="b"/>
            <a:pathLst>
              <a:path w="28" h="1482">
                <a:moveTo>
                  <a:pt x="0" y="0"/>
                </a:moveTo>
                <a:lnTo>
                  <a:pt x="28" y="0"/>
                </a:lnTo>
                <a:lnTo>
                  <a:pt x="28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1" name=""/>
          <p:cNvSpPr/>
          <p:nvPr/>
        </p:nvSpPr>
        <p:spPr>
          <a:xfrm>
            <a:off x="3848040" y="5314680"/>
            <a:ext cx="1848240" cy="10080"/>
          </a:xfrm>
          <a:custGeom>
            <a:avLst/>
            <a:gdLst/>
            <a:ahLst/>
            <a:rect l="0" t="0" r="r" b="b"/>
            <a:pathLst>
              <a:path w="5134" h="28">
                <a:moveTo>
                  <a:pt x="0" y="0"/>
                </a:moveTo>
                <a:lnTo>
                  <a:pt x="5134" y="0"/>
                </a:lnTo>
                <a:lnTo>
                  <a:pt x="513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2" name=""/>
          <p:cNvSpPr/>
          <p:nvPr/>
        </p:nvSpPr>
        <p:spPr>
          <a:xfrm>
            <a:off x="5686200" y="5324400"/>
            <a:ext cx="10080" cy="533520"/>
          </a:xfrm>
          <a:custGeom>
            <a:avLst/>
            <a:gdLst/>
            <a:ahLst/>
            <a:rect l="0" t="0" r="r" b="b"/>
            <a:pathLst>
              <a:path w="28" h="1482">
                <a:moveTo>
                  <a:pt x="0" y="0"/>
                </a:moveTo>
                <a:lnTo>
                  <a:pt x="28" y="0"/>
                </a:lnTo>
                <a:lnTo>
                  <a:pt x="28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3" name=""/>
          <p:cNvSpPr/>
          <p:nvPr/>
        </p:nvSpPr>
        <p:spPr>
          <a:xfrm>
            <a:off x="5695920" y="5314680"/>
            <a:ext cx="2743560" cy="10080"/>
          </a:xfrm>
          <a:custGeom>
            <a:avLst/>
            <a:gdLst/>
            <a:ahLst/>
            <a:rect l="0" t="0" r="r" b="b"/>
            <a:pathLst>
              <a:path w="7621" h="28">
                <a:moveTo>
                  <a:pt x="0" y="0"/>
                </a:moveTo>
                <a:lnTo>
                  <a:pt x="7621" y="0"/>
                </a:lnTo>
                <a:lnTo>
                  <a:pt x="762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4" name=""/>
          <p:cNvSpPr/>
          <p:nvPr/>
        </p:nvSpPr>
        <p:spPr>
          <a:xfrm>
            <a:off x="8429400" y="5324400"/>
            <a:ext cx="10080" cy="533520"/>
          </a:xfrm>
          <a:custGeom>
            <a:avLst/>
            <a:gdLst/>
            <a:ahLst/>
            <a:rect l="0" t="0" r="r" b="b"/>
            <a:pathLst>
              <a:path w="28" h="1482">
                <a:moveTo>
                  <a:pt x="0" y="0"/>
                </a:moveTo>
                <a:lnTo>
                  <a:pt x="28" y="0"/>
                </a:lnTo>
                <a:lnTo>
                  <a:pt x="28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5" name=""/>
          <p:cNvSpPr/>
          <p:nvPr/>
        </p:nvSpPr>
        <p:spPr>
          <a:xfrm>
            <a:off x="752400" y="585756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6" name=""/>
          <p:cNvSpPr/>
          <p:nvPr/>
        </p:nvSpPr>
        <p:spPr>
          <a:xfrm>
            <a:off x="752400" y="5848200"/>
            <a:ext cx="1095480" cy="9720"/>
          </a:xfrm>
          <a:custGeom>
            <a:avLst/>
            <a:gdLst/>
            <a:ahLst/>
            <a:rect l="0" t="0" r="r" b="b"/>
            <a:pathLst>
              <a:path w="3043" h="27">
                <a:moveTo>
                  <a:pt x="0" y="0"/>
                </a:moveTo>
                <a:lnTo>
                  <a:pt x="3043" y="0"/>
                </a:lnTo>
                <a:lnTo>
                  <a:pt x="304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7" name=""/>
          <p:cNvSpPr/>
          <p:nvPr/>
        </p:nvSpPr>
        <p:spPr>
          <a:xfrm>
            <a:off x="1838160" y="585756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8" name=""/>
          <p:cNvSpPr/>
          <p:nvPr/>
        </p:nvSpPr>
        <p:spPr>
          <a:xfrm>
            <a:off x="1847520" y="5848200"/>
            <a:ext cx="2000880" cy="9720"/>
          </a:xfrm>
          <a:custGeom>
            <a:avLst/>
            <a:gdLst/>
            <a:ahLst/>
            <a:rect l="0" t="0" r="r" b="b"/>
            <a:pathLst>
              <a:path w="5558" h="27">
                <a:moveTo>
                  <a:pt x="0" y="0"/>
                </a:moveTo>
                <a:lnTo>
                  <a:pt x="5558" y="0"/>
                </a:lnTo>
                <a:lnTo>
                  <a:pt x="555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9" name=""/>
          <p:cNvSpPr/>
          <p:nvPr/>
        </p:nvSpPr>
        <p:spPr>
          <a:xfrm>
            <a:off x="3838320" y="5857560"/>
            <a:ext cx="10080" cy="543240"/>
          </a:xfrm>
          <a:custGeom>
            <a:avLst/>
            <a:gdLst/>
            <a:ah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0" name=""/>
          <p:cNvSpPr/>
          <p:nvPr/>
        </p:nvSpPr>
        <p:spPr>
          <a:xfrm>
            <a:off x="3848040" y="5848200"/>
            <a:ext cx="1848240" cy="9720"/>
          </a:xfrm>
          <a:custGeom>
            <a:avLst/>
            <a:gdLst/>
            <a:ahLst/>
            <a:rect l="0" t="0" r="r" b="b"/>
            <a:pathLst>
              <a:path w="5134" h="27">
                <a:moveTo>
                  <a:pt x="0" y="0"/>
                </a:moveTo>
                <a:lnTo>
                  <a:pt x="5134" y="0"/>
                </a:lnTo>
                <a:lnTo>
                  <a:pt x="513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1" name=""/>
          <p:cNvSpPr/>
          <p:nvPr/>
        </p:nvSpPr>
        <p:spPr>
          <a:xfrm>
            <a:off x="5686200" y="5857560"/>
            <a:ext cx="10080" cy="543240"/>
          </a:xfrm>
          <a:custGeom>
            <a:avLst/>
            <a:gdLst/>
            <a:ah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2" name=""/>
          <p:cNvSpPr/>
          <p:nvPr/>
        </p:nvSpPr>
        <p:spPr>
          <a:xfrm>
            <a:off x="5695920" y="5848200"/>
            <a:ext cx="2743560" cy="9720"/>
          </a:xfrm>
          <a:custGeom>
            <a:avLst/>
            <a:gdLst/>
            <a:ahLst/>
            <a:rect l="0" t="0" r="r" b="b"/>
            <a:pathLst>
              <a:path w="7621" h="27">
                <a:moveTo>
                  <a:pt x="0" y="0"/>
                </a:moveTo>
                <a:lnTo>
                  <a:pt x="7621" y="0"/>
                </a:lnTo>
                <a:lnTo>
                  <a:pt x="762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3" name=""/>
          <p:cNvSpPr/>
          <p:nvPr/>
        </p:nvSpPr>
        <p:spPr>
          <a:xfrm>
            <a:off x="8429400" y="5857560"/>
            <a:ext cx="10080" cy="543240"/>
          </a:xfrm>
          <a:custGeom>
            <a:avLst/>
            <a:gdLst/>
            <a:ah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4" name=""/>
          <p:cNvSpPr/>
          <p:nvPr/>
        </p:nvSpPr>
        <p:spPr>
          <a:xfrm>
            <a:off x="752400" y="6400440"/>
            <a:ext cx="9720" cy="457560"/>
          </a:xfrm>
          <a:custGeom>
            <a:avLst/>
            <a:gdLst/>
            <a:ahLst/>
            <a:rect l="0" t="0" r="r" b="b"/>
            <a:pathLst>
              <a:path w="27" h="1271">
                <a:moveTo>
                  <a:pt x="0" y="0"/>
                </a:moveTo>
                <a:lnTo>
                  <a:pt x="27" y="0"/>
                </a:lnTo>
                <a:lnTo>
                  <a:pt x="27" y="1271"/>
                </a:lnTo>
                <a:lnTo>
                  <a:pt x="0" y="127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5" name=""/>
          <p:cNvSpPr/>
          <p:nvPr/>
        </p:nvSpPr>
        <p:spPr>
          <a:xfrm>
            <a:off x="752400" y="6391080"/>
            <a:ext cx="1095480" cy="9720"/>
          </a:xfrm>
          <a:custGeom>
            <a:avLst/>
            <a:gdLst/>
            <a:ahLst/>
            <a:rect l="0" t="0" r="r" b="b"/>
            <a:pathLst>
              <a:path w="3043" h="27">
                <a:moveTo>
                  <a:pt x="0" y="0"/>
                </a:moveTo>
                <a:lnTo>
                  <a:pt x="3043" y="0"/>
                </a:lnTo>
                <a:lnTo>
                  <a:pt x="304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6" name=""/>
          <p:cNvSpPr/>
          <p:nvPr/>
        </p:nvSpPr>
        <p:spPr>
          <a:xfrm>
            <a:off x="1838160" y="6400440"/>
            <a:ext cx="9720" cy="457560"/>
          </a:xfrm>
          <a:custGeom>
            <a:avLst/>
            <a:gdLst/>
            <a:ahLst/>
            <a:rect l="0" t="0" r="r" b="b"/>
            <a:pathLst>
              <a:path w="27" h="1271">
                <a:moveTo>
                  <a:pt x="0" y="0"/>
                </a:moveTo>
                <a:lnTo>
                  <a:pt x="27" y="0"/>
                </a:lnTo>
                <a:lnTo>
                  <a:pt x="27" y="1271"/>
                </a:lnTo>
                <a:lnTo>
                  <a:pt x="0" y="127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7" name=""/>
          <p:cNvSpPr/>
          <p:nvPr/>
        </p:nvSpPr>
        <p:spPr>
          <a:xfrm>
            <a:off x="1847520" y="6391080"/>
            <a:ext cx="2000880" cy="9720"/>
          </a:xfrm>
          <a:custGeom>
            <a:avLst/>
            <a:gdLst/>
            <a:ahLst/>
            <a:rect l="0" t="0" r="r" b="b"/>
            <a:pathLst>
              <a:path w="5558" h="27">
                <a:moveTo>
                  <a:pt x="0" y="0"/>
                </a:moveTo>
                <a:lnTo>
                  <a:pt x="5558" y="0"/>
                </a:lnTo>
                <a:lnTo>
                  <a:pt x="555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8" name=""/>
          <p:cNvSpPr/>
          <p:nvPr/>
        </p:nvSpPr>
        <p:spPr>
          <a:xfrm>
            <a:off x="3838320" y="6400440"/>
            <a:ext cx="10080" cy="457560"/>
          </a:xfrm>
          <a:custGeom>
            <a:avLst/>
            <a:gdLst/>
            <a:ahLst/>
            <a:rect l="0" t="0" r="r" b="b"/>
            <a:pathLst>
              <a:path w="28" h="1271">
                <a:moveTo>
                  <a:pt x="0" y="0"/>
                </a:moveTo>
                <a:lnTo>
                  <a:pt x="28" y="0"/>
                </a:lnTo>
                <a:lnTo>
                  <a:pt x="28" y="1271"/>
                </a:lnTo>
                <a:lnTo>
                  <a:pt x="0" y="127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9" name=""/>
          <p:cNvSpPr/>
          <p:nvPr/>
        </p:nvSpPr>
        <p:spPr>
          <a:xfrm>
            <a:off x="3848040" y="6391080"/>
            <a:ext cx="1848240" cy="9720"/>
          </a:xfrm>
          <a:custGeom>
            <a:avLst/>
            <a:gdLst/>
            <a:ahLst/>
            <a:rect l="0" t="0" r="r" b="b"/>
            <a:pathLst>
              <a:path w="5134" h="27">
                <a:moveTo>
                  <a:pt x="0" y="0"/>
                </a:moveTo>
                <a:lnTo>
                  <a:pt x="5134" y="0"/>
                </a:lnTo>
                <a:lnTo>
                  <a:pt x="513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0" name=""/>
          <p:cNvSpPr/>
          <p:nvPr/>
        </p:nvSpPr>
        <p:spPr>
          <a:xfrm>
            <a:off x="5686200" y="6400440"/>
            <a:ext cx="10080" cy="457560"/>
          </a:xfrm>
          <a:custGeom>
            <a:avLst/>
            <a:gdLst/>
            <a:ahLst/>
            <a:rect l="0" t="0" r="r" b="b"/>
            <a:pathLst>
              <a:path w="28" h="1271">
                <a:moveTo>
                  <a:pt x="0" y="0"/>
                </a:moveTo>
                <a:lnTo>
                  <a:pt x="28" y="0"/>
                </a:lnTo>
                <a:lnTo>
                  <a:pt x="28" y="1271"/>
                </a:lnTo>
                <a:lnTo>
                  <a:pt x="0" y="127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1" name=""/>
          <p:cNvSpPr/>
          <p:nvPr/>
        </p:nvSpPr>
        <p:spPr>
          <a:xfrm>
            <a:off x="5695920" y="6391080"/>
            <a:ext cx="2743560" cy="9720"/>
          </a:xfrm>
          <a:custGeom>
            <a:avLst/>
            <a:gdLst/>
            <a:ahLst/>
            <a:rect l="0" t="0" r="r" b="b"/>
            <a:pathLst>
              <a:path w="7621" h="27">
                <a:moveTo>
                  <a:pt x="0" y="0"/>
                </a:moveTo>
                <a:lnTo>
                  <a:pt x="7621" y="0"/>
                </a:lnTo>
                <a:lnTo>
                  <a:pt x="762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2" name=""/>
          <p:cNvSpPr/>
          <p:nvPr/>
        </p:nvSpPr>
        <p:spPr>
          <a:xfrm>
            <a:off x="8429400" y="6400440"/>
            <a:ext cx="10080" cy="457560"/>
          </a:xfrm>
          <a:custGeom>
            <a:avLst/>
            <a:gdLst/>
            <a:ahLst/>
            <a:rect l="0" t="0" r="r" b="b"/>
            <a:pathLst>
              <a:path w="28" h="1271">
                <a:moveTo>
                  <a:pt x="0" y="0"/>
                </a:moveTo>
                <a:lnTo>
                  <a:pt x="28" y="0"/>
                </a:lnTo>
                <a:lnTo>
                  <a:pt x="28" y="1271"/>
                </a:lnTo>
                <a:lnTo>
                  <a:pt x="0" y="127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3" name=""/>
          <p:cNvSpPr txBox="1"/>
          <p:nvPr/>
        </p:nvSpPr>
        <p:spPr>
          <a:xfrm>
            <a:off x="747720" y="123120"/>
            <a:ext cx="870480" cy="58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480" b="1" u="none" strike="noStrike">
                <a:solidFill>
                  <a:srgbClr val="224466"/>
                </a:solidFill>
                <a:effectLst/>
                <a:uFillTx/>
                <a:latin typeface="SegoeUI"/>
                <a:ea typeface="SegoeUI"/>
              </a:rPr>
              <a:t>8.5. </a:t>
            </a:r>
            <a:endParaRPr lang="en-US" sz="34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4" name=""/>
          <p:cNvSpPr txBox="1"/>
          <p:nvPr/>
        </p:nvSpPr>
        <p:spPr>
          <a:xfrm>
            <a:off x="1573200" y="158040"/>
            <a:ext cx="3978360" cy="53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3480" b="0" u="none" strike="noStrike">
                <a:solidFill>
                  <a:srgbClr val="224466"/>
                </a:solidFill>
                <a:effectLst/>
                <a:uFillTx/>
                <a:latin typeface="NotoSansSC"/>
                <a:ea typeface="NotoSansSC"/>
              </a:rPr>
              <a:t>性能指标与监控告警</a:t>
            </a:r>
            <a:endParaRPr lang="en-US" sz="34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5" name=""/>
          <p:cNvSpPr/>
          <p:nvPr/>
        </p:nvSpPr>
        <p:spPr>
          <a:xfrm>
            <a:off x="5739840" y="224640"/>
            <a:ext cx="398160" cy="398520"/>
          </a:xfrm>
          <a:custGeom>
            <a:avLst/>
            <a:gdLst/>
            <a:ahLst/>
            <a:rect l="0" t="0" r="r" b="b"/>
            <a:pathLst>
              <a:path w="1106" h="1107">
                <a:moveTo>
                  <a:pt x="1002" y="0"/>
                </a:moveTo>
                <a:lnTo>
                  <a:pt x="104" y="0"/>
                </a:lnTo>
                <a:cubicBezTo>
                  <a:pt x="46" y="0"/>
                  <a:pt x="0" y="47"/>
                  <a:pt x="0" y="104"/>
                </a:cubicBezTo>
                <a:lnTo>
                  <a:pt x="0" y="1002"/>
                </a:lnTo>
                <a:cubicBezTo>
                  <a:pt x="0" y="1060"/>
                  <a:pt x="46" y="1107"/>
                  <a:pt x="104" y="1107"/>
                </a:cubicBezTo>
                <a:lnTo>
                  <a:pt x="1002" y="1107"/>
                </a:lnTo>
                <a:cubicBezTo>
                  <a:pt x="1060" y="1107"/>
                  <a:pt x="1106" y="1060"/>
                  <a:pt x="1106" y="1002"/>
                </a:cubicBezTo>
                <a:lnTo>
                  <a:pt x="1106" y="104"/>
                </a:lnTo>
                <a:cubicBezTo>
                  <a:pt x="1106" y="47"/>
                  <a:pt x="1060" y="0"/>
                  <a:pt x="1002" y="0"/>
                </a:cubicBezTo>
                <a:close/>
              </a:path>
            </a:pathLst>
          </a:custGeom>
          <a:solidFill>
            <a:srgbClr val="CCD6D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6" name=""/>
          <p:cNvSpPr/>
          <p:nvPr/>
        </p:nvSpPr>
        <p:spPr>
          <a:xfrm>
            <a:off x="5727240" y="212400"/>
            <a:ext cx="423000" cy="423000"/>
          </a:xfrm>
          <a:custGeom>
            <a:avLst/>
            <a:gdLst/>
            <a:ahLst/>
            <a:rect l="0" t="0" r="r" b="b"/>
            <a:pathLst>
              <a:path w="1175" h="1175">
                <a:moveTo>
                  <a:pt x="1036" y="0"/>
                </a:moveTo>
                <a:lnTo>
                  <a:pt x="138" y="0"/>
                </a:lnTo>
                <a:cubicBezTo>
                  <a:pt x="62" y="0"/>
                  <a:pt x="0" y="62"/>
                  <a:pt x="0" y="138"/>
                </a:cubicBezTo>
                <a:lnTo>
                  <a:pt x="0" y="1036"/>
                </a:lnTo>
                <a:cubicBezTo>
                  <a:pt x="0" y="1112"/>
                  <a:pt x="62" y="1175"/>
                  <a:pt x="138" y="1175"/>
                </a:cubicBezTo>
                <a:lnTo>
                  <a:pt x="1036" y="1175"/>
                </a:lnTo>
                <a:cubicBezTo>
                  <a:pt x="1113" y="1175"/>
                  <a:pt x="1175" y="1112"/>
                  <a:pt x="1175" y="1036"/>
                </a:cubicBezTo>
                <a:lnTo>
                  <a:pt x="1175" y="138"/>
                </a:lnTo>
                <a:cubicBezTo>
                  <a:pt x="1175" y="62"/>
                  <a:pt x="1113" y="0"/>
                  <a:pt x="1036" y="0"/>
                </a:cubicBezTo>
                <a:moveTo>
                  <a:pt x="1036" y="69"/>
                </a:moveTo>
                <a:cubicBezTo>
                  <a:pt x="1074" y="69"/>
                  <a:pt x="1105" y="100"/>
                  <a:pt x="1105" y="138"/>
                </a:cubicBezTo>
                <a:lnTo>
                  <a:pt x="1105" y="276"/>
                </a:lnTo>
                <a:lnTo>
                  <a:pt x="898" y="276"/>
                </a:lnTo>
                <a:lnTo>
                  <a:pt x="898" y="69"/>
                </a:lnTo>
                <a:lnTo>
                  <a:pt x="1036" y="69"/>
                </a:lnTo>
                <a:moveTo>
                  <a:pt x="898" y="621"/>
                </a:moveTo>
                <a:lnTo>
                  <a:pt x="1105" y="621"/>
                </a:lnTo>
                <a:lnTo>
                  <a:pt x="1105" y="829"/>
                </a:lnTo>
                <a:lnTo>
                  <a:pt x="898" y="829"/>
                </a:lnTo>
                <a:lnTo>
                  <a:pt x="898" y="621"/>
                </a:lnTo>
                <a:moveTo>
                  <a:pt x="898" y="552"/>
                </a:moveTo>
                <a:lnTo>
                  <a:pt x="898" y="345"/>
                </a:lnTo>
                <a:lnTo>
                  <a:pt x="1105" y="345"/>
                </a:lnTo>
                <a:lnTo>
                  <a:pt x="1105" y="552"/>
                </a:lnTo>
                <a:lnTo>
                  <a:pt x="898" y="552"/>
                </a:lnTo>
                <a:moveTo>
                  <a:pt x="829" y="69"/>
                </a:moveTo>
                <a:lnTo>
                  <a:pt x="829" y="276"/>
                </a:lnTo>
                <a:lnTo>
                  <a:pt x="622" y="276"/>
                </a:lnTo>
                <a:lnTo>
                  <a:pt x="622" y="69"/>
                </a:lnTo>
                <a:lnTo>
                  <a:pt x="829" y="69"/>
                </a:lnTo>
                <a:moveTo>
                  <a:pt x="622" y="345"/>
                </a:moveTo>
                <a:lnTo>
                  <a:pt x="829" y="345"/>
                </a:lnTo>
                <a:lnTo>
                  <a:pt x="829" y="552"/>
                </a:lnTo>
                <a:lnTo>
                  <a:pt x="622" y="552"/>
                </a:lnTo>
                <a:lnTo>
                  <a:pt x="622" y="345"/>
                </a:lnTo>
                <a:moveTo>
                  <a:pt x="622" y="621"/>
                </a:moveTo>
                <a:lnTo>
                  <a:pt x="829" y="621"/>
                </a:lnTo>
                <a:lnTo>
                  <a:pt x="829" y="829"/>
                </a:lnTo>
                <a:lnTo>
                  <a:pt x="622" y="829"/>
                </a:lnTo>
                <a:lnTo>
                  <a:pt x="622" y="621"/>
                </a:lnTo>
                <a:moveTo>
                  <a:pt x="553" y="69"/>
                </a:moveTo>
                <a:lnTo>
                  <a:pt x="553" y="276"/>
                </a:lnTo>
                <a:lnTo>
                  <a:pt x="345" y="276"/>
                </a:lnTo>
                <a:lnTo>
                  <a:pt x="345" y="69"/>
                </a:lnTo>
                <a:lnTo>
                  <a:pt x="553" y="69"/>
                </a:lnTo>
                <a:moveTo>
                  <a:pt x="345" y="345"/>
                </a:moveTo>
                <a:lnTo>
                  <a:pt x="553" y="345"/>
                </a:lnTo>
                <a:lnTo>
                  <a:pt x="553" y="552"/>
                </a:lnTo>
                <a:lnTo>
                  <a:pt x="345" y="552"/>
                </a:lnTo>
                <a:lnTo>
                  <a:pt x="345" y="345"/>
                </a:lnTo>
                <a:moveTo>
                  <a:pt x="345" y="621"/>
                </a:moveTo>
                <a:lnTo>
                  <a:pt x="553" y="621"/>
                </a:lnTo>
                <a:lnTo>
                  <a:pt x="553" y="829"/>
                </a:lnTo>
                <a:lnTo>
                  <a:pt x="345" y="829"/>
                </a:lnTo>
                <a:lnTo>
                  <a:pt x="345" y="621"/>
                </a:lnTo>
                <a:moveTo>
                  <a:pt x="69" y="138"/>
                </a:moveTo>
                <a:cubicBezTo>
                  <a:pt x="69" y="100"/>
                  <a:pt x="100" y="69"/>
                  <a:pt x="138" y="69"/>
                </a:cubicBezTo>
                <a:lnTo>
                  <a:pt x="276" y="69"/>
                </a:lnTo>
                <a:lnTo>
                  <a:pt x="276" y="276"/>
                </a:lnTo>
                <a:lnTo>
                  <a:pt x="69" y="276"/>
                </a:lnTo>
                <a:lnTo>
                  <a:pt x="69" y="138"/>
                </a:lnTo>
                <a:moveTo>
                  <a:pt x="69" y="345"/>
                </a:moveTo>
                <a:lnTo>
                  <a:pt x="276" y="345"/>
                </a:lnTo>
                <a:lnTo>
                  <a:pt x="276" y="552"/>
                </a:lnTo>
                <a:lnTo>
                  <a:pt x="69" y="552"/>
                </a:lnTo>
                <a:lnTo>
                  <a:pt x="69" y="345"/>
                </a:lnTo>
                <a:moveTo>
                  <a:pt x="69" y="621"/>
                </a:moveTo>
                <a:lnTo>
                  <a:pt x="276" y="621"/>
                </a:lnTo>
                <a:lnTo>
                  <a:pt x="276" y="829"/>
                </a:lnTo>
                <a:lnTo>
                  <a:pt x="69" y="829"/>
                </a:lnTo>
                <a:lnTo>
                  <a:pt x="69" y="621"/>
                </a:lnTo>
                <a:moveTo>
                  <a:pt x="138" y="1105"/>
                </a:moveTo>
                <a:cubicBezTo>
                  <a:pt x="100" y="1105"/>
                  <a:pt x="69" y="1074"/>
                  <a:pt x="69" y="1036"/>
                </a:cubicBezTo>
                <a:lnTo>
                  <a:pt x="69" y="898"/>
                </a:lnTo>
                <a:lnTo>
                  <a:pt x="276" y="898"/>
                </a:lnTo>
                <a:lnTo>
                  <a:pt x="276" y="1105"/>
                </a:lnTo>
                <a:lnTo>
                  <a:pt x="138" y="1105"/>
                </a:lnTo>
                <a:moveTo>
                  <a:pt x="345" y="1105"/>
                </a:moveTo>
                <a:lnTo>
                  <a:pt x="345" y="898"/>
                </a:lnTo>
                <a:lnTo>
                  <a:pt x="553" y="898"/>
                </a:lnTo>
                <a:lnTo>
                  <a:pt x="553" y="1105"/>
                </a:lnTo>
                <a:lnTo>
                  <a:pt x="345" y="1105"/>
                </a:lnTo>
                <a:moveTo>
                  <a:pt x="622" y="1105"/>
                </a:moveTo>
                <a:lnTo>
                  <a:pt x="622" y="898"/>
                </a:lnTo>
                <a:lnTo>
                  <a:pt x="829" y="898"/>
                </a:lnTo>
                <a:lnTo>
                  <a:pt x="829" y="1105"/>
                </a:lnTo>
                <a:lnTo>
                  <a:pt x="622" y="1105"/>
                </a:lnTo>
                <a:moveTo>
                  <a:pt x="1036" y="1105"/>
                </a:moveTo>
                <a:lnTo>
                  <a:pt x="898" y="1105"/>
                </a:lnTo>
                <a:lnTo>
                  <a:pt x="898" y="898"/>
                </a:lnTo>
                <a:lnTo>
                  <a:pt x="1105" y="898"/>
                </a:lnTo>
                <a:lnTo>
                  <a:pt x="1105" y="1036"/>
                </a:lnTo>
                <a:cubicBezTo>
                  <a:pt x="1105" y="1074"/>
                  <a:pt x="1074" y="1105"/>
                  <a:pt x="1036" y="1105"/>
                </a:cubicBezTo>
                <a:close/>
              </a:path>
            </a:pathLst>
          </a:custGeom>
          <a:solidFill>
            <a:srgbClr val="E1E8E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7" name=""/>
          <p:cNvSpPr/>
          <p:nvPr/>
        </p:nvSpPr>
        <p:spPr>
          <a:xfrm>
            <a:off x="5801760" y="374040"/>
            <a:ext cx="75240" cy="236520"/>
          </a:xfrm>
          <a:custGeom>
            <a:avLst/>
            <a:gdLst/>
            <a:ahLst/>
            <a:rect l="0" t="0" r="r" b="b"/>
            <a:pathLst>
              <a:path w="209" h="657">
                <a:moveTo>
                  <a:pt x="209" y="657"/>
                </a:moveTo>
                <a:lnTo>
                  <a:pt x="0" y="657"/>
                </a:lnTo>
                <a:lnTo>
                  <a:pt x="0" y="69"/>
                </a:lnTo>
                <a:cubicBezTo>
                  <a:pt x="0" y="31"/>
                  <a:pt x="31" y="0"/>
                  <a:pt x="69" y="0"/>
                </a:cubicBezTo>
                <a:lnTo>
                  <a:pt x="139" y="0"/>
                </a:lnTo>
                <a:cubicBezTo>
                  <a:pt x="178" y="0"/>
                  <a:pt x="209" y="31"/>
                  <a:pt x="209" y="69"/>
                </a:cubicBezTo>
                <a:lnTo>
                  <a:pt x="209" y="657"/>
                </a:lnTo>
                <a:close/>
              </a:path>
            </a:pathLst>
          </a:custGeom>
          <a:solidFill>
            <a:srgbClr val="5C913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98" name=""/>
          <p:cNvSpPr/>
          <p:nvPr/>
        </p:nvSpPr>
        <p:spPr>
          <a:xfrm>
            <a:off x="6000840" y="286920"/>
            <a:ext cx="74880" cy="323640"/>
          </a:xfrm>
          <a:custGeom>
            <a:avLst/>
            <a:gdLst/>
            <a:ahLst/>
            <a:rect l="0" t="0" r="r" b="b"/>
            <a:pathLst>
              <a:path w="208" h="899">
                <a:moveTo>
                  <a:pt x="208" y="899"/>
                </a:moveTo>
                <a:lnTo>
                  <a:pt x="0" y="899"/>
                </a:lnTo>
                <a:lnTo>
                  <a:pt x="0" y="69"/>
                </a:lnTo>
                <a:cubicBezTo>
                  <a:pt x="0" y="31"/>
                  <a:pt x="31" y="0"/>
                  <a:pt x="69" y="0"/>
                </a:cubicBezTo>
                <a:lnTo>
                  <a:pt x="138" y="0"/>
                </a:lnTo>
                <a:cubicBezTo>
                  <a:pt x="176" y="0"/>
                  <a:pt x="208" y="31"/>
                  <a:pt x="208" y="69"/>
                </a:cubicBezTo>
                <a:lnTo>
                  <a:pt x="208" y="899"/>
                </a:lnTo>
                <a:close/>
              </a:path>
            </a:pathLst>
          </a:custGeom>
          <a:solidFill>
            <a:srgbClr val="3B94D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99" name=""/>
          <p:cNvSpPr/>
          <p:nvPr/>
        </p:nvSpPr>
        <p:spPr>
          <a:xfrm>
            <a:off x="5901480" y="461160"/>
            <a:ext cx="74880" cy="149400"/>
          </a:xfrm>
          <a:custGeom>
            <a:avLst/>
            <a:gdLst/>
            <a:ahLst/>
            <a:rect l="0" t="0" r="r" b="b"/>
            <a:pathLst>
              <a:path w="208" h="415">
                <a:moveTo>
                  <a:pt x="208" y="415"/>
                </a:moveTo>
                <a:lnTo>
                  <a:pt x="0" y="415"/>
                </a:lnTo>
                <a:lnTo>
                  <a:pt x="0" y="69"/>
                </a:lnTo>
                <a:cubicBezTo>
                  <a:pt x="0" y="30"/>
                  <a:pt x="31" y="0"/>
                  <a:pt x="70" y="0"/>
                </a:cubicBezTo>
                <a:lnTo>
                  <a:pt x="139" y="0"/>
                </a:lnTo>
                <a:cubicBezTo>
                  <a:pt x="177" y="0"/>
                  <a:pt x="208" y="30"/>
                  <a:pt x="208" y="69"/>
                </a:cubicBezTo>
                <a:lnTo>
                  <a:pt x="208" y="415"/>
                </a:lnTo>
                <a:close/>
              </a:path>
            </a:pathLst>
          </a:custGeom>
          <a:solidFill>
            <a:srgbClr val="DD2E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00" name=""/>
          <p:cNvSpPr txBox="1"/>
          <p:nvPr/>
        </p:nvSpPr>
        <p:spPr>
          <a:xfrm>
            <a:off x="5550840" y="123120"/>
            <a:ext cx="441720" cy="58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480" b="1" u="none" strike="noStrike">
                <a:solidFill>
                  <a:srgbClr val="224466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34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1" name=""/>
          <p:cNvSpPr txBox="1"/>
          <p:nvPr/>
        </p:nvSpPr>
        <p:spPr>
          <a:xfrm>
            <a:off x="747720" y="1019160"/>
            <a:ext cx="193176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核⼼指标体系（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2" name=""/>
          <p:cNvSpPr txBox="1"/>
          <p:nvPr/>
        </p:nvSpPr>
        <p:spPr>
          <a:xfrm>
            <a:off x="2681280" y="997200"/>
            <a:ext cx="137916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RED + USE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3" name=""/>
          <p:cNvSpPr txBox="1"/>
          <p:nvPr/>
        </p:nvSpPr>
        <p:spPr>
          <a:xfrm>
            <a:off x="4025520" y="1019160"/>
            <a:ext cx="2764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）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4" name=""/>
          <p:cNvSpPr txBox="1"/>
          <p:nvPr/>
        </p:nvSpPr>
        <p:spPr>
          <a:xfrm>
            <a:off x="1019160" y="1647720"/>
            <a:ext cx="5522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分类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5" name=""/>
          <p:cNvSpPr txBox="1"/>
          <p:nvPr/>
        </p:nvSpPr>
        <p:spPr>
          <a:xfrm>
            <a:off x="2562480" y="1647720"/>
            <a:ext cx="5522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指标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6" name=""/>
          <p:cNvSpPr txBox="1"/>
          <p:nvPr/>
        </p:nvSpPr>
        <p:spPr>
          <a:xfrm>
            <a:off x="4212360" y="1647720"/>
            <a:ext cx="11041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告警阈值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7" name=""/>
          <p:cNvSpPr txBox="1"/>
          <p:nvPr/>
        </p:nvSpPr>
        <p:spPr>
          <a:xfrm>
            <a:off x="6786360" y="1647720"/>
            <a:ext cx="5522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含义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8" name=""/>
          <p:cNvSpPr txBox="1"/>
          <p:nvPr/>
        </p:nvSpPr>
        <p:spPr>
          <a:xfrm>
            <a:off x="880920" y="2190600"/>
            <a:ext cx="5522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吞吐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9" name=""/>
          <p:cNvSpPr txBox="1"/>
          <p:nvPr/>
        </p:nvSpPr>
        <p:spPr>
          <a:xfrm>
            <a:off x="1967040" y="2169000"/>
            <a:ext cx="147960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Request/sec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0" name=""/>
          <p:cNvSpPr txBox="1"/>
          <p:nvPr/>
        </p:nvSpPr>
        <p:spPr>
          <a:xfrm>
            <a:off x="3967560" y="2169000"/>
            <a:ext cx="126504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&lt; 50 req/s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1" name=""/>
          <p:cNvSpPr txBox="1"/>
          <p:nvPr/>
        </p:nvSpPr>
        <p:spPr>
          <a:xfrm>
            <a:off x="5819400" y="2190600"/>
            <a:ext cx="13798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可⽤性下降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2" name=""/>
          <p:cNvSpPr txBox="1"/>
          <p:nvPr/>
        </p:nvSpPr>
        <p:spPr>
          <a:xfrm>
            <a:off x="880920" y="2724120"/>
            <a:ext cx="5522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延迟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3" name=""/>
          <p:cNvSpPr txBox="1"/>
          <p:nvPr/>
        </p:nvSpPr>
        <p:spPr>
          <a:xfrm>
            <a:off x="1967040" y="2702160"/>
            <a:ext cx="45252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P50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4" name=""/>
          <p:cNvSpPr txBox="1"/>
          <p:nvPr/>
        </p:nvSpPr>
        <p:spPr>
          <a:xfrm>
            <a:off x="2419560" y="2724120"/>
            <a:ext cx="11041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响应时间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5" name=""/>
          <p:cNvSpPr txBox="1"/>
          <p:nvPr/>
        </p:nvSpPr>
        <p:spPr>
          <a:xfrm>
            <a:off x="3967560" y="2702160"/>
            <a:ext cx="106560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&gt; 300ms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6" name=""/>
          <p:cNvSpPr txBox="1"/>
          <p:nvPr/>
        </p:nvSpPr>
        <p:spPr>
          <a:xfrm>
            <a:off x="5819400" y="2724120"/>
            <a:ext cx="11041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性能降级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7" name=""/>
          <p:cNvSpPr txBox="1"/>
          <p:nvPr/>
        </p:nvSpPr>
        <p:spPr>
          <a:xfrm>
            <a:off x="880920" y="3267000"/>
            <a:ext cx="5522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延迟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8" name=""/>
          <p:cNvSpPr txBox="1"/>
          <p:nvPr/>
        </p:nvSpPr>
        <p:spPr>
          <a:xfrm>
            <a:off x="1967040" y="3245400"/>
            <a:ext cx="45252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P99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9" name=""/>
          <p:cNvSpPr txBox="1"/>
          <p:nvPr/>
        </p:nvSpPr>
        <p:spPr>
          <a:xfrm>
            <a:off x="2419560" y="3267000"/>
            <a:ext cx="11041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响应时间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0" name=""/>
          <p:cNvSpPr txBox="1"/>
          <p:nvPr/>
        </p:nvSpPr>
        <p:spPr>
          <a:xfrm>
            <a:off x="3967560" y="3245400"/>
            <a:ext cx="121428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&gt; 1000ms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1" name=""/>
          <p:cNvSpPr txBox="1"/>
          <p:nvPr/>
        </p:nvSpPr>
        <p:spPr>
          <a:xfrm>
            <a:off x="5819400" y="3267000"/>
            <a:ext cx="13798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⽤⼾体验差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2" name=""/>
          <p:cNvSpPr txBox="1"/>
          <p:nvPr/>
        </p:nvSpPr>
        <p:spPr>
          <a:xfrm>
            <a:off x="880920" y="3800520"/>
            <a:ext cx="82836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错误率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3" name=""/>
          <p:cNvSpPr txBox="1"/>
          <p:nvPr/>
        </p:nvSpPr>
        <p:spPr>
          <a:xfrm>
            <a:off x="1967040" y="3778560"/>
            <a:ext cx="40248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5xx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4" name=""/>
          <p:cNvSpPr txBox="1"/>
          <p:nvPr/>
        </p:nvSpPr>
        <p:spPr>
          <a:xfrm>
            <a:off x="2369520" y="3800520"/>
            <a:ext cx="5522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异常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5" name=""/>
          <p:cNvSpPr txBox="1"/>
          <p:nvPr/>
        </p:nvSpPr>
        <p:spPr>
          <a:xfrm>
            <a:off x="3967560" y="3778560"/>
            <a:ext cx="63936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&gt; 1%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6" name=""/>
          <p:cNvSpPr txBox="1"/>
          <p:nvPr/>
        </p:nvSpPr>
        <p:spPr>
          <a:xfrm>
            <a:off x="5819400" y="3800520"/>
            <a:ext cx="11041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服务故障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7" name=""/>
          <p:cNvSpPr txBox="1"/>
          <p:nvPr/>
        </p:nvSpPr>
        <p:spPr>
          <a:xfrm>
            <a:off x="880920" y="4343400"/>
            <a:ext cx="19933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错误率 超卖事件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8" name=""/>
          <p:cNvSpPr txBox="1"/>
          <p:nvPr/>
        </p:nvSpPr>
        <p:spPr>
          <a:xfrm>
            <a:off x="3967560" y="4321440"/>
            <a:ext cx="41364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&gt; 0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9" name=""/>
          <p:cNvSpPr txBox="1"/>
          <p:nvPr/>
        </p:nvSpPr>
        <p:spPr>
          <a:xfrm>
            <a:off x="5819400" y="4343400"/>
            <a:ext cx="193176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数据⼀致性破坏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0" name=""/>
          <p:cNvSpPr txBox="1"/>
          <p:nvPr/>
        </p:nvSpPr>
        <p:spPr>
          <a:xfrm>
            <a:off x="880920" y="4876920"/>
            <a:ext cx="5522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库存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1" name=""/>
          <p:cNvSpPr txBox="1"/>
          <p:nvPr/>
        </p:nvSpPr>
        <p:spPr>
          <a:xfrm>
            <a:off x="1967040" y="4876920"/>
            <a:ext cx="11041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库存异常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2" name=""/>
          <p:cNvSpPr txBox="1"/>
          <p:nvPr/>
        </p:nvSpPr>
        <p:spPr>
          <a:xfrm>
            <a:off x="3967560" y="4876920"/>
            <a:ext cx="5522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库存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3" name=""/>
          <p:cNvSpPr txBox="1"/>
          <p:nvPr/>
        </p:nvSpPr>
        <p:spPr>
          <a:xfrm>
            <a:off x="4520160" y="4854960"/>
            <a:ext cx="33804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&lt;0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4" name=""/>
          <p:cNvSpPr txBox="1"/>
          <p:nvPr/>
        </p:nvSpPr>
        <p:spPr>
          <a:xfrm>
            <a:off x="5819400" y="4876920"/>
            <a:ext cx="13798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乐观锁失效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5" name=""/>
          <p:cNvSpPr txBox="1"/>
          <p:nvPr/>
        </p:nvSpPr>
        <p:spPr>
          <a:xfrm>
            <a:off x="880920" y="5419800"/>
            <a:ext cx="5522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限流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6" name=""/>
          <p:cNvSpPr txBox="1"/>
          <p:nvPr/>
        </p:nvSpPr>
        <p:spPr>
          <a:xfrm>
            <a:off x="1967040" y="5419800"/>
            <a:ext cx="5522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被限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7" name=""/>
          <p:cNvSpPr txBox="1"/>
          <p:nvPr/>
        </p:nvSpPr>
        <p:spPr>
          <a:xfrm>
            <a:off x="2519280" y="5397840"/>
            <a:ext cx="91404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request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8" name=""/>
          <p:cNvSpPr txBox="1"/>
          <p:nvPr/>
        </p:nvSpPr>
        <p:spPr>
          <a:xfrm>
            <a:off x="3434040" y="5419800"/>
            <a:ext cx="2764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数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9" name=""/>
          <p:cNvSpPr txBox="1"/>
          <p:nvPr/>
        </p:nvSpPr>
        <p:spPr>
          <a:xfrm>
            <a:off x="3967560" y="5397840"/>
            <a:ext cx="78804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&gt; 10%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0" name=""/>
          <p:cNvSpPr txBox="1"/>
          <p:nvPr/>
        </p:nvSpPr>
        <p:spPr>
          <a:xfrm>
            <a:off x="5819400" y="5419800"/>
            <a:ext cx="24832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恶意流量或容量不⾜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1" name=""/>
          <p:cNvSpPr txBox="1"/>
          <p:nvPr/>
        </p:nvSpPr>
        <p:spPr>
          <a:xfrm>
            <a:off x="880920" y="5952960"/>
            <a:ext cx="171756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数据库 连接数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2" name=""/>
          <p:cNvSpPr txBox="1"/>
          <p:nvPr/>
        </p:nvSpPr>
        <p:spPr>
          <a:xfrm>
            <a:off x="3967560" y="5931360"/>
            <a:ext cx="78804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&gt; 80%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3" name=""/>
          <p:cNvSpPr txBox="1"/>
          <p:nvPr/>
        </p:nvSpPr>
        <p:spPr>
          <a:xfrm>
            <a:off x="5819400" y="5952960"/>
            <a:ext cx="16556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数据库压⼒⼤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4" name=""/>
          <p:cNvSpPr txBox="1"/>
          <p:nvPr/>
        </p:nvSpPr>
        <p:spPr>
          <a:xfrm>
            <a:off x="880920" y="6496200"/>
            <a:ext cx="19933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数据库 查询耗时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5" name=""/>
          <p:cNvSpPr txBox="1"/>
          <p:nvPr/>
        </p:nvSpPr>
        <p:spPr>
          <a:xfrm>
            <a:off x="3967560" y="6474240"/>
            <a:ext cx="159300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P99 &gt; 100ms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6" name=""/>
          <p:cNvSpPr txBox="1"/>
          <p:nvPr/>
        </p:nvSpPr>
        <p:spPr>
          <a:xfrm>
            <a:off x="5819400" y="6496200"/>
            <a:ext cx="22075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索引不⾜或热库存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7" name=""/>
          <p:cNvSpPr txBox="1"/>
          <p:nvPr/>
        </p:nvSpPr>
        <p:spPr>
          <a:xfrm>
            <a:off x="11659680" y="6335280"/>
            <a:ext cx="24732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SegoeUI"/>
                <a:ea typeface="SegoeUI"/>
              </a:rPr>
              <a:t>14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1" name=""/>
          <p:cNvSpPr/>
          <p:nvPr/>
        </p:nvSpPr>
        <p:spPr>
          <a:xfrm>
            <a:off x="757080" y="2118960"/>
            <a:ext cx="10687320" cy="857880"/>
          </a:xfrm>
          <a:custGeom>
            <a:avLst/>
            <a:gdLst/>
            <a:ahLst/>
            <a:rect l="0" t="0" r="r" b="b"/>
            <a:pathLst>
              <a:path w="29687" h="2383">
                <a:moveTo>
                  <a:pt x="0" y="2237"/>
                </a:moveTo>
                <a:lnTo>
                  <a:pt x="0" y="147"/>
                </a:lnTo>
                <a:cubicBezTo>
                  <a:pt x="0" y="137"/>
                  <a:pt x="1" y="128"/>
                  <a:pt x="3" y="119"/>
                </a:cubicBezTo>
                <a:cubicBezTo>
                  <a:pt x="5" y="109"/>
                  <a:pt x="7" y="100"/>
                  <a:pt x="11" y="91"/>
                </a:cubicBezTo>
                <a:cubicBezTo>
                  <a:pt x="15" y="82"/>
                  <a:pt x="19" y="74"/>
                  <a:pt x="24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20"/>
                  <a:pt x="81" y="15"/>
                  <a:pt x="90" y="12"/>
                </a:cubicBezTo>
                <a:cubicBezTo>
                  <a:pt x="99" y="8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8"/>
                  <a:pt x="29597" y="12"/>
                </a:cubicBezTo>
                <a:cubicBezTo>
                  <a:pt x="29606" y="15"/>
                  <a:pt x="29615" y="20"/>
                  <a:pt x="29623" y="25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50"/>
                  <a:pt x="29657" y="57"/>
                  <a:pt x="29663" y="65"/>
                </a:cubicBezTo>
                <a:cubicBezTo>
                  <a:pt x="29668" y="74"/>
                  <a:pt x="29672" y="82"/>
                  <a:pt x="29676" y="91"/>
                </a:cubicBezTo>
                <a:cubicBezTo>
                  <a:pt x="29680" y="100"/>
                  <a:pt x="29683" y="109"/>
                  <a:pt x="29684" y="119"/>
                </a:cubicBezTo>
                <a:cubicBezTo>
                  <a:pt x="29686" y="128"/>
                  <a:pt x="29687" y="137"/>
                  <a:pt x="29687" y="147"/>
                </a:cubicBezTo>
                <a:lnTo>
                  <a:pt x="29687" y="2237"/>
                </a:lnTo>
                <a:cubicBezTo>
                  <a:pt x="29687" y="2247"/>
                  <a:pt x="29686" y="2256"/>
                  <a:pt x="29684" y="2266"/>
                </a:cubicBezTo>
                <a:cubicBezTo>
                  <a:pt x="29683" y="2275"/>
                  <a:pt x="29680" y="2284"/>
                  <a:pt x="29676" y="2293"/>
                </a:cubicBezTo>
                <a:cubicBezTo>
                  <a:pt x="29672" y="2302"/>
                  <a:pt x="29668" y="2310"/>
                  <a:pt x="29663" y="2318"/>
                </a:cubicBezTo>
                <a:cubicBezTo>
                  <a:pt x="29657" y="2326"/>
                  <a:pt x="29651" y="2333"/>
                  <a:pt x="29645" y="2340"/>
                </a:cubicBezTo>
                <a:cubicBezTo>
                  <a:pt x="29638" y="2347"/>
                  <a:pt x="29630" y="2353"/>
                  <a:pt x="29623" y="2358"/>
                </a:cubicBezTo>
                <a:cubicBezTo>
                  <a:pt x="29615" y="2364"/>
                  <a:pt x="29606" y="2368"/>
                  <a:pt x="29597" y="2372"/>
                </a:cubicBezTo>
                <a:cubicBezTo>
                  <a:pt x="29589" y="2375"/>
                  <a:pt x="29579" y="2378"/>
                  <a:pt x="29570" y="2380"/>
                </a:cubicBezTo>
                <a:cubicBezTo>
                  <a:pt x="29561" y="2382"/>
                  <a:pt x="29551" y="2383"/>
                  <a:pt x="29542" y="2383"/>
                </a:cubicBezTo>
                <a:lnTo>
                  <a:pt x="145" y="2383"/>
                </a:lnTo>
                <a:cubicBezTo>
                  <a:pt x="136" y="2383"/>
                  <a:pt x="126" y="2382"/>
                  <a:pt x="117" y="2380"/>
                </a:cubicBezTo>
                <a:cubicBezTo>
                  <a:pt x="108" y="2378"/>
                  <a:pt x="99" y="2375"/>
                  <a:pt x="90" y="2372"/>
                </a:cubicBezTo>
                <a:cubicBezTo>
                  <a:pt x="81" y="2368"/>
                  <a:pt x="73" y="2364"/>
                  <a:pt x="65" y="2358"/>
                </a:cubicBezTo>
                <a:cubicBezTo>
                  <a:pt x="57" y="2353"/>
                  <a:pt x="49" y="2347"/>
                  <a:pt x="43" y="2340"/>
                </a:cubicBezTo>
                <a:cubicBezTo>
                  <a:pt x="36" y="2333"/>
                  <a:pt x="30" y="2326"/>
                  <a:pt x="24" y="2318"/>
                </a:cubicBezTo>
                <a:cubicBezTo>
                  <a:pt x="19" y="2310"/>
                  <a:pt x="15" y="2302"/>
                  <a:pt x="11" y="2293"/>
                </a:cubicBezTo>
                <a:cubicBezTo>
                  <a:pt x="7" y="2284"/>
                  <a:pt x="5" y="2275"/>
                  <a:pt x="3" y="2266"/>
                </a:cubicBezTo>
                <a:cubicBezTo>
                  <a:pt x="1" y="2256"/>
                  <a:pt x="0" y="2247"/>
                  <a:pt x="0" y="2237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2" name=""/>
          <p:cNvSpPr/>
          <p:nvPr/>
        </p:nvSpPr>
        <p:spPr>
          <a:xfrm>
            <a:off x="757080" y="2118960"/>
            <a:ext cx="10687320" cy="857880"/>
          </a:xfrm>
          <a:custGeom>
            <a:avLst/>
            <a:gdLst/>
            <a:ahLst/>
            <a:rect l="0" t="0" r="r" b="b"/>
            <a:pathLst>
              <a:path w="29687" h="2383">
                <a:moveTo>
                  <a:pt x="0" y="2237"/>
                </a:moveTo>
                <a:lnTo>
                  <a:pt x="0" y="147"/>
                </a:lnTo>
                <a:cubicBezTo>
                  <a:pt x="0" y="137"/>
                  <a:pt x="1" y="128"/>
                  <a:pt x="3" y="119"/>
                </a:cubicBezTo>
                <a:cubicBezTo>
                  <a:pt x="5" y="109"/>
                  <a:pt x="7" y="100"/>
                  <a:pt x="11" y="91"/>
                </a:cubicBezTo>
                <a:cubicBezTo>
                  <a:pt x="15" y="82"/>
                  <a:pt x="19" y="74"/>
                  <a:pt x="24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20"/>
                  <a:pt x="81" y="15"/>
                  <a:pt x="90" y="12"/>
                </a:cubicBezTo>
                <a:cubicBezTo>
                  <a:pt x="99" y="8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8"/>
                  <a:pt x="29597" y="12"/>
                </a:cubicBezTo>
                <a:cubicBezTo>
                  <a:pt x="29606" y="15"/>
                  <a:pt x="29615" y="20"/>
                  <a:pt x="29623" y="25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50"/>
                  <a:pt x="29657" y="57"/>
                  <a:pt x="29663" y="65"/>
                </a:cubicBezTo>
                <a:cubicBezTo>
                  <a:pt x="29668" y="74"/>
                  <a:pt x="29672" y="82"/>
                  <a:pt x="29676" y="91"/>
                </a:cubicBezTo>
                <a:cubicBezTo>
                  <a:pt x="29680" y="100"/>
                  <a:pt x="29683" y="109"/>
                  <a:pt x="29684" y="119"/>
                </a:cubicBezTo>
                <a:cubicBezTo>
                  <a:pt x="29686" y="128"/>
                  <a:pt x="29687" y="137"/>
                  <a:pt x="29687" y="147"/>
                </a:cubicBezTo>
                <a:lnTo>
                  <a:pt x="29687" y="2237"/>
                </a:lnTo>
                <a:cubicBezTo>
                  <a:pt x="29687" y="2247"/>
                  <a:pt x="29686" y="2256"/>
                  <a:pt x="29684" y="2266"/>
                </a:cubicBezTo>
                <a:cubicBezTo>
                  <a:pt x="29683" y="2275"/>
                  <a:pt x="29680" y="2284"/>
                  <a:pt x="29676" y="2293"/>
                </a:cubicBezTo>
                <a:cubicBezTo>
                  <a:pt x="29672" y="2302"/>
                  <a:pt x="29668" y="2310"/>
                  <a:pt x="29663" y="2318"/>
                </a:cubicBezTo>
                <a:cubicBezTo>
                  <a:pt x="29657" y="2326"/>
                  <a:pt x="29651" y="2333"/>
                  <a:pt x="29645" y="2340"/>
                </a:cubicBezTo>
                <a:cubicBezTo>
                  <a:pt x="29638" y="2347"/>
                  <a:pt x="29630" y="2353"/>
                  <a:pt x="29623" y="2358"/>
                </a:cubicBezTo>
                <a:cubicBezTo>
                  <a:pt x="29615" y="2364"/>
                  <a:pt x="29606" y="2368"/>
                  <a:pt x="29597" y="2372"/>
                </a:cubicBezTo>
                <a:cubicBezTo>
                  <a:pt x="29589" y="2375"/>
                  <a:pt x="29579" y="2378"/>
                  <a:pt x="29570" y="2380"/>
                </a:cubicBezTo>
                <a:cubicBezTo>
                  <a:pt x="29561" y="2382"/>
                  <a:pt x="29551" y="2383"/>
                  <a:pt x="29542" y="2383"/>
                </a:cubicBezTo>
                <a:lnTo>
                  <a:pt x="145" y="2383"/>
                </a:lnTo>
                <a:cubicBezTo>
                  <a:pt x="136" y="2383"/>
                  <a:pt x="126" y="2382"/>
                  <a:pt x="117" y="2380"/>
                </a:cubicBezTo>
                <a:cubicBezTo>
                  <a:pt x="108" y="2378"/>
                  <a:pt x="99" y="2375"/>
                  <a:pt x="90" y="2372"/>
                </a:cubicBezTo>
                <a:cubicBezTo>
                  <a:pt x="81" y="2368"/>
                  <a:pt x="73" y="2364"/>
                  <a:pt x="65" y="2358"/>
                </a:cubicBezTo>
                <a:cubicBezTo>
                  <a:pt x="57" y="2353"/>
                  <a:pt x="49" y="2347"/>
                  <a:pt x="43" y="2340"/>
                </a:cubicBezTo>
                <a:cubicBezTo>
                  <a:pt x="36" y="2333"/>
                  <a:pt x="30" y="2326"/>
                  <a:pt x="24" y="2318"/>
                </a:cubicBezTo>
                <a:cubicBezTo>
                  <a:pt x="19" y="2310"/>
                  <a:pt x="15" y="2302"/>
                  <a:pt x="11" y="2293"/>
                </a:cubicBezTo>
                <a:cubicBezTo>
                  <a:pt x="7" y="2284"/>
                  <a:pt x="5" y="2275"/>
                  <a:pt x="3" y="2266"/>
                </a:cubicBezTo>
                <a:cubicBezTo>
                  <a:pt x="1" y="2256"/>
                  <a:pt x="0" y="2247"/>
                  <a:pt x="0" y="2237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3" name=""/>
          <p:cNvSpPr/>
          <p:nvPr/>
        </p:nvSpPr>
        <p:spPr>
          <a:xfrm>
            <a:off x="757080" y="3700440"/>
            <a:ext cx="10687320" cy="1943280"/>
          </a:xfrm>
          <a:custGeom>
            <a:avLst/>
            <a:gdLst/>
            <a:ahLst/>
            <a:rect l="0" t="0" r="r" b="b"/>
            <a:pathLst>
              <a:path w="29687" h="5398">
                <a:moveTo>
                  <a:pt x="0" y="5253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7" y="98"/>
                  <a:pt x="11" y="89"/>
                </a:cubicBezTo>
                <a:cubicBezTo>
                  <a:pt x="15" y="81"/>
                  <a:pt x="19" y="72"/>
                  <a:pt x="24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49" y="35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7" y="2"/>
                </a:cubicBezTo>
                <a:cubicBezTo>
                  <a:pt x="126" y="0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0"/>
                  <a:pt x="29570" y="2"/>
                </a:cubicBezTo>
                <a:cubicBezTo>
                  <a:pt x="29579" y="4"/>
                  <a:pt x="29589" y="7"/>
                  <a:pt x="29597" y="11"/>
                </a:cubicBezTo>
                <a:cubicBezTo>
                  <a:pt x="29606" y="14"/>
                  <a:pt x="29615" y="19"/>
                  <a:pt x="29623" y="24"/>
                </a:cubicBezTo>
                <a:cubicBezTo>
                  <a:pt x="29630" y="29"/>
                  <a:pt x="29638" y="35"/>
                  <a:pt x="29645" y="42"/>
                </a:cubicBezTo>
                <a:cubicBezTo>
                  <a:pt x="29651" y="49"/>
                  <a:pt x="29657" y="56"/>
                  <a:pt x="29663" y="64"/>
                </a:cubicBezTo>
                <a:cubicBezTo>
                  <a:pt x="29668" y="72"/>
                  <a:pt x="29672" y="81"/>
                  <a:pt x="29676" y="89"/>
                </a:cubicBezTo>
                <a:cubicBezTo>
                  <a:pt x="29680" y="98"/>
                  <a:pt x="29683" y="107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5253"/>
                </a:lnTo>
                <a:cubicBezTo>
                  <a:pt x="29687" y="5262"/>
                  <a:pt x="29686" y="5272"/>
                  <a:pt x="29684" y="5281"/>
                </a:cubicBezTo>
                <a:cubicBezTo>
                  <a:pt x="29683" y="5290"/>
                  <a:pt x="29680" y="5299"/>
                  <a:pt x="29676" y="5308"/>
                </a:cubicBezTo>
                <a:cubicBezTo>
                  <a:pt x="29672" y="5317"/>
                  <a:pt x="29668" y="5325"/>
                  <a:pt x="29663" y="5333"/>
                </a:cubicBezTo>
                <a:cubicBezTo>
                  <a:pt x="29657" y="5341"/>
                  <a:pt x="29651" y="5349"/>
                  <a:pt x="29645" y="5355"/>
                </a:cubicBezTo>
                <a:cubicBezTo>
                  <a:pt x="29638" y="5362"/>
                  <a:pt x="29630" y="5368"/>
                  <a:pt x="29623" y="5374"/>
                </a:cubicBezTo>
                <a:cubicBezTo>
                  <a:pt x="29615" y="5379"/>
                  <a:pt x="29606" y="5383"/>
                  <a:pt x="29597" y="5387"/>
                </a:cubicBezTo>
                <a:cubicBezTo>
                  <a:pt x="29589" y="5391"/>
                  <a:pt x="29579" y="5393"/>
                  <a:pt x="29570" y="5395"/>
                </a:cubicBezTo>
                <a:cubicBezTo>
                  <a:pt x="29561" y="5397"/>
                  <a:pt x="29551" y="5398"/>
                  <a:pt x="29542" y="5398"/>
                </a:cubicBezTo>
                <a:lnTo>
                  <a:pt x="145" y="5398"/>
                </a:lnTo>
                <a:cubicBezTo>
                  <a:pt x="136" y="5398"/>
                  <a:pt x="126" y="5397"/>
                  <a:pt x="117" y="5395"/>
                </a:cubicBezTo>
                <a:cubicBezTo>
                  <a:pt x="108" y="5393"/>
                  <a:pt x="99" y="5391"/>
                  <a:pt x="90" y="5387"/>
                </a:cubicBezTo>
                <a:cubicBezTo>
                  <a:pt x="81" y="5383"/>
                  <a:pt x="73" y="5379"/>
                  <a:pt x="65" y="5374"/>
                </a:cubicBezTo>
                <a:cubicBezTo>
                  <a:pt x="57" y="5368"/>
                  <a:pt x="49" y="5362"/>
                  <a:pt x="43" y="5355"/>
                </a:cubicBezTo>
                <a:cubicBezTo>
                  <a:pt x="36" y="5349"/>
                  <a:pt x="30" y="5341"/>
                  <a:pt x="24" y="5333"/>
                </a:cubicBezTo>
                <a:cubicBezTo>
                  <a:pt x="19" y="5325"/>
                  <a:pt x="15" y="5317"/>
                  <a:pt x="11" y="5308"/>
                </a:cubicBezTo>
                <a:cubicBezTo>
                  <a:pt x="7" y="5299"/>
                  <a:pt x="5" y="5290"/>
                  <a:pt x="3" y="5281"/>
                </a:cubicBezTo>
                <a:cubicBezTo>
                  <a:pt x="1" y="5272"/>
                  <a:pt x="0" y="5262"/>
                  <a:pt x="0" y="5253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4" name=""/>
          <p:cNvSpPr/>
          <p:nvPr/>
        </p:nvSpPr>
        <p:spPr>
          <a:xfrm>
            <a:off x="757080" y="3700440"/>
            <a:ext cx="10687320" cy="1943280"/>
          </a:xfrm>
          <a:custGeom>
            <a:avLst/>
            <a:gdLst/>
            <a:ahLst/>
            <a:rect l="0" t="0" r="r" b="b"/>
            <a:pathLst>
              <a:path w="29687" h="5398">
                <a:moveTo>
                  <a:pt x="0" y="5253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7" y="98"/>
                  <a:pt x="11" y="89"/>
                </a:cubicBezTo>
                <a:cubicBezTo>
                  <a:pt x="15" y="81"/>
                  <a:pt x="19" y="72"/>
                  <a:pt x="24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49" y="35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7" y="2"/>
                </a:cubicBezTo>
                <a:cubicBezTo>
                  <a:pt x="126" y="0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0"/>
                  <a:pt x="29570" y="2"/>
                </a:cubicBezTo>
                <a:cubicBezTo>
                  <a:pt x="29579" y="4"/>
                  <a:pt x="29589" y="7"/>
                  <a:pt x="29597" y="11"/>
                </a:cubicBezTo>
                <a:cubicBezTo>
                  <a:pt x="29606" y="14"/>
                  <a:pt x="29615" y="19"/>
                  <a:pt x="29623" y="24"/>
                </a:cubicBezTo>
                <a:cubicBezTo>
                  <a:pt x="29630" y="29"/>
                  <a:pt x="29638" y="35"/>
                  <a:pt x="29645" y="42"/>
                </a:cubicBezTo>
                <a:cubicBezTo>
                  <a:pt x="29651" y="49"/>
                  <a:pt x="29657" y="56"/>
                  <a:pt x="29663" y="64"/>
                </a:cubicBezTo>
                <a:cubicBezTo>
                  <a:pt x="29668" y="72"/>
                  <a:pt x="29672" y="81"/>
                  <a:pt x="29676" y="89"/>
                </a:cubicBezTo>
                <a:cubicBezTo>
                  <a:pt x="29680" y="98"/>
                  <a:pt x="29683" y="107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5253"/>
                </a:lnTo>
                <a:cubicBezTo>
                  <a:pt x="29687" y="5262"/>
                  <a:pt x="29686" y="5272"/>
                  <a:pt x="29684" y="5281"/>
                </a:cubicBezTo>
                <a:cubicBezTo>
                  <a:pt x="29683" y="5290"/>
                  <a:pt x="29680" y="5299"/>
                  <a:pt x="29676" y="5308"/>
                </a:cubicBezTo>
                <a:cubicBezTo>
                  <a:pt x="29672" y="5317"/>
                  <a:pt x="29668" y="5325"/>
                  <a:pt x="29663" y="5333"/>
                </a:cubicBezTo>
                <a:cubicBezTo>
                  <a:pt x="29657" y="5341"/>
                  <a:pt x="29651" y="5349"/>
                  <a:pt x="29645" y="5355"/>
                </a:cubicBezTo>
                <a:cubicBezTo>
                  <a:pt x="29638" y="5362"/>
                  <a:pt x="29630" y="5368"/>
                  <a:pt x="29623" y="5374"/>
                </a:cubicBezTo>
                <a:cubicBezTo>
                  <a:pt x="29615" y="5379"/>
                  <a:pt x="29606" y="5383"/>
                  <a:pt x="29597" y="5387"/>
                </a:cubicBezTo>
                <a:cubicBezTo>
                  <a:pt x="29589" y="5391"/>
                  <a:pt x="29579" y="5393"/>
                  <a:pt x="29570" y="5395"/>
                </a:cubicBezTo>
                <a:cubicBezTo>
                  <a:pt x="29561" y="5397"/>
                  <a:pt x="29551" y="5398"/>
                  <a:pt x="29542" y="5398"/>
                </a:cubicBezTo>
                <a:lnTo>
                  <a:pt x="145" y="5398"/>
                </a:lnTo>
                <a:cubicBezTo>
                  <a:pt x="136" y="5398"/>
                  <a:pt x="126" y="5397"/>
                  <a:pt x="117" y="5395"/>
                </a:cubicBezTo>
                <a:cubicBezTo>
                  <a:pt x="108" y="5393"/>
                  <a:pt x="99" y="5391"/>
                  <a:pt x="90" y="5387"/>
                </a:cubicBezTo>
                <a:cubicBezTo>
                  <a:pt x="81" y="5383"/>
                  <a:pt x="73" y="5379"/>
                  <a:pt x="65" y="5374"/>
                </a:cubicBezTo>
                <a:cubicBezTo>
                  <a:pt x="57" y="5368"/>
                  <a:pt x="49" y="5362"/>
                  <a:pt x="43" y="5355"/>
                </a:cubicBezTo>
                <a:cubicBezTo>
                  <a:pt x="36" y="5349"/>
                  <a:pt x="30" y="5341"/>
                  <a:pt x="24" y="5333"/>
                </a:cubicBezTo>
                <a:cubicBezTo>
                  <a:pt x="19" y="5325"/>
                  <a:pt x="15" y="5317"/>
                  <a:pt x="11" y="5308"/>
                </a:cubicBezTo>
                <a:cubicBezTo>
                  <a:pt x="7" y="5299"/>
                  <a:pt x="5" y="5290"/>
                  <a:pt x="3" y="5281"/>
                </a:cubicBezTo>
                <a:cubicBezTo>
                  <a:pt x="1" y="5272"/>
                  <a:pt x="0" y="5262"/>
                  <a:pt x="0" y="5253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5" name=""/>
          <p:cNvSpPr/>
          <p:nvPr/>
        </p:nvSpPr>
        <p:spPr>
          <a:xfrm>
            <a:off x="752400" y="6372000"/>
            <a:ext cx="1381320" cy="486000"/>
          </a:xfrm>
          <a:custGeom>
            <a:avLst/>
            <a:gdLst/>
            <a:ahLst/>
            <a:rect l="0" t="0" r="r" b="b"/>
            <a:pathLst>
              <a:path w="3837" h="1350">
                <a:moveTo>
                  <a:pt x="0" y="0"/>
                </a:moveTo>
                <a:lnTo>
                  <a:pt x="3837" y="0"/>
                </a:lnTo>
                <a:lnTo>
                  <a:pt x="3837" y="1350"/>
                </a:lnTo>
                <a:lnTo>
                  <a:pt x="0" y="13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6" name=""/>
          <p:cNvSpPr/>
          <p:nvPr/>
        </p:nvSpPr>
        <p:spPr>
          <a:xfrm>
            <a:off x="2133360" y="6372000"/>
            <a:ext cx="1914840" cy="486000"/>
          </a:xfrm>
          <a:custGeom>
            <a:avLst/>
            <a:gdLst/>
            <a:ahLst/>
            <a:rect l="0" t="0" r="r" b="b"/>
            <a:pathLst>
              <a:path w="5319" h="1350">
                <a:moveTo>
                  <a:pt x="0" y="0"/>
                </a:moveTo>
                <a:lnTo>
                  <a:pt x="5319" y="0"/>
                </a:lnTo>
                <a:lnTo>
                  <a:pt x="5319" y="1350"/>
                </a:lnTo>
                <a:lnTo>
                  <a:pt x="0" y="13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7" name=""/>
          <p:cNvSpPr/>
          <p:nvPr/>
        </p:nvSpPr>
        <p:spPr>
          <a:xfrm>
            <a:off x="4047840" y="6372000"/>
            <a:ext cx="7391880" cy="486000"/>
          </a:xfrm>
          <a:custGeom>
            <a:avLst/>
            <a:gdLst/>
            <a:ahLst/>
            <a:rect l="0" t="0" r="r" b="b"/>
            <a:pathLst>
              <a:path w="20533" h="1350">
                <a:moveTo>
                  <a:pt x="0" y="0"/>
                </a:moveTo>
                <a:lnTo>
                  <a:pt x="20533" y="0"/>
                </a:lnTo>
                <a:lnTo>
                  <a:pt x="20533" y="1350"/>
                </a:lnTo>
                <a:lnTo>
                  <a:pt x="0" y="13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8" name=""/>
          <p:cNvSpPr/>
          <p:nvPr/>
        </p:nvSpPr>
        <p:spPr>
          <a:xfrm>
            <a:off x="752400" y="6372000"/>
            <a:ext cx="9720" cy="486000"/>
          </a:xfrm>
          <a:custGeom>
            <a:avLst/>
            <a:gdLst/>
            <a:ahLst/>
            <a:rect l="0" t="0" r="r" b="b"/>
            <a:pathLst>
              <a:path w="27" h="1350">
                <a:moveTo>
                  <a:pt x="0" y="0"/>
                </a:moveTo>
                <a:lnTo>
                  <a:pt x="27" y="0"/>
                </a:lnTo>
                <a:lnTo>
                  <a:pt x="27" y="1350"/>
                </a:lnTo>
                <a:lnTo>
                  <a:pt x="0" y="135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9" name=""/>
          <p:cNvSpPr/>
          <p:nvPr/>
        </p:nvSpPr>
        <p:spPr>
          <a:xfrm>
            <a:off x="752400" y="6372000"/>
            <a:ext cx="1391040" cy="10080"/>
          </a:xfrm>
          <a:custGeom>
            <a:avLst/>
            <a:gdLst/>
            <a:ahLst/>
            <a:rect l="0" t="0" r="r" b="b"/>
            <a:pathLst>
              <a:path w="3864" h="28">
                <a:moveTo>
                  <a:pt x="0" y="0"/>
                </a:moveTo>
                <a:lnTo>
                  <a:pt x="3864" y="0"/>
                </a:lnTo>
                <a:lnTo>
                  <a:pt x="386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0" name=""/>
          <p:cNvSpPr/>
          <p:nvPr/>
        </p:nvSpPr>
        <p:spPr>
          <a:xfrm>
            <a:off x="2133360" y="6372000"/>
            <a:ext cx="10080" cy="486000"/>
          </a:xfrm>
          <a:custGeom>
            <a:avLst/>
            <a:gdLst/>
            <a:ahLst/>
            <a:rect l="0" t="0" r="r" b="b"/>
            <a:pathLst>
              <a:path w="28" h="1350">
                <a:moveTo>
                  <a:pt x="0" y="0"/>
                </a:moveTo>
                <a:lnTo>
                  <a:pt x="28" y="0"/>
                </a:lnTo>
                <a:lnTo>
                  <a:pt x="28" y="1350"/>
                </a:lnTo>
                <a:lnTo>
                  <a:pt x="0" y="135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1" name=""/>
          <p:cNvSpPr/>
          <p:nvPr/>
        </p:nvSpPr>
        <p:spPr>
          <a:xfrm>
            <a:off x="2143080" y="6372000"/>
            <a:ext cx="1905120" cy="10080"/>
          </a:xfrm>
          <a:custGeom>
            <a:avLst/>
            <a:gdLst/>
            <a:ahLst/>
            <a:rect l="0" t="0" r="r" b="b"/>
            <a:pathLst>
              <a:path w="5292" h="28">
                <a:moveTo>
                  <a:pt x="0" y="0"/>
                </a:moveTo>
                <a:lnTo>
                  <a:pt x="5292" y="0"/>
                </a:lnTo>
                <a:lnTo>
                  <a:pt x="529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2" name=""/>
          <p:cNvSpPr/>
          <p:nvPr/>
        </p:nvSpPr>
        <p:spPr>
          <a:xfrm>
            <a:off x="4038480" y="6372000"/>
            <a:ext cx="9720" cy="486000"/>
          </a:xfrm>
          <a:custGeom>
            <a:avLst/>
            <a:gdLst/>
            <a:ahLst/>
            <a:rect l="0" t="0" r="r" b="b"/>
            <a:pathLst>
              <a:path w="27" h="1350">
                <a:moveTo>
                  <a:pt x="0" y="0"/>
                </a:moveTo>
                <a:lnTo>
                  <a:pt x="27" y="0"/>
                </a:lnTo>
                <a:lnTo>
                  <a:pt x="27" y="1350"/>
                </a:lnTo>
                <a:lnTo>
                  <a:pt x="0" y="135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3" name=""/>
          <p:cNvSpPr/>
          <p:nvPr/>
        </p:nvSpPr>
        <p:spPr>
          <a:xfrm>
            <a:off x="4047840" y="6372000"/>
            <a:ext cx="7401240" cy="10080"/>
          </a:xfrm>
          <a:custGeom>
            <a:avLst/>
            <a:gdLst/>
            <a:ahLst/>
            <a:rect l="0" t="0" r="r" b="b"/>
            <a:pathLst>
              <a:path w="20559" h="28">
                <a:moveTo>
                  <a:pt x="0" y="0"/>
                </a:moveTo>
                <a:lnTo>
                  <a:pt x="20559" y="0"/>
                </a:lnTo>
                <a:lnTo>
                  <a:pt x="2055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4" name=""/>
          <p:cNvSpPr/>
          <p:nvPr/>
        </p:nvSpPr>
        <p:spPr>
          <a:xfrm>
            <a:off x="11439360" y="6372000"/>
            <a:ext cx="9720" cy="486000"/>
          </a:xfrm>
          <a:custGeom>
            <a:avLst/>
            <a:gdLst/>
            <a:ahLst/>
            <a:rect l="0" t="0" r="r" b="b"/>
            <a:pathLst>
              <a:path w="27" h="1350">
                <a:moveTo>
                  <a:pt x="0" y="0"/>
                </a:moveTo>
                <a:lnTo>
                  <a:pt x="27" y="0"/>
                </a:lnTo>
                <a:lnTo>
                  <a:pt x="27" y="1350"/>
                </a:lnTo>
                <a:lnTo>
                  <a:pt x="0" y="135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5" name=""/>
          <p:cNvSpPr txBox="1"/>
          <p:nvPr/>
        </p:nvSpPr>
        <p:spPr>
          <a:xfrm>
            <a:off x="747720" y="123120"/>
            <a:ext cx="870480" cy="58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480" b="1" u="none" strike="noStrike">
                <a:solidFill>
                  <a:srgbClr val="224466"/>
                </a:solidFill>
                <a:effectLst/>
                <a:uFillTx/>
                <a:latin typeface="SegoeUI"/>
                <a:ea typeface="SegoeUI"/>
              </a:rPr>
              <a:t>8.6. </a:t>
            </a:r>
            <a:endParaRPr lang="en-US" sz="34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6" name=""/>
          <p:cNvSpPr txBox="1"/>
          <p:nvPr/>
        </p:nvSpPr>
        <p:spPr>
          <a:xfrm>
            <a:off x="1574280" y="158040"/>
            <a:ext cx="3536280" cy="53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3480" b="0" u="none" strike="noStrike">
                <a:solidFill>
                  <a:srgbClr val="224466"/>
                </a:solidFill>
                <a:effectLst/>
                <a:uFillTx/>
                <a:latin typeface="NotoSansSC"/>
                <a:ea typeface="NotoSansSC"/>
              </a:rPr>
              <a:t>扩容与⾼可⽤⽅案</a:t>
            </a:r>
            <a:endParaRPr lang="en-US" sz="34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7" name=""/>
          <p:cNvSpPr/>
          <p:nvPr/>
        </p:nvSpPr>
        <p:spPr>
          <a:xfrm>
            <a:off x="5301000" y="224640"/>
            <a:ext cx="389880" cy="398520"/>
          </a:xfrm>
          <a:custGeom>
            <a:avLst/>
            <a:gdLst/>
            <a:ahLst/>
            <a:rect l="0" t="0" r="r" b="b"/>
            <a:pathLst>
              <a:path w="1083" h="1107">
                <a:moveTo>
                  <a:pt x="981" y="0"/>
                </a:moveTo>
                <a:lnTo>
                  <a:pt x="101" y="0"/>
                </a:lnTo>
                <a:cubicBezTo>
                  <a:pt x="45" y="0"/>
                  <a:pt x="0" y="47"/>
                  <a:pt x="0" y="104"/>
                </a:cubicBezTo>
                <a:lnTo>
                  <a:pt x="0" y="1002"/>
                </a:lnTo>
                <a:cubicBezTo>
                  <a:pt x="0" y="1060"/>
                  <a:pt x="45" y="1107"/>
                  <a:pt x="101" y="1107"/>
                </a:cubicBezTo>
                <a:lnTo>
                  <a:pt x="981" y="1107"/>
                </a:lnTo>
                <a:cubicBezTo>
                  <a:pt x="1037" y="1107"/>
                  <a:pt x="1083" y="1060"/>
                  <a:pt x="1083" y="1002"/>
                </a:cubicBezTo>
                <a:lnTo>
                  <a:pt x="1083" y="104"/>
                </a:lnTo>
                <a:cubicBezTo>
                  <a:pt x="1083" y="47"/>
                  <a:pt x="1037" y="0"/>
                  <a:pt x="981" y="0"/>
                </a:cubicBezTo>
                <a:close/>
              </a:path>
            </a:pathLst>
          </a:custGeom>
          <a:solidFill>
            <a:srgbClr val="CCD6D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8" name=""/>
          <p:cNvSpPr/>
          <p:nvPr/>
        </p:nvSpPr>
        <p:spPr>
          <a:xfrm>
            <a:off x="5288760" y="212400"/>
            <a:ext cx="414360" cy="423000"/>
          </a:xfrm>
          <a:custGeom>
            <a:avLst/>
            <a:gdLst/>
            <a:ahLst/>
            <a:rect l="0" t="0" r="r" b="b"/>
            <a:pathLst>
              <a:path w="1151" h="1175">
                <a:moveTo>
                  <a:pt x="1015" y="0"/>
                </a:moveTo>
                <a:lnTo>
                  <a:pt x="135" y="0"/>
                </a:lnTo>
                <a:cubicBezTo>
                  <a:pt x="61" y="0"/>
                  <a:pt x="0" y="62"/>
                  <a:pt x="0" y="138"/>
                </a:cubicBezTo>
                <a:lnTo>
                  <a:pt x="0" y="1036"/>
                </a:lnTo>
                <a:cubicBezTo>
                  <a:pt x="0" y="1112"/>
                  <a:pt x="61" y="1175"/>
                  <a:pt x="135" y="1175"/>
                </a:cubicBezTo>
                <a:lnTo>
                  <a:pt x="1015" y="1175"/>
                </a:lnTo>
                <a:cubicBezTo>
                  <a:pt x="1090" y="1175"/>
                  <a:pt x="1151" y="1112"/>
                  <a:pt x="1151" y="1036"/>
                </a:cubicBezTo>
                <a:lnTo>
                  <a:pt x="1151" y="138"/>
                </a:lnTo>
                <a:cubicBezTo>
                  <a:pt x="1151" y="62"/>
                  <a:pt x="1090" y="0"/>
                  <a:pt x="1015" y="0"/>
                </a:cubicBezTo>
                <a:moveTo>
                  <a:pt x="1015" y="69"/>
                </a:moveTo>
                <a:cubicBezTo>
                  <a:pt x="1053" y="69"/>
                  <a:pt x="1083" y="100"/>
                  <a:pt x="1083" y="138"/>
                </a:cubicBezTo>
                <a:lnTo>
                  <a:pt x="1083" y="276"/>
                </a:lnTo>
                <a:lnTo>
                  <a:pt x="880" y="276"/>
                </a:lnTo>
                <a:lnTo>
                  <a:pt x="880" y="69"/>
                </a:lnTo>
                <a:lnTo>
                  <a:pt x="1015" y="69"/>
                </a:lnTo>
                <a:moveTo>
                  <a:pt x="880" y="621"/>
                </a:moveTo>
                <a:lnTo>
                  <a:pt x="1083" y="621"/>
                </a:lnTo>
                <a:lnTo>
                  <a:pt x="1083" y="829"/>
                </a:lnTo>
                <a:lnTo>
                  <a:pt x="880" y="829"/>
                </a:lnTo>
                <a:lnTo>
                  <a:pt x="880" y="621"/>
                </a:lnTo>
                <a:moveTo>
                  <a:pt x="880" y="552"/>
                </a:moveTo>
                <a:lnTo>
                  <a:pt x="880" y="345"/>
                </a:lnTo>
                <a:lnTo>
                  <a:pt x="1083" y="345"/>
                </a:lnTo>
                <a:lnTo>
                  <a:pt x="1083" y="552"/>
                </a:lnTo>
                <a:lnTo>
                  <a:pt x="880" y="552"/>
                </a:lnTo>
                <a:moveTo>
                  <a:pt x="812" y="69"/>
                </a:moveTo>
                <a:lnTo>
                  <a:pt x="812" y="276"/>
                </a:lnTo>
                <a:lnTo>
                  <a:pt x="609" y="276"/>
                </a:lnTo>
                <a:lnTo>
                  <a:pt x="609" y="69"/>
                </a:lnTo>
                <a:lnTo>
                  <a:pt x="812" y="69"/>
                </a:lnTo>
                <a:moveTo>
                  <a:pt x="609" y="345"/>
                </a:moveTo>
                <a:lnTo>
                  <a:pt x="812" y="345"/>
                </a:lnTo>
                <a:lnTo>
                  <a:pt x="812" y="552"/>
                </a:lnTo>
                <a:lnTo>
                  <a:pt x="609" y="552"/>
                </a:lnTo>
                <a:lnTo>
                  <a:pt x="609" y="345"/>
                </a:lnTo>
                <a:moveTo>
                  <a:pt x="609" y="621"/>
                </a:moveTo>
                <a:lnTo>
                  <a:pt x="812" y="621"/>
                </a:lnTo>
                <a:lnTo>
                  <a:pt x="812" y="829"/>
                </a:lnTo>
                <a:lnTo>
                  <a:pt x="609" y="829"/>
                </a:lnTo>
                <a:lnTo>
                  <a:pt x="609" y="621"/>
                </a:lnTo>
                <a:moveTo>
                  <a:pt x="541" y="69"/>
                </a:moveTo>
                <a:lnTo>
                  <a:pt x="541" y="276"/>
                </a:lnTo>
                <a:lnTo>
                  <a:pt x="338" y="276"/>
                </a:lnTo>
                <a:lnTo>
                  <a:pt x="338" y="69"/>
                </a:lnTo>
                <a:lnTo>
                  <a:pt x="541" y="69"/>
                </a:lnTo>
                <a:moveTo>
                  <a:pt x="338" y="345"/>
                </a:moveTo>
                <a:lnTo>
                  <a:pt x="541" y="345"/>
                </a:lnTo>
                <a:lnTo>
                  <a:pt x="541" y="552"/>
                </a:lnTo>
                <a:lnTo>
                  <a:pt x="338" y="552"/>
                </a:lnTo>
                <a:lnTo>
                  <a:pt x="338" y="345"/>
                </a:lnTo>
                <a:moveTo>
                  <a:pt x="338" y="621"/>
                </a:moveTo>
                <a:lnTo>
                  <a:pt x="541" y="621"/>
                </a:lnTo>
                <a:lnTo>
                  <a:pt x="541" y="829"/>
                </a:lnTo>
                <a:lnTo>
                  <a:pt x="338" y="829"/>
                </a:lnTo>
                <a:lnTo>
                  <a:pt x="338" y="621"/>
                </a:lnTo>
                <a:moveTo>
                  <a:pt x="68" y="138"/>
                </a:moveTo>
                <a:cubicBezTo>
                  <a:pt x="68" y="100"/>
                  <a:pt x="98" y="69"/>
                  <a:pt x="135" y="69"/>
                </a:cubicBezTo>
                <a:lnTo>
                  <a:pt x="271" y="69"/>
                </a:lnTo>
                <a:lnTo>
                  <a:pt x="271" y="276"/>
                </a:lnTo>
                <a:lnTo>
                  <a:pt x="68" y="276"/>
                </a:lnTo>
                <a:lnTo>
                  <a:pt x="68" y="138"/>
                </a:lnTo>
                <a:moveTo>
                  <a:pt x="68" y="345"/>
                </a:moveTo>
                <a:lnTo>
                  <a:pt x="271" y="345"/>
                </a:lnTo>
                <a:lnTo>
                  <a:pt x="271" y="552"/>
                </a:lnTo>
                <a:lnTo>
                  <a:pt x="68" y="552"/>
                </a:lnTo>
                <a:lnTo>
                  <a:pt x="68" y="345"/>
                </a:lnTo>
                <a:moveTo>
                  <a:pt x="68" y="621"/>
                </a:moveTo>
                <a:lnTo>
                  <a:pt x="271" y="621"/>
                </a:lnTo>
                <a:lnTo>
                  <a:pt x="271" y="829"/>
                </a:lnTo>
                <a:lnTo>
                  <a:pt x="68" y="829"/>
                </a:lnTo>
                <a:lnTo>
                  <a:pt x="68" y="621"/>
                </a:lnTo>
                <a:moveTo>
                  <a:pt x="135" y="1105"/>
                </a:moveTo>
                <a:cubicBezTo>
                  <a:pt x="98" y="1105"/>
                  <a:pt x="68" y="1074"/>
                  <a:pt x="68" y="1036"/>
                </a:cubicBezTo>
                <a:lnTo>
                  <a:pt x="68" y="898"/>
                </a:lnTo>
                <a:lnTo>
                  <a:pt x="271" y="898"/>
                </a:lnTo>
                <a:lnTo>
                  <a:pt x="271" y="1105"/>
                </a:lnTo>
                <a:lnTo>
                  <a:pt x="135" y="1105"/>
                </a:lnTo>
                <a:moveTo>
                  <a:pt x="338" y="1105"/>
                </a:moveTo>
                <a:lnTo>
                  <a:pt x="338" y="898"/>
                </a:lnTo>
                <a:lnTo>
                  <a:pt x="541" y="898"/>
                </a:lnTo>
                <a:lnTo>
                  <a:pt x="541" y="1105"/>
                </a:lnTo>
                <a:lnTo>
                  <a:pt x="338" y="1105"/>
                </a:lnTo>
                <a:moveTo>
                  <a:pt x="609" y="1105"/>
                </a:moveTo>
                <a:lnTo>
                  <a:pt x="609" y="898"/>
                </a:lnTo>
                <a:lnTo>
                  <a:pt x="812" y="898"/>
                </a:lnTo>
                <a:lnTo>
                  <a:pt x="812" y="1105"/>
                </a:lnTo>
                <a:lnTo>
                  <a:pt x="609" y="1105"/>
                </a:lnTo>
                <a:moveTo>
                  <a:pt x="1015" y="1105"/>
                </a:moveTo>
                <a:lnTo>
                  <a:pt x="880" y="1105"/>
                </a:lnTo>
                <a:lnTo>
                  <a:pt x="880" y="898"/>
                </a:lnTo>
                <a:lnTo>
                  <a:pt x="1083" y="898"/>
                </a:lnTo>
                <a:lnTo>
                  <a:pt x="1083" y="1036"/>
                </a:lnTo>
                <a:cubicBezTo>
                  <a:pt x="1083" y="1074"/>
                  <a:pt x="1053" y="1105"/>
                  <a:pt x="1015" y="1105"/>
                </a:cubicBezTo>
                <a:close/>
              </a:path>
            </a:pathLst>
          </a:custGeom>
          <a:solidFill>
            <a:srgbClr val="E1E8E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9" name=""/>
          <p:cNvSpPr/>
          <p:nvPr/>
        </p:nvSpPr>
        <p:spPr>
          <a:xfrm>
            <a:off x="5313240" y="237240"/>
            <a:ext cx="365400" cy="373320"/>
          </a:xfrm>
          <a:custGeom>
            <a:avLst/>
            <a:gdLst/>
            <a:ahLst/>
            <a:rect l="0" t="0" r="r" b="b"/>
            <a:pathLst>
              <a:path w="1015" h="1037">
                <a:moveTo>
                  <a:pt x="67" y="1037"/>
                </a:moveTo>
                <a:cubicBezTo>
                  <a:pt x="57" y="1037"/>
                  <a:pt x="46" y="1034"/>
                  <a:pt x="35" y="1029"/>
                </a:cubicBezTo>
                <a:cubicBezTo>
                  <a:pt x="3" y="1011"/>
                  <a:pt x="-10" y="969"/>
                  <a:pt x="8" y="935"/>
                </a:cubicBezTo>
                <a:lnTo>
                  <a:pt x="245" y="485"/>
                </a:lnTo>
                <a:cubicBezTo>
                  <a:pt x="255" y="466"/>
                  <a:pt x="273" y="453"/>
                  <a:pt x="294" y="450"/>
                </a:cubicBezTo>
                <a:cubicBezTo>
                  <a:pt x="315" y="446"/>
                  <a:pt x="337" y="454"/>
                  <a:pt x="352" y="469"/>
                </a:cubicBezTo>
                <a:lnTo>
                  <a:pt x="557" y="679"/>
                </a:lnTo>
                <a:lnTo>
                  <a:pt x="887" y="37"/>
                </a:lnTo>
                <a:cubicBezTo>
                  <a:pt x="904" y="3"/>
                  <a:pt x="945" y="-10"/>
                  <a:pt x="979" y="8"/>
                </a:cubicBezTo>
                <a:cubicBezTo>
                  <a:pt x="1012" y="25"/>
                  <a:pt x="1025" y="67"/>
                  <a:pt x="1007" y="101"/>
                </a:cubicBezTo>
                <a:lnTo>
                  <a:pt x="634" y="826"/>
                </a:lnTo>
                <a:cubicBezTo>
                  <a:pt x="624" y="846"/>
                  <a:pt x="606" y="859"/>
                  <a:pt x="585" y="863"/>
                </a:cubicBezTo>
                <a:cubicBezTo>
                  <a:pt x="564" y="866"/>
                  <a:pt x="542" y="859"/>
                  <a:pt x="527" y="843"/>
                </a:cubicBezTo>
                <a:lnTo>
                  <a:pt x="321" y="632"/>
                </a:lnTo>
                <a:lnTo>
                  <a:pt x="127" y="1001"/>
                </a:lnTo>
                <a:cubicBezTo>
                  <a:pt x="115" y="1024"/>
                  <a:pt x="91" y="1037"/>
                  <a:pt x="67" y="1037"/>
                </a:cubicBezTo>
                <a:close/>
              </a:path>
            </a:pathLst>
          </a:custGeom>
          <a:solidFill>
            <a:srgbClr val="DD2E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70" name=""/>
          <p:cNvSpPr txBox="1"/>
          <p:nvPr/>
        </p:nvSpPr>
        <p:spPr>
          <a:xfrm>
            <a:off x="5110200" y="123120"/>
            <a:ext cx="441720" cy="58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480" b="1" u="none" strike="noStrike">
                <a:solidFill>
                  <a:srgbClr val="224466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34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1" name=""/>
          <p:cNvSpPr txBox="1"/>
          <p:nvPr/>
        </p:nvSpPr>
        <p:spPr>
          <a:xfrm>
            <a:off x="747720" y="1019160"/>
            <a:ext cx="5522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单机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2" name=""/>
          <p:cNvSpPr txBox="1"/>
          <p:nvPr/>
        </p:nvSpPr>
        <p:spPr>
          <a:xfrm>
            <a:off x="1300320" y="997200"/>
            <a:ext cx="27576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→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3" name=""/>
          <p:cNvSpPr txBox="1"/>
          <p:nvPr/>
        </p:nvSpPr>
        <p:spPr>
          <a:xfrm>
            <a:off x="1538640" y="1019160"/>
            <a:ext cx="193176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多机的演进路线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4" name=""/>
          <p:cNvSpPr txBox="1"/>
          <p:nvPr/>
        </p:nvSpPr>
        <p:spPr>
          <a:xfrm>
            <a:off x="747720" y="1581120"/>
            <a:ext cx="5522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阶段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5" name=""/>
          <p:cNvSpPr txBox="1"/>
          <p:nvPr/>
        </p:nvSpPr>
        <p:spPr>
          <a:xfrm>
            <a:off x="1300320" y="1559160"/>
            <a:ext cx="27576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1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6" name=""/>
          <p:cNvSpPr txBox="1"/>
          <p:nvPr/>
        </p:nvSpPr>
        <p:spPr>
          <a:xfrm>
            <a:off x="1411200" y="1581120"/>
            <a:ext cx="193176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：单机（当前）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7" name=""/>
          <p:cNvSpPr txBox="1"/>
          <p:nvPr/>
        </p:nvSpPr>
        <p:spPr>
          <a:xfrm>
            <a:off x="914400" y="2284200"/>
            <a:ext cx="47016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850" b="0" u="none" strike="noStrike">
                <a:solidFill>
                  <a:srgbClr val="1F2328"/>
                </a:solidFill>
                <a:effectLst/>
                <a:uFillTx/>
                <a:latin typeface="NSimSun"/>
                <a:ea typeface="NSimSun"/>
              </a:rPr>
              <a:t>用户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8" name=""/>
          <p:cNvSpPr txBox="1"/>
          <p:nvPr/>
        </p:nvSpPr>
        <p:spPr>
          <a:xfrm>
            <a:off x="1383840" y="2311560"/>
            <a:ext cx="142020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→ Express(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9" name=""/>
          <p:cNvSpPr txBox="1"/>
          <p:nvPr/>
        </p:nvSpPr>
        <p:spPr>
          <a:xfrm>
            <a:off x="2804040" y="2284200"/>
            <a:ext cx="70488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850" b="0" u="none" strike="noStrike">
                <a:solidFill>
                  <a:srgbClr val="1F2328"/>
                </a:solidFill>
                <a:effectLst/>
                <a:uFillTx/>
                <a:latin typeface="NSimSun"/>
                <a:ea typeface="NSimSun"/>
              </a:rPr>
              <a:t>单进程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0" name=""/>
          <p:cNvSpPr txBox="1"/>
          <p:nvPr/>
        </p:nvSpPr>
        <p:spPr>
          <a:xfrm>
            <a:off x="3508200" y="2311560"/>
            <a:ext cx="154908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) → MongoDB(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1" name=""/>
          <p:cNvSpPr txBox="1"/>
          <p:nvPr/>
        </p:nvSpPr>
        <p:spPr>
          <a:xfrm>
            <a:off x="5057280" y="2284200"/>
            <a:ext cx="47016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850" b="0" u="none" strike="noStrike">
                <a:solidFill>
                  <a:srgbClr val="1F2328"/>
                </a:solidFill>
                <a:effectLst/>
                <a:uFillTx/>
                <a:latin typeface="NSimSun"/>
                <a:ea typeface="NSimSun"/>
              </a:rPr>
              <a:t>单机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2" name=""/>
          <p:cNvSpPr txBox="1"/>
          <p:nvPr/>
        </p:nvSpPr>
        <p:spPr>
          <a:xfrm>
            <a:off x="5527080" y="2311560"/>
            <a:ext cx="23436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)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3" name=""/>
          <p:cNvSpPr txBox="1"/>
          <p:nvPr/>
        </p:nvSpPr>
        <p:spPr>
          <a:xfrm>
            <a:off x="914400" y="2550960"/>
            <a:ext cx="70488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850" b="0" u="none" strike="noStrike">
                <a:solidFill>
                  <a:srgbClr val="1F2328"/>
                </a:solidFill>
                <a:effectLst/>
                <a:uFillTx/>
                <a:latin typeface="NSimSun"/>
                <a:ea typeface="NSimSun"/>
              </a:rPr>
              <a:t>容量：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4" name=""/>
          <p:cNvSpPr txBox="1"/>
          <p:nvPr/>
        </p:nvSpPr>
        <p:spPr>
          <a:xfrm>
            <a:off x="1618920" y="2578320"/>
            <a:ext cx="142020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~1000 req/s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5" name=""/>
          <p:cNvSpPr txBox="1"/>
          <p:nvPr/>
        </p:nvSpPr>
        <p:spPr>
          <a:xfrm>
            <a:off x="747720" y="3171960"/>
            <a:ext cx="5522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阶段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6" name=""/>
          <p:cNvSpPr txBox="1"/>
          <p:nvPr/>
        </p:nvSpPr>
        <p:spPr>
          <a:xfrm>
            <a:off x="1300320" y="3150000"/>
            <a:ext cx="39276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1.5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7" name=""/>
          <p:cNvSpPr txBox="1"/>
          <p:nvPr/>
        </p:nvSpPr>
        <p:spPr>
          <a:xfrm>
            <a:off x="1631160" y="3171960"/>
            <a:ext cx="27590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：单机多进程（可选，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8" name=""/>
          <p:cNvSpPr txBox="1"/>
          <p:nvPr/>
        </p:nvSpPr>
        <p:spPr>
          <a:xfrm>
            <a:off x="4393440" y="3150000"/>
            <a:ext cx="105804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Node.js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9" name=""/>
          <p:cNvSpPr txBox="1"/>
          <p:nvPr/>
        </p:nvSpPr>
        <p:spPr>
          <a:xfrm>
            <a:off x="5417280" y="3171960"/>
            <a:ext cx="13798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内部扩展）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0" name=""/>
          <p:cNvSpPr txBox="1"/>
          <p:nvPr/>
        </p:nvSpPr>
        <p:spPr>
          <a:xfrm>
            <a:off x="914400" y="3865320"/>
            <a:ext cx="47016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850" b="0" u="none" strike="noStrike">
                <a:solidFill>
                  <a:srgbClr val="1F2328"/>
                </a:solidFill>
                <a:effectLst/>
                <a:uFillTx/>
                <a:latin typeface="NSimSun"/>
                <a:ea typeface="NSimSun"/>
              </a:rPr>
              <a:t>用户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1" name=""/>
          <p:cNvSpPr txBox="1"/>
          <p:nvPr/>
        </p:nvSpPr>
        <p:spPr>
          <a:xfrm>
            <a:off x="1383840" y="3892680"/>
            <a:ext cx="30974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→ Node.js Cluster / PM2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2" name=""/>
          <p:cNvSpPr txBox="1"/>
          <p:nvPr/>
        </p:nvSpPr>
        <p:spPr>
          <a:xfrm>
            <a:off x="914400" y="4159440"/>
            <a:ext cx="335556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      ├→ Express Worker 1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3" name=""/>
          <p:cNvSpPr txBox="1"/>
          <p:nvPr/>
        </p:nvSpPr>
        <p:spPr>
          <a:xfrm>
            <a:off x="914400" y="4435560"/>
            <a:ext cx="335556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      ├→ Express Worker 2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4" name=""/>
          <p:cNvSpPr txBox="1"/>
          <p:nvPr/>
        </p:nvSpPr>
        <p:spPr>
          <a:xfrm>
            <a:off x="914400" y="4702320"/>
            <a:ext cx="335556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      ├→ Express Worker 3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5" name=""/>
          <p:cNvSpPr txBox="1"/>
          <p:nvPr/>
        </p:nvSpPr>
        <p:spPr>
          <a:xfrm>
            <a:off x="914400" y="4969080"/>
            <a:ext cx="335556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      └→ Express Worker 4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6" name=""/>
          <p:cNvSpPr txBox="1"/>
          <p:nvPr/>
        </p:nvSpPr>
        <p:spPr>
          <a:xfrm>
            <a:off x="914400" y="5245200"/>
            <a:ext cx="219420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      → MongoDB(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7" name=""/>
          <p:cNvSpPr txBox="1"/>
          <p:nvPr/>
        </p:nvSpPr>
        <p:spPr>
          <a:xfrm>
            <a:off x="3108960" y="5218200"/>
            <a:ext cx="47016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850" b="0" u="none" strike="noStrike">
                <a:solidFill>
                  <a:srgbClr val="1F2328"/>
                </a:solidFill>
                <a:effectLst/>
                <a:uFillTx/>
                <a:latin typeface="NSimSun"/>
                <a:ea typeface="NSimSun"/>
              </a:rPr>
              <a:t>单机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8" name=""/>
          <p:cNvSpPr txBox="1"/>
          <p:nvPr/>
        </p:nvSpPr>
        <p:spPr>
          <a:xfrm>
            <a:off x="3578400" y="5245200"/>
            <a:ext cx="23436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)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9" name=""/>
          <p:cNvSpPr txBox="1"/>
          <p:nvPr/>
        </p:nvSpPr>
        <p:spPr>
          <a:xfrm>
            <a:off x="747720" y="5838840"/>
            <a:ext cx="55177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关键发现：分布式锁不⼀定需要多台服务器！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0" name=""/>
          <p:cNvSpPr txBox="1"/>
          <p:nvPr/>
        </p:nvSpPr>
        <p:spPr>
          <a:xfrm>
            <a:off x="1168200" y="6477120"/>
            <a:ext cx="5522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场景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1" name=""/>
          <p:cNvSpPr txBox="1"/>
          <p:nvPr/>
        </p:nvSpPr>
        <p:spPr>
          <a:xfrm>
            <a:off x="2538000" y="6477120"/>
            <a:ext cx="11041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锁的需求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2" name=""/>
          <p:cNvSpPr txBox="1"/>
          <p:nvPr/>
        </p:nvSpPr>
        <p:spPr>
          <a:xfrm>
            <a:off x="7466040" y="6477120"/>
            <a:ext cx="5522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原因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3" name=""/>
          <p:cNvSpPr txBox="1"/>
          <p:nvPr/>
        </p:nvSpPr>
        <p:spPr>
          <a:xfrm>
            <a:off x="11659680" y="6335280"/>
            <a:ext cx="24732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SegoeUI"/>
                <a:ea typeface="SegoeUI"/>
              </a:rPr>
              <a:t>15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7" name=""/>
          <p:cNvSpPr/>
          <p:nvPr/>
        </p:nvSpPr>
        <p:spPr>
          <a:xfrm>
            <a:off x="757080" y="718920"/>
            <a:ext cx="10687320" cy="1943640"/>
          </a:xfrm>
          <a:custGeom>
            <a:avLst/>
            <a:gdLst/>
            <a:ahLst/>
            <a:rect l="0" t="0" r="r" b="b"/>
            <a:pathLst>
              <a:path w="29687" h="5399">
                <a:moveTo>
                  <a:pt x="0" y="5253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8"/>
                  <a:pt x="29597" y="11"/>
                </a:cubicBezTo>
                <a:cubicBezTo>
                  <a:pt x="29606" y="15"/>
                  <a:pt x="29615" y="19"/>
                  <a:pt x="29623" y="25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49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7"/>
                  <a:pt x="29687" y="136"/>
                  <a:pt x="29687" y="146"/>
                </a:cubicBezTo>
                <a:lnTo>
                  <a:pt x="29687" y="5253"/>
                </a:lnTo>
                <a:cubicBezTo>
                  <a:pt x="29687" y="5263"/>
                  <a:pt x="29686" y="5272"/>
                  <a:pt x="29684" y="5281"/>
                </a:cubicBezTo>
                <a:cubicBezTo>
                  <a:pt x="29683" y="5291"/>
                  <a:pt x="29680" y="5300"/>
                  <a:pt x="29676" y="5309"/>
                </a:cubicBezTo>
                <a:cubicBezTo>
                  <a:pt x="29672" y="5318"/>
                  <a:pt x="29668" y="5326"/>
                  <a:pt x="29663" y="5334"/>
                </a:cubicBezTo>
                <a:cubicBezTo>
                  <a:pt x="29657" y="5342"/>
                  <a:pt x="29651" y="5349"/>
                  <a:pt x="29645" y="5356"/>
                </a:cubicBezTo>
                <a:cubicBezTo>
                  <a:pt x="29638" y="5363"/>
                  <a:pt x="29630" y="5369"/>
                  <a:pt x="29623" y="5374"/>
                </a:cubicBezTo>
                <a:cubicBezTo>
                  <a:pt x="29615" y="5379"/>
                  <a:pt x="29606" y="5384"/>
                  <a:pt x="29597" y="5388"/>
                </a:cubicBezTo>
                <a:cubicBezTo>
                  <a:pt x="29589" y="5391"/>
                  <a:pt x="29579" y="5394"/>
                  <a:pt x="29570" y="5396"/>
                </a:cubicBezTo>
                <a:cubicBezTo>
                  <a:pt x="29561" y="5398"/>
                  <a:pt x="29551" y="5399"/>
                  <a:pt x="29542" y="5399"/>
                </a:cubicBezTo>
                <a:lnTo>
                  <a:pt x="145" y="5399"/>
                </a:lnTo>
                <a:cubicBezTo>
                  <a:pt x="136" y="5399"/>
                  <a:pt x="126" y="5398"/>
                  <a:pt x="117" y="5396"/>
                </a:cubicBezTo>
                <a:cubicBezTo>
                  <a:pt x="108" y="5394"/>
                  <a:pt x="99" y="5391"/>
                  <a:pt x="90" y="5388"/>
                </a:cubicBezTo>
                <a:cubicBezTo>
                  <a:pt x="81" y="5384"/>
                  <a:pt x="73" y="5379"/>
                  <a:pt x="65" y="5374"/>
                </a:cubicBezTo>
                <a:cubicBezTo>
                  <a:pt x="57" y="5369"/>
                  <a:pt x="49" y="5363"/>
                  <a:pt x="43" y="5356"/>
                </a:cubicBezTo>
                <a:cubicBezTo>
                  <a:pt x="36" y="5349"/>
                  <a:pt x="30" y="5342"/>
                  <a:pt x="24" y="5334"/>
                </a:cubicBezTo>
                <a:cubicBezTo>
                  <a:pt x="19" y="5326"/>
                  <a:pt x="15" y="5318"/>
                  <a:pt x="11" y="5309"/>
                </a:cubicBezTo>
                <a:cubicBezTo>
                  <a:pt x="7" y="5300"/>
                  <a:pt x="5" y="5291"/>
                  <a:pt x="3" y="5281"/>
                </a:cubicBezTo>
                <a:cubicBezTo>
                  <a:pt x="1" y="5272"/>
                  <a:pt x="0" y="5263"/>
                  <a:pt x="0" y="5253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8" name=""/>
          <p:cNvSpPr/>
          <p:nvPr/>
        </p:nvSpPr>
        <p:spPr>
          <a:xfrm>
            <a:off x="757080" y="718920"/>
            <a:ext cx="10687320" cy="1943640"/>
          </a:xfrm>
          <a:custGeom>
            <a:avLst/>
            <a:gdLst/>
            <a:ahLst/>
            <a:rect l="0" t="0" r="r" b="b"/>
            <a:pathLst>
              <a:path w="29687" h="5399">
                <a:moveTo>
                  <a:pt x="0" y="5253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8"/>
                  <a:pt x="29597" y="11"/>
                </a:cubicBezTo>
                <a:cubicBezTo>
                  <a:pt x="29606" y="15"/>
                  <a:pt x="29615" y="19"/>
                  <a:pt x="29623" y="25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49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7"/>
                  <a:pt x="29687" y="136"/>
                  <a:pt x="29687" y="146"/>
                </a:cubicBezTo>
                <a:lnTo>
                  <a:pt x="29687" y="5253"/>
                </a:lnTo>
                <a:cubicBezTo>
                  <a:pt x="29687" y="5263"/>
                  <a:pt x="29686" y="5272"/>
                  <a:pt x="29684" y="5281"/>
                </a:cubicBezTo>
                <a:cubicBezTo>
                  <a:pt x="29683" y="5291"/>
                  <a:pt x="29680" y="5300"/>
                  <a:pt x="29676" y="5309"/>
                </a:cubicBezTo>
                <a:cubicBezTo>
                  <a:pt x="29672" y="5318"/>
                  <a:pt x="29668" y="5326"/>
                  <a:pt x="29663" y="5334"/>
                </a:cubicBezTo>
                <a:cubicBezTo>
                  <a:pt x="29657" y="5342"/>
                  <a:pt x="29651" y="5349"/>
                  <a:pt x="29645" y="5356"/>
                </a:cubicBezTo>
                <a:cubicBezTo>
                  <a:pt x="29638" y="5363"/>
                  <a:pt x="29630" y="5369"/>
                  <a:pt x="29623" y="5374"/>
                </a:cubicBezTo>
                <a:cubicBezTo>
                  <a:pt x="29615" y="5379"/>
                  <a:pt x="29606" y="5384"/>
                  <a:pt x="29597" y="5388"/>
                </a:cubicBezTo>
                <a:cubicBezTo>
                  <a:pt x="29589" y="5391"/>
                  <a:pt x="29579" y="5394"/>
                  <a:pt x="29570" y="5396"/>
                </a:cubicBezTo>
                <a:cubicBezTo>
                  <a:pt x="29561" y="5398"/>
                  <a:pt x="29551" y="5399"/>
                  <a:pt x="29542" y="5399"/>
                </a:cubicBezTo>
                <a:lnTo>
                  <a:pt x="145" y="5399"/>
                </a:lnTo>
                <a:cubicBezTo>
                  <a:pt x="136" y="5399"/>
                  <a:pt x="126" y="5398"/>
                  <a:pt x="117" y="5396"/>
                </a:cubicBezTo>
                <a:cubicBezTo>
                  <a:pt x="108" y="5394"/>
                  <a:pt x="99" y="5391"/>
                  <a:pt x="90" y="5388"/>
                </a:cubicBezTo>
                <a:cubicBezTo>
                  <a:pt x="81" y="5384"/>
                  <a:pt x="73" y="5379"/>
                  <a:pt x="65" y="5374"/>
                </a:cubicBezTo>
                <a:cubicBezTo>
                  <a:pt x="57" y="5369"/>
                  <a:pt x="49" y="5363"/>
                  <a:pt x="43" y="5356"/>
                </a:cubicBezTo>
                <a:cubicBezTo>
                  <a:pt x="36" y="5349"/>
                  <a:pt x="30" y="5342"/>
                  <a:pt x="24" y="5334"/>
                </a:cubicBezTo>
                <a:cubicBezTo>
                  <a:pt x="19" y="5326"/>
                  <a:pt x="15" y="5318"/>
                  <a:pt x="11" y="5309"/>
                </a:cubicBezTo>
                <a:cubicBezTo>
                  <a:pt x="7" y="5300"/>
                  <a:pt x="5" y="5291"/>
                  <a:pt x="3" y="5281"/>
                </a:cubicBezTo>
                <a:cubicBezTo>
                  <a:pt x="1" y="5272"/>
                  <a:pt x="0" y="5263"/>
                  <a:pt x="0" y="5253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9" name=""/>
          <p:cNvSpPr/>
          <p:nvPr/>
        </p:nvSpPr>
        <p:spPr>
          <a:xfrm>
            <a:off x="752400" y="3390840"/>
            <a:ext cx="2009880" cy="533520"/>
          </a:xfrm>
          <a:custGeom>
            <a:avLst/>
            <a:gdLst/>
            <a:ahLst/>
            <a:rect l="0" t="0" r="r" b="b"/>
            <a:pathLst>
              <a:path w="5583" h="1482">
                <a:moveTo>
                  <a:pt x="0" y="0"/>
                </a:moveTo>
                <a:lnTo>
                  <a:pt x="5583" y="0"/>
                </a:lnTo>
                <a:lnTo>
                  <a:pt x="5583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0" name=""/>
          <p:cNvSpPr/>
          <p:nvPr/>
        </p:nvSpPr>
        <p:spPr>
          <a:xfrm>
            <a:off x="2761920" y="3390840"/>
            <a:ext cx="3553200" cy="533520"/>
          </a:xfrm>
          <a:custGeom>
            <a:avLst/>
            <a:gdLst/>
            <a:ahLst/>
            <a:rect l="0" t="0" r="r" b="b"/>
            <a:pathLst>
              <a:path w="9870" h="1482">
                <a:moveTo>
                  <a:pt x="0" y="0"/>
                </a:moveTo>
                <a:lnTo>
                  <a:pt x="9870" y="0"/>
                </a:lnTo>
                <a:lnTo>
                  <a:pt x="9870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1" name=""/>
          <p:cNvSpPr/>
          <p:nvPr/>
        </p:nvSpPr>
        <p:spPr>
          <a:xfrm>
            <a:off x="6314760" y="3390840"/>
            <a:ext cx="5124960" cy="533520"/>
          </a:xfrm>
          <a:custGeom>
            <a:avLst/>
            <a:gdLst/>
            <a:ahLst/>
            <a:rect l="0" t="0" r="r" b="b"/>
            <a:pathLst>
              <a:path w="14236" h="1482">
                <a:moveTo>
                  <a:pt x="0" y="0"/>
                </a:moveTo>
                <a:lnTo>
                  <a:pt x="14236" y="0"/>
                </a:lnTo>
                <a:lnTo>
                  <a:pt x="14236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2" name=""/>
          <p:cNvSpPr/>
          <p:nvPr/>
        </p:nvSpPr>
        <p:spPr>
          <a:xfrm>
            <a:off x="752400" y="3924000"/>
            <a:ext cx="2009880" cy="952920"/>
          </a:xfrm>
          <a:custGeom>
            <a:avLst/>
            <a:gdLst/>
            <a:ahLst/>
            <a:rect l="0" t="0" r="r" b="b"/>
            <a:pathLst>
              <a:path w="5583" h="2647">
                <a:moveTo>
                  <a:pt x="0" y="0"/>
                </a:moveTo>
                <a:lnTo>
                  <a:pt x="5583" y="0"/>
                </a:lnTo>
                <a:lnTo>
                  <a:pt x="5583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3" name=""/>
          <p:cNvSpPr/>
          <p:nvPr/>
        </p:nvSpPr>
        <p:spPr>
          <a:xfrm>
            <a:off x="2761920" y="3924000"/>
            <a:ext cx="3553200" cy="952920"/>
          </a:xfrm>
          <a:custGeom>
            <a:avLst/>
            <a:gdLst/>
            <a:ahLst/>
            <a:rect l="0" t="0" r="r" b="b"/>
            <a:pathLst>
              <a:path w="9870" h="2647">
                <a:moveTo>
                  <a:pt x="0" y="0"/>
                </a:moveTo>
                <a:lnTo>
                  <a:pt x="9870" y="0"/>
                </a:lnTo>
                <a:lnTo>
                  <a:pt x="9870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4" name=""/>
          <p:cNvSpPr/>
          <p:nvPr/>
        </p:nvSpPr>
        <p:spPr>
          <a:xfrm>
            <a:off x="6314760" y="3924000"/>
            <a:ext cx="5124960" cy="952920"/>
          </a:xfrm>
          <a:custGeom>
            <a:avLst/>
            <a:gdLst/>
            <a:ahLst/>
            <a:rect l="0" t="0" r="r" b="b"/>
            <a:pathLst>
              <a:path w="14236" h="2647">
                <a:moveTo>
                  <a:pt x="0" y="0"/>
                </a:moveTo>
                <a:lnTo>
                  <a:pt x="14236" y="0"/>
                </a:lnTo>
                <a:lnTo>
                  <a:pt x="14236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5" name=""/>
          <p:cNvSpPr/>
          <p:nvPr/>
        </p:nvSpPr>
        <p:spPr>
          <a:xfrm>
            <a:off x="752400" y="4876560"/>
            <a:ext cx="2009880" cy="952920"/>
          </a:xfrm>
          <a:custGeom>
            <a:avLst/>
            <a:gdLst/>
            <a:ahLst/>
            <a:rect l="0" t="0" r="r" b="b"/>
            <a:pathLst>
              <a:path w="5583" h="2647">
                <a:moveTo>
                  <a:pt x="0" y="0"/>
                </a:moveTo>
                <a:lnTo>
                  <a:pt x="5583" y="0"/>
                </a:lnTo>
                <a:lnTo>
                  <a:pt x="5583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6" name=""/>
          <p:cNvSpPr/>
          <p:nvPr/>
        </p:nvSpPr>
        <p:spPr>
          <a:xfrm>
            <a:off x="2761920" y="4876560"/>
            <a:ext cx="3553200" cy="952920"/>
          </a:xfrm>
          <a:custGeom>
            <a:avLst/>
            <a:gdLst/>
            <a:ahLst/>
            <a:rect l="0" t="0" r="r" b="b"/>
            <a:pathLst>
              <a:path w="9870" h="2647">
                <a:moveTo>
                  <a:pt x="0" y="0"/>
                </a:moveTo>
                <a:lnTo>
                  <a:pt x="9870" y="0"/>
                </a:lnTo>
                <a:lnTo>
                  <a:pt x="9870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7" name=""/>
          <p:cNvSpPr/>
          <p:nvPr/>
        </p:nvSpPr>
        <p:spPr>
          <a:xfrm>
            <a:off x="6314760" y="4876560"/>
            <a:ext cx="5124960" cy="952920"/>
          </a:xfrm>
          <a:custGeom>
            <a:avLst/>
            <a:gdLst/>
            <a:ahLst/>
            <a:rect l="0" t="0" r="r" b="b"/>
            <a:pathLst>
              <a:path w="14236" h="2647">
                <a:moveTo>
                  <a:pt x="0" y="0"/>
                </a:moveTo>
                <a:lnTo>
                  <a:pt x="14236" y="0"/>
                </a:lnTo>
                <a:lnTo>
                  <a:pt x="14236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8" name=""/>
          <p:cNvSpPr/>
          <p:nvPr/>
        </p:nvSpPr>
        <p:spPr>
          <a:xfrm>
            <a:off x="752400" y="5829120"/>
            <a:ext cx="2009880" cy="952920"/>
          </a:xfrm>
          <a:custGeom>
            <a:avLst/>
            <a:gdLst/>
            <a:ahLst/>
            <a:rect l="0" t="0" r="r" b="b"/>
            <a:pathLst>
              <a:path w="5583" h="2647">
                <a:moveTo>
                  <a:pt x="0" y="0"/>
                </a:moveTo>
                <a:lnTo>
                  <a:pt x="5583" y="0"/>
                </a:lnTo>
                <a:lnTo>
                  <a:pt x="5583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9" name=""/>
          <p:cNvSpPr/>
          <p:nvPr/>
        </p:nvSpPr>
        <p:spPr>
          <a:xfrm>
            <a:off x="2761920" y="5829120"/>
            <a:ext cx="3553200" cy="952920"/>
          </a:xfrm>
          <a:custGeom>
            <a:avLst/>
            <a:gdLst/>
            <a:ahLst/>
            <a:rect l="0" t="0" r="r" b="b"/>
            <a:pathLst>
              <a:path w="9870" h="2647">
                <a:moveTo>
                  <a:pt x="0" y="0"/>
                </a:moveTo>
                <a:lnTo>
                  <a:pt x="9870" y="0"/>
                </a:lnTo>
                <a:lnTo>
                  <a:pt x="9870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0" name=""/>
          <p:cNvSpPr/>
          <p:nvPr/>
        </p:nvSpPr>
        <p:spPr>
          <a:xfrm>
            <a:off x="6314760" y="5829120"/>
            <a:ext cx="5124960" cy="952920"/>
          </a:xfrm>
          <a:custGeom>
            <a:avLst/>
            <a:gdLst/>
            <a:ahLst/>
            <a:rect l="0" t="0" r="r" b="b"/>
            <a:pathLst>
              <a:path w="14236" h="2647">
                <a:moveTo>
                  <a:pt x="0" y="0"/>
                </a:moveTo>
                <a:lnTo>
                  <a:pt x="14236" y="0"/>
                </a:lnTo>
                <a:lnTo>
                  <a:pt x="14236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1" name=""/>
          <p:cNvSpPr/>
          <p:nvPr/>
        </p:nvSpPr>
        <p:spPr>
          <a:xfrm>
            <a:off x="752400" y="6781680"/>
            <a:ext cx="2009880" cy="76320"/>
          </a:xfrm>
          <a:custGeom>
            <a:avLst/>
            <a:gdLst/>
            <a:ahLst/>
            <a:rect l="0" t="0" r="r" b="b"/>
            <a:pathLst>
              <a:path w="5583" h="212">
                <a:moveTo>
                  <a:pt x="0" y="0"/>
                </a:moveTo>
                <a:lnTo>
                  <a:pt x="5583" y="0"/>
                </a:lnTo>
                <a:lnTo>
                  <a:pt x="5583" y="212"/>
                </a:lnTo>
                <a:lnTo>
                  <a:pt x="0" y="212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2" name=""/>
          <p:cNvSpPr/>
          <p:nvPr/>
        </p:nvSpPr>
        <p:spPr>
          <a:xfrm>
            <a:off x="2761920" y="6781680"/>
            <a:ext cx="3553200" cy="76320"/>
          </a:xfrm>
          <a:custGeom>
            <a:avLst/>
            <a:gdLst/>
            <a:ahLst/>
            <a:rect l="0" t="0" r="r" b="b"/>
            <a:pathLst>
              <a:path w="9870" h="212">
                <a:moveTo>
                  <a:pt x="0" y="0"/>
                </a:moveTo>
                <a:lnTo>
                  <a:pt x="9870" y="0"/>
                </a:lnTo>
                <a:lnTo>
                  <a:pt x="9870" y="212"/>
                </a:lnTo>
                <a:lnTo>
                  <a:pt x="0" y="212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3" name=""/>
          <p:cNvSpPr/>
          <p:nvPr/>
        </p:nvSpPr>
        <p:spPr>
          <a:xfrm>
            <a:off x="6314760" y="6781680"/>
            <a:ext cx="5124960" cy="76320"/>
          </a:xfrm>
          <a:custGeom>
            <a:avLst/>
            <a:gdLst/>
            <a:ahLst/>
            <a:rect l="0" t="0" r="r" b="b"/>
            <a:pathLst>
              <a:path w="14236" h="212">
                <a:moveTo>
                  <a:pt x="0" y="0"/>
                </a:moveTo>
                <a:lnTo>
                  <a:pt x="14236" y="0"/>
                </a:lnTo>
                <a:lnTo>
                  <a:pt x="14236" y="212"/>
                </a:lnTo>
                <a:lnTo>
                  <a:pt x="0" y="212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4" name=""/>
          <p:cNvSpPr/>
          <p:nvPr/>
        </p:nvSpPr>
        <p:spPr>
          <a:xfrm>
            <a:off x="752400" y="3381120"/>
            <a:ext cx="9720" cy="552960"/>
          </a:xfrm>
          <a:custGeom>
            <a:avLst/>
            <a:gdLst/>
            <a:ahLst/>
            <a:rect l="0" t="0" r="r" b="b"/>
            <a:pathLst>
              <a:path w="27" h="1536">
                <a:moveTo>
                  <a:pt x="0" y="0"/>
                </a:moveTo>
                <a:lnTo>
                  <a:pt x="27" y="0"/>
                </a:lnTo>
                <a:lnTo>
                  <a:pt x="27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5" name=""/>
          <p:cNvSpPr/>
          <p:nvPr/>
        </p:nvSpPr>
        <p:spPr>
          <a:xfrm>
            <a:off x="752400" y="3381120"/>
            <a:ext cx="2009880" cy="10080"/>
          </a:xfrm>
          <a:custGeom>
            <a:avLst/>
            <a:gdLst/>
            <a:ahLst/>
            <a:rect l="0" t="0" r="r" b="b"/>
            <a:pathLst>
              <a:path w="5583" h="28">
                <a:moveTo>
                  <a:pt x="0" y="0"/>
                </a:moveTo>
                <a:lnTo>
                  <a:pt x="5583" y="0"/>
                </a:lnTo>
                <a:lnTo>
                  <a:pt x="558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6" name=""/>
          <p:cNvSpPr/>
          <p:nvPr/>
        </p:nvSpPr>
        <p:spPr>
          <a:xfrm>
            <a:off x="2752560" y="3381120"/>
            <a:ext cx="9720" cy="552960"/>
          </a:xfrm>
          <a:custGeom>
            <a:avLst/>
            <a:gdLst/>
            <a:ahLst/>
            <a:rect l="0" t="0" r="r" b="b"/>
            <a:pathLst>
              <a:path w="27" h="1536">
                <a:moveTo>
                  <a:pt x="0" y="0"/>
                </a:moveTo>
                <a:lnTo>
                  <a:pt x="27" y="0"/>
                </a:lnTo>
                <a:lnTo>
                  <a:pt x="27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7" name=""/>
          <p:cNvSpPr/>
          <p:nvPr/>
        </p:nvSpPr>
        <p:spPr>
          <a:xfrm>
            <a:off x="2761920" y="3381120"/>
            <a:ext cx="3562920" cy="10080"/>
          </a:xfrm>
          <a:custGeom>
            <a:avLst/>
            <a:gdLst/>
            <a:ahLst/>
            <a:rect l="0" t="0" r="r" b="b"/>
            <a:pathLst>
              <a:path w="9897" h="28">
                <a:moveTo>
                  <a:pt x="0" y="0"/>
                </a:moveTo>
                <a:lnTo>
                  <a:pt x="9897" y="0"/>
                </a:lnTo>
                <a:lnTo>
                  <a:pt x="989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8" name=""/>
          <p:cNvSpPr/>
          <p:nvPr/>
        </p:nvSpPr>
        <p:spPr>
          <a:xfrm>
            <a:off x="6314760" y="3381120"/>
            <a:ext cx="10080" cy="552960"/>
          </a:xfrm>
          <a:custGeom>
            <a:avLst/>
            <a:gdLst/>
            <a:ahLst/>
            <a:rect l="0" t="0" r="r" b="b"/>
            <a:pathLst>
              <a:path w="28" h="1536">
                <a:moveTo>
                  <a:pt x="0" y="0"/>
                </a:moveTo>
                <a:lnTo>
                  <a:pt x="28" y="0"/>
                </a:lnTo>
                <a:lnTo>
                  <a:pt x="28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9" name=""/>
          <p:cNvSpPr/>
          <p:nvPr/>
        </p:nvSpPr>
        <p:spPr>
          <a:xfrm>
            <a:off x="6324480" y="3381120"/>
            <a:ext cx="5124600" cy="10080"/>
          </a:xfrm>
          <a:custGeom>
            <a:avLst/>
            <a:gdLst/>
            <a:ahLst/>
            <a:rect l="0" t="0" r="r" b="b"/>
            <a:pathLst>
              <a:path w="14235" h="28">
                <a:moveTo>
                  <a:pt x="0" y="0"/>
                </a:moveTo>
                <a:lnTo>
                  <a:pt x="14235" y="0"/>
                </a:lnTo>
                <a:lnTo>
                  <a:pt x="1423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0" name=""/>
          <p:cNvSpPr/>
          <p:nvPr/>
        </p:nvSpPr>
        <p:spPr>
          <a:xfrm>
            <a:off x="11439360" y="3381120"/>
            <a:ext cx="9720" cy="552960"/>
          </a:xfrm>
          <a:custGeom>
            <a:avLst/>
            <a:gdLst/>
            <a:ahLst/>
            <a:rect l="0" t="0" r="r" b="b"/>
            <a:pathLst>
              <a:path w="27" h="1536">
                <a:moveTo>
                  <a:pt x="0" y="0"/>
                </a:moveTo>
                <a:lnTo>
                  <a:pt x="27" y="0"/>
                </a:lnTo>
                <a:lnTo>
                  <a:pt x="27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1" name=""/>
          <p:cNvSpPr/>
          <p:nvPr/>
        </p:nvSpPr>
        <p:spPr>
          <a:xfrm>
            <a:off x="752400" y="3924000"/>
            <a:ext cx="2009880" cy="10080"/>
          </a:xfrm>
          <a:custGeom>
            <a:avLst/>
            <a:gdLst/>
            <a:ahLst/>
            <a:rect l="0" t="0" r="r" b="b"/>
            <a:pathLst>
              <a:path w="5583" h="28">
                <a:moveTo>
                  <a:pt x="0" y="0"/>
                </a:moveTo>
                <a:lnTo>
                  <a:pt x="5583" y="0"/>
                </a:lnTo>
                <a:lnTo>
                  <a:pt x="558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2" name=""/>
          <p:cNvSpPr/>
          <p:nvPr/>
        </p:nvSpPr>
        <p:spPr>
          <a:xfrm>
            <a:off x="2761920" y="3924000"/>
            <a:ext cx="3562920" cy="10080"/>
          </a:xfrm>
          <a:custGeom>
            <a:avLst/>
            <a:gdLst/>
            <a:ahLst/>
            <a:rect l="0" t="0" r="r" b="b"/>
            <a:pathLst>
              <a:path w="9897" h="28">
                <a:moveTo>
                  <a:pt x="0" y="0"/>
                </a:moveTo>
                <a:lnTo>
                  <a:pt x="9897" y="0"/>
                </a:lnTo>
                <a:lnTo>
                  <a:pt x="989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3" name=""/>
          <p:cNvSpPr/>
          <p:nvPr/>
        </p:nvSpPr>
        <p:spPr>
          <a:xfrm>
            <a:off x="6324480" y="3924000"/>
            <a:ext cx="5124600" cy="10080"/>
          </a:xfrm>
          <a:custGeom>
            <a:avLst/>
            <a:gdLst/>
            <a:ahLst/>
            <a:rect l="0" t="0" r="r" b="b"/>
            <a:pathLst>
              <a:path w="14235" h="28">
                <a:moveTo>
                  <a:pt x="0" y="0"/>
                </a:moveTo>
                <a:lnTo>
                  <a:pt x="14235" y="0"/>
                </a:lnTo>
                <a:lnTo>
                  <a:pt x="1423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4" name=""/>
          <p:cNvSpPr/>
          <p:nvPr/>
        </p:nvSpPr>
        <p:spPr>
          <a:xfrm>
            <a:off x="752400" y="3933720"/>
            <a:ext cx="9720" cy="952920"/>
          </a:xfrm>
          <a:custGeom>
            <a:avLst/>
            <a:gdLst/>
            <a:ahLst/>
            <a:rect l="0" t="0" r="r" b="b"/>
            <a:pathLst>
              <a:path w="27" h="2647">
                <a:moveTo>
                  <a:pt x="0" y="0"/>
                </a:moveTo>
                <a:lnTo>
                  <a:pt x="27" y="0"/>
                </a:lnTo>
                <a:lnTo>
                  <a:pt x="27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5" name=""/>
          <p:cNvSpPr/>
          <p:nvPr/>
        </p:nvSpPr>
        <p:spPr>
          <a:xfrm>
            <a:off x="2752560" y="3933720"/>
            <a:ext cx="9720" cy="952920"/>
          </a:xfrm>
          <a:custGeom>
            <a:avLst/>
            <a:gdLst/>
            <a:ahLst/>
            <a:rect l="0" t="0" r="r" b="b"/>
            <a:pathLst>
              <a:path w="27" h="2647">
                <a:moveTo>
                  <a:pt x="0" y="0"/>
                </a:moveTo>
                <a:lnTo>
                  <a:pt x="27" y="0"/>
                </a:lnTo>
                <a:lnTo>
                  <a:pt x="27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6" name=""/>
          <p:cNvSpPr/>
          <p:nvPr/>
        </p:nvSpPr>
        <p:spPr>
          <a:xfrm>
            <a:off x="6314760" y="3933720"/>
            <a:ext cx="10080" cy="952920"/>
          </a:xfrm>
          <a:custGeom>
            <a:avLst/>
            <a:gdLst/>
            <a:ahLst/>
            <a:rect l="0" t="0" r="r" b="b"/>
            <a:pathLst>
              <a:path w="28" h="2647">
                <a:moveTo>
                  <a:pt x="0" y="0"/>
                </a:moveTo>
                <a:lnTo>
                  <a:pt x="28" y="0"/>
                </a:lnTo>
                <a:lnTo>
                  <a:pt x="28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7" name=""/>
          <p:cNvSpPr/>
          <p:nvPr/>
        </p:nvSpPr>
        <p:spPr>
          <a:xfrm>
            <a:off x="11439360" y="3933720"/>
            <a:ext cx="9720" cy="952920"/>
          </a:xfrm>
          <a:custGeom>
            <a:avLst/>
            <a:gdLst/>
            <a:ahLst/>
            <a:rect l="0" t="0" r="r" b="b"/>
            <a:pathLst>
              <a:path w="27" h="2647">
                <a:moveTo>
                  <a:pt x="0" y="0"/>
                </a:moveTo>
                <a:lnTo>
                  <a:pt x="27" y="0"/>
                </a:lnTo>
                <a:lnTo>
                  <a:pt x="27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8" name=""/>
          <p:cNvSpPr/>
          <p:nvPr/>
        </p:nvSpPr>
        <p:spPr>
          <a:xfrm>
            <a:off x="752400" y="4886280"/>
            <a:ext cx="9720" cy="952560"/>
          </a:xfrm>
          <a:custGeom>
            <a:avLst/>
            <a:gdLst/>
            <a:ahLst/>
            <a:rect l="0" t="0" r="r" b="b"/>
            <a:pathLst>
              <a:path w="27" h="2646">
                <a:moveTo>
                  <a:pt x="0" y="0"/>
                </a:moveTo>
                <a:lnTo>
                  <a:pt x="27" y="0"/>
                </a:lnTo>
                <a:lnTo>
                  <a:pt x="27" y="2646"/>
                </a:lnTo>
                <a:lnTo>
                  <a:pt x="0" y="264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9" name=""/>
          <p:cNvSpPr/>
          <p:nvPr/>
        </p:nvSpPr>
        <p:spPr>
          <a:xfrm>
            <a:off x="752400" y="4876560"/>
            <a:ext cx="2009880" cy="10080"/>
          </a:xfrm>
          <a:custGeom>
            <a:avLst/>
            <a:gdLst/>
            <a:ahLst/>
            <a:rect l="0" t="0" r="r" b="b"/>
            <a:pathLst>
              <a:path w="5583" h="28">
                <a:moveTo>
                  <a:pt x="0" y="0"/>
                </a:moveTo>
                <a:lnTo>
                  <a:pt x="5583" y="0"/>
                </a:lnTo>
                <a:lnTo>
                  <a:pt x="558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0" name=""/>
          <p:cNvSpPr/>
          <p:nvPr/>
        </p:nvSpPr>
        <p:spPr>
          <a:xfrm>
            <a:off x="2752560" y="4886280"/>
            <a:ext cx="9720" cy="952560"/>
          </a:xfrm>
          <a:custGeom>
            <a:avLst/>
            <a:gdLst/>
            <a:ahLst/>
            <a:rect l="0" t="0" r="r" b="b"/>
            <a:pathLst>
              <a:path w="27" h="2646">
                <a:moveTo>
                  <a:pt x="0" y="0"/>
                </a:moveTo>
                <a:lnTo>
                  <a:pt x="27" y="0"/>
                </a:lnTo>
                <a:lnTo>
                  <a:pt x="27" y="2646"/>
                </a:lnTo>
                <a:lnTo>
                  <a:pt x="0" y="264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1" name=""/>
          <p:cNvSpPr/>
          <p:nvPr/>
        </p:nvSpPr>
        <p:spPr>
          <a:xfrm>
            <a:off x="2761920" y="4876560"/>
            <a:ext cx="3562920" cy="10080"/>
          </a:xfrm>
          <a:custGeom>
            <a:avLst/>
            <a:gdLst/>
            <a:ahLst/>
            <a:rect l="0" t="0" r="r" b="b"/>
            <a:pathLst>
              <a:path w="9897" h="28">
                <a:moveTo>
                  <a:pt x="0" y="0"/>
                </a:moveTo>
                <a:lnTo>
                  <a:pt x="9897" y="0"/>
                </a:lnTo>
                <a:lnTo>
                  <a:pt x="989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2" name=""/>
          <p:cNvSpPr/>
          <p:nvPr/>
        </p:nvSpPr>
        <p:spPr>
          <a:xfrm>
            <a:off x="6314760" y="4886280"/>
            <a:ext cx="10080" cy="952560"/>
          </a:xfrm>
          <a:custGeom>
            <a:avLst/>
            <a:gdLst/>
            <a:ahLst/>
            <a:rect l="0" t="0" r="r" b="b"/>
            <a:pathLst>
              <a:path w="28" h="2646">
                <a:moveTo>
                  <a:pt x="0" y="0"/>
                </a:moveTo>
                <a:lnTo>
                  <a:pt x="28" y="0"/>
                </a:lnTo>
                <a:lnTo>
                  <a:pt x="28" y="2646"/>
                </a:lnTo>
                <a:lnTo>
                  <a:pt x="0" y="264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3" name=""/>
          <p:cNvSpPr/>
          <p:nvPr/>
        </p:nvSpPr>
        <p:spPr>
          <a:xfrm>
            <a:off x="6324480" y="4876560"/>
            <a:ext cx="5124600" cy="10080"/>
          </a:xfrm>
          <a:custGeom>
            <a:avLst/>
            <a:gdLst/>
            <a:ahLst/>
            <a:rect l="0" t="0" r="r" b="b"/>
            <a:pathLst>
              <a:path w="14235" h="28">
                <a:moveTo>
                  <a:pt x="0" y="0"/>
                </a:moveTo>
                <a:lnTo>
                  <a:pt x="14235" y="0"/>
                </a:lnTo>
                <a:lnTo>
                  <a:pt x="1423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4" name=""/>
          <p:cNvSpPr/>
          <p:nvPr/>
        </p:nvSpPr>
        <p:spPr>
          <a:xfrm>
            <a:off x="11439360" y="4886280"/>
            <a:ext cx="9720" cy="952560"/>
          </a:xfrm>
          <a:custGeom>
            <a:avLst/>
            <a:gdLst/>
            <a:ahLst/>
            <a:rect l="0" t="0" r="r" b="b"/>
            <a:pathLst>
              <a:path w="27" h="2646">
                <a:moveTo>
                  <a:pt x="0" y="0"/>
                </a:moveTo>
                <a:lnTo>
                  <a:pt x="27" y="0"/>
                </a:lnTo>
                <a:lnTo>
                  <a:pt x="27" y="2646"/>
                </a:lnTo>
                <a:lnTo>
                  <a:pt x="0" y="264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5" name=""/>
          <p:cNvSpPr/>
          <p:nvPr/>
        </p:nvSpPr>
        <p:spPr>
          <a:xfrm>
            <a:off x="752400" y="5838480"/>
            <a:ext cx="9720" cy="952920"/>
          </a:xfrm>
          <a:custGeom>
            <a:avLst/>
            <a:gdLst/>
            <a:ahLst/>
            <a:rect l="0" t="0" r="r" b="b"/>
            <a:pathLst>
              <a:path w="27" h="2647">
                <a:moveTo>
                  <a:pt x="0" y="0"/>
                </a:moveTo>
                <a:lnTo>
                  <a:pt x="27" y="0"/>
                </a:lnTo>
                <a:lnTo>
                  <a:pt x="27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6" name=""/>
          <p:cNvSpPr/>
          <p:nvPr/>
        </p:nvSpPr>
        <p:spPr>
          <a:xfrm>
            <a:off x="752400" y="5829120"/>
            <a:ext cx="2009880" cy="9720"/>
          </a:xfrm>
          <a:custGeom>
            <a:avLst/>
            <a:gdLst/>
            <a:ahLst/>
            <a:rect l="0" t="0" r="r" b="b"/>
            <a:pathLst>
              <a:path w="5583" h="27">
                <a:moveTo>
                  <a:pt x="0" y="0"/>
                </a:moveTo>
                <a:lnTo>
                  <a:pt x="5583" y="0"/>
                </a:lnTo>
                <a:lnTo>
                  <a:pt x="558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7" name=""/>
          <p:cNvSpPr/>
          <p:nvPr/>
        </p:nvSpPr>
        <p:spPr>
          <a:xfrm>
            <a:off x="2752560" y="5838480"/>
            <a:ext cx="9720" cy="952920"/>
          </a:xfrm>
          <a:custGeom>
            <a:avLst/>
            <a:gdLst/>
            <a:ahLst/>
            <a:rect l="0" t="0" r="r" b="b"/>
            <a:pathLst>
              <a:path w="27" h="2647">
                <a:moveTo>
                  <a:pt x="0" y="0"/>
                </a:moveTo>
                <a:lnTo>
                  <a:pt x="27" y="0"/>
                </a:lnTo>
                <a:lnTo>
                  <a:pt x="27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8" name=""/>
          <p:cNvSpPr/>
          <p:nvPr/>
        </p:nvSpPr>
        <p:spPr>
          <a:xfrm>
            <a:off x="2761920" y="5829120"/>
            <a:ext cx="3562920" cy="9720"/>
          </a:xfrm>
          <a:custGeom>
            <a:avLst/>
            <a:gdLst/>
            <a:ahLst/>
            <a:rect l="0" t="0" r="r" b="b"/>
            <a:pathLst>
              <a:path w="9897" h="27">
                <a:moveTo>
                  <a:pt x="0" y="0"/>
                </a:moveTo>
                <a:lnTo>
                  <a:pt x="9897" y="0"/>
                </a:lnTo>
                <a:lnTo>
                  <a:pt x="989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9" name=""/>
          <p:cNvSpPr/>
          <p:nvPr/>
        </p:nvSpPr>
        <p:spPr>
          <a:xfrm>
            <a:off x="6314760" y="5838480"/>
            <a:ext cx="10080" cy="952920"/>
          </a:xfrm>
          <a:custGeom>
            <a:avLst/>
            <a:gdLst/>
            <a:ahLst/>
            <a:rect l="0" t="0" r="r" b="b"/>
            <a:pathLst>
              <a:path w="28" h="2647">
                <a:moveTo>
                  <a:pt x="0" y="0"/>
                </a:moveTo>
                <a:lnTo>
                  <a:pt x="28" y="0"/>
                </a:lnTo>
                <a:lnTo>
                  <a:pt x="28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0" name=""/>
          <p:cNvSpPr/>
          <p:nvPr/>
        </p:nvSpPr>
        <p:spPr>
          <a:xfrm>
            <a:off x="6324480" y="5829120"/>
            <a:ext cx="5124600" cy="9720"/>
          </a:xfrm>
          <a:custGeom>
            <a:avLst/>
            <a:gdLst/>
            <a:ahLst/>
            <a:rect l="0" t="0" r="r" b="b"/>
            <a:pathLst>
              <a:path w="14235" h="27">
                <a:moveTo>
                  <a:pt x="0" y="0"/>
                </a:moveTo>
                <a:lnTo>
                  <a:pt x="14235" y="0"/>
                </a:lnTo>
                <a:lnTo>
                  <a:pt x="1423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1" name=""/>
          <p:cNvSpPr/>
          <p:nvPr/>
        </p:nvSpPr>
        <p:spPr>
          <a:xfrm>
            <a:off x="11439360" y="5838480"/>
            <a:ext cx="9720" cy="952920"/>
          </a:xfrm>
          <a:custGeom>
            <a:avLst/>
            <a:gdLst/>
            <a:ahLst/>
            <a:rect l="0" t="0" r="r" b="b"/>
            <a:pathLst>
              <a:path w="27" h="2647">
                <a:moveTo>
                  <a:pt x="0" y="0"/>
                </a:moveTo>
                <a:lnTo>
                  <a:pt x="27" y="0"/>
                </a:lnTo>
                <a:lnTo>
                  <a:pt x="27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2" name=""/>
          <p:cNvSpPr/>
          <p:nvPr/>
        </p:nvSpPr>
        <p:spPr>
          <a:xfrm>
            <a:off x="752400" y="6791040"/>
            <a:ext cx="9720" cy="66960"/>
          </a:xfrm>
          <a:custGeom>
            <a:avLst/>
            <a:gdLst/>
            <a:ahLst/>
            <a:rect l="0" t="0" r="r" b="b"/>
            <a:pathLst>
              <a:path w="27" h="186">
                <a:moveTo>
                  <a:pt x="0" y="0"/>
                </a:moveTo>
                <a:lnTo>
                  <a:pt x="27" y="0"/>
                </a:lnTo>
                <a:lnTo>
                  <a:pt x="27" y="186"/>
                </a:lnTo>
                <a:lnTo>
                  <a:pt x="0" y="1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3" name=""/>
          <p:cNvSpPr/>
          <p:nvPr/>
        </p:nvSpPr>
        <p:spPr>
          <a:xfrm>
            <a:off x="752400" y="6781680"/>
            <a:ext cx="2009880" cy="9720"/>
          </a:xfrm>
          <a:custGeom>
            <a:avLst/>
            <a:gdLst/>
            <a:ahLst/>
            <a:rect l="0" t="0" r="r" b="b"/>
            <a:pathLst>
              <a:path w="5583" h="27">
                <a:moveTo>
                  <a:pt x="0" y="0"/>
                </a:moveTo>
                <a:lnTo>
                  <a:pt x="5583" y="0"/>
                </a:lnTo>
                <a:lnTo>
                  <a:pt x="558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4" name=""/>
          <p:cNvSpPr/>
          <p:nvPr/>
        </p:nvSpPr>
        <p:spPr>
          <a:xfrm>
            <a:off x="2752560" y="6791040"/>
            <a:ext cx="9720" cy="66960"/>
          </a:xfrm>
          <a:custGeom>
            <a:avLst/>
            <a:gdLst/>
            <a:ahLst/>
            <a:rect l="0" t="0" r="r" b="b"/>
            <a:pathLst>
              <a:path w="27" h="186">
                <a:moveTo>
                  <a:pt x="0" y="0"/>
                </a:moveTo>
                <a:lnTo>
                  <a:pt x="27" y="0"/>
                </a:lnTo>
                <a:lnTo>
                  <a:pt x="27" y="186"/>
                </a:lnTo>
                <a:lnTo>
                  <a:pt x="0" y="1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5" name=""/>
          <p:cNvSpPr/>
          <p:nvPr/>
        </p:nvSpPr>
        <p:spPr>
          <a:xfrm>
            <a:off x="2761920" y="6781680"/>
            <a:ext cx="3562920" cy="9720"/>
          </a:xfrm>
          <a:custGeom>
            <a:avLst/>
            <a:gdLst/>
            <a:ahLst/>
            <a:rect l="0" t="0" r="r" b="b"/>
            <a:pathLst>
              <a:path w="9897" h="27">
                <a:moveTo>
                  <a:pt x="0" y="0"/>
                </a:moveTo>
                <a:lnTo>
                  <a:pt x="9897" y="0"/>
                </a:lnTo>
                <a:lnTo>
                  <a:pt x="989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6" name=""/>
          <p:cNvSpPr/>
          <p:nvPr/>
        </p:nvSpPr>
        <p:spPr>
          <a:xfrm>
            <a:off x="6314760" y="6791040"/>
            <a:ext cx="10080" cy="66960"/>
          </a:xfrm>
          <a:custGeom>
            <a:avLst/>
            <a:gdLst/>
            <a:ahLst/>
            <a:rect l="0" t="0" r="r" b="b"/>
            <a:pathLst>
              <a:path w="28" h="186">
                <a:moveTo>
                  <a:pt x="0" y="0"/>
                </a:moveTo>
                <a:lnTo>
                  <a:pt x="28" y="0"/>
                </a:lnTo>
                <a:lnTo>
                  <a:pt x="28" y="186"/>
                </a:lnTo>
                <a:lnTo>
                  <a:pt x="0" y="1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7" name=""/>
          <p:cNvSpPr/>
          <p:nvPr/>
        </p:nvSpPr>
        <p:spPr>
          <a:xfrm>
            <a:off x="6324480" y="6781680"/>
            <a:ext cx="5124600" cy="9720"/>
          </a:xfrm>
          <a:custGeom>
            <a:avLst/>
            <a:gdLst/>
            <a:ahLst/>
            <a:rect l="0" t="0" r="r" b="b"/>
            <a:pathLst>
              <a:path w="14235" h="27">
                <a:moveTo>
                  <a:pt x="0" y="0"/>
                </a:moveTo>
                <a:lnTo>
                  <a:pt x="14235" y="0"/>
                </a:lnTo>
                <a:lnTo>
                  <a:pt x="1423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8" name=""/>
          <p:cNvSpPr/>
          <p:nvPr/>
        </p:nvSpPr>
        <p:spPr>
          <a:xfrm>
            <a:off x="11439360" y="6791040"/>
            <a:ext cx="9720" cy="66960"/>
          </a:xfrm>
          <a:custGeom>
            <a:avLst/>
            <a:gdLst/>
            <a:ahLst/>
            <a:rect l="0" t="0" r="r" b="b"/>
            <a:pathLst>
              <a:path w="27" h="186">
                <a:moveTo>
                  <a:pt x="0" y="0"/>
                </a:moveTo>
                <a:lnTo>
                  <a:pt x="27" y="0"/>
                </a:lnTo>
                <a:lnTo>
                  <a:pt x="27" y="186"/>
                </a:lnTo>
                <a:lnTo>
                  <a:pt x="0" y="1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9" name=""/>
          <p:cNvSpPr txBox="1"/>
          <p:nvPr/>
        </p:nvSpPr>
        <p:spPr>
          <a:xfrm>
            <a:off x="747720" y="181080"/>
            <a:ext cx="5522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阶段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0" name=""/>
          <p:cNvSpPr txBox="1"/>
          <p:nvPr/>
        </p:nvSpPr>
        <p:spPr>
          <a:xfrm>
            <a:off x="1300320" y="159120"/>
            <a:ext cx="27576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2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1" name=""/>
          <p:cNvSpPr txBox="1"/>
          <p:nvPr/>
        </p:nvSpPr>
        <p:spPr>
          <a:xfrm>
            <a:off x="1453680" y="181080"/>
            <a:ext cx="16556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：⽔平扩容（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2" name=""/>
          <p:cNvSpPr txBox="1"/>
          <p:nvPr/>
        </p:nvSpPr>
        <p:spPr>
          <a:xfrm>
            <a:off x="3110760" y="159120"/>
            <a:ext cx="42948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2-3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3" name=""/>
          <p:cNvSpPr txBox="1"/>
          <p:nvPr/>
        </p:nvSpPr>
        <p:spPr>
          <a:xfrm>
            <a:off x="3528720" y="181080"/>
            <a:ext cx="13798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台服务器）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4" name=""/>
          <p:cNvSpPr txBox="1"/>
          <p:nvPr/>
        </p:nvSpPr>
        <p:spPr>
          <a:xfrm>
            <a:off x="914400" y="884160"/>
            <a:ext cx="47016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850" b="0" u="none" strike="noStrike">
                <a:solidFill>
                  <a:srgbClr val="1F2328"/>
                </a:solidFill>
                <a:effectLst/>
                <a:uFillTx/>
                <a:latin typeface="NSimSun"/>
                <a:ea typeface="NSimSun"/>
              </a:rPr>
              <a:t>用户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5" name=""/>
          <p:cNvSpPr txBox="1"/>
          <p:nvPr/>
        </p:nvSpPr>
        <p:spPr>
          <a:xfrm>
            <a:off x="1383840" y="911520"/>
            <a:ext cx="38772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→ 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6" name=""/>
          <p:cNvSpPr txBox="1"/>
          <p:nvPr/>
        </p:nvSpPr>
        <p:spPr>
          <a:xfrm>
            <a:off x="1771200" y="884160"/>
            <a:ext cx="117432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850" b="0" u="none" strike="noStrike">
                <a:solidFill>
                  <a:srgbClr val="1F2328"/>
                </a:solidFill>
                <a:effectLst/>
                <a:uFillTx/>
                <a:latin typeface="NSimSun"/>
                <a:ea typeface="NSimSun"/>
              </a:rPr>
              <a:t>负载均衡器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7" name=""/>
          <p:cNvSpPr txBox="1"/>
          <p:nvPr/>
        </p:nvSpPr>
        <p:spPr>
          <a:xfrm>
            <a:off x="2945160" y="911520"/>
            <a:ext cx="10328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(nginx) 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8" name=""/>
          <p:cNvSpPr txBox="1"/>
          <p:nvPr/>
        </p:nvSpPr>
        <p:spPr>
          <a:xfrm>
            <a:off x="914400" y="1178280"/>
            <a:ext cx="129096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      ├→ 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9" name=""/>
          <p:cNvSpPr txBox="1"/>
          <p:nvPr/>
        </p:nvSpPr>
        <p:spPr>
          <a:xfrm>
            <a:off x="2205360" y="1150920"/>
            <a:ext cx="70488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850" b="0" u="none" strike="noStrike">
                <a:solidFill>
                  <a:srgbClr val="1F2328"/>
                </a:solidFill>
                <a:effectLst/>
                <a:uFillTx/>
                <a:latin typeface="NSimSun"/>
                <a:ea typeface="NSimSun"/>
              </a:rPr>
              <a:t>服务器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0" name=""/>
          <p:cNvSpPr txBox="1"/>
          <p:nvPr/>
        </p:nvSpPr>
        <p:spPr>
          <a:xfrm>
            <a:off x="2909520" y="1178280"/>
            <a:ext cx="38772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1 (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1" name=""/>
          <p:cNvSpPr txBox="1"/>
          <p:nvPr/>
        </p:nvSpPr>
        <p:spPr>
          <a:xfrm>
            <a:off x="3296880" y="1150920"/>
            <a:ext cx="70488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850" b="0" u="none" strike="noStrike">
                <a:solidFill>
                  <a:srgbClr val="1F2328"/>
                </a:solidFill>
                <a:effectLst/>
                <a:uFillTx/>
                <a:latin typeface="NSimSun"/>
                <a:ea typeface="NSimSun"/>
              </a:rPr>
              <a:t>多进程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2" name=""/>
          <p:cNvSpPr txBox="1"/>
          <p:nvPr/>
        </p:nvSpPr>
        <p:spPr>
          <a:xfrm>
            <a:off x="4001400" y="1178280"/>
            <a:ext cx="23436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)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3" name=""/>
          <p:cNvSpPr txBox="1"/>
          <p:nvPr/>
        </p:nvSpPr>
        <p:spPr>
          <a:xfrm>
            <a:off x="914400" y="1454400"/>
            <a:ext cx="129096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      ├→ 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4" name=""/>
          <p:cNvSpPr txBox="1"/>
          <p:nvPr/>
        </p:nvSpPr>
        <p:spPr>
          <a:xfrm>
            <a:off x="2205360" y="1427040"/>
            <a:ext cx="70488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850" b="0" u="none" strike="noStrike">
                <a:solidFill>
                  <a:srgbClr val="1F2328"/>
                </a:solidFill>
                <a:effectLst/>
                <a:uFillTx/>
                <a:latin typeface="NSimSun"/>
                <a:ea typeface="NSimSun"/>
              </a:rPr>
              <a:t>服务器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5" name=""/>
          <p:cNvSpPr txBox="1"/>
          <p:nvPr/>
        </p:nvSpPr>
        <p:spPr>
          <a:xfrm>
            <a:off x="2909520" y="1454400"/>
            <a:ext cx="38772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2 (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6" name=""/>
          <p:cNvSpPr txBox="1"/>
          <p:nvPr/>
        </p:nvSpPr>
        <p:spPr>
          <a:xfrm>
            <a:off x="3296880" y="1427040"/>
            <a:ext cx="70488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850" b="0" u="none" strike="noStrike">
                <a:solidFill>
                  <a:srgbClr val="1F2328"/>
                </a:solidFill>
                <a:effectLst/>
                <a:uFillTx/>
                <a:latin typeface="NSimSun"/>
                <a:ea typeface="NSimSun"/>
              </a:rPr>
              <a:t>多进程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7" name=""/>
          <p:cNvSpPr txBox="1"/>
          <p:nvPr/>
        </p:nvSpPr>
        <p:spPr>
          <a:xfrm>
            <a:off x="4001400" y="1454400"/>
            <a:ext cx="23436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)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8" name=""/>
          <p:cNvSpPr txBox="1"/>
          <p:nvPr/>
        </p:nvSpPr>
        <p:spPr>
          <a:xfrm>
            <a:off x="914400" y="1721160"/>
            <a:ext cx="129096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      └→ 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9" name=""/>
          <p:cNvSpPr txBox="1"/>
          <p:nvPr/>
        </p:nvSpPr>
        <p:spPr>
          <a:xfrm>
            <a:off x="2205360" y="1693800"/>
            <a:ext cx="70488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850" b="0" u="none" strike="noStrike">
                <a:solidFill>
                  <a:srgbClr val="1F2328"/>
                </a:solidFill>
                <a:effectLst/>
                <a:uFillTx/>
                <a:latin typeface="NSimSun"/>
                <a:ea typeface="NSimSun"/>
              </a:rPr>
              <a:t>服务器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0" name=""/>
          <p:cNvSpPr txBox="1"/>
          <p:nvPr/>
        </p:nvSpPr>
        <p:spPr>
          <a:xfrm>
            <a:off x="2909520" y="1721160"/>
            <a:ext cx="38772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3 (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1" name=""/>
          <p:cNvSpPr txBox="1"/>
          <p:nvPr/>
        </p:nvSpPr>
        <p:spPr>
          <a:xfrm>
            <a:off x="3296880" y="1693800"/>
            <a:ext cx="70488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850" b="0" u="none" strike="noStrike">
                <a:solidFill>
                  <a:srgbClr val="1F2328"/>
                </a:solidFill>
                <a:effectLst/>
                <a:uFillTx/>
                <a:latin typeface="NSimSun"/>
                <a:ea typeface="NSimSun"/>
              </a:rPr>
              <a:t>多进程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2" name=""/>
          <p:cNvSpPr txBox="1"/>
          <p:nvPr/>
        </p:nvSpPr>
        <p:spPr>
          <a:xfrm>
            <a:off x="4001400" y="1721160"/>
            <a:ext cx="23436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)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3" name=""/>
          <p:cNvSpPr txBox="1"/>
          <p:nvPr/>
        </p:nvSpPr>
        <p:spPr>
          <a:xfrm>
            <a:off x="914400" y="1987560"/>
            <a:ext cx="219420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      → MongoDB 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4" name=""/>
          <p:cNvSpPr txBox="1"/>
          <p:nvPr/>
        </p:nvSpPr>
        <p:spPr>
          <a:xfrm>
            <a:off x="3108960" y="1960560"/>
            <a:ext cx="70488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850" b="0" u="none" strike="noStrike">
                <a:solidFill>
                  <a:srgbClr val="1F2328"/>
                </a:solidFill>
                <a:effectLst/>
                <a:uFillTx/>
                <a:latin typeface="NSimSun"/>
                <a:ea typeface="NSimSun"/>
              </a:rPr>
              <a:t>副本集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5" name=""/>
          <p:cNvSpPr txBox="1"/>
          <p:nvPr/>
        </p:nvSpPr>
        <p:spPr>
          <a:xfrm>
            <a:off x="3813120" y="1987560"/>
            <a:ext cx="2588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(1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6" name=""/>
          <p:cNvSpPr txBox="1"/>
          <p:nvPr/>
        </p:nvSpPr>
        <p:spPr>
          <a:xfrm>
            <a:off x="4071600" y="1960560"/>
            <a:ext cx="2354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850" b="0" u="none" strike="noStrike">
                <a:solidFill>
                  <a:srgbClr val="1F2328"/>
                </a:solidFill>
                <a:effectLst/>
                <a:uFillTx/>
                <a:latin typeface="NSimSun"/>
                <a:ea typeface="NSimSun"/>
              </a:rPr>
              <a:t>主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7" name=""/>
          <p:cNvSpPr txBox="1"/>
          <p:nvPr/>
        </p:nvSpPr>
        <p:spPr>
          <a:xfrm>
            <a:off x="4306320" y="1987560"/>
            <a:ext cx="23436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2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8" name=""/>
          <p:cNvSpPr txBox="1"/>
          <p:nvPr/>
        </p:nvSpPr>
        <p:spPr>
          <a:xfrm>
            <a:off x="4435200" y="1960560"/>
            <a:ext cx="2354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850" b="0" u="none" strike="noStrike">
                <a:solidFill>
                  <a:srgbClr val="1F2328"/>
                </a:solidFill>
                <a:effectLst/>
                <a:uFillTx/>
                <a:latin typeface="NSimSun"/>
                <a:ea typeface="NSimSun"/>
              </a:rPr>
              <a:t>从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9" name=""/>
          <p:cNvSpPr txBox="1"/>
          <p:nvPr/>
        </p:nvSpPr>
        <p:spPr>
          <a:xfrm>
            <a:off x="4670280" y="1987560"/>
            <a:ext cx="23436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)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0" name=""/>
          <p:cNvSpPr txBox="1"/>
          <p:nvPr/>
        </p:nvSpPr>
        <p:spPr>
          <a:xfrm>
            <a:off x="914400" y="2264040"/>
            <a:ext cx="206532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      → Redis (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1" name=""/>
          <p:cNvSpPr txBox="1"/>
          <p:nvPr/>
        </p:nvSpPr>
        <p:spPr>
          <a:xfrm>
            <a:off x="2979720" y="2236680"/>
            <a:ext cx="70488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850" b="0" u="none" strike="noStrike">
                <a:solidFill>
                  <a:srgbClr val="1F2328"/>
                </a:solidFill>
                <a:effectLst/>
                <a:uFillTx/>
                <a:latin typeface="NSimSun"/>
                <a:ea typeface="NSimSun"/>
              </a:rPr>
              <a:t>中心锁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2" name=""/>
          <p:cNvSpPr txBox="1"/>
          <p:nvPr/>
        </p:nvSpPr>
        <p:spPr>
          <a:xfrm>
            <a:off x="3684240" y="2264040"/>
            <a:ext cx="23436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)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3" name=""/>
          <p:cNvSpPr txBox="1"/>
          <p:nvPr/>
        </p:nvSpPr>
        <p:spPr>
          <a:xfrm>
            <a:off x="747720" y="2857320"/>
            <a:ext cx="11041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新增问题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4" name=""/>
          <p:cNvSpPr txBox="1"/>
          <p:nvPr/>
        </p:nvSpPr>
        <p:spPr>
          <a:xfrm>
            <a:off x="1852560" y="2835720"/>
            <a:ext cx="34812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+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5" name=""/>
          <p:cNvSpPr txBox="1"/>
          <p:nvPr/>
        </p:nvSpPr>
        <p:spPr>
          <a:xfrm>
            <a:off x="2196360" y="2857320"/>
            <a:ext cx="11041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解决⽅案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6" name=""/>
          <p:cNvSpPr txBox="1"/>
          <p:nvPr/>
        </p:nvSpPr>
        <p:spPr>
          <a:xfrm>
            <a:off x="1480320" y="3486240"/>
            <a:ext cx="5522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问题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7" name=""/>
          <p:cNvSpPr txBox="1"/>
          <p:nvPr/>
        </p:nvSpPr>
        <p:spPr>
          <a:xfrm>
            <a:off x="4261680" y="3486240"/>
            <a:ext cx="5522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现象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8" name=""/>
          <p:cNvSpPr txBox="1"/>
          <p:nvPr/>
        </p:nvSpPr>
        <p:spPr>
          <a:xfrm>
            <a:off x="8325000" y="3486240"/>
            <a:ext cx="11041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解决⽅案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9" name=""/>
          <p:cNvSpPr txBox="1"/>
          <p:nvPr/>
        </p:nvSpPr>
        <p:spPr>
          <a:xfrm>
            <a:off x="880920" y="4029120"/>
            <a:ext cx="82836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跨进程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0" name=""/>
          <p:cNvSpPr txBox="1"/>
          <p:nvPr/>
        </p:nvSpPr>
        <p:spPr>
          <a:xfrm>
            <a:off x="1709640" y="4007160"/>
            <a:ext cx="27576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/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1" name=""/>
          <p:cNvSpPr txBox="1"/>
          <p:nvPr/>
        </p:nvSpPr>
        <p:spPr>
          <a:xfrm>
            <a:off x="1824120" y="4029120"/>
            <a:ext cx="5522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跨机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2" name=""/>
          <p:cNvSpPr txBox="1"/>
          <p:nvPr/>
        </p:nvSpPr>
        <p:spPr>
          <a:xfrm>
            <a:off x="880920" y="4438800"/>
            <a:ext cx="82836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锁冲突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3" name=""/>
          <p:cNvSpPr txBox="1"/>
          <p:nvPr/>
        </p:nvSpPr>
        <p:spPr>
          <a:xfrm>
            <a:off x="2889360" y="4007160"/>
            <a:ext cx="27576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6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4" name=""/>
          <p:cNvSpPr txBox="1"/>
          <p:nvPr/>
        </p:nvSpPr>
        <p:spPr>
          <a:xfrm>
            <a:off x="3038040" y="4029120"/>
            <a:ext cx="82836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个实例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5" name=""/>
          <p:cNvSpPr txBox="1"/>
          <p:nvPr/>
        </p:nvSpPr>
        <p:spPr>
          <a:xfrm>
            <a:off x="3866760" y="4007160"/>
            <a:ext cx="27576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(3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6" name=""/>
          <p:cNvSpPr txBox="1"/>
          <p:nvPr/>
        </p:nvSpPr>
        <p:spPr>
          <a:xfrm>
            <a:off x="4098960" y="4029120"/>
            <a:ext cx="2764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台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7" name=""/>
          <p:cNvSpPr txBox="1"/>
          <p:nvPr/>
        </p:nvSpPr>
        <p:spPr>
          <a:xfrm>
            <a:off x="4375080" y="4007160"/>
            <a:ext cx="33804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×2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8" name=""/>
          <p:cNvSpPr txBox="1"/>
          <p:nvPr/>
        </p:nvSpPr>
        <p:spPr>
          <a:xfrm>
            <a:off x="4713120" y="4029120"/>
            <a:ext cx="5522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进程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9" name=""/>
          <p:cNvSpPr txBox="1"/>
          <p:nvPr/>
        </p:nvSpPr>
        <p:spPr>
          <a:xfrm>
            <a:off x="5265720" y="4007160"/>
            <a:ext cx="27576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)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0" name=""/>
          <p:cNvSpPr txBox="1"/>
          <p:nvPr/>
        </p:nvSpPr>
        <p:spPr>
          <a:xfrm>
            <a:off x="5348880" y="4029120"/>
            <a:ext cx="82836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同时扣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1" name=""/>
          <p:cNvSpPr txBox="1"/>
          <p:nvPr/>
        </p:nvSpPr>
        <p:spPr>
          <a:xfrm>
            <a:off x="2889360" y="4438800"/>
            <a:ext cx="193176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库存，竞争条件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2" name=""/>
          <p:cNvSpPr txBox="1"/>
          <p:nvPr/>
        </p:nvSpPr>
        <p:spPr>
          <a:xfrm>
            <a:off x="6443640" y="4228920"/>
            <a:ext cx="5522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改为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3" name=""/>
          <p:cNvSpPr txBox="1"/>
          <p:nvPr/>
        </p:nvSpPr>
        <p:spPr>
          <a:xfrm>
            <a:off x="6996240" y="4207320"/>
            <a:ext cx="80748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Redis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4" name=""/>
          <p:cNvSpPr txBox="1"/>
          <p:nvPr/>
        </p:nvSpPr>
        <p:spPr>
          <a:xfrm>
            <a:off x="7795800" y="4228920"/>
            <a:ext cx="82836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中⼼锁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5" name=""/>
          <p:cNvSpPr txBox="1"/>
          <p:nvPr/>
        </p:nvSpPr>
        <p:spPr>
          <a:xfrm>
            <a:off x="880920" y="5159880"/>
            <a:ext cx="103716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Session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6" name=""/>
          <p:cNvSpPr txBox="1"/>
          <p:nvPr/>
        </p:nvSpPr>
        <p:spPr>
          <a:xfrm>
            <a:off x="1890720" y="5181480"/>
            <a:ext cx="5522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共享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7" name=""/>
          <p:cNvSpPr txBox="1"/>
          <p:nvPr/>
        </p:nvSpPr>
        <p:spPr>
          <a:xfrm>
            <a:off x="2889360" y="4981680"/>
            <a:ext cx="16556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⽤⼾在服务器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8" name=""/>
          <p:cNvSpPr txBox="1"/>
          <p:nvPr/>
        </p:nvSpPr>
        <p:spPr>
          <a:xfrm>
            <a:off x="4546440" y="4959720"/>
            <a:ext cx="27576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A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9" name=""/>
          <p:cNvSpPr txBox="1"/>
          <p:nvPr/>
        </p:nvSpPr>
        <p:spPr>
          <a:xfrm>
            <a:off x="4724640" y="4981680"/>
            <a:ext cx="13798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登录，服务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0" name=""/>
          <p:cNvSpPr txBox="1"/>
          <p:nvPr/>
        </p:nvSpPr>
        <p:spPr>
          <a:xfrm>
            <a:off x="2889360" y="5391000"/>
            <a:ext cx="2764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器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1" name=""/>
          <p:cNvSpPr txBox="1"/>
          <p:nvPr/>
        </p:nvSpPr>
        <p:spPr>
          <a:xfrm>
            <a:off x="3165480" y="5369400"/>
            <a:ext cx="27576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B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2" name=""/>
          <p:cNvSpPr txBox="1"/>
          <p:nvPr/>
        </p:nvSpPr>
        <p:spPr>
          <a:xfrm>
            <a:off x="3323880" y="5391000"/>
            <a:ext cx="11041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识别不了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3" name=""/>
          <p:cNvSpPr txBox="1"/>
          <p:nvPr/>
        </p:nvSpPr>
        <p:spPr>
          <a:xfrm>
            <a:off x="6443640" y="5181480"/>
            <a:ext cx="2764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⽤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4" name=""/>
          <p:cNvSpPr txBox="1"/>
          <p:nvPr/>
        </p:nvSpPr>
        <p:spPr>
          <a:xfrm>
            <a:off x="6720120" y="5159880"/>
            <a:ext cx="80748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Redis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5" name=""/>
          <p:cNvSpPr txBox="1"/>
          <p:nvPr/>
        </p:nvSpPr>
        <p:spPr>
          <a:xfrm>
            <a:off x="7519680" y="5181480"/>
            <a:ext cx="2764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或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6" name=""/>
          <p:cNvSpPr txBox="1"/>
          <p:nvPr/>
        </p:nvSpPr>
        <p:spPr>
          <a:xfrm>
            <a:off x="7795800" y="5159880"/>
            <a:ext cx="139284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MongoDB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7" name=""/>
          <p:cNvSpPr txBox="1"/>
          <p:nvPr/>
        </p:nvSpPr>
        <p:spPr>
          <a:xfrm>
            <a:off x="9190080" y="5181480"/>
            <a:ext cx="2764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存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8" name=""/>
          <p:cNvSpPr txBox="1"/>
          <p:nvPr/>
        </p:nvSpPr>
        <p:spPr>
          <a:xfrm>
            <a:off x="9466200" y="5159880"/>
            <a:ext cx="98568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Session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9" name=""/>
          <p:cNvSpPr txBox="1"/>
          <p:nvPr/>
        </p:nvSpPr>
        <p:spPr>
          <a:xfrm>
            <a:off x="880920" y="6134040"/>
            <a:ext cx="13798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数据不⼀致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0" name=""/>
          <p:cNvSpPr txBox="1"/>
          <p:nvPr/>
        </p:nvSpPr>
        <p:spPr>
          <a:xfrm>
            <a:off x="2889360" y="6134040"/>
            <a:ext cx="24832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多个实例同时写库存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1" name=""/>
          <p:cNvSpPr txBox="1"/>
          <p:nvPr/>
        </p:nvSpPr>
        <p:spPr>
          <a:xfrm>
            <a:off x="6443640" y="5912280"/>
            <a:ext cx="131724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MongoDB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2" name=""/>
          <p:cNvSpPr/>
          <p:nvPr/>
        </p:nvSpPr>
        <p:spPr>
          <a:xfrm>
            <a:off x="6448320" y="6352920"/>
            <a:ext cx="3152880" cy="371880"/>
          </a:xfrm>
          <a:custGeom>
            <a:avLst/>
            <a:gdLst/>
            <a:ahLst/>
            <a:rect l="0" t="0" r="r" b="b"/>
            <a:pathLst>
              <a:path w="8758" h="1033">
                <a:moveTo>
                  <a:pt x="0" y="874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79"/>
                  <a:pt x="27" y="71"/>
                </a:cubicBezTo>
                <a:cubicBezTo>
                  <a:pt x="32" y="62"/>
                  <a:pt x="39" y="54"/>
                  <a:pt x="46" y="47"/>
                </a:cubicBezTo>
                <a:cubicBezTo>
                  <a:pt x="54" y="39"/>
                  <a:pt x="62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8600" y="0"/>
                </a:lnTo>
                <a:cubicBezTo>
                  <a:pt x="8610" y="0"/>
                  <a:pt x="8620" y="1"/>
                  <a:pt x="8631" y="3"/>
                </a:cubicBezTo>
                <a:cubicBezTo>
                  <a:pt x="8641" y="5"/>
                  <a:pt x="8651" y="8"/>
                  <a:pt x="8660" y="12"/>
                </a:cubicBezTo>
                <a:cubicBezTo>
                  <a:pt x="8670" y="16"/>
                  <a:pt x="8679" y="21"/>
                  <a:pt x="8688" y="27"/>
                </a:cubicBezTo>
                <a:cubicBezTo>
                  <a:pt x="8697" y="33"/>
                  <a:pt x="8705" y="39"/>
                  <a:pt x="8712" y="47"/>
                </a:cubicBezTo>
                <a:cubicBezTo>
                  <a:pt x="8719" y="54"/>
                  <a:pt x="8726" y="62"/>
                  <a:pt x="8732" y="71"/>
                </a:cubicBezTo>
                <a:cubicBezTo>
                  <a:pt x="8738" y="79"/>
                  <a:pt x="8742" y="89"/>
                  <a:pt x="8746" y="98"/>
                </a:cubicBezTo>
                <a:cubicBezTo>
                  <a:pt x="8750" y="108"/>
                  <a:pt x="8753" y="118"/>
                  <a:pt x="8755" y="128"/>
                </a:cubicBezTo>
                <a:cubicBezTo>
                  <a:pt x="8757" y="138"/>
                  <a:pt x="8758" y="149"/>
                  <a:pt x="8758" y="159"/>
                </a:cubicBezTo>
                <a:lnTo>
                  <a:pt x="8758" y="874"/>
                </a:lnTo>
                <a:cubicBezTo>
                  <a:pt x="8758" y="885"/>
                  <a:pt x="8757" y="895"/>
                  <a:pt x="8755" y="905"/>
                </a:cubicBezTo>
                <a:cubicBezTo>
                  <a:pt x="8753" y="916"/>
                  <a:pt x="8750" y="925"/>
                  <a:pt x="8746" y="935"/>
                </a:cubicBezTo>
                <a:cubicBezTo>
                  <a:pt x="8742" y="945"/>
                  <a:pt x="8738" y="954"/>
                  <a:pt x="8732" y="963"/>
                </a:cubicBezTo>
                <a:cubicBezTo>
                  <a:pt x="8726" y="971"/>
                  <a:pt x="8719" y="979"/>
                  <a:pt x="8712" y="987"/>
                </a:cubicBezTo>
                <a:cubicBezTo>
                  <a:pt x="8705" y="994"/>
                  <a:pt x="8697" y="1001"/>
                  <a:pt x="8688" y="1006"/>
                </a:cubicBezTo>
                <a:cubicBezTo>
                  <a:pt x="8679" y="1012"/>
                  <a:pt x="8670" y="1017"/>
                  <a:pt x="8660" y="1021"/>
                </a:cubicBezTo>
                <a:cubicBezTo>
                  <a:pt x="8651" y="1025"/>
                  <a:pt x="8641" y="1028"/>
                  <a:pt x="8631" y="1030"/>
                </a:cubicBezTo>
                <a:cubicBezTo>
                  <a:pt x="8620" y="1032"/>
                  <a:pt x="8610" y="1033"/>
                  <a:pt x="8600" y="1033"/>
                </a:cubicBezTo>
                <a:lnTo>
                  <a:pt x="159" y="1033"/>
                </a:lnTo>
                <a:cubicBezTo>
                  <a:pt x="148" y="1033"/>
                  <a:pt x="138" y="1032"/>
                  <a:pt x="128" y="1030"/>
                </a:cubicBezTo>
                <a:cubicBezTo>
                  <a:pt x="117" y="1028"/>
                  <a:pt x="107" y="1025"/>
                  <a:pt x="98" y="1021"/>
                </a:cubicBezTo>
                <a:cubicBezTo>
                  <a:pt x="88" y="1017"/>
                  <a:pt x="79" y="1012"/>
                  <a:pt x="70" y="1006"/>
                </a:cubicBezTo>
                <a:cubicBezTo>
                  <a:pt x="62" y="1001"/>
                  <a:pt x="54" y="994"/>
                  <a:pt x="46" y="987"/>
                </a:cubicBezTo>
                <a:cubicBezTo>
                  <a:pt x="39" y="979"/>
                  <a:pt x="32" y="971"/>
                  <a:pt x="27" y="963"/>
                </a:cubicBezTo>
                <a:cubicBezTo>
                  <a:pt x="21" y="954"/>
                  <a:pt x="16" y="945"/>
                  <a:pt x="12" y="935"/>
                </a:cubicBezTo>
                <a:cubicBezTo>
                  <a:pt x="8" y="925"/>
                  <a:pt x="5" y="916"/>
                  <a:pt x="3" y="905"/>
                </a:cubicBezTo>
                <a:cubicBezTo>
                  <a:pt x="1" y="895"/>
                  <a:pt x="0" y="885"/>
                  <a:pt x="0" y="874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33" name=""/>
          <p:cNvSpPr txBox="1"/>
          <p:nvPr/>
        </p:nvSpPr>
        <p:spPr>
          <a:xfrm>
            <a:off x="7762320" y="5934240"/>
            <a:ext cx="24832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事务已⽀持，但要设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4" name=""/>
          <p:cNvSpPr txBox="1"/>
          <p:nvPr/>
        </p:nvSpPr>
        <p:spPr>
          <a:xfrm>
            <a:off x="6537600" y="6444720"/>
            <a:ext cx="296856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readConcern: "snapshot"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5" name=""/>
          <p:cNvSpPr txBox="1"/>
          <p:nvPr/>
        </p:nvSpPr>
        <p:spPr>
          <a:xfrm>
            <a:off x="11659680" y="6335280"/>
            <a:ext cx="24732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SegoeUI"/>
                <a:ea typeface="SegoeUI"/>
              </a:rPr>
              <a:t>16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9" name=""/>
          <p:cNvSpPr/>
          <p:nvPr/>
        </p:nvSpPr>
        <p:spPr>
          <a:xfrm>
            <a:off x="752400" y="1552320"/>
            <a:ext cx="1143360" cy="952920"/>
          </a:xfrm>
          <a:custGeom>
            <a:avLst/>
            <a:gdLst/>
            <a:ahLst/>
            <a:rect l="0" t="0" r="r" b="b"/>
            <a:pathLst>
              <a:path w="3176" h="2647">
                <a:moveTo>
                  <a:pt x="0" y="0"/>
                </a:moveTo>
                <a:lnTo>
                  <a:pt x="3176" y="0"/>
                </a:lnTo>
                <a:lnTo>
                  <a:pt x="3176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0" name=""/>
          <p:cNvSpPr/>
          <p:nvPr/>
        </p:nvSpPr>
        <p:spPr>
          <a:xfrm>
            <a:off x="1895400" y="1552320"/>
            <a:ext cx="3210120" cy="952920"/>
          </a:xfrm>
          <a:custGeom>
            <a:avLst/>
            <a:gdLst/>
            <a:ahLst/>
            <a:rect l="0" t="0" r="r" b="b"/>
            <a:pathLst>
              <a:path w="8917" h="2647">
                <a:moveTo>
                  <a:pt x="0" y="0"/>
                </a:moveTo>
                <a:lnTo>
                  <a:pt x="8917" y="0"/>
                </a:lnTo>
                <a:lnTo>
                  <a:pt x="8917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1" name=""/>
          <p:cNvSpPr/>
          <p:nvPr/>
        </p:nvSpPr>
        <p:spPr>
          <a:xfrm>
            <a:off x="5105160" y="1552320"/>
            <a:ext cx="1724400" cy="952920"/>
          </a:xfrm>
          <a:custGeom>
            <a:avLst/>
            <a:gdLst/>
            <a:ahLst/>
            <a:rect l="0" t="0" r="r" b="b"/>
            <a:pathLst>
              <a:path w="4790" h="2647">
                <a:moveTo>
                  <a:pt x="0" y="0"/>
                </a:moveTo>
                <a:lnTo>
                  <a:pt x="4790" y="0"/>
                </a:lnTo>
                <a:lnTo>
                  <a:pt x="4790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2" name=""/>
          <p:cNvSpPr/>
          <p:nvPr/>
        </p:nvSpPr>
        <p:spPr>
          <a:xfrm>
            <a:off x="6829200" y="1552320"/>
            <a:ext cx="4610520" cy="952920"/>
          </a:xfrm>
          <a:custGeom>
            <a:avLst/>
            <a:gdLst/>
            <a:ahLst/>
            <a:rect l="0" t="0" r="r" b="b"/>
            <a:pathLst>
              <a:path w="12807" h="2647">
                <a:moveTo>
                  <a:pt x="0" y="0"/>
                </a:moveTo>
                <a:lnTo>
                  <a:pt x="12807" y="0"/>
                </a:lnTo>
                <a:lnTo>
                  <a:pt x="12807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3" name=""/>
          <p:cNvSpPr/>
          <p:nvPr/>
        </p:nvSpPr>
        <p:spPr>
          <a:xfrm>
            <a:off x="752400" y="2504880"/>
            <a:ext cx="1143360" cy="952920"/>
          </a:xfrm>
          <a:custGeom>
            <a:avLst/>
            <a:gdLst/>
            <a:ahLst/>
            <a:rect l="0" t="0" r="r" b="b"/>
            <a:pathLst>
              <a:path w="3176" h="2647">
                <a:moveTo>
                  <a:pt x="0" y="0"/>
                </a:moveTo>
                <a:lnTo>
                  <a:pt x="3176" y="0"/>
                </a:lnTo>
                <a:lnTo>
                  <a:pt x="3176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4" name=""/>
          <p:cNvSpPr/>
          <p:nvPr/>
        </p:nvSpPr>
        <p:spPr>
          <a:xfrm>
            <a:off x="1895400" y="2504880"/>
            <a:ext cx="3210120" cy="952920"/>
          </a:xfrm>
          <a:custGeom>
            <a:avLst/>
            <a:gdLst/>
            <a:ahLst/>
            <a:rect l="0" t="0" r="r" b="b"/>
            <a:pathLst>
              <a:path w="8917" h="2647">
                <a:moveTo>
                  <a:pt x="0" y="0"/>
                </a:moveTo>
                <a:lnTo>
                  <a:pt x="8917" y="0"/>
                </a:lnTo>
                <a:lnTo>
                  <a:pt x="8917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5" name=""/>
          <p:cNvSpPr/>
          <p:nvPr/>
        </p:nvSpPr>
        <p:spPr>
          <a:xfrm>
            <a:off x="5105160" y="2504880"/>
            <a:ext cx="1724400" cy="952920"/>
          </a:xfrm>
          <a:custGeom>
            <a:avLst/>
            <a:gdLst/>
            <a:ahLst/>
            <a:rect l="0" t="0" r="r" b="b"/>
            <a:pathLst>
              <a:path w="4790" h="2647">
                <a:moveTo>
                  <a:pt x="0" y="0"/>
                </a:moveTo>
                <a:lnTo>
                  <a:pt x="4790" y="0"/>
                </a:lnTo>
                <a:lnTo>
                  <a:pt x="4790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6" name=""/>
          <p:cNvSpPr/>
          <p:nvPr/>
        </p:nvSpPr>
        <p:spPr>
          <a:xfrm>
            <a:off x="6829200" y="2504880"/>
            <a:ext cx="4610520" cy="952920"/>
          </a:xfrm>
          <a:custGeom>
            <a:avLst/>
            <a:gdLst/>
            <a:ahLst/>
            <a:rect l="0" t="0" r="r" b="b"/>
            <a:pathLst>
              <a:path w="12807" h="2647">
                <a:moveTo>
                  <a:pt x="0" y="0"/>
                </a:moveTo>
                <a:lnTo>
                  <a:pt x="12807" y="0"/>
                </a:lnTo>
                <a:lnTo>
                  <a:pt x="12807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7" name=""/>
          <p:cNvSpPr/>
          <p:nvPr/>
        </p:nvSpPr>
        <p:spPr>
          <a:xfrm>
            <a:off x="752400" y="3457440"/>
            <a:ext cx="1143360" cy="952920"/>
          </a:xfrm>
          <a:custGeom>
            <a:avLst/>
            <a:gdLst/>
            <a:ahLst/>
            <a:rect l="0" t="0" r="r" b="b"/>
            <a:pathLst>
              <a:path w="3176" h="2647">
                <a:moveTo>
                  <a:pt x="0" y="0"/>
                </a:moveTo>
                <a:lnTo>
                  <a:pt x="3176" y="0"/>
                </a:lnTo>
                <a:lnTo>
                  <a:pt x="3176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8" name=""/>
          <p:cNvSpPr/>
          <p:nvPr/>
        </p:nvSpPr>
        <p:spPr>
          <a:xfrm>
            <a:off x="1895400" y="3457440"/>
            <a:ext cx="3210120" cy="952920"/>
          </a:xfrm>
          <a:custGeom>
            <a:avLst/>
            <a:gdLst/>
            <a:ahLst/>
            <a:rect l="0" t="0" r="r" b="b"/>
            <a:pathLst>
              <a:path w="8917" h="2647">
                <a:moveTo>
                  <a:pt x="0" y="0"/>
                </a:moveTo>
                <a:lnTo>
                  <a:pt x="8917" y="0"/>
                </a:lnTo>
                <a:lnTo>
                  <a:pt x="8917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9" name=""/>
          <p:cNvSpPr/>
          <p:nvPr/>
        </p:nvSpPr>
        <p:spPr>
          <a:xfrm>
            <a:off x="5105160" y="3457440"/>
            <a:ext cx="1724400" cy="952920"/>
          </a:xfrm>
          <a:custGeom>
            <a:avLst/>
            <a:gdLst/>
            <a:ahLst/>
            <a:rect l="0" t="0" r="r" b="b"/>
            <a:pathLst>
              <a:path w="4790" h="2647">
                <a:moveTo>
                  <a:pt x="0" y="0"/>
                </a:moveTo>
                <a:lnTo>
                  <a:pt x="4790" y="0"/>
                </a:lnTo>
                <a:lnTo>
                  <a:pt x="4790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0" name=""/>
          <p:cNvSpPr/>
          <p:nvPr/>
        </p:nvSpPr>
        <p:spPr>
          <a:xfrm>
            <a:off x="6829200" y="3457440"/>
            <a:ext cx="4610520" cy="952920"/>
          </a:xfrm>
          <a:custGeom>
            <a:avLst/>
            <a:gdLst/>
            <a:ahLst/>
            <a:rect l="0" t="0" r="r" b="b"/>
            <a:pathLst>
              <a:path w="12807" h="2647">
                <a:moveTo>
                  <a:pt x="0" y="0"/>
                </a:moveTo>
                <a:lnTo>
                  <a:pt x="12807" y="0"/>
                </a:lnTo>
                <a:lnTo>
                  <a:pt x="12807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1" name=""/>
          <p:cNvSpPr/>
          <p:nvPr/>
        </p:nvSpPr>
        <p:spPr>
          <a:xfrm>
            <a:off x="752400" y="4410000"/>
            <a:ext cx="1143360" cy="952920"/>
          </a:xfrm>
          <a:custGeom>
            <a:avLst/>
            <a:gdLst/>
            <a:ahLst/>
            <a:rect l="0" t="0" r="r" b="b"/>
            <a:pathLst>
              <a:path w="3176" h="2647">
                <a:moveTo>
                  <a:pt x="0" y="0"/>
                </a:moveTo>
                <a:lnTo>
                  <a:pt x="3176" y="0"/>
                </a:lnTo>
                <a:lnTo>
                  <a:pt x="3176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2" name=""/>
          <p:cNvSpPr/>
          <p:nvPr/>
        </p:nvSpPr>
        <p:spPr>
          <a:xfrm>
            <a:off x="1895400" y="4410000"/>
            <a:ext cx="3210120" cy="952920"/>
          </a:xfrm>
          <a:custGeom>
            <a:avLst/>
            <a:gdLst/>
            <a:ahLst/>
            <a:rect l="0" t="0" r="r" b="b"/>
            <a:pathLst>
              <a:path w="8917" h="2647">
                <a:moveTo>
                  <a:pt x="0" y="0"/>
                </a:moveTo>
                <a:lnTo>
                  <a:pt x="8917" y="0"/>
                </a:lnTo>
                <a:lnTo>
                  <a:pt x="8917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3" name=""/>
          <p:cNvSpPr/>
          <p:nvPr/>
        </p:nvSpPr>
        <p:spPr>
          <a:xfrm>
            <a:off x="5105160" y="4410000"/>
            <a:ext cx="1724400" cy="952920"/>
          </a:xfrm>
          <a:custGeom>
            <a:avLst/>
            <a:gdLst/>
            <a:ahLst/>
            <a:rect l="0" t="0" r="r" b="b"/>
            <a:pathLst>
              <a:path w="4790" h="2647">
                <a:moveTo>
                  <a:pt x="0" y="0"/>
                </a:moveTo>
                <a:lnTo>
                  <a:pt x="4790" y="0"/>
                </a:lnTo>
                <a:lnTo>
                  <a:pt x="4790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4" name=""/>
          <p:cNvSpPr/>
          <p:nvPr/>
        </p:nvSpPr>
        <p:spPr>
          <a:xfrm>
            <a:off x="6829200" y="4410000"/>
            <a:ext cx="4610520" cy="952920"/>
          </a:xfrm>
          <a:custGeom>
            <a:avLst/>
            <a:gdLst/>
            <a:ahLst/>
            <a:rect l="0" t="0" r="r" b="b"/>
            <a:pathLst>
              <a:path w="12807" h="2647">
                <a:moveTo>
                  <a:pt x="0" y="0"/>
                </a:moveTo>
                <a:lnTo>
                  <a:pt x="12807" y="0"/>
                </a:lnTo>
                <a:lnTo>
                  <a:pt x="12807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5" name=""/>
          <p:cNvSpPr/>
          <p:nvPr/>
        </p:nvSpPr>
        <p:spPr>
          <a:xfrm>
            <a:off x="752400" y="1542960"/>
            <a:ext cx="9720" cy="962280"/>
          </a:xfrm>
          <a:custGeom>
            <a:avLst/>
            <a:gdLst/>
            <a:ahLst/>
            <a:rect l="0" t="0" r="r" b="b"/>
            <a:pathLst>
              <a:path w="27" h="2673">
                <a:moveTo>
                  <a:pt x="0" y="0"/>
                </a:moveTo>
                <a:lnTo>
                  <a:pt x="27" y="0"/>
                </a:lnTo>
                <a:lnTo>
                  <a:pt x="27" y="2673"/>
                </a:lnTo>
                <a:lnTo>
                  <a:pt x="0" y="267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6" name=""/>
          <p:cNvSpPr/>
          <p:nvPr/>
        </p:nvSpPr>
        <p:spPr>
          <a:xfrm>
            <a:off x="752400" y="1542960"/>
            <a:ext cx="1143360" cy="9720"/>
          </a:xfrm>
          <a:custGeom>
            <a:avLst/>
            <a:gdLst/>
            <a:ahLst/>
            <a:rect l="0" t="0" r="r" b="b"/>
            <a:pathLst>
              <a:path w="3176" h="27">
                <a:moveTo>
                  <a:pt x="0" y="0"/>
                </a:moveTo>
                <a:lnTo>
                  <a:pt x="3176" y="0"/>
                </a:lnTo>
                <a:lnTo>
                  <a:pt x="317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7" name=""/>
          <p:cNvSpPr/>
          <p:nvPr/>
        </p:nvSpPr>
        <p:spPr>
          <a:xfrm>
            <a:off x="1885680" y="1542960"/>
            <a:ext cx="10440" cy="962280"/>
          </a:xfrm>
          <a:custGeom>
            <a:avLst/>
            <a:gdLst/>
            <a:ahLst/>
            <a:rect l="0" t="0" r="r" b="b"/>
            <a:pathLst>
              <a:path w="29" h="2673">
                <a:moveTo>
                  <a:pt x="0" y="0"/>
                </a:moveTo>
                <a:lnTo>
                  <a:pt x="29" y="0"/>
                </a:lnTo>
                <a:lnTo>
                  <a:pt x="29" y="2673"/>
                </a:lnTo>
                <a:lnTo>
                  <a:pt x="0" y="267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8" name=""/>
          <p:cNvSpPr/>
          <p:nvPr/>
        </p:nvSpPr>
        <p:spPr>
          <a:xfrm>
            <a:off x="1895400" y="1542960"/>
            <a:ext cx="3210120" cy="9720"/>
          </a:xfrm>
          <a:custGeom>
            <a:avLst/>
            <a:gdLst/>
            <a:ahLst/>
            <a:rect l="0" t="0" r="r" b="b"/>
            <a:pathLst>
              <a:path w="8917" h="27">
                <a:moveTo>
                  <a:pt x="0" y="0"/>
                </a:moveTo>
                <a:lnTo>
                  <a:pt x="8917" y="0"/>
                </a:lnTo>
                <a:lnTo>
                  <a:pt x="891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9" name=""/>
          <p:cNvSpPr/>
          <p:nvPr/>
        </p:nvSpPr>
        <p:spPr>
          <a:xfrm>
            <a:off x="5095800" y="1542960"/>
            <a:ext cx="9720" cy="962280"/>
          </a:xfrm>
          <a:custGeom>
            <a:avLst/>
            <a:gdLst/>
            <a:ahLst/>
            <a:rect l="0" t="0" r="r" b="b"/>
            <a:pathLst>
              <a:path w="27" h="2673">
                <a:moveTo>
                  <a:pt x="0" y="0"/>
                </a:moveTo>
                <a:lnTo>
                  <a:pt x="27" y="0"/>
                </a:lnTo>
                <a:lnTo>
                  <a:pt x="27" y="2673"/>
                </a:lnTo>
                <a:lnTo>
                  <a:pt x="0" y="267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0" name=""/>
          <p:cNvSpPr/>
          <p:nvPr/>
        </p:nvSpPr>
        <p:spPr>
          <a:xfrm>
            <a:off x="5105160" y="1542960"/>
            <a:ext cx="1724400" cy="9720"/>
          </a:xfrm>
          <a:custGeom>
            <a:avLst/>
            <a:gdLst/>
            <a:ahLst/>
            <a:rect l="0" t="0" r="r" b="b"/>
            <a:pathLst>
              <a:path w="4790" h="27">
                <a:moveTo>
                  <a:pt x="0" y="0"/>
                </a:moveTo>
                <a:lnTo>
                  <a:pt x="4790" y="0"/>
                </a:lnTo>
                <a:lnTo>
                  <a:pt x="479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1" name=""/>
          <p:cNvSpPr/>
          <p:nvPr/>
        </p:nvSpPr>
        <p:spPr>
          <a:xfrm>
            <a:off x="6819840" y="1542960"/>
            <a:ext cx="9720" cy="962280"/>
          </a:xfrm>
          <a:custGeom>
            <a:avLst/>
            <a:gdLst/>
            <a:ahLst/>
            <a:rect l="0" t="0" r="r" b="b"/>
            <a:pathLst>
              <a:path w="27" h="2673">
                <a:moveTo>
                  <a:pt x="0" y="0"/>
                </a:moveTo>
                <a:lnTo>
                  <a:pt x="27" y="0"/>
                </a:lnTo>
                <a:lnTo>
                  <a:pt x="27" y="2673"/>
                </a:lnTo>
                <a:lnTo>
                  <a:pt x="0" y="267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2" name=""/>
          <p:cNvSpPr/>
          <p:nvPr/>
        </p:nvSpPr>
        <p:spPr>
          <a:xfrm>
            <a:off x="6829200" y="1542960"/>
            <a:ext cx="4619880" cy="9720"/>
          </a:xfrm>
          <a:custGeom>
            <a:avLst/>
            <a:gdLst/>
            <a:ahLst/>
            <a:rect l="0" t="0" r="r" b="b"/>
            <a:pathLst>
              <a:path w="12833" h="27">
                <a:moveTo>
                  <a:pt x="0" y="0"/>
                </a:moveTo>
                <a:lnTo>
                  <a:pt x="12833" y="0"/>
                </a:lnTo>
                <a:lnTo>
                  <a:pt x="1283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3" name=""/>
          <p:cNvSpPr/>
          <p:nvPr/>
        </p:nvSpPr>
        <p:spPr>
          <a:xfrm>
            <a:off x="11439360" y="1542960"/>
            <a:ext cx="9720" cy="962280"/>
          </a:xfrm>
          <a:custGeom>
            <a:avLst/>
            <a:gdLst/>
            <a:ahLst/>
            <a:rect l="0" t="0" r="r" b="b"/>
            <a:pathLst>
              <a:path w="27" h="2673">
                <a:moveTo>
                  <a:pt x="0" y="0"/>
                </a:moveTo>
                <a:lnTo>
                  <a:pt x="27" y="0"/>
                </a:lnTo>
                <a:lnTo>
                  <a:pt x="27" y="2673"/>
                </a:lnTo>
                <a:lnTo>
                  <a:pt x="0" y="267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4" name=""/>
          <p:cNvSpPr/>
          <p:nvPr/>
        </p:nvSpPr>
        <p:spPr>
          <a:xfrm>
            <a:off x="752400" y="2495520"/>
            <a:ext cx="1143360" cy="9720"/>
          </a:xfrm>
          <a:custGeom>
            <a:avLst/>
            <a:gdLst/>
            <a:ahLst/>
            <a:rect l="0" t="0" r="r" b="b"/>
            <a:pathLst>
              <a:path w="3176" h="27">
                <a:moveTo>
                  <a:pt x="0" y="0"/>
                </a:moveTo>
                <a:lnTo>
                  <a:pt x="3176" y="0"/>
                </a:lnTo>
                <a:lnTo>
                  <a:pt x="317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5" name=""/>
          <p:cNvSpPr/>
          <p:nvPr/>
        </p:nvSpPr>
        <p:spPr>
          <a:xfrm>
            <a:off x="1895400" y="2495520"/>
            <a:ext cx="3210120" cy="9720"/>
          </a:xfrm>
          <a:custGeom>
            <a:avLst/>
            <a:gdLst/>
            <a:ahLst/>
            <a:rect l="0" t="0" r="r" b="b"/>
            <a:pathLst>
              <a:path w="8917" h="27">
                <a:moveTo>
                  <a:pt x="0" y="0"/>
                </a:moveTo>
                <a:lnTo>
                  <a:pt x="8917" y="0"/>
                </a:lnTo>
                <a:lnTo>
                  <a:pt x="891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6" name=""/>
          <p:cNvSpPr/>
          <p:nvPr/>
        </p:nvSpPr>
        <p:spPr>
          <a:xfrm>
            <a:off x="5105160" y="2495520"/>
            <a:ext cx="1724400" cy="9720"/>
          </a:xfrm>
          <a:custGeom>
            <a:avLst/>
            <a:gdLst/>
            <a:ahLst/>
            <a:rect l="0" t="0" r="r" b="b"/>
            <a:pathLst>
              <a:path w="4790" h="27">
                <a:moveTo>
                  <a:pt x="0" y="0"/>
                </a:moveTo>
                <a:lnTo>
                  <a:pt x="4790" y="0"/>
                </a:lnTo>
                <a:lnTo>
                  <a:pt x="479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7" name=""/>
          <p:cNvSpPr/>
          <p:nvPr/>
        </p:nvSpPr>
        <p:spPr>
          <a:xfrm>
            <a:off x="6829200" y="2495520"/>
            <a:ext cx="4619880" cy="9720"/>
          </a:xfrm>
          <a:custGeom>
            <a:avLst/>
            <a:gdLst/>
            <a:ahLst/>
            <a:rect l="0" t="0" r="r" b="b"/>
            <a:pathLst>
              <a:path w="12833" h="27">
                <a:moveTo>
                  <a:pt x="0" y="0"/>
                </a:moveTo>
                <a:lnTo>
                  <a:pt x="12833" y="0"/>
                </a:lnTo>
                <a:lnTo>
                  <a:pt x="1283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8" name=""/>
          <p:cNvSpPr/>
          <p:nvPr/>
        </p:nvSpPr>
        <p:spPr>
          <a:xfrm>
            <a:off x="752400" y="2504880"/>
            <a:ext cx="9720" cy="962280"/>
          </a:xfrm>
          <a:custGeom>
            <a:avLst/>
            <a:gdLst/>
            <a:ahLst/>
            <a:rect l="0" t="0" r="r" b="b"/>
            <a:pathLst>
              <a:path w="27" h="2673">
                <a:moveTo>
                  <a:pt x="0" y="0"/>
                </a:moveTo>
                <a:lnTo>
                  <a:pt x="27" y="0"/>
                </a:lnTo>
                <a:lnTo>
                  <a:pt x="27" y="2673"/>
                </a:lnTo>
                <a:lnTo>
                  <a:pt x="0" y="267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9" name=""/>
          <p:cNvSpPr/>
          <p:nvPr/>
        </p:nvSpPr>
        <p:spPr>
          <a:xfrm>
            <a:off x="1885680" y="2504880"/>
            <a:ext cx="10440" cy="962280"/>
          </a:xfrm>
          <a:custGeom>
            <a:avLst/>
            <a:gdLst/>
            <a:ahLst/>
            <a:rect l="0" t="0" r="r" b="b"/>
            <a:pathLst>
              <a:path w="29" h="2673">
                <a:moveTo>
                  <a:pt x="0" y="0"/>
                </a:moveTo>
                <a:lnTo>
                  <a:pt x="29" y="0"/>
                </a:lnTo>
                <a:lnTo>
                  <a:pt x="29" y="2673"/>
                </a:lnTo>
                <a:lnTo>
                  <a:pt x="0" y="267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0" name=""/>
          <p:cNvSpPr/>
          <p:nvPr/>
        </p:nvSpPr>
        <p:spPr>
          <a:xfrm>
            <a:off x="5095800" y="2504880"/>
            <a:ext cx="9720" cy="962280"/>
          </a:xfrm>
          <a:custGeom>
            <a:avLst/>
            <a:gdLst/>
            <a:ahLst/>
            <a:rect l="0" t="0" r="r" b="b"/>
            <a:pathLst>
              <a:path w="27" h="2673">
                <a:moveTo>
                  <a:pt x="0" y="0"/>
                </a:moveTo>
                <a:lnTo>
                  <a:pt x="27" y="0"/>
                </a:lnTo>
                <a:lnTo>
                  <a:pt x="27" y="2673"/>
                </a:lnTo>
                <a:lnTo>
                  <a:pt x="0" y="267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1" name=""/>
          <p:cNvSpPr/>
          <p:nvPr/>
        </p:nvSpPr>
        <p:spPr>
          <a:xfrm>
            <a:off x="6819840" y="2504880"/>
            <a:ext cx="9720" cy="962280"/>
          </a:xfrm>
          <a:custGeom>
            <a:avLst/>
            <a:gdLst/>
            <a:ahLst/>
            <a:rect l="0" t="0" r="r" b="b"/>
            <a:pathLst>
              <a:path w="27" h="2673">
                <a:moveTo>
                  <a:pt x="0" y="0"/>
                </a:moveTo>
                <a:lnTo>
                  <a:pt x="27" y="0"/>
                </a:lnTo>
                <a:lnTo>
                  <a:pt x="27" y="2673"/>
                </a:lnTo>
                <a:lnTo>
                  <a:pt x="0" y="267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2" name=""/>
          <p:cNvSpPr/>
          <p:nvPr/>
        </p:nvSpPr>
        <p:spPr>
          <a:xfrm>
            <a:off x="11439360" y="2504880"/>
            <a:ext cx="9720" cy="962280"/>
          </a:xfrm>
          <a:custGeom>
            <a:avLst/>
            <a:gdLst/>
            <a:ahLst/>
            <a:rect l="0" t="0" r="r" b="b"/>
            <a:pathLst>
              <a:path w="27" h="2673">
                <a:moveTo>
                  <a:pt x="0" y="0"/>
                </a:moveTo>
                <a:lnTo>
                  <a:pt x="27" y="0"/>
                </a:lnTo>
                <a:lnTo>
                  <a:pt x="27" y="2673"/>
                </a:lnTo>
                <a:lnTo>
                  <a:pt x="0" y="267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3" name=""/>
          <p:cNvSpPr/>
          <p:nvPr/>
        </p:nvSpPr>
        <p:spPr>
          <a:xfrm>
            <a:off x="752400" y="3466800"/>
            <a:ext cx="9720" cy="952920"/>
          </a:xfrm>
          <a:custGeom>
            <a:avLst/>
            <a:gdLst/>
            <a:ahLst/>
            <a:rect l="0" t="0" r="r" b="b"/>
            <a:pathLst>
              <a:path w="27" h="2647">
                <a:moveTo>
                  <a:pt x="0" y="0"/>
                </a:moveTo>
                <a:lnTo>
                  <a:pt x="27" y="0"/>
                </a:lnTo>
                <a:lnTo>
                  <a:pt x="27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4" name=""/>
          <p:cNvSpPr/>
          <p:nvPr/>
        </p:nvSpPr>
        <p:spPr>
          <a:xfrm>
            <a:off x="752400" y="3457440"/>
            <a:ext cx="1143360" cy="9720"/>
          </a:xfrm>
          <a:custGeom>
            <a:avLst/>
            <a:gdLst/>
            <a:ahLst/>
            <a:rect l="0" t="0" r="r" b="b"/>
            <a:pathLst>
              <a:path w="3176" h="27">
                <a:moveTo>
                  <a:pt x="0" y="0"/>
                </a:moveTo>
                <a:lnTo>
                  <a:pt x="3176" y="0"/>
                </a:lnTo>
                <a:lnTo>
                  <a:pt x="317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5" name=""/>
          <p:cNvSpPr/>
          <p:nvPr/>
        </p:nvSpPr>
        <p:spPr>
          <a:xfrm>
            <a:off x="1885680" y="3466800"/>
            <a:ext cx="10440" cy="952920"/>
          </a:xfrm>
          <a:custGeom>
            <a:avLst/>
            <a:gdLst/>
            <a:ahLst/>
            <a:rect l="0" t="0" r="r" b="b"/>
            <a:pathLst>
              <a:path w="29" h="2647">
                <a:moveTo>
                  <a:pt x="0" y="0"/>
                </a:moveTo>
                <a:lnTo>
                  <a:pt x="29" y="0"/>
                </a:lnTo>
                <a:lnTo>
                  <a:pt x="29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6" name=""/>
          <p:cNvSpPr/>
          <p:nvPr/>
        </p:nvSpPr>
        <p:spPr>
          <a:xfrm>
            <a:off x="1895400" y="3457440"/>
            <a:ext cx="3210120" cy="9720"/>
          </a:xfrm>
          <a:custGeom>
            <a:avLst/>
            <a:gdLst/>
            <a:ahLst/>
            <a:rect l="0" t="0" r="r" b="b"/>
            <a:pathLst>
              <a:path w="8917" h="27">
                <a:moveTo>
                  <a:pt x="0" y="0"/>
                </a:moveTo>
                <a:lnTo>
                  <a:pt x="8917" y="0"/>
                </a:lnTo>
                <a:lnTo>
                  <a:pt x="891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7" name=""/>
          <p:cNvSpPr/>
          <p:nvPr/>
        </p:nvSpPr>
        <p:spPr>
          <a:xfrm>
            <a:off x="5095800" y="3466800"/>
            <a:ext cx="9720" cy="952920"/>
          </a:xfrm>
          <a:custGeom>
            <a:avLst/>
            <a:gdLst/>
            <a:ahLst/>
            <a:rect l="0" t="0" r="r" b="b"/>
            <a:pathLst>
              <a:path w="27" h="2647">
                <a:moveTo>
                  <a:pt x="0" y="0"/>
                </a:moveTo>
                <a:lnTo>
                  <a:pt x="27" y="0"/>
                </a:lnTo>
                <a:lnTo>
                  <a:pt x="27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8" name=""/>
          <p:cNvSpPr/>
          <p:nvPr/>
        </p:nvSpPr>
        <p:spPr>
          <a:xfrm>
            <a:off x="5105160" y="3457440"/>
            <a:ext cx="1724400" cy="9720"/>
          </a:xfrm>
          <a:custGeom>
            <a:avLst/>
            <a:gdLst/>
            <a:ahLst/>
            <a:rect l="0" t="0" r="r" b="b"/>
            <a:pathLst>
              <a:path w="4790" h="27">
                <a:moveTo>
                  <a:pt x="0" y="0"/>
                </a:moveTo>
                <a:lnTo>
                  <a:pt x="4790" y="0"/>
                </a:lnTo>
                <a:lnTo>
                  <a:pt x="479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9" name=""/>
          <p:cNvSpPr/>
          <p:nvPr/>
        </p:nvSpPr>
        <p:spPr>
          <a:xfrm>
            <a:off x="6819840" y="3466800"/>
            <a:ext cx="9720" cy="952920"/>
          </a:xfrm>
          <a:custGeom>
            <a:avLst/>
            <a:gdLst/>
            <a:ahLst/>
            <a:rect l="0" t="0" r="r" b="b"/>
            <a:pathLst>
              <a:path w="27" h="2647">
                <a:moveTo>
                  <a:pt x="0" y="0"/>
                </a:moveTo>
                <a:lnTo>
                  <a:pt x="27" y="0"/>
                </a:lnTo>
                <a:lnTo>
                  <a:pt x="27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0" name=""/>
          <p:cNvSpPr/>
          <p:nvPr/>
        </p:nvSpPr>
        <p:spPr>
          <a:xfrm>
            <a:off x="6829200" y="3457440"/>
            <a:ext cx="4619880" cy="9720"/>
          </a:xfrm>
          <a:custGeom>
            <a:avLst/>
            <a:gdLst/>
            <a:ahLst/>
            <a:rect l="0" t="0" r="r" b="b"/>
            <a:pathLst>
              <a:path w="12833" h="27">
                <a:moveTo>
                  <a:pt x="0" y="0"/>
                </a:moveTo>
                <a:lnTo>
                  <a:pt x="12833" y="0"/>
                </a:lnTo>
                <a:lnTo>
                  <a:pt x="1283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1" name=""/>
          <p:cNvSpPr/>
          <p:nvPr/>
        </p:nvSpPr>
        <p:spPr>
          <a:xfrm>
            <a:off x="11439360" y="3466800"/>
            <a:ext cx="9720" cy="952920"/>
          </a:xfrm>
          <a:custGeom>
            <a:avLst/>
            <a:gdLst/>
            <a:ahLst/>
            <a:rect l="0" t="0" r="r" b="b"/>
            <a:pathLst>
              <a:path w="27" h="2647">
                <a:moveTo>
                  <a:pt x="0" y="0"/>
                </a:moveTo>
                <a:lnTo>
                  <a:pt x="27" y="0"/>
                </a:lnTo>
                <a:lnTo>
                  <a:pt x="27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2" name=""/>
          <p:cNvSpPr/>
          <p:nvPr/>
        </p:nvSpPr>
        <p:spPr>
          <a:xfrm>
            <a:off x="752400" y="4419360"/>
            <a:ext cx="9720" cy="952920"/>
          </a:xfrm>
          <a:custGeom>
            <a:avLst/>
            <a:gdLst/>
            <a:ahLst/>
            <a:rect l="0" t="0" r="r" b="b"/>
            <a:pathLst>
              <a:path w="27" h="2647">
                <a:moveTo>
                  <a:pt x="0" y="0"/>
                </a:moveTo>
                <a:lnTo>
                  <a:pt x="27" y="0"/>
                </a:lnTo>
                <a:lnTo>
                  <a:pt x="27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3" name=""/>
          <p:cNvSpPr/>
          <p:nvPr/>
        </p:nvSpPr>
        <p:spPr>
          <a:xfrm>
            <a:off x="752400" y="4410000"/>
            <a:ext cx="1143360" cy="9720"/>
          </a:xfrm>
          <a:custGeom>
            <a:avLst/>
            <a:gdLst/>
            <a:ahLst/>
            <a:rect l="0" t="0" r="r" b="b"/>
            <a:pathLst>
              <a:path w="3176" h="27">
                <a:moveTo>
                  <a:pt x="0" y="0"/>
                </a:moveTo>
                <a:lnTo>
                  <a:pt x="3176" y="0"/>
                </a:lnTo>
                <a:lnTo>
                  <a:pt x="317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4" name=""/>
          <p:cNvSpPr/>
          <p:nvPr/>
        </p:nvSpPr>
        <p:spPr>
          <a:xfrm>
            <a:off x="1885680" y="4419360"/>
            <a:ext cx="10440" cy="952920"/>
          </a:xfrm>
          <a:custGeom>
            <a:avLst/>
            <a:gdLst/>
            <a:ahLst/>
            <a:rect l="0" t="0" r="r" b="b"/>
            <a:pathLst>
              <a:path w="29" h="2647">
                <a:moveTo>
                  <a:pt x="0" y="0"/>
                </a:moveTo>
                <a:lnTo>
                  <a:pt x="29" y="0"/>
                </a:lnTo>
                <a:lnTo>
                  <a:pt x="29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5" name=""/>
          <p:cNvSpPr/>
          <p:nvPr/>
        </p:nvSpPr>
        <p:spPr>
          <a:xfrm>
            <a:off x="1895400" y="4410000"/>
            <a:ext cx="3210120" cy="9720"/>
          </a:xfrm>
          <a:custGeom>
            <a:avLst/>
            <a:gdLst/>
            <a:ahLst/>
            <a:rect l="0" t="0" r="r" b="b"/>
            <a:pathLst>
              <a:path w="8917" h="27">
                <a:moveTo>
                  <a:pt x="0" y="0"/>
                </a:moveTo>
                <a:lnTo>
                  <a:pt x="8917" y="0"/>
                </a:lnTo>
                <a:lnTo>
                  <a:pt x="891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6" name=""/>
          <p:cNvSpPr/>
          <p:nvPr/>
        </p:nvSpPr>
        <p:spPr>
          <a:xfrm>
            <a:off x="5095800" y="4419360"/>
            <a:ext cx="9720" cy="952920"/>
          </a:xfrm>
          <a:custGeom>
            <a:avLst/>
            <a:gdLst/>
            <a:ahLst/>
            <a:rect l="0" t="0" r="r" b="b"/>
            <a:pathLst>
              <a:path w="27" h="2647">
                <a:moveTo>
                  <a:pt x="0" y="0"/>
                </a:moveTo>
                <a:lnTo>
                  <a:pt x="27" y="0"/>
                </a:lnTo>
                <a:lnTo>
                  <a:pt x="27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7" name=""/>
          <p:cNvSpPr/>
          <p:nvPr/>
        </p:nvSpPr>
        <p:spPr>
          <a:xfrm>
            <a:off x="5105160" y="4410000"/>
            <a:ext cx="1724400" cy="9720"/>
          </a:xfrm>
          <a:custGeom>
            <a:avLst/>
            <a:gdLst/>
            <a:ahLst/>
            <a:rect l="0" t="0" r="r" b="b"/>
            <a:pathLst>
              <a:path w="4790" h="27">
                <a:moveTo>
                  <a:pt x="0" y="0"/>
                </a:moveTo>
                <a:lnTo>
                  <a:pt x="4790" y="0"/>
                </a:lnTo>
                <a:lnTo>
                  <a:pt x="479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8" name=""/>
          <p:cNvSpPr/>
          <p:nvPr/>
        </p:nvSpPr>
        <p:spPr>
          <a:xfrm>
            <a:off x="6819840" y="4419360"/>
            <a:ext cx="9720" cy="952920"/>
          </a:xfrm>
          <a:custGeom>
            <a:avLst/>
            <a:gdLst/>
            <a:ahLst/>
            <a:rect l="0" t="0" r="r" b="b"/>
            <a:pathLst>
              <a:path w="27" h="2647">
                <a:moveTo>
                  <a:pt x="0" y="0"/>
                </a:moveTo>
                <a:lnTo>
                  <a:pt x="27" y="0"/>
                </a:lnTo>
                <a:lnTo>
                  <a:pt x="27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9" name=""/>
          <p:cNvSpPr/>
          <p:nvPr/>
        </p:nvSpPr>
        <p:spPr>
          <a:xfrm>
            <a:off x="6829200" y="4410000"/>
            <a:ext cx="4619880" cy="9720"/>
          </a:xfrm>
          <a:custGeom>
            <a:avLst/>
            <a:gdLst/>
            <a:ahLst/>
            <a:rect l="0" t="0" r="r" b="b"/>
            <a:pathLst>
              <a:path w="12833" h="27">
                <a:moveTo>
                  <a:pt x="0" y="0"/>
                </a:moveTo>
                <a:lnTo>
                  <a:pt x="12833" y="0"/>
                </a:lnTo>
                <a:lnTo>
                  <a:pt x="1283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0" name=""/>
          <p:cNvSpPr/>
          <p:nvPr/>
        </p:nvSpPr>
        <p:spPr>
          <a:xfrm>
            <a:off x="11439360" y="4419360"/>
            <a:ext cx="9720" cy="952920"/>
          </a:xfrm>
          <a:custGeom>
            <a:avLst/>
            <a:gdLst/>
            <a:ahLst/>
            <a:rect l="0" t="0" r="r" b="b"/>
            <a:pathLst>
              <a:path w="27" h="2647">
                <a:moveTo>
                  <a:pt x="0" y="0"/>
                </a:moveTo>
                <a:lnTo>
                  <a:pt x="27" y="0"/>
                </a:lnTo>
                <a:lnTo>
                  <a:pt x="27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1" name=""/>
          <p:cNvSpPr/>
          <p:nvPr/>
        </p:nvSpPr>
        <p:spPr>
          <a:xfrm>
            <a:off x="752400" y="5362560"/>
            <a:ext cx="1143360" cy="9720"/>
          </a:xfrm>
          <a:custGeom>
            <a:avLst/>
            <a:gdLst/>
            <a:ahLst/>
            <a:rect l="0" t="0" r="r" b="b"/>
            <a:pathLst>
              <a:path w="3176" h="27">
                <a:moveTo>
                  <a:pt x="0" y="0"/>
                </a:moveTo>
                <a:lnTo>
                  <a:pt x="3176" y="0"/>
                </a:lnTo>
                <a:lnTo>
                  <a:pt x="317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2" name=""/>
          <p:cNvSpPr/>
          <p:nvPr/>
        </p:nvSpPr>
        <p:spPr>
          <a:xfrm>
            <a:off x="1895400" y="5362560"/>
            <a:ext cx="3210120" cy="9720"/>
          </a:xfrm>
          <a:custGeom>
            <a:avLst/>
            <a:gdLst/>
            <a:ahLst/>
            <a:rect l="0" t="0" r="r" b="b"/>
            <a:pathLst>
              <a:path w="8917" h="27">
                <a:moveTo>
                  <a:pt x="0" y="0"/>
                </a:moveTo>
                <a:lnTo>
                  <a:pt x="8917" y="0"/>
                </a:lnTo>
                <a:lnTo>
                  <a:pt x="891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3" name=""/>
          <p:cNvSpPr/>
          <p:nvPr/>
        </p:nvSpPr>
        <p:spPr>
          <a:xfrm>
            <a:off x="5105160" y="5362560"/>
            <a:ext cx="1724400" cy="9720"/>
          </a:xfrm>
          <a:custGeom>
            <a:avLst/>
            <a:gdLst/>
            <a:ahLst/>
            <a:rect l="0" t="0" r="r" b="b"/>
            <a:pathLst>
              <a:path w="4790" h="27">
                <a:moveTo>
                  <a:pt x="0" y="0"/>
                </a:moveTo>
                <a:lnTo>
                  <a:pt x="4790" y="0"/>
                </a:lnTo>
                <a:lnTo>
                  <a:pt x="479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4" name=""/>
          <p:cNvSpPr/>
          <p:nvPr/>
        </p:nvSpPr>
        <p:spPr>
          <a:xfrm>
            <a:off x="6829200" y="5362560"/>
            <a:ext cx="4619880" cy="9720"/>
          </a:xfrm>
          <a:custGeom>
            <a:avLst/>
            <a:gdLst/>
            <a:ahLst/>
            <a:rect l="0" t="0" r="r" b="b"/>
            <a:pathLst>
              <a:path w="12833" h="27">
                <a:moveTo>
                  <a:pt x="0" y="0"/>
                </a:moveTo>
                <a:lnTo>
                  <a:pt x="12833" y="0"/>
                </a:lnTo>
                <a:lnTo>
                  <a:pt x="1283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5" name=""/>
          <p:cNvSpPr/>
          <p:nvPr/>
        </p:nvSpPr>
        <p:spPr>
          <a:xfrm>
            <a:off x="757080" y="6091200"/>
            <a:ext cx="10687320" cy="766800"/>
          </a:xfrm>
          <a:custGeom>
            <a:avLst/>
            <a:gdLst/>
            <a:ahLst/>
            <a:rect l="0" t="0" r="r" b="b"/>
            <a:pathLst>
              <a:path w="29687" h="2130">
                <a:moveTo>
                  <a:pt x="0" y="2130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7" y="98"/>
                  <a:pt x="11" y="89"/>
                </a:cubicBezTo>
                <a:cubicBezTo>
                  <a:pt x="15" y="81"/>
                  <a:pt x="19" y="72"/>
                  <a:pt x="24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49" y="35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7" y="2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2"/>
                </a:cubicBezTo>
                <a:cubicBezTo>
                  <a:pt x="29579" y="4"/>
                  <a:pt x="29589" y="7"/>
                  <a:pt x="29597" y="11"/>
                </a:cubicBezTo>
                <a:cubicBezTo>
                  <a:pt x="29606" y="14"/>
                  <a:pt x="29615" y="19"/>
                  <a:pt x="29623" y="24"/>
                </a:cubicBezTo>
                <a:cubicBezTo>
                  <a:pt x="29630" y="29"/>
                  <a:pt x="29638" y="35"/>
                  <a:pt x="29645" y="42"/>
                </a:cubicBezTo>
                <a:cubicBezTo>
                  <a:pt x="29651" y="49"/>
                  <a:pt x="29657" y="56"/>
                  <a:pt x="29663" y="64"/>
                </a:cubicBezTo>
                <a:cubicBezTo>
                  <a:pt x="29668" y="72"/>
                  <a:pt x="29672" y="81"/>
                  <a:pt x="29676" y="89"/>
                </a:cubicBezTo>
                <a:cubicBezTo>
                  <a:pt x="29680" y="98"/>
                  <a:pt x="29683" y="107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2130"/>
                </a:lnTo>
                <a:lnTo>
                  <a:pt x="0" y="213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6" name=""/>
          <p:cNvSpPr/>
          <p:nvPr/>
        </p:nvSpPr>
        <p:spPr>
          <a:xfrm>
            <a:off x="757080" y="6091200"/>
            <a:ext cx="10687320" cy="766800"/>
          </a:xfrm>
          <a:custGeom>
            <a:avLst/>
            <a:gdLst/>
            <a:ahLst/>
            <a:rect l="0" t="0" r="r" b="b"/>
            <a:pathLst>
              <a:path w="29687" h="2130">
                <a:moveTo>
                  <a:pt x="0" y="2130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7" y="98"/>
                  <a:pt x="11" y="89"/>
                </a:cubicBezTo>
                <a:cubicBezTo>
                  <a:pt x="15" y="81"/>
                  <a:pt x="19" y="72"/>
                  <a:pt x="24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49" y="35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7" y="2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2"/>
                </a:cubicBezTo>
                <a:cubicBezTo>
                  <a:pt x="29579" y="4"/>
                  <a:pt x="29589" y="7"/>
                  <a:pt x="29597" y="11"/>
                </a:cubicBezTo>
                <a:cubicBezTo>
                  <a:pt x="29606" y="14"/>
                  <a:pt x="29615" y="19"/>
                  <a:pt x="29623" y="24"/>
                </a:cubicBezTo>
                <a:cubicBezTo>
                  <a:pt x="29630" y="29"/>
                  <a:pt x="29638" y="35"/>
                  <a:pt x="29645" y="42"/>
                </a:cubicBezTo>
                <a:cubicBezTo>
                  <a:pt x="29651" y="49"/>
                  <a:pt x="29657" y="56"/>
                  <a:pt x="29663" y="64"/>
                </a:cubicBezTo>
                <a:cubicBezTo>
                  <a:pt x="29668" y="72"/>
                  <a:pt x="29672" y="81"/>
                  <a:pt x="29676" y="89"/>
                </a:cubicBezTo>
                <a:cubicBezTo>
                  <a:pt x="29680" y="98"/>
                  <a:pt x="29683" y="107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2130"/>
                </a:lnTo>
                <a:lnTo>
                  <a:pt x="0" y="2130"/>
                </a:ln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7" name=""/>
          <p:cNvSpPr txBox="1"/>
          <p:nvPr/>
        </p:nvSpPr>
        <p:spPr>
          <a:xfrm>
            <a:off x="747720" y="123120"/>
            <a:ext cx="1244520" cy="58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480" b="1" u="none" strike="noStrike">
                <a:solidFill>
                  <a:srgbClr val="224466"/>
                </a:solidFill>
                <a:effectLst/>
                <a:uFillTx/>
                <a:latin typeface="SegoeUI"/>
                <a:ea typeface="SegoeUI"/>
              </a:rPr>
              <a:t>8.6.5. </a:t>
            </a:r>
            <a:endParaRPr lang="en-US" sz="34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8" name=""/>
          <p:cNvSpPr txBox="1"/>
          <p:nvPr/>
        </p:nvSpPr>
        <p:spPr>
          <a:xfrm>
            <a:off x="1926360" y="158040"/>
            <a:ext cx="9281880" cy="53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3480" b="0" u="none" strike="noStrike">
                <a:solidFill>
                  <a:srgbClr val="224466"/>
                </a:solidFill>
                <a:effectLst/>
                <a:uFillTx/>
                <a:latin typeface="NotoSansSC"/>
                <a:ea typeface="NotoSansSC"/>
              </a:rPr>
              <a:t>深度讲解：分布式锁是否⼀定需要多台服务器？</a:t>
            </a:r>
            <a:endParaRPr lang="en-US" sz="34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9" name=""/>
          <p:cNvSpPr txBox="1"/>
          <p:nvPr/>
        </p:nvSpPr>
        <p:spPr>
          <a:xfrm>
            <a:off x="747720" y="1019160"/>
            <a:ext cx="38624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概念澄清：分布式锁的真正含义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0" name=""/>
          <p:cNvSpPr txBox="1"/>
          <p:nvPr/>
        </p:nvSpPr>
        <p:spPr>
          <a:xfrm>
            <a:off x="1047600" y="1857240"/>
            <a:ext cx="5522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术语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1" name=""/>
          <p:cNvSpPr txBox="1"/>
          <p:nvPr/>
        </p:nvSpPr>
        <p:spPr>
          <a:xfrm>
            <a:off x="3223080" y="1857240"/>
            <a:ext cx="5522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定义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2" name=""/>
          <p:cNvSpPr txBox="1"/>
          <p:nvPr/>
        </p:nvSpPr>
        <p:spPr>
          <a:xfrm>
            <a:off x="5275080" y="1647720"/>
            <a:ext cx="13798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需要分布式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3" name=""/>
          <p:cNvSpPr txBox="1"/>
          <p:nvPr/>
        </p:nvSpPr>
        <p:spPr>
          <a:xfrm>
            <a:off x="5551200" y="2066760"/>
            <a:ext cx="82836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锁吗？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4" name=""/>
          <p:cNvSpPr txBox="1"/>
          <p:nvPr/>
        </p:nvSpPr>
        <p:spPr>
          <a:xfrm>
            <a:off x="8857080" y="1857240"/>
            <a:ext cx="5522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原因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5" name=""/>
          <p:cNvSpPr/>
          <p:nvPr/>
        </p:nvSpPr>
        <p:spPr>
          <a:xfrm>
            <a:off x="2019240" y="2609640"/>
            <a:ext cx="1609920" cy="371880"/>
          </a:xfrm>
          <a:custGeom>
            <a:avLst/>
            <a:gdLst/>
            <a:ahLst/>
            <a:rect l="0" t="0" r="r" b="b"/>
            <a:pathLst>
              <a:path w="4472" h="1033">
                <a:moveTo>
                  <a:pt x="0" y="874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8"/>
                  <a:pt x="21" y="79"/>
                  <a:pt x="26" y="71"/>
                </a:cubicBezTo>
                <a:cubicBezTo>
                  <a:pt x="32" y="62"/>
                  <a:pt x="39" y="54"/>
                  <a:pt x="46" y="47"/>
                </a:cubicBezTo>
                <a:cubicBezTo>
                  <a:pt x="54" y="39"/>
                  <a:pt x="62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7" y="3"/>
                </a:cubicBezTo>
                <a:cubicBezTo>
                  <a:pt x="138" y="1"/>
                  <a:pt x="148" y="0"/>
                  <a:pt x="158" y="0"/>
                </a:cubicBezTo>
                <a:lnTo>
                  <a:pt x="4313" y="0"/>
                </a:lnTo>
                <a:cubicBezTo>
                  <a:pt x="4324" y="0"/>
                  <a:pt x="4334" y="1"/>
                  <a:pt x="4344" y="3"/>
                </a:cubicBezTo>
                <a:cubicBezTo>
                  <a:pt x="4355" y="5"/>
                  <a:pt x="4364" y="8"/>
                  <a:pt x="4374" y="12"/>
                </a:cubicBezTo>
                <a:cubicBezTo>
                  <a:pt x="4384" y="16"/>
                  <a:pt x="4393" y="21"/>
                  <a:pt x="4402" y="27"/>
                </a:cubicBezTo>
                <a:cubicBezTo>
                  <a:pt x="4410" y="33"/>
                  <a:pt x="4418" y="39"/>
                  <a:pt x="4426" y="47"/>
                </a:cubicBezTo>
                <a:cubicBezTo>
                  <a:pt x="4433" y="54"/>
                  <a:pt x="4440" y="62"/>
                  <a:pt x="4445" y="71"/>
                </a:cubicBezTo>
                <a:cubicBezTo>
                  <a:pt x="4451" y="79"/>
                  <a:pt x="4456" y="88"/>
                  <a:pt x="4460" y="98"/>
                </a:cubicBezTo>
                <a:cubicBezTo>
                  <a:pt x="4464" y="108"/>
                  <a:pt x="4467" y="118"/>
                  <a:pt x="4469" y="128"/>
                </a:cubicBezTo>
                <a:cubicBezTo>
                  <a:pt x="4471" y="138"/>
                  <a:pt x="4472" y="148"/>
                  <a:pt x="4472" y="159"/>
                </a:cubicBezTo>
                <a:lnTo>
                  <a:pt x="4472" y="874"/>
                </a:lnTo>
                <a:cubicBezTo>
                  <a:pt x="4472" y="885"/>
                  <a:pt x="4471" y="895"/>
                  <a:pt x="4469" y="905"/>
                </a:cubicBezTo>
                <a:cubicBezTo>
                  <a:pt x="4467" y="915"/>
                  <a:pt x="4464" y="925"/>
                  <a:pt x="4460" y="935"/>
                </a:cubicBezTo>
                <a:cubicBezTo>
                  <a:pt x="4456" y="945"/>
                  <a:pt x="4451" y="954"/>
                  <a:pt x="4445" y="962"/>
                </a:cubicBezTo>
                <a:cubicBezTo>
                  <a:pt x="4440" y="971"/>
                  <a:pt x="4433" y="979"/>
                  <a:pt x="4426" y="986"/>
                </a:cubicBezTo>
                <a:cubicBezTo>
                  <a:pt x="4418" y="994"/>
                  <a:pt x="4410" y="1000"/>
                  <a:pt x="4402" y="1006"/>
                </a:cubicBezTo>
                <a:cubicBezTo>
                  <a:pt x="4393" y="1012"/>
                  <a:pt x="4384" y="1017"/>
                  <a:pt x="4374" y="1021"/>
                </a:cubicBezTo>
                <a:cubicBezTo>
                  <a:pt x="4364" y="1025"/>
                  <a:pt x="4355" y="1028"/>
                  <a:pt x="4344" y="1030"/>
                </a:cubicBezTo>
                <a:cubicBezTo>
                  <a:pt x="4334" y="1032"/>
                  <a:pt x="4324" y="1033"/>
                  <a:pt x="4313" y="1033"/>
                </a:cubicBezTo>
                <a:lnTo>
                  <a:pt x="158" y="1033"/>
                </a:lnTo>
                <a:cubicBezTo>
                  <a:pt x="148" y="1033"/>
                  <a:pt x="138" y="1032"/>
                  <a:pt x="127" y="1030"/>
                </a:cubicBezTo>
                <a:cubicBezTo>
                  <a:pt x="117" y="1028"/>
                  <a:pt x="107" y="1025"/>
                  <a:pt x="98" y="1021"/>
                </a:cubicBezTo>
                <a:cubicBezTo>
                  <a:pt x="88" y="1017"/>
                  <a:pt x="79" y="1012"/>
                  <a:pt x="70" y="1006"/>
                </a:cubicBezTo>
                <a:cubicBezTo>
                  <a:pt x="62" y="1000"/>
                  <a:pt x="54" y="994"/>
                  <a:pt x="46" y="986"/>
                </a:cubicBezTo>
                <a:cubicBezTo>
                  <a:pt x="39" y="979"/>
                  <a:pt x="32" y="971"/>
                  <a:pt x="26" y="962"/>
                </a:cubicBezTo>
                <a:cubicBezTo>
                  <a:pt x="21" y="954"/>
                  <a:pt x="16" y="945"/>
                  <a:pt x="12" y="935"/>
                </a:cubicBezTo>
                <a:cubicBezTo>
                  <a:pt x="8" y="925"/>
                  <a:pt x="5" y="915"/>
                  <a:pt x="3" y="905"/>
                </a:cubicBezTo>
                <a:cubicBezTo>
                  <a:pt x="1" y="895"/>
                  <a:pt x="0" y="885"/>
                  <a:pt x="0" y="874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06" name=""/>
          <p:cNvSpPr txBox="1"/>
          <p:nvPr/>
        </p:nvSpPr>
        <p:spPr>
          <a:xfrm>
            <a:off x="880920" y="2809800"/>
            <a:ext cx="82836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单进程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7" name=""/>
          <p:cNvSpPr txBox="1"/>
          <p:nvPr/>
        </p:nvSpPr>
        <p:spPr>
          <a:xfrm>
            <a:off x="2117520" y="2701440"/>
            <a:ext cx="142020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node app.js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8" name=""/>
          <p:cNvSpPr txBox="1"/>
          <p:nvPr/>
        </p:nvSpPr>
        <p:spPr>
          <a:xfrm>
            <a:off x="3631680" y="2578680"/>
            <a:ext cx="27576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9" name=""/>
          <p:cNvSpPr txBox="1"/>
          <p:nvPr/>
        </p:nvSpPr>
        <p:spPr>
          <a:xfrm>
            <a:off x="3707280" y="2600280"/>
            <a:ext cx="82836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只启动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0" name=""/>
          <p:cNvSpPr txBox="1"/>
          <p:nvPr/>
        </p:nvSpPr>
        <p:spPr>
          <a:xfrm>
            <a:off x="4536000" y="2578680"/>
            <a:ext cx="27576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1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1" name=""/>
          <p:cNvSpPr txBox="1"/>
          <p:nvPr/>
        </p:nvSpPr>
        <p:spPr>
          <a:xfrm>
            <a:off x="4684680" y="2600280"/>
            <a:ext cx="2764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个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2" name=""/>
          <p:cNvSpPr/>
          <p:nvPr/>
        </p:nvSpPr>
        <p:spPr>
          <a:xfrm>
            <a:off x="5268960" y="2849760"/>
            <a:ext cx="253800" cy="253800"/>
          </a:xfrm>
          <a:custGeom>
            <a:avLst/>
            <a:gdLst/>
            <a:ahLst/>
            <a:rect l="0" t="0" r="r" b="b"/>
            <a:pathLst>
              <a:path w="705" h="705">
                <a:moveTo>
                  <a:pt x="427" y="353"/>
                </a:moveTo>
                <a:lnTo>
                  <a:pt x="689" y="91"/>
                </a:lnTo>
                <a:cubicBezTo>
                  <a:pt x="710" y="70"/>
                  <a:pt x="710" y="36"/>
                  <a:pt x="689" y="16"/>
                </a:cubicBezTo>
                <a:cubicBezTo>
                  <a:pt x="668" y="-5"/>
                  <a:pt x="635" y="-5"/>
                  <a:pt x="614" y="16"/>
                </a:cubicBezTo>
                <a:lnTo>
                  <a:pt x="352" y="277"/>
                </a:lnTo>
                <a:lnTo>
                  <a:pt x="91" y="16"/>
                </a:lnTo>
                <a:cubicBezTo>
                  <a:pt x="71" y="-5"/>
                  <a:pt x="37" y="-5"/>
                  <a:pt x="16" y="16"/>
                </a:cubicBezTo>
                <a:cubicBezTo>
                  <a:pt x="-5" y="36"/>
                  <a:pt x="-5" y="70"/>
                  <a:pt x="16" y="91"/>
                </a:cubicBezTo>
                <a:lnTo>
                  <a:pt x="277" y="353"/>
                </a:lnTo>
                <a:lnTo>
                  <a:pt x="15" y="614"/>
                </a:lnTo>
                <a:cubicBezTo>
                  <a:pt x="-5" y="635"/>
                  <a:pt x="-5" y="669"/>
                  <a:pt x="15" y="689"/>
                </a:cubicBezTo>
                <a:cubicBezTo>
                  <a:pt x="26" y="700"/>
                  <a:pt x="39" y="705"/>
                  <a:pt x="53" y="705"/>
                </a:cubicBezTo>
                <a:cubicBezTo>
                  <a:pt x="67" y="705"/>
                  <a:pt x="80" y="700"/>
                  <a:pt x="91" y="689"/>
                </a:cubicBezTo>
                <a:lnTo>
                  <a:pt x="352" y="428"/>
                </a:lnTo>
                <a:lnTo>
                  <a:pt x="614" y="689"/>
                </a:lnTo>
                <a:cubicBezTo>
                  <a:pt x="624" y="699"/>
                  <a:pt x="638" y="704"/>
                  <a:pt x="652" y="704"/>
                </a:cubicBezTo>
                <a:cubicBezTo>
                  <a:pt x="665" y="704"/>
                  <a:pt x="679" y="699"/>
                  <a:pt x="689" y="689"/>
                </a:cubicBezTo>
                <a:cubicBezTo>
                  <a:pt x="710" y="668"/>
                  <a:pt x="710" y="634"/>
                  <a:pt x="689" y="614"/>
                </a:cubicBezTo>
                <a:lnTo>
                  <a:pt x="427" y="353"/>
                </a:lnTo>
                <a:close/>
              </a:path>
            </a:pathLst>
          </a:custGeom>
          <a:solidFill>
            <a:srgbClr val="DD2E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13" name=""/>
          <p:cNvSpPr txBox="1"/>
          <p:nvPr/>
        </p:nvSpPr>
        <p:spPr>
          <a:xfrm>
            <a:off x="2023560" y="3019320"/>
            <a:ext cx="5522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进程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4" name=""/>
          <p:cNvSpPr txBox="1"/>
          <p:nvPr/>
        </p:nvSpPr>
        <p:spPr>
          <a:xfrm>
            <a:off x="5550120" y="2788200"/>
            <a:ext cx="27576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5" name=""/>
          <p:cNvSpPr txBox="1"/>
          <p:nvPr/>
        </p:nvSpPr>
        <p:spPr>
          <a:xfrm>
            <a:off x="5625720" y="2809800"/>
            <a:ext cx="82836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不需要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6" name=""/>
          <p:cNvSpPr txBox="1"/>
          <p:nvPr/>
        </p:nvSpPr>
        <p:spPr>
          <a:xfrm>
            <a:off x="6955920" y="2610000"/>
            <a:ext cx="413856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事件循环⾃动序列化并发，乐观锁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7" name=""/>
          <p:cNvSpPr txBox="1"/>
          <p:nvPr/>
        </p:nvSpPr>
        <p:spPr>
          <a:xfrm>
            <a:off x="6955920" y="3019320"/>
            <a:ext cx="5522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⾜够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8" name=""/>
          <p:cNvSpPr txBox="1"/>
          <p:nvPr/>
        </p:nvSpPr>
        <p:spPr>
          <a:xfrm>
            <a:off x="880920" y="3562200"/>
            <a:ext cx="82836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单机多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9" name=""/>
          <p:cNvSpPr txBox="1"/>
          <p:nvPr/>
        </p:nvSpPr>
        <p:spPr>
          <a:xfrm>
            <a:off x="880920" y="3971880"/>
            <a:ext cx="5522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进程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0" name=""/>
          <p:cNvSpPr txBox="1"/>
          <p:nvPr/>
        </p:nvSpPr>
        <p:spPr>
          <a:xfrm>
            <a:off x="2023560" y="3540600"/>
            <a:ext cx="55152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PM2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1" name=""/>
          <p:cNvSpPr txBox="1"/>
          <p:nvPr/>
        </p:nvSpPr>
        <p:spPr>
          <a:xfrm>
            <a:off x="2575080" y="3562200"/>
            <a:ext cx="5522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启动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2" name=""/>
          <p:cNvSpPr txBox="1"/>
          <p:nvPr/>
        </p:nvSpPr>
        <p:spPr>
          <a:xfrm>
            <a:off x="3127680" y="3540600"/>
            <a:ext cx="27576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4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3" name=""/>
          <p:cNvSpPr txBox="1"/>
          <p:nvPr/>
        </p:nvSpPr>
        <p:spPr>
          <a:xfrm>
            <a:off x="3276720" y="3562200"/>
            <a:ext cx="2764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个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4" name=""/>
          <p:cNvSpPr txBox="1"/>
          <p:nvPr/>
        </p:nvSpPr>
        <p:spPr>
          <a:xfrm>
            <a:off x="3552840" y="3540600"/>
            <a:ext cx="89316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Worker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5" name=""/>
          <p:cNvSpPr txBox="1"/>
          <p:nvPr/>
        </p:nvSpPr>
        <p:spPr>
          <a:xfrm>
            <a:off x="4435560" y="3562200"/>
            <a:ext cx="2764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或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6" name=""/>
          <p:cNvSpPr/>
          <p:nvPr/>
        </p:nvSpPr>
        <p:spPr>
          <a:xfrm>
            <a:off x="5261400" y="3805920"/>
            <a:ext cx="268920" cy="262800"/>
          </a:xfrm>
          <a:custGeom>
            <a:avLst/>
            <a:gdLst/>
            <a:ahLst/>
            <a:rect l="0" t="0" r="r" b="b"/>
            <a:pathLst>
              <a:path w="747" h="730">
                <a:moveTo>
                  <a:pt x="46" y="730"/>
                </a:moveTo>
                <a:cubicBezTo>
                  <a:pt x="7" y="730"/>
                  <a:pt x="-11" y="702"/>
                  <a:pt x="8" y="667"/>
                </a:cubicBezTo>
                <a:lnTo>
                  <a:pt x="340" y="26"/>
                </a:lnTo>
                <a:cubicBezTo>
                  <a:pt x="358" y="-9"/>
                  <a:pt x="388" y="-9"/>
                  <a:pt x="406" y="26"/>
                </a:cubicBezTo>
                <a:lnTo>
                  <a:pt x="740" y="667"/>
                </a:lnTo>
                <a:cubicBezTo>
                  <a:pt x="758" y="702"/>
                  <a:pt x="741" y="730"/>
                  <a:pt x="701" y="730"/>
                </a:cubicBezTo>
                <a:lnTo>
                  <a:pt x="46" y="730"/>
                </a:lnTo>
                <a:close/>
              </a:path>
            </a:pathLst>
          </a:custGeom>
          <a:solidFill>
            <a:srgbClr val="FFCC4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7" name=""/>
          <p:cNvSpPr/>
          <p:nvPr/>
        </p:nvSpPr>
        <p:spPr>
          <a:xfrm>
            <a:off x="5377320" y="3866040"/>
            <a:ext cx="37440" cy="175320"/>
          </a:xfrm>
          <a:custGeom>
            <a:avLst/>
            <a:gdLst/>
            <a:ahLst/>
            <a:rect l="0" t="0" r="r" b="b"/>
            <a:pathLst>
              <a:path w="104" h="487">
                <a:moveTo>
                  <a:pt x="0" y="435"/>
                </a:moveTo>
                <a:cubicBezTo>
                  <a:pt x="0" y="407"/>
                  <a:pt x="23" y="384"/>
                  <a:pt x="52" y="384"/>
                </a:cubicBezTo>
                <a:cubicBezTo>
                  <a:pt x="81" y="384"/>
                  <a:pt x="104" y="407"/>
                  <a:pt x="104" y="435"/>
                </a:cubicBezTo>
                <a:cubicBezTo>
                  <a:pt x="104" y="464"/>
                  <a:pt x="81" y="487"/>
                  <a:pt x="52" y="487"/>
                </a:cubicBezTo>
                <a:cubicBezTo>
                  <a:pt x="23" y="487"/>
                  <a:pt x="0" y="464"/>
                  <a:pt x="0" y="435"/>
                </a:cubicBezTo>
                <a:moveTo>
                  <a:pt x="4" y="45"/>
                </a:moveTo>
                <a:cubicBezTo>
                  <a:pt x="4" y="17"/>
                  <a:pt x="24" y="0"/>
                  <a:pt x="52" y="0"/>
                </a:cubicBezTo>
                <a:cubicBezTo>
                  <a:pt x="79" y="0"/>
                  <a:pt x="100" y="17"/>
                  <a:pt x="100" y="45"/>
                </a:cubicBezTo>
                <a:lnTo>
                  <a:pt x="100" y="300"/>
                </a:lnTo>
                <a:cubicBezTo>
                  <a:pt x="100" y="327"/>
                  <a:pt x="79" y="345"/>
                  <a:pt x="52" y="345"/>
                </a:cubicBezTo>
                <a:cubicBezTo>
                  <a:pt x="24" y="345"/>
                  <a:pt x="4" y="328"/>
                  <a:pt x="4" y="300"/>
                </a:cubicBezTo>
                <a:lnTo>
                  <a:pt x="4" y="45"/>
                </a:lnTo>
                <a:close/>
              </a:path>
            </a:pathLst>
          </a:custGeom>
          <a:solidFill>
            <a:srgbClr val="231F2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28" name=""/>
          <p:cNvSpPr txBox="1"/>
          <p:nvPr/>
        </p:nvSpPr>
        <p:spPr>
          <a:xfrm>
            <a:off x="2023560" y="3950280"/>
            <a:ext cx="183888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Node.js Cluster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9" name=""/>
          <p:cNvSpPr txBox="1"/>
          <p:nvPr/>
        </p:nvSpPr>
        <p:spPr>
          <a:xfrm>
            <a:off x="5550120" y="3750120"/>
            <a:ext cx="27576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0" name=""/>
          <p:cNvSpPr txBox="1"/>
          <p:nvPr/>
        </p:nvSpPr>
        <p:spPr>
          <a:xfrm>
            <a:off x="5625720" y="3771720"/>
            <a:ext cx="5522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需要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1" name=""/>
          <p:cNvSpPr txBox="1"/>
          <p:nvPr/>
        </p:nvSpPr>
        <p:spPr>
          <a:xfrm>
            <a:off x="6955920" y="3562200"/>
            <a:ext cx="413856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进程间⽆内存共享，必须⽤外部协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2" name=""/>
          <p:cNvSpPr txBox="1"/>
          <p:nvPr/>
        </p:nvSpPr>
        <p:spPr>
          <a:xfrm>
            <a:off x="6955920" y="3971880"/>
            <a:ext cx="11041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议（⽂件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3" name=""/>
          <p:cNvSpPr txBox="1"/>
          <p:nvPr/>
        </p:nvSpPr>
        <p:spPr>
          <a:xfrm>
            <a:off x="8060760" y="3950280"/>
            <a:ext cx="76356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/Redis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4" name=""/>
          <p:cNvSpPr txBox="1"/>
          <p:nvPr/>
        </p:nvSpPr>
        <p:spPr>
          <a:xfrm>
            <a:off x="8816760" y="3971880"/>
            <a:ext cx="82836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）同步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5" name=""/>
          <p:cNvSpPr txBox="1"/>
          <p:nvPr/>
        </p:nvSpPr>
        <p:spPr>
          <a:xfrm>
            <a:off x="880920" y="4514760"/>
            <a:ext cx="82836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多台服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6" name=""/>
          <p:cNvSpPr txBox="1"/>
          <p:nvPr/>
        </p:nvSpPr>
        <p:spPr>
          <a:xfrm>
            <a:off x="880920" y="4924440"/>
            <a:ext cx="5522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务器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7" name=""/>
          <p:cNvSpPr txBox="1"/>
          <p:nvPr/>
        </p:nvSpPr>
        <p:spPr>
          <a:xfrm>
            <a:off x="2023560" y="4702680"/>
            <a:ext cx="27576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3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8" name=""/>
          <p:cNvSpPr/>
          <p:nvPr/>
        </p:nvSpPr>
        <p:spPr>
          <a:xfrm>
            <a:off x="5257440" y="4752720"/>
            <a:ext cx="276840" cy="276480"/>
          </a:xfrm>
          <a:custGeom>
            <a:avLst/>
            <a:gdLst/>
            <a:ahLst/>
            <a:rect l="0" t="0" r="r" b="b"/>
            <a:pathLst>
              <a:path w="769" h="768">
                <a:moveTo>
                  <a:pt x="769" y="683"/>
                </a:moveTo>
                <a:cubicBezTo>
                  <a:pt x="769" y="730"/>
                  <a:pt x="731" y="768"/>
                  <a:pt x="684" y="768"/>
                </a:cubicBezTo>
                <a:lnTo>
                  <a:pt x="86" y="768"/>
                </a:lnTo>
                <a:cubicBezTo>
                  <a:pt x="39" y="768"/>
                  <a:pt x="0" y="730"/>
                  <a:pt x="0" y="683"/>
                </a:cubicBezTo>
                <a:lnTo>
                  <a:pt x="0" y="85"/>
                </a:lnTo>
                <a:cubicBezTo>
                  <a:pt x="0" y="38"/>
                  <a:pt x="39" y="0"/>
                  <a:pt x="86" y="0"/>
                </a:cubicBezTo>
                <a:lnTo>
                  <a:pt x="684" y="0"/>
                </a:lnTo>
                <a:cubicBezTo>
                  <a:pt x="731" y="0"/>
                  <a:pt x="769" y="38"/>
                  <a:pt x="769" y="85"/>
                </a:cubicBezTo>
                <a:lnTo>
                  <a:pt x="769" y="683"/>
                </a:lnTo>
                <a:close/>
              </a:path>
            </a:pathLst>
          </a:custGeom>
          <a:solidFill>
            <a:srgbClr val="77B25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9" name=""/>
          <p:cNvSpPr/>
          <p:nvPr/>
        </p:nvSpPr>
        <p:spPr>
          <a:xfrm>
            <a:off x="5301360" y="4798440"/>
            <a:ext cx="190080" cy="186480"/>
          </a:xfrm>
          <a:custGeom>
            <a:avLst/>
            <a:gdLst/>
            <a:ahLst/>
            <a:rect l="0" t="0" r="r" b="b"/>
            <a:pathLst>
              <a:path w="528" h="518">
                <a:moveTo>
                  <a:pt x="504" y="9"/>
                </a:moveTo>
                <a:cubicBezTo>
                  <a:pt x="479" y="-7"/>
                  <a:pt x="446" y="0"/>
                  <a:pt x="430" y="24"/>
                </a:cubicBezTo>
                <a:lnTo>
                  <a:pt x="197" y="383"/>
                </a:lnTo>
                <a:lnTo>
                  <a:pt x="90" y="283"/>
                </a:lnTo>
                <a:cubicBezTo>
                  <a:pt x="68" y="263"/>
                  <a:pt x="34" y="264"/>
                  <a:pt x="14" y="286"/>
                </a:cubicBezTo>
                <a:cubicBezTo>
                  <a:pt x="-6" y="308"/>
                  <a:pt x="-4" y="341"/>
                  <a:pt x="17" y="361"/>
                </a:cubicBezTo>
                <a:lnTo>
                  <a:pt x="171" y="504"/>
                </a:lnTo>
                <a:cubicBezTo>
                  <a:pt x="181" y="514"/>
                  <a:pt x="194" y="518"/>
                  <a:pt x="207" y="518"/>
                </a:cubicBezTo>
                <a:cubicBezTo>
                  <a:pt x="221" y="518"/>
                  <a:pt x="240" y="512"/>
                  <a:pt x="252" y="494"/>
                </a:cubicBezTo>
                <a:cubicBezTo>
                  <a:pt x="259" y="483"/>
                  <a:pt x="519" y="83"/>
                  <a:pt x="519" y="83"/>
                </a:cubicBezTo>
                <a:cubicBezTo>
                  <a:pt x="535" y="58"/>
                  <a:pt x="528" y="25"/>
                  <a:pt x="504" y="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0" name=""/>
          <p:cNvSpPr txBox="1"/>
          <p:nvPr/>
        </p:nvSpPr>
        <p:spPr>
          <a:xfrm>
            <a:off x="2172600" y="4724280"/>
            <a:ext cx="27590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台物理机各⾃运⾏服务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1" name=""/>
          <p:cNvSpPr txBox="1"/>
          <p:nvPr/>
        </p:nvSpPr>
        <p:spPr>
          <a:xfrm>
            <a:off x="5550120" y="4702680"/>
            <a:ext cx="27576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2" name=""/>
          <p:cNvSpPr txBox="1"/>
          <p:nvPr/>
        </p:nvSpPr>
        <p:spPr>
          <a:xfrm>
            <a:off x="5625720" y="4724280"/>
            <a:ext cx="5522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必须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3" name=""/>
          <p:cNvSpPr txBox="1"/>
          <p:nvPr/>
        </p:nvSpPr>
        <p:spPr>
          <a:xfrm>
            <a:off x="6955920" y="4514760"/>
            <a:ext cx="22075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⽹络隔离，只能靠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4" name=""/>
          <p:cNvSpPr txBox="1"/>
          <p:nvPr/>
        </p:nvSpPr>
        <p:spPr>
          <a:xfrm>
            <a:off x="9165600" y="4493160"/>
            <a:ext cx="83916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Redis/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5" name=""/>
          <p:cNvSpPr txBox="1"/>
          <p:nvPr/>
        </p:nvSpPr>
        <p:spPr>
          <a:xfrm>
            <a:off x="9997200" y="4514760"/>
            <a:ext cx="11041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数据库中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6" name=""/>
          <p:cNvSpPr txBox="1"/>
          <p:nvPr/>
        </p:nvSpPr>
        <p:spPr>
          <a:xfrm>
            <a:off x="6955920" y="4924440"/>
            <a:ext cx="5522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⼼锁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7" name=""/>
          <p:cNvSpPr txBox="1"/>
          <p:nvPr/>
        </p:nvSpPr>
        <p:spPr>
          <a:xfrm>
            <a:off x="747720" y="5562720"/>
            <a:ext cx="413856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关键发现：当前只需乐观锁，⽆需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8" name=""/>
          <p:cNvSpPr txBox="1"/>
          <p:nvPr/>
        </p:nvSpPr>
        <p:spPr>
          <a:xfrm>
            <a:off x="4890960" y="5540760"/>
            <a:ext cx="77652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Redis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9" name=""/>
          <p:cNvSpPr txBox="1"/>
          <p:nvPr/>
        </p:nvSpPr>
        <p:spPr>
          <a:xfrm>
            <a:off x="5636160" y="5562720"/>
            <a:ext cx="2764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！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0" name=""/>
          <p:cNvSpPr txBox="1"/>
          <p:nvPr/>
        </p:nvSpPr>
        <p:spPr>
          <a:xfrm>
            <a:off x="914400" y="6256440"/>
            <a:ext cx="117432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850" b="0" u="none" strike="noStrike">
                <a:solidFill>
                  <a:srgbClr val="1F2328"/>
                </a:solidFill>
                <a:effectLst/>
                <a:uFillTx/>
                <a:latin typeface="NSimSun"/>
                <a:ea typeface="NSimSun"/>
              </a:rPr>
              <a:t>【当前架构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1" name=""/>
          <p:cNvSpPr txBox="1"/>
          <p:nvPr/>
        </p:nvSpPr>
        <p:spPr>
          <a:xfrm>
            <a:off x="2088360" y="6283440"/>
            <a:ext cx="38772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- 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2" name=""/>
          <p:cNvSpPr txBox="1"/>
          <p:nvPr/>
        </p:nvSpPr>
        <p:spPr>
          <a:xfrm>
            <a:off x="2475720" y="6256440"/>
            <a:ext cx="93960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850" b="0" u="none" strike="noStrike">
                <a:solidFill>
                  <a:srgbClr val="1F2328"/>
                </a:solidFill>
                <a:effectLst/>
                <a:uFillTx/>
                <a:latin typeface="NSimSun"/>
                <a:ea typeface="NSimSun"/>
              </a:rPr>
              <a:t>单进程】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3" name=""/>
          <p:cNvSpPr txBox="1"/>
          <p:nvPr/>
        </p:nvSpPr>
        <p:spPr>
          <a:xfrm>
            <a:off x="914400" y="6522840"/>
            <a:ext cx="93960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850" b="0" u="none" strike="noStrike">
                <a:solidFill>
                  <a:srgbClr val="1F2328"/>
                </a:solidFill>
                <a:effectLst/>
                <a:uFillTx/>
                <a:latin typeface="NSimSun"/>
                <a:ea typeface="NSimSun"/>
              </a:rPr>
              <a:t>用户请求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4" name=""/>
          <p:cNvSpPr txBox="1"/>
          <p:nvPr/>
        </p:nvSpPr>
        <p:spPr>
          <a:xfrm>
            <a:off x="1853640" y="6550200"/>
            <a:ext cx="51696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1 ─┐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5" name=""/>
          <p:cNvSpPr txBox="1"/>
          <p:nvPr/>
        </p:nvSpPr>
        <p:spPr>
          <a:xfrm>
            <a:off x="914400" y="6799320"/>
            <a:ext cx="93960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850" b="0" u="none" strike="noStrike">
                <a:solidFill>
                  <a:srgbClr val="1F2328"/>
                </a:solidFill>
                <a:effectLst/>
                <a:uFillTx/>
                <a:latin typeface="NSimSun"/>
                <a:ea typeface="NSimSun"/>
              </a:rPr>
              <a:t>用户请求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6" name=""/>
          <p:cNvSpPr txBox="1"/>
          <p:nvPr/>
        </p:nvSpPr>
        <p:spPr>
          <a:xfrm>
            <a:off x="1853640" y="6826320"/>
            <a:ext cx="23436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2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7" name=""/>
          <p:cNvSpPr txBox="1"/>
          <p:nvPr/>
        </p:nvSpPr>
        <p:spPr>
          <a:xfrm>
            <a:off x="2241000" y="6826320"/>
            <a:ext cx="23436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┼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8" name=""/>
          <p:cNvSpPr txBox="1"/>
          <p:nvPr/>
        </p:nvSpPr>
        <p:spPr>
          <a:xfrm>
            <a:off x="2628000" y="6826320"/>
            <a:ext cx="38772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N d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9" name=""/>
          <p:cNvSpPr txBox="1"/>
          <p:nvPr/>
        </p:nvSpPr>
        <p:spPr>
          <a:xfrm>
            <a:off x="3273480" y="6826320"/>
            <a:ext cx="23436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j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0" name=""/>
          <p:cNvSpPr txBox="1"/>
          <p:nvPr/>
        </p:nvSpPr>
        <p:spPr>
          <a:xfrm>
            <a:off x="3660840" y="6799320"/>
            <a:ext cx="93960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850" b="0" u="none" strike="noStrike">
                <a:solidFill>
                  <a:srgbClr val="1F2328"/>
                </a:solidFill>
                <a:effectLst/>
                <a:uFillTx/>
                <a:latin typeface="NSimSun"/>
                <a:ea typeface="NSimSun"/>
              </a:rPr>
              <a:t>事件循环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1" name=""/>
          <p:cNvSpPr txBox="1"/>
          <p:nvPr/>
        </p:nvSpPr>
        <p:spPr>
          <a:xfrm>
            <a:off x="5374440" y="6826320"/>
            <a:ext cx="2588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it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2" name=""/>
          <p:cNvSpPr txBox="1"/>
          <p:nvPr/>
        </p:nvSpPr>
        <p:spPr>
          <a:xfrm>
            <a:off x="6407280" y="6826320"/>
            <a:ext cx="2588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db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3" name=""/>
          <p:cNvSpPr txBox="1"/>
          <p:nvPr/>
        </p:nvSpPr>
        <p:spPr>
          <a:xfrm>
            <a:off x="7052760" y="6826320"/>
            <a:ext cx="6458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d t O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4" name=""/>
          <p:cNvSpPr txBox="1"/>
          <p:nvPr/>
        </p:nvSpPr>
        <p:spPr>
          <a:xfrm>
            <a:off x="7956360" y="6826320"/>
            <a:ext cx="2588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()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5" name=""/>
          <p:cNvSpPr txBox="1"/>
          <p:nvPr/>
        </p:nvSpPr>
        <p:spPr>
          <a:xfrm>
            <a:off x="11659680" y="6335280"/>
            <a:ext cx="24732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SegoeUI"/>
                <a:ea typeface="SegoeUI"/>
              </a:rPr>
              <a:t>17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9" name=""/>
          <p:cNvSpPr/>
          <p:nvPr/>
        </p:nvSpPr>
        <p:spPr>
          <a:xfrm>
            <a:off x="1309680" y="3500280"/>
            <a:ext cx="10134720" cy="1667160"/>
          </a:xfrm>
          <a:custGeom>
            <a:avLst/>
            <a:gdLst/>
            <a:ahLst/>
            <a:rect l="0" t="0" r="r" b="b"/>
            <a:pathLst>
              <a:path w="28152" h="4631">
                <a:moveTo>
                  <a:pt x="0" y="4486"/>
                </a:moveTo>
                <a:lnTo>
                  <a:pt x="0" y="145"/>
                </a:lnTo>
                <a:cubicBezTo>
                  <a:pt x="0" y="136"/>
                  <a:pt x="0" y="126"/>
                  <a:pt x="2" y="117"/>
                </a:cubicBezTo>
                <a:cubicBezTo>
                  <a:pt x="4" y="108"/>
                  <a:pt x="7" y="99"/>
                  <a:pt x="11" y="90"/>
                </a:cubicBezTo>
                <a:cubicBezTo>
                  <a:pt x="14" y="81"/>
                  <a:pt x="19" y="73"/>
                  <a:pt x="24" y="65"/>
                </a:cubicBezTo>
                <a:cubicBezTo>
                  <a:pt x="29" y="57"/>
                  <a:pt x="35" y="49"/>
                  <a:pt x="42" y="43"/>
                </a:cubicBezTo>
                <a:cubicBezTo>
                  <a:pt x="49" y="36"/>
                  <a:pt x="56" y="30"/>
                  <a:pt x="64" y="24"/>
                </a:cubicBezTo>
                <a:cubicBezTo>
                  <a:pt x="72" y="19"/>
                  <a:pt x="81" y="15"/>
                  <a:pt x="89" y="11"/>
                </a:cubicBezTo>
                <a:cubicBezTo>
                  <a:pt x="98" y="7"/>
                  <a:pt x="107" y="5"/>
                  <a:pt x="117" y="3"/>
                </a:cubicBezTo>
                <a:cubicBezTo>
                  <a:pt x="126" y="1"/>
                  <a:pt x="135" y="0"/>
                  <a:pt x="145" y="0"/>
                </a:cubicBezTo>
                <a:lnTo>
                  <a:pt x="28007" y="0"/>
                </a:lnTo>
                <a:cubicBezTo>
                  <a:pt x="28016" y="0"/>
                  <a:pt x="28026" y="1"/>
                  <a:pt x="28035" y="3"/>
                </a:cubicBezTo>
                <a:cubicBezTo>
                  <a:pt x="28044" y="5"/>
                  <a:pt x="28054" y="7"/>
                  <a:pt x="28062" y="11"/>
                </a:cubicBezTo>
                <a:cubicBezTo>
                  <a:pt x="28071" y="15"/>
                  <a:pt x="28080" y="19"/>
                  <a:pt x="28088" y="24"/>
                </a:cubicBezTo>
                <a:cubicBezTo>
                  <a:pt x="28095" y="30"/>
                  <a:pt x="28103" y="36"/>
                  <a:pt x="28110" y="43"/>
                </a:cubicBezTo>
                <a:cubicBezTo>
                  <a:pt x="28116" y="49"/>
                  <a:pt x="28122" y="57"/>
                  <a:pt x="28128" y="65"/>
                </a:cubicBezTo>
                <a:cubicBezTo>
                  <a:pt x="28133" y="73"/>
                  <a:pt x="28137" y="81"/>
                  <a:pt x="28141" y="90"/>
                </a:cubicBezTo>
                <a:cubicBezTo>
                  <a:pt x="28145" y="99"/>
                  <a:pt x="28148" y="108"/>
                  <a:pt x="28149" y="117"/>
                </a:cubicBezTo>
                <a:cubicBezTo>
                  <a:pt x="28151" y="126"/>
                  <a:pt x="28152" y="136"/>
                  <a:pt x="28152" y="145"/>
                </a:cubicBezTo>
                <a:lnTo>
                  <a:pt x="28152" y="4486"/>
                </a:lnTo>
                <a:cubicBezTo>
                  <a:pt x="28152" y="4495"/>
                  <a:pt x="28151" y="4505"/>
                  <a:pt x="28149" y="4514"/>
                </a:cubicBezTo>
                <a:cubicBezTo>
                  <a:pt x="28148" y="4523"/>
                  <a:pt x="28145" y="4532"/>
                  <a:pt x="28141" y="4541"/>
                </a:cubicBezTo>
                <a:cubicBezTo>
                  <a:pt x="28137" y="4550"/>
                  <a:pt x="28133" y="4559"/>
                  <a:pt x="28128" y="4566"/>
                </a:cubicBezTo>
                <a:cubicBezTo>
                  <a:pt x="28122" y="4574"/>
                  <a:pt x="28116" y="4582"/>
                  <a:pt x="28110" y="4589"/>
                </a:cubicBezTo>
                <a:cubicBezTo>
                  <a:pt x="28103" y="4595"/>
                  <a:pt x="28095" y="4601"/>
                  <a:pt x="28088" y="4607"/>
                </a:cubicBezTo>
                <a:cubicBezTo>
                  <a:pt x="28080" y="4612"/>
                  <a:pt x="28071" y="4616"/>
                  <a:pt x="28062" y="4620"/>
                </a:cubicBezTo>
                <a:cubicBezTo>
                  <a:pt x="28054" y="4624"/>
                  <a:pt x="28044" y="4626"/>
                  <a:pt x="28035" y="4628"/>
                </a:cubicBezTo>
                <a:cubicBezTo>
                  <a:pt x="28026" y="4630"/>
                  <a:pt x="28016" y="4631"/>
                  <a:pt x="28007" y="4631"/>
                </a:cubicBezTo>
                <a:lnTo>
                  <a:pt x="145" y="4631"/>
                </a:lnTo>
                <a:cubicBezTo>
                  <a:pt x="135" y="4631"/>
                  <a:pt x="126" y="4630"/>
                  <a:pt x="117" y="4628"/>
                </a:cubicBezTo>
                <a:cubicBezTo>
                  <a:pt x="107" y="4626"/>
                  <a:pt x="98" y="4624"/>
                  <a:pt x="89" y="4620"/>
                </a:cubicBezTo>
                <a:cubicBezTo>
                  <a:pt x="81" y="4616"/>
                  <a:pt x="72" y="4612"/>
                  <a:pt x="64" y="4607"/>
                </a:cubicBezTo>
                <a:cubicBezTo>
                  <a:pt x="56" y="4601"/>
                  <a:pt x="49" y="4595"/>
                  <a:pt x="42" y="4589"/>
                </a:cubicBezTo>
                <a:cubicBezTo>
                  <a:pt x="35" y="4582"/>
                  <a:pt x="29" y="4574"/>
                  <a:pt x="24" y="4566"/>
                </a:cubicBezTo>
                <a:cubicBezTo>
                  <a:pt x="19" y="4559"/>
                  <a:pt x="14" y="4550"/>
                  <a:pt x="11" y="4541"/>
                </a:cubicBezTo>
                <a:cubicBezTo>
                  <a:pt x="7" y="4532"/>
                  <a:pt x="4" y="4523"/>
                  <a:pt x="2" y="4514"/>
                </a:cubicBezTo>
                <a:cubicBezTo>
                  <a:pt x="0" y="4505"/>
                  <a:pt x="0" y="4495"/>
                  <a:pt x="0" y="4486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0" name=""/>
          <p:cNvSpPr/>
          <p:nvPr/>
        </p:nvSpPr>
        <p:spPr>
          <a:xfrm>
            <a:off x="1309680" y="3500280"/>
            <a:ext cx="10134720" cy="1667160"/>
          </a:xfrm>
          <a:custGeom>
            <a:avLst/>
            <a:gdLst/>
            <a:ahLst/>
            <a:rect l="0" t="0" r="r" b="b"/>
            <a:pathLst>
              <a:path w="28152" h="4631">
                <a:moveTo>
                  <a:pt x="0" y="4486"/>
                </a:moveTo>
                <a:lnTo>
                  <a:pt x="0" y="145"/>
                </a:lnTo>
                <a:cubicBezTo>
                  <a:pt x="0" y="136"/>
                  <a:pt x="0" y="126"/>
                  <a:pt x="2" y="117"/>
                </a:cubicBezTo>
                <a:cubicBezTo>
                  <a:pt x="4" y="108"/>
                  <a:pt x="7" y="99"/>
                  <a:pt x="11" y="90"/>
                </a:cubicBezTo>
                <a:cubicBezTo>
                  <a:pt x="14" y="81"/>
                  <a:pt x="19" y="73"/>
                  <a:pt x="24" y="65"/>
                </a:cubicBezTo>
                <a:cubicBezTo>
                  <a:pt x="29" y="57"/>
                  <a:pt x="35" y="49"/>
                  <a:pt x="42" y="43"/>
                </a:cubicBezTo>
                <a:cubicBezTo>
                  <a:pt x="49" y="36"/>
                  <a:pt x="56" y="30"/>
                  <a:pt x="64" y="24"/>
                </a:cubicBezTo>
                <a:cubicBezTo>
                  <a:pt x="72" y="19"/>
                  <a:pt x="81" y="15"/>
                  <a:pt x="89" y="11"/>
                </a:cubicBezTo>
                <a:cubicBezTo>
                  <a:pt x="98" y="7"/>
                  <a:pt x="107" y="5"/>
                  <a:pt x="117" y="3"/>
                </a:cubicBezTo>
                <a:cubicBezTo>
                  <a:pt x="126" y="1"/>
                  <a:pt x="135" y="0"/>
                  <a:pt x="145" y="0"/>
                </a:cubicBezTo>
                <a:lnTo>
                  <a:pt x="28007" y="0"/>
                </a:lnTo>
                <a:cubicBezTo>
                  <a:pt x="28016" y="0"/>
                  <a:pt x="28026" y="1"/>
                  <a:pt x="28035" y="3"/>
                </a:cubicBezTo>
                <a:cubicBezTo>
                  <a:pt x="28044" y="5"/>
                  <a:pt x="28054" y="7"/>
                  <a:pt x="28062" y="11"/>
                </a:cubicBezTo>
                <a:cubicBezTo>
                  <a:pt x="28071" y="15"/>
                  <a:pt x="28080" y="19"/>
                  <a:pt x="28088" y="24"/>
                </a:cubicBezTo>
                <a:cubicBezTo>
                  <a:pt x="28095" y="30"/>
                  <a:pt x="28103" y="36"/>
                  <a:pt x="28110" y="43"/>
                </a:cubicBezTo>
                <a:cubicBezTo>
                  <a:pt x="28116" y="49"/>
                  <a:pt x="28122" y="57"/>
                  <a:pt x="28128" y="65"/>
                </a:cubicBezTo>
                <a:cubicBezTo>
                  <a:pt x="28133" y="73"/>
                  <a:pt x="28137" y="81"/>
                  <a:pt x="28141" y="90"/>
                </a:cubicBezTo>
                <a:cubicBezTo>
                  <a:pt x="28145" y="99"/>
                  <a:pt x="28148" y="108"/>
                  <a:pt x="28149" y="117"/>
                </a:cubicBezTo>
                <a:cubicBezTo>
                  <a:pt x="28151" y="126"/>
                  <a:pt x="28152" y="136"/>
                  <a:pt x="28152" y="145"/>
                </a:cubicBezTo>
                <a:lnTo>
                  <a:pt x="28152" y="4486"/>
                </a:lnTo>
                <a:cubicBezTo>
                  <a:pt x="28152" y="4495"/>
                  <a:pt x="28151" y="4505"/>
                  <a:pt x="28149" y="4514"/>
                </a:cubicBezTo>
                <a:cubicBezTo>
                  <a:pt x="28148" y="4523"/>
                  <a:pt x="28145" y="4532"/>
                  <a:pt x="28141" y="4541"/>
                </a:cubicBezTo>
                <a:cubicBezTo>
                  <a:pt x="28137" y="4550"/>
                  <a:pt x="28133" y="4559"/>
                  <a:pt x="28128" y="4566"/>
                </a:cubicBezTo>
                <a:cubicBezTo>
                  <a:pt x="28122" y="4574"/>
                  <a:pt x="28116" y="4582"/>
                  <a:pt x="28110" y="4589"/>
                </a:cubicBezTo>
                <a:cubicBezTo>
                  <a:pt x="28103" y="4595"/>
                  <a:pt x="28095" y="4601"/>
                  <a:pt x="28088" y="4607"/>
                </a:cubicBezTo>
                <a:cubicBezTo>
                  <a:pt x="28080" y="4612"/>
                  <a:pt x="28071" y="4616"/>
                  <a:pt x="28062" y="4620"/>
                </a:cubicBezTo>
                <a:cubicBezTo>
                  <a:pt x="28054" y="4624"/>
                  <a:pt x="28044" y="4626"/>
                  <a:pt x="28035" y="4628"/>
                </a:cubicBezTo>
                <a:cubicBezTo>
                  <a:pt x="28026" y="4630"/>
                  <a:pt x="28016" y="4631"/>
                  <a:pt x="28007" y="4631"/>
                </a:cubicBezTo>
                <a:lnTo>
                  <a:pt x="145" y="4631"/>
                </a:lnTo>
                <a:cubicBezTo>
                  <a:pt x="135" y="4631"/>
                  <a:pt x="126" y="4630"/>
                  <a:pt x="117" y="4628"/>
                </a:cubicBezTo>
                <a:cubicBezTo>
                  <a:pt x="107" y="4626"/>
                  <a:pt x="98" y="4624"/>
                  <a:pt x="89" y="4620"/>
                </a:cubicBezTo>
                <a:cubicBezTo>
                  <a:pt x="81" y="4616"/>
                  <a:pt x="72" y="4612"/>
                  <a:pt x="64" y="4607"/>
                </a:cubicBezTo>
                <a:cubicBezTo>
                  <a:pt x="56" y="4601"/>
                  <a:pt x="49" y="4595"/>
                  <a:pt x="42" y="4589"/>
                </a:cubicBezTo>
                <a:cubicBezTo>
                  <a:pt x="35" y="4582"/>
                  <a:pt x="29" y="4574"/>
                  <a:pt x="24" y="4566"/>
                </a:cubicBezTo>
                <a:cubicBezTo>
                  <a:pt x="19" y="4559"/>
                  <a:pt x="14" y="4550"/>
                  <a:pt x="11" y="4541"/>
                </a:cubicBezTo>
                <a:cubicBezTo>
                  <a:pt x="7" y="4532"/>
                  <a:pt x="4" y="4523"/>
                  <a:pt x="2" y="4514"/>
                </a:cubicBezTo>
                <a:cubicBezTo>
                  <a:pt x="0" y="4505"/>
                  <a:pt x="0" y="4495"/>
                  <a:pt x="0" y="4486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1" name=""/>
          <p:cNvSpPr txBox="1"/>
          <p:nvPr/>
        </p:nvSpPr>
        <p:spPr>
          <a:xfrm>
            <a:off x="747720" y="123120"/>
            <a:ext cx="870480" cy="58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480" b="1" u="none" strike="noStrike">
                <a:solidFill>
                  <a:srgbClr val="224466"/>
                </a:solidFill>
                <a:effectLst/>
                <a:uFillTx/>
                <a:latin typeface="SegoeUI"/>
                <a:ea typeface="SegoeUI"/>
              </a:rPr>
              <a:t>8.7. </a:t>
            </a:r>
            <a:endParaRPr lang="en-US" sz="34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2" name=""/>
          <p:cNvSpPr txBox="1"/>
          <p:nvPr/>
        </p:nvSpPr>
        <p:spPr>
          <a:xfrm>
            <a:off x="1564560" y="158040"/>
            <a:ext cx="3978360" cy="53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3480" b="0" u="none" strike="noStrike">
                <a:solidFill>
                  <a:srgbClr val="224466"/>
                </a:solidFill>
                <a:effectLst/>
                <a:uFillTx/>
                <a:latin typeface="NotoSansSC"/>
                <a:ea typeface="NotoSansSC"/>
              </a:rPr>
              <a:t>故障降级与恢复策略</a:t>
            </a:r>
            <a:endParaRPr lang="en-US" sz="34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3" name=""/>
          <p:cNvSpPr/>
          <p:nvPr/>
        </p:nvSpPr>
        <p:spPr>
          <a:xfrm>
            <a:off x="5730120" y="199800"/>
            <a:ext cx="400320" cy="358560"/>
          </a:xfrm>
          <a:custGeom>
            <a:avLst/>
            <a:gdLst/>
            <a:ahLst/>
            <a:rect l="0" t="0" r="r" b="b"/>
            <a:pathLst>
              <a:path w="1112" h="996">
                <a:moveTo>
                  <a:pt x="1112" y="996"/>
                </a:moveTo>
                <a:lnTo>
                  <a:pt x="1011" y="93"/>
                </a:lnTo>
                <a:cubicBezTo>
                  <a:pt x="1005" y="40"/>
                  <a:pt x="961" y="0"/>
                  <a:pt x="908" y="0"/>
                </a:cubicBezTo>
                <a:lnTo>
                  <a:pt x="197" y="0"/>
                </a:lnTo>
                <a:cubicBezTo>
                  <a:pt x="142" y="0"/>
                  <a:pt x="98" y="40"/>
                  <a:pt x="92" y="94"/>
                </a:cubicBezTo>
                <a:lnTo>
                  <a:pt x="0" y="996"/>
                </a:lnTo>
                <a:lnTo>
                  <a:pt x="1112" y="996"/>
                </a:lnTo>
                <a:close/>
              </a:path>
            </a:pathLst>
          </a:custGeom>
          <a:solidFill>
            <a:srgbClr val="DD2E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74" name=""/>
          <p:cNvSpPr/>
          <p:nvPr/>
        </p:nvSpPr>
        <p:spPr>
          <a:xfrm>
            <a:off x="5813640" y="257400"/>
            <a:ext cx="233280" cy="233280"/>
          </a:xfrm>
          <a:custGeom>
            <a:avLst/>
            <a:gdLst/>
            <a:ahLst/>
            <a:rect l="0" t="0" r="r" b="b"/>
            <a:pathLst>
              <a:path w="648" h="648">
                <a:moveTo>
                  <a:pt x="648" y="325"/>
                </a:moveTo>
                <a:cubicBezTo>
                  <a:pt x="648" y="346"/>
                  <a:pt x="646" y="367"/>
                  <a:pt x="642" y="388"/>
                </a:cubicBezTo>
                <a:cubicBezTo>
                  <a:pt x="637" y="409"/>
                  <a:pt x="631" y="429"/>
                  <a:pt x="623" y="449"/>
                </a:cubicBezTo>
                <a:cubicBezTo>
                  <a:pt x="615" y="468"/>
                  <a:pt x="605" y="487"/>
                  <a:pt x="593" y="504"/>
                </a:cubicBezTo>
                <a:cubicBezTo>
                  <a:pt x="581" y="522"/>
                  <a:pt x="568" y="538"/>
                  <a:pt x="553" y="553"/>
                </a:cubicBezTo>
                <a:cubicBezTo>
                  <a:pt x="538" y="569"/>
                  <a:pt x="522" y="582"/>
                  <a:pt x="504" y="594"/>
                </a:cubicBezTo>
                <a:cubicBezTo>
                  <a:pt x="486" y="606"/>
                  <a:pt x="468" y="615"/>
                  <a:pt x="448" y="624"/>
                </a:cubicBezTo>
                <a:cubicBezTo>
                  <a:pt x="428" y="632"/>
                  <a:pt x="408" y="638"/>
                  <a:pt x="387" y="642"/>
                </a:cubicBezTo>
                <a:cubicBezTo>
                  <a:pt x="366" y="646"/>
                  <a:pt x="344" y="648"/>
                  <a:pt x="323" y="648"/>
                </a:cubicBezTo>
                <a:cubicBezTo>
                  <a:pt x="302" y="648"/>
                  <a:pt x="281" y="646"/>
                  <a:pt x="260" y="642"/>
                </a:cubicBezTo>
                <a:cubicBezTo>
                  <a:pt x="239" y="638"/>
                  <a:pt x="219" y="632"/>
                  <a:pt x="199" y="624"/>
                </a:cubicBezTo>
                <a:cubicBezTo>
                  <a:pt x="180" y="615"/>
                  <a:pt x="161" y="606"/>
                  <a:pt x="143" y="594"/>
                </a:cubicBezTo>
                <a:cubicBezTo>
                  <a:pt x="126" y="582"/>
                  <a:pt x="109" y="569"/>
                  <a:pt x="94" y="553"/>
                </a:cubicBezTo>
                <a:cubicBezTo>
                  <a:pt x="79" y="538"/>
                  <a:pt x="66" y="522"/>
                  <a:pt x="54" y="504"/>
                </a:cubicBezTo>
                <a:cubicBezTo>
                  <a:pt x="42" y="487"/>
                  <a:pt x="32" y="468"/>
                  <a:pt x="24" y="449"/>
                </a:cubicBezTo>
                <a:cubicBezTo>
                  <a:pt x="16" y="429"/>
                  <a:pt x="10" y="409"/>
                  <a:pt x="6" y="388"/>
                </a:cubicBezTo>
                <a:cubicBezTo>
                  <a:pt x="2" y="367"/>
                  <a:pt x="0" y="346"/>
                  <a:pt x="0" y="325"/>
                </a:cubicBezTo>
                <a:cubicBezTo>
                  <a:pt x="0" y="303"/>
                  <a:pt x="2" y="282"/>
                  <a:pt x="6" y="262"/>
                </a:cubicBezTo>
                <a:cubicBezTo>
                  <a:pt x="10" y="240"/>
                  <a:pt x="16" y="220"/>
                  <a:pt x="24" y="200"/>
                </a:cubicBezTo>
                <a:cubicBezTo>
                  <a:pt x="32" y="180"/>
                  <a:pt x="42" y="162"/>
                  <a:pt x="54" y="144"/>
                </a:cubicBezTo>
                <a:cubicBezTo>
                  <a:pt x="66" y="126"/>
                  <a:pt x="79" y="110"/>
                  <a:pt x="94" y="95"/>
                </a:cubicBezTo>
                <a:cubicBezTo>
                  <a:pt x="109" y="80"/>
                  <a:pt x="126" y="67"/>
                  <a:pt x="143" y="55"/>
                </a:cubicBezTo>
                <a:cubicBezTo>
                  <a:pt x="161" y="43"/>
                  <a:pt x="180" y="33"/>
                  <a:pt x="199" y="25"/>
                </a:cubicBezTo>
                <a:cubicBezTo>
                  <a:pt x="219" y="17"/>
                  <a:pt x="239" y="11"/>
                  <a:pt x="260" y="6"/>
                </a:cubicBezTo>
                <a:cubicBezTo>
                  <a:pt x="281" y="2"/>
                  <a:pt x="302" y="0"/>
                  <a:pt x="323" y="0"/>
                </a:cubicBezTo>
                <a:cubicBezTo>
                  <a:pt x="344" y="0"/>
                  <a:pt x="366" y="2"/>
                  <a:pt x="387" y="6"/>
                </a:cubicBezTo>
                <a:cubicBezTo>
                  <a:pt x="408" y="11"/>
                  <a:pt x="428" y="17"/>
                  <a:pt x="448" y="25"/>
                </a:cubicBezTo>
                <a:cubicBezTo>
                  <a:pt x="468" y="33"/>
                  <a:pt x="486" y="43"/>
                  <a:pt x="504" y="55"/>
                </a:cubicBezTo>
                <a:cubicBezTo>
                  <a:pt x="522" y="67"/>
                  <a:pt x="538" y="80"/>
                  <a:pt x="553" y="95"/>
                </a:cubicBezTo>
                <a:cubicBezTo>
                  <a:pt x="568" y="110"/>
                  <a:pt x="581" y="126"/>
                  <a:pt x="593" y="144"/>
                </a:cubicBezTo>
                <a:cubicBezTo>
                  <a:pt x="605" y="162"/>
                  <a:pt x="615" y="180"/>
                  <a:pt x="623" y="200"/>
                </a:cubicBezTo>
                <a:cubicBezTo>
                  <a:pt x="631" y="220"/>
                  <a:pt x="637" y="240"/>
                  <a:pt x="642" y="262"/>
                </a:cubicBezTo>
                <a:cubicBezTo>
                  <a:pt x="646" y="282"/>
                  <a:pt x="648" y="303"/>
                  <a:pt x="648" y="325"/>
                </a:cubicBezTo>
                <a:close/>
              </a:path>
            </a:pathLst>
          </a:custGeom>
          <a:solidFill>
            <a:srgbClr val="BE193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75" name=""/>
          <p:cNvSpPr/>
          <p:nvPr/>
        </p:nvSpPr>
        <p:spPr>
          <a:xfrm>
            <a:off x="5705280" y="562680"/>
            <a:ext cx="448200" cy="85320"/>
          </a:xfrm>
          <a:custGeom>
            <a:avLst/>
            <a:gdLst/>
            <a:ahLst/>
            <a:rect l="0" t="0" r="r" b="b"/>
            <a:pathLst>
              <a:path w="1245" h="237">
                <a:moveTo>
                  <a:pt x="1228" y="0"/>
                </a:moveTo>
                <a:lnTo>
                  <a:pt x="17" y="0"/>
                </a:lnTo>
                <a:lnTo>
                  <a:pt x="0" y="167"/>
                </a:lnTo>
                <a:cubicBezTo>
                  <a:pt x="0" y="237"/>
                  <a:pt x="69" y="237"/>
                  <a:pt x="69" y="237"/>
                </a:cubicBezTo>
                <a:lnTo>
                  <a:pt x="1176" y="237"/>
                </a:lnTo>
                <a:cubicBezTo>
                  <a:pt x="1176" y="237"/>
                  <a:pt x="1245" y="237"/>
                  <a:pt x="1245" y="167"/>
                </a:cubicBezTo>
                <a:lnTo>
                  <a:pt x="1228" y="0"/>
                </a:lnTo>
                <a:close/>
              </a:path>
            </a:pathLst>
          </a:custGeom>
          <a:solidFill>
            <a:srgbClr val="99AAB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6" name=""/>
          <p:cNvSpPr/>
          <p:nvPr/>
        </p:nvSpPr>
        <p:spPr>
          <a:xfrm>
            <a:off x="5710320" y="547920"/>
            <a:ext cx="438120" cy="24120"/>
          </a:xfrm>
          <a:custGeom>
            <a:avLst/>
            <a:gdLst/>
            <a:ahLst/>
            <a:rect l="0" t="0" r="r" b="b"/>
            <a:pathLst>
              <a:path w="1217" h="67">
                <a:moveTo>
                  <a:pt x="1217" y="67"/>
                </a:moveTo>
                <a:lnTo>
                  <a:pt x="1214" y="42"/>
                </a:lnTo>
                <a:cubicBezTo>
                  <a:pt x="1209" y="16"/>
                  <a:pt x="1187" y="0"/>
                  <a:pt x="1161" y="0"/>
                </a:cubicBezTo>
                <a:lnTo>
                  <a:pt x="55" y="0"/>
                </a:lnTo>
                <a:cubicBezTo>
                  <a:pt x="29" y="0"/>
                  <a:pt x="7" y="16"/>
                  <a:pt x="3" y="42"/>
                </a:cubicBezTo>
                <a:lnTo>
                  <a:pt x="0" y="67"/>
                </a:lnTo>
                <a:lnTo>
                  <a:pt x="1217" y="67"/>
                </a:lnTo>
                <a:close/>
              </a:path>
            </a:pathLst>
          </a:custGeom>
          <a:solidFill>
            <a:srgbClr val="CCD6D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7" name=""/>
          <p:cNvSpPr/>
          <p:nvPr/>
        </p:nvSpPr>
        <p:spPr>
          <a:xfrm>
            <a:off x="5781960" y="226080"/>
            <a:ext cx="296280" cy="296280"/>
          </a:xfrm>
          <a:custGeom>
            <a:avLst/>
            <a:gdLst/>
            <a:ahLst/>
            <a:rect l="0" t="0" r="r" b="b"/>
            <a:pathLst>
              <a:path w="823" h="823">
                <a:moveTo>
                  <a:pt x="812" y="398"/>
                </a:moveTo>
                <a:lnTo>
                  <a:pt x="546" y="355"/>
                </a:lnTo>
                <a:lnTo>
                  <a:pt x="703" y="137"/>
                </a:lnTo>
                <a:cubicBezTo>
                  <a:pt x="707" y="132"/>
                  <a:pt x="706" y="125"/>
                  <a:pt x="702" y="120"/>
                </a:cubicBezTo>
                <a:cubicBezTo>
                  <a:pt x="697" y="116"/>
                  <a:pt x="690" y="115"/>
                  <a:pt x="685" y="119"/>
                </a:cubicBezTo>
                <a:lnTo>
                  <a:pt x="467" y="276"/>
                </a:lnTo>
                <a:lnTo>
                  <a:pt x="424" y="11"/>
                </a:lnTo>
                <a:cubicBezTo>
                  <a:pt x="423" y="5"/>
                  <a:pt x="418" y="0"/>
                  <a:pt x="411" y="0"/>
                </a:cubicBezTo>
                <a:cubicBezTo>
                  <a:pt x="405" y="0"/>
                  <a:pt x="399" y="5"/>
                  <a:pt x="398" y="11"/>
                </a:cubicBezTo>
                <a:lnTo>
                  <a:pt x="355" y="276"/>
                </a:lnTo>
                <a:lnTo>
                  <a:pt x="137" y="119"/>
                </a:lnTo>
                <a:cubicBezTo>
                  <a:pt x="132" y="115"/>
                  <a:pt x="125" y="116"/>
                  <a:pt x="121" y="120"/>
                </a:cubicBezTo>
                <a:cubicBezTo>
                  <a:pt x="116" y="125"/>
                  <a:pt x="116" y="132"/>
                  <a:pt x="119" y="137"/>
                </a:cubicBezTo>
                <a:lnTo>
                  <a:pt x="276" y="355"/>
                </a:lnTo>
                <a:lnTo>
                  <a:pt x="11" y="398"/>
                </a:lnTo>
                <a:cubicBezTo>
                  <a:pt x="5" y="399"/>
                  <a:pt x="0" y="404"/>
                  <a:pt x="0" y="411"/>
                </a:cubicBezTo>
                <a:cubicBezTo>
                  <a:pt x="0" y="417"/>
                  <a:pt x="5" y="423"/>
                  <a:pt x="11" y="424"/>
                </a:cubicBezTo>
                <a:lnTo>
                  <a:pt x="276" y="467"/>
                </a:lnTo>
                <a:lnTo>
                  <a:pt x="119" y="686"/>
                </a:lnTo>
                <a:cubicBezTo>
                  <a:pt x="116" y="691"/>
                  <a:pt x="116" y="698"/>
                  <a:pt x="121" y="702"/>
                </a:cubicBezTo>
                <a:cubicBezTo>
                  <a:pt x="125" y="707"/>
                  <a:pt x="132" y="707"/>
                  <a:pt x="137" y="704"/>
                </a:cubicBezTo>
                <a:lnTo>
                  <a:pt x="355" y="546"/>
                </a:lnTo>
                <a:lnTo>
                  <a:pt x="398" y="812"/>
                </a:lnTo>
                <a:cubicBezTo>
                  <a:pt x="399" y="818"/>
                  <a:pt x="405" y="823"/>
                  <a:pt x="411" y="823"/>
                </a:cubicBezTo>
                <a:cubicBezTo>
                  <a:pt x="418" y="823"/>
                  <a:pt x="423" y="818"/>
                  <a:pt x="424" y="812"/>
                </a:cubicBezTo>
                <a:lnTo>
                  <a:pt x="467" y="546"/>
                </a:lnTo>
                <a:lnTo>
                  <a:pt x="685" y="704"/>
                </a:lnTo>
                <a:cubicBezTo>
                  <a:pt x="690" y="707"/>
                  <a:pt x="697" y="707"/>
                  <a:pt x="702" y="702"/>
                </a:cubicBezTo>
                <a:cubicBezTo>
                  <a:pt x="706" y="698"/>
                  <a:pt x="707" y="691"/>
                  <a:pt x="703" y="686"/>
                </a:cubicBezTo>
                <a:lnTo>
                  <a:pt x="546" y="467"/>
                </a:lnTo>
                <a:lnTo>
                  <a:pt x="812" y="424"/>
                </a:lnTo>
                <a:cubicBezTo>
                  <a:pt x="818" y="423"/>
                  <a:pt x="823" y="417"/>
                  <a:pt x="823" y="411"/>
                </a:cubicBezTo>
                <a:cubicBezTo>
                  <a:pt x="823" y="404"/>
                  <a:pt x="818" y="399"/>
                  <a:pt x="812" y="398"/>
                </a:cubicBezTo>
                <a:close/>
              </a:path>
            </a:pathLst>
          </a:custGeom>
          <a:solidFill>
            <a:srgbClr val="EC9DA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8" name=""/>
          <p:cNvSpPr txBox="1"/>
          <p:nvPr/>
        </p:nvSpPr>
        <p:spPr>
          <a:xfrm>
            <a:off x="5542200" y="123120"/>
            <a:ext cx="441720" cy="58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480" b="1" u="none" strike="noStrike">
                <a:solidFill>
                  <a:srgbClr val="224466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34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9" name=""/>
          <p:cNvSpPr txBox="1"/>
          <p:nvPr/>
        </p:nvSpPr>
        <p:spPr>
          <a:xfrm>
            <a:off x="747720" y="1019160"/>
            <a:ext cx="16556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三级故障应对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0" name=""/>
          <p:cNvSpPr txBox="1"/>
          <p:nvPr/>
        </p:nvSpPr>
        <p:spPr>
          <a:xfrm>
            <a:off x="747720" y="1581120"/>
            <a:ext cx="5522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级别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1" name=""/>
          <p:cNvSpPr txBox="1"/>
          <p:nvPr/>
        </p:nvSpPr>
        <p:spPr>
          <a:xfrm>
            <a:off x="1300320" y="1559160"/>
            <a:ext cx="27576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1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2" name=""/>
          <p:cNvSpPr/>
          <p:nvPr/>
        </p:nvSpPr>
        <p:spPr>
          <a:xfrm>
            <a:off x="1047600" y="2285640"/>
            <a:ext cx="95400" cy="95760"/>
          </a:xfrm>
          <a:custGeom>
            <a:avLst/>
            <a:gdLst/>
            <a:ahLst/>
            <a:rect l="0" t="0" r="r" b="b"/>
            <a:pathLst>
              <a:path w="265" h="266">
                <a:moveTo>
                  <a:pt x="265" y="134"/>
                </a:moveTo>
                <a:cubicBezTo>
                  <a:pt x="265" y="151"/>
                  <a:pt x="262" y="168"/>
                  <a:pt x="255" y="184"/>
                </a:cubicBezTo>
                <a:cubicBezTo>
                  <a:pt x="249" y="201"/>
                  <a:pt x="239" y="215"/>
                  <a:pt x="227" y="227"/>
                </a:cubicBezTo>
                <a:cubicBezTo>
                  <a:pt x="214" y="240"/>
                  <a:pt x="200" y="249"/>
                  <a:pt x="184" y="256"/>
                </a:cubicBezTo>
                <a:cubicBezTo>
                  <a:pt x="168" y="263"/>
                  <a:pt x="151" y="266"/>
                  <a:pt x="133" y="266"/>
                </a:cubicBezTo>
                <a:cubicBezTo>
                  <a:pt x="115" y="266"/>
                  <a:pt x="98" y="263"/>
                  <a:pt x="82" y="256"/>
                </a:cubicBezTo>
                <a:cubicBezTo>
                  <a:pt x="65" y="249"/>
                  <a:pt x="51" y="240"/>
                  <a:pt x="39" y="227"/>
                </a:cubicBezTo>
                <a:cubicBezTo>
                  <a:pt x="26" y="215"/>
                  <a:pt x="17" y="201"/>
                  <a:pt x="10" y="184"/>
                </a:cubicBezTo>
                <a:cubicBezTo>
                  <a:pt x="3" y="168"/>
                  <a:pt x="0" y="151"/>
                  <a:pt x="0" y="134"/>
                </a:cubicBezTo>
                <a:cubicBezTo>
                  <a:pt x="0" y="115"/>
                  <a:pt x="3" y="98"/>
                  <a:pt x="10" y="82"/>
                </a:cubicBezTo>
                <a:cubicBezTo>
                  <a:pt x="17" y="66"/>
                  <a:pt x="26" y="52"/>
                  <a:pt x="39" y="39"/>
                </a:cubicBezTo>
                <a:cubicBezTo>
                  <a:pt x="51" y="27"/>
                  <a:pt x="65" y="17"/>
                  <a:pt x="82" y="11"/>
                </a:cubicBezTo>
                <a:cubicBezTo>
                  <a:pt x="98" y="4"/>
                  <a:pt x="115" y="0"/>
                  <a:pt x="133" y="0"/>
                </a:cubicBezTo>
                <a:cubicBezTo>
                  <a:pt x="151" y="0"/>
                  <a:pt x="168" y="4"/>
                  <a:pt x="184" y="11"/>
                </a:cubicBezTo>
                <a:cubicBezTo>
                  <a:pt x="200" y="17"/>
                  <a:pt x="214" y="27"/>
                  <a:pt x="227" y="39"/>
                </a:cubicBezTo>
                <a:cubicBezTo>
                  <a:pt x="239" y="52"/>
                  <a:pt x="249" y="66"/>
                  <a:pt x="255" y="82"/>
                </a:cubicBezTo>
                <a:cubicBezTo>
                  <a:pt x="262" y="98"/>
                  <a:pt x="265" y="115"/>
                  <a:pt x="265" y="134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83" name=""/>
          <p:cNvSpPr txBox="1"/>
          <p:nvPr/>
        </p:nvSpPr>
        <p:spPr>
          <a:xfrm>
            <a:off x="1411200" y="1581120"/>
            <a:ext cx="35866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：轻微故障（响应时间升⾼）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4" name=""/>
          <p:cNvSpPr txBox="1"/>
          <p:nvPr/>
        </p:nvSpPr>
        <p:spPr>
          <a:xfrm>
            <a:off x="1300320" y="2152800"/>
            <a:ext cx="82836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症状：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5" name=""/>
          <p:cNvSpPr txBox="1"/>
          <p:nvPr/>
        </p:nvSpPr>
        <p:spPr>
          <a:xfrm>
            <a:off x="2128680" y="2130840"/>
            <a:ext cx="174168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P99 &gt; 1000ms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6" name=""/>
          <p:cNvSpPr/>
          <p:nvPr/>
        </p:nvSpPr>
        <p:spPr>
          <a:xfrm>
            <a:off x="1047600" y="2771640"/>
            <a:ext cx="95400" cy="95400"/>
          </a:xfrm>
          <a:custGeom>
            <a:avLst/>
            <a:gdLst/>
            <a:ahLst/>
            <a:rect l="0" t="0" r="r" b="b"/>
            <a:pathLst>
              <a:path w="265" h="265">
                <a:moveTo>
                  <a:pt x="265" y="133"/>
                </a:moveTo>
                <a:cubicBezTo>
                  <a:pt x="265" y="151"/>
                  <a:pt x="262" y="168"/>
                  <a:pt x="255" y="184"/>
                </a:cubicBezTo>
                <a:cubicBezTo>
                  <a:pt x="249" y="200"/>
                  <a:pt x="239" y="214"/>
                  <a:pt x="227" y="227"/>
                </a:cubicBezTo>
                <a:cubicBezTo>
                  <a:pt x="214" y="239"/>
                  <a:pt x="200" y="249"/>
                  <a:pt x="184" y="255"/>
                </a:cubicBezTo>
                <a:cubicBezTo>
                  <a:pt x="168" y="262"/>
                  <a:pt x="151" y="265"/>
                  <a:pt x="133" y="265"/>
                </a:cubicBezTo>
                <a:cubicBezTo>
                  <a:pt x="115" y="265"/>
                  <a:pt x="98" y="262"/>
                  <a:pt x="82" y="255"/>
                </a:cubicBezTo>
                <a:cubicBezTo>
                  <a:pt x="65" y="249"/>
                  <a:pt x="51" y="239"/>
                  <a:pt x="39" y="227"/>
                </a:cubicBezTo>
                <a:cubicBezTo>
                  <a:pt x="26" y="214"/>
                  <a:pt x="17" y="200"/>
                  <a:pt x="10" y="184"/>
                </a:cubicBezTo>
                <a:cubicBezTo>
                  <a:pt x="3" y="168"/>
                  <a:pt x="0" y="151"/>
                  <a:pt x="0" y="133"/>
                </a:cubicBezTo>
                <a:cubicBezTo>
                  <a:pt x="0" y="116"/>
                  <a:pt x="3" y="99"/>
                  <a:pt x="10" y="82"/>
                </a:cubicBezTo>
                <a:cubicBezTo>
                  <a:pt x="17" y="65"/>
                  <a:pt x="26" y="51"/>
                  <a:pt x="39" y="39"/>
                </a:cubicBezTo>
                <a:cubicBezTo>
                  <a:pt x="51" y="26"/>
                  <a:pt x="65" y="17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1" y="0"/>
                  <a:pt x="168" y="3"/>
                  <a:pt x="184" y="10"/>
                </a:cubicBezTo>
                <a:cubicBezTo>
                  <a:pt x="200" y="17"/>
                  <a:pt x="214" y="26"/>
                  <a:pt x="227" y="39"/>
                </a:cubicBezTo>
                <a:cubicBezTo>
                  <a:pt x="239" y="51"/>
                  <a:pt x="249" y="65"/>
                  <a:pt x="255" y="82"/>
                </a:cubicBezTo>
                <a:cubicBezTo>
                  <a:pt x="262" y="99"/>
                  <a:pt x="265" y="116"/>
                  <a:pt x="265" y="133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87" name=""/>
          <p:cNvSpPr txBox="1"/>
          <p:nvPr/>
        </p:nvSpPr>
        <p:spPr>
          <a:xfrm>
            <a:off x="3872520" y="2152800"/>
            <a:ext cx="13798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，但⽆错误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8" name=""/>
          <p:cNvSpPr txBox="1"/>
          <p:nvPr/>
        </p:nvSpPr>
        <p:spPr>
          <a:xfrm>
            <a:off x="1300320" y="2638440"/>
            <a:ext cx="24832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触发条件：流量突增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9" name=""/>
          <p:cNvSpPr txBox="1"/>
          <p:nvPr/>
        </p:nvSpPr>
        <p:spPr>
          <a:xfrm>
            <a:off x="3786120" y="2616480"/>
            <a:ext cx="27576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5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0" name=""/>
          <p:cNvSpPr/>
          <p:nvPr/>
        </p:nvSpPr>
        <p:spPr>
          <a:xfrm>
            <a:off x="1047600" y="3247920"/>
            <a:ext cx="95400" cy="95400"/>
          </a:xfrm>
          <a:custGeom>
            <a:avLst/>
            <a:gdLst/>
            <a:ahLst/>
            <a:rect l="0" t="0" r="r" b="b"/>
            <a:pathLst>
              <a:path w="265" h="265">
                <a:moveTo>
                  <a:pt x="265" y="133"/>
                </a:moveTo>
                <a:cubicBezTo>
                  <a:pt x="265" y="151"/>
                  <a:pt x="262" y="167"/>
                  <a:pt x="255" y="184"/>
                </a:cubicBezTo>
                <a:cubicBezTo>
                  <a:pt x="249" y="200"/>
                  <a:pt x="239" y="214"/>
                  <a:pt x="227" y="227"/>
                </a:cubicBezTo>
                <a:cubicBezTo>
                  <a:pt x="214" y="239"/>
                  <a:pt x="200" y="249"/>
                  <a:pt x="184" y="255"/>
                </a:cubicBezTo>
                <a:cubicBezTo>
                  <a:pt x="168" y="262"/>
                  <a:pt x="151" y="265"/>
                  <a:pt x="133" y="265"/>
                </a:cubicBezTo>
                <a:cubicBezTo>
                  <a:pt x="115" y="265"/>
                  <a:pt x="98" y="262"/>
                  <a:pt x="82" y="255"/>
                </a:cubicBezTo>
                <a:cubicBezTo>
                  <a:pt x="65" y="249"/>
                  <a:pt x="51" y="239"/>
                  <a:pt x="39" y="227"/>
                </a:cubicBezTo>
                <a:cubicBezTo>
                  <a:pt x="26" y="214"/>
                  <a:pt x="17" y="200"/>
                  <a:pt x="10" y="184"/>
                </a:cubicBezTo>
                <a:cubicBezTo>
                  <a:pt x="3" y="167"/>
                  <a:pt x="0" y="151"/>
                  <a:pt x="0" y="133"/>
                </a:cubicBezTo>
                <a:cubicBezTo>
                  <a:pt x="0" y="116"/>
                  <a:pt x="3" y="99"/>
                  <a:pt x="10" y="81"/>
                </a:cubicBezTo>
                <a:cubicBezTo>
                  <a:pt x="17" y="65"/>
                  <a:pt x="26" y="51"/>
                  <a:pt x="39" y="39"/>
                </a:cubicBezTo>
                <a:cubicBezTo>
                  <a:pt x="51" y="26"/>
                  <a:pt x="65" y="17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1" y="0"/>
                  <a:pt x="168" y="3"/>
                  <a:pt x="184" y="10"/>
                </a:cubicBezTo>
                <a:cubicBezTo>
                  <a:pt x="200" y="17"/>
                  <a:pt x="214" y="26"/>
                  <a:pt x="227" y="39"/>
                </a:cubicBezTo>
                <a:cubicBezTo>
                  <a:pt x="239" y="51"/>
                  <a:pt x="249" y="65"/>
                  <a:pt x="255" y="81"/>
                </a:cubicBezTo>
                <a:cubicBezTo>
                  <a:pt x="262" y="99"/>
                  <a:pt x="265" y="116"/>
                  <a:pt x="265" y="133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91" name=""/>
          <p:cNvSpPr txBox="1"/>
          <p:nvPr/>
        </p:nvSpPr>
        <p:spPr>
          <a:xfrm>
            <a:off x="4010760" y="2638440"/>
            <a:ext cx="82836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倍以上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2" name=""/>
          <p:cNvSpPr txBox="1"/>
          <p:nvPr/>
        </p:nvSpPr>
        <p:spPr>
          <a:xfrm>
            <a:off x="1300320" y="3114720"/>
            <a:ext cx="413856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应对：启⽤缓存，降低数据库压⼒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3" name=""/>
          <p:cNvSpPr txBox="1"/>
          <p:nvPr/>
        </p:nvSpPr>
        <p:spPr>
          <a:xfrm>
            <a:off x="1467000" y="3692520"/>
            <a:ext cx="38772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59636E"/>
                </a:solidFill>
                <a:effectLst/>
                <a:uFillTx/>
                <a:latin typeface="Consolas"/>
                <a:ea typeface="Consolas"/>
              </a:rPr>
              <a:t>// 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4" name=""/>
          <p:cNvSpPr txBox="1"/>
          <p:nvPr/>
        </p:nvSpPr>
        <p:spPr>
          <a:xfrm>
            <a:off x="1854000" y="3665520"/>
            <a:ext cx="164376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850" b="0" u="none" strike="noStrike">
                <a:solidFill>
                  <a:srgbClr val="59636E"/>
                </a:solidFill>
                <a:effectLst/>
                <a:uFillTx/>
                <a:latin typeface="NSimSun"/>
                <a:ea typeface="NSimSun"/>
              </a:rPr>
              <a:t>缓存酒店列表（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5" name=""/>
          <p:cNvSpPr txBox="1"/>
          <p:nvPr/>
        </p:nvSpPr>
        <p:spPr>
          <a:xfrm>
            <a:off x="3497760" y="3692520"/>
            <a:ext cx="23436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59636E"/>
                </a:solidFill>
                <a:effectLst/>
                <a:uFillTx/>
                <a:latin typeface="Consolas"/>
                <a:ea typeface="Consolas"/>
              </a:rPr>
              <a:t>5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6" name=""/>
          <p:cNvSpPr txBox="1"/>
          <p:nvPr/>
        </p:nvSpPr>
        <p:spPr>
          <a:xfrm>
            <a:off x="3626640" y="3665520"/>
            <a:ext cx="70488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850" b="0" u="none" strike="noStrike">
                <a:solidFill>
                  <a:srgbClr val="59636E"/>
                </a:solidFill>
                <a:effectLst/>
                <a:uFillTx/>
                <a:latin typeface="NSimSun"/>
                <a:ea typeface="NSimSun"/>
              </a:rPr>
              <a:t>分钟）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7" name=""/>
          <p:cNvSpPr txBox="1"/>
          <p:nvPr/>
        </p:nvSpPr>
        <p:spPr>
          <a:xfrm>
            <a:off x="1467000" y="3959280"/>
            <a:ext cx="59360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CF222E"/>
                </a:solidFill>
                <a:effectLst/>
                <a:uFillTx/>
                <a:latin typeface="Consolas"/>
                <a:ea typeface="Consolas"/>
              </a:rPr>
              <a:t>const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cached = </a:t>
            </a:r>
            <a:r>
              <a:rPr lang="en-US" sz="1850" b="0" u="none" strike="noStrike">
                <a:solidFill>
                  <a:srgbClr val="CF222E"/>
                </a:solidFill>
                <a:effectLst/>
                <a:uFillTx/>
                <a:latin typeface="Consolas"/>
                <a:ea typeface="Consolas"/>
              </a:rPr>
              <a:t>await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redis.</a:t>
            </a:r>
            <a:r>
              <a:rPr lang="en-US" sz="1850" b="0" u="none" strike="noStrike">
                <a:solidFill>
                  <a:srgbClr val="6639BA"/>
                </a:solidFill>
                <a:effectLst/>
                <a:uFillTx/>
                <a:latin typeface="Consolas"/>
                <a:ea typeface="Consolas"/>
              </a:rPr>
              <a:t>get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(</a:t>
            </a:r>
            <a:r>
              <a:rPr lang="en-US" sz="1850" b="0" u="none" strike="noStrike">
                <a:solidFill>
                  <a:srgbClr val="0A3069"/>
                </a:solidFill>
                <a:effectLst/>
                <a:uFillTx/>
                <a:latin typeface="Consolas"/>
                <a:ea typeface="Consolas"/>
              </a:rPr>
              <a:t>'hotels:list'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);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8" name=""/>
          <p:cNvSpPr txBox="1"/>
          <p:nvPr/>
        </p:nvSpPr>
        <p:spPr>
          <a:xfrm>
            <a:off x="1467000" y="4235760"/>
            <a:ext cx="490392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CF222E"/>
                </a:solidFill>
                <a:effectLst/>
                <a:uFillTx/>
                <a:latin typeface="Consolas"/>
                <a:ea typeface="Consolas"/>
              </a:rPr>
              <a:t>if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(cached) </a:t>
            </a:r>
            <a:r>
              <a:rPr lang="en-US" sz="1850" b="0" u="none" strike="noStrike">
                <a:solidFill>
                  <a:srgbClr val="CF222E"/>
                </a:solidFill>
                <a:effectLst/>
                <a:uFillTx/>
                <a:latin typeface="Consolas"/>
                <a:ea typeface="Consolas"/>
              </a:rPr>
              <a:t>return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</a:t>
            </a:r>
            <a:r>
              <a:rPr lang="en-US" sz="1850" b="0" u="none" strike="noStrike">
                <a:solidFill>
                  <a:srgbClr val="6639BA"/>
                </a:solidFill>
                <a:effectLst/>
                <a:uFillTx/>
                <a:latin typeface="Consolas"/>
                <a:ea typeface="Consolas"/>
              </a:rPr>
              <a:t>JSON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.</a:t>
            </a:r>
            <a:r>
              <a:rPr lang="en-US" sz="1850" b="0" u="none" strike="noStrike">
                <a:solidFill>
                  <a:srgbClr val="6639BA"/>
                </a:solidFill>
                <a:effectLst/>
                <a:uFillTx/>
                <a:latin typeface="Consolas"/>
                <a:ea typeface="Consolas"/>
              </a:rPr>
              <a:t>parse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(cached);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9" name=""/>
          <p:cNvSpPr txBox="1"/>
          <p:nvPr/>
        </p:nvSpPr>
        <p:spPr>
          <a:xfrm>
            <a:off x="1467000" y="4502160"/>
            <a:ext cx="709740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CF222E"/>
                </a:solidFill>
                <a:effectLst/>
                <a:uFillTx/>
                <a:latin typeface="Consolas"/>
                <a:ea typeface="Consolas"/>
              </a:rPr>
              <a:t>const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hotels = </a:t>
            </a:r>
            <a:r>
              <a:rPr lang="en-US" sz="1850" b="0" u="none" strike="noStrike">
                <a:solidFill>
                  <a:srgbClr val="CF222E"/>
                </a:solidFill>
                <a:effectLst/>
                <a:uFillTx/>
                <a:latin typeface="Consolas"/>
                <a:ea typeface="Consolas"/>
              </a:rPr>
              <a:t>await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</a:t>
            </a:r>
            <a:r>
              <a:rPr lang="en-US" sz="1850" b="0" u="none" strike="noStrike">
                <a:solidFill>
                  <a:srgbClr val="6639BA"/>
                </a:solidFill>
                <a:effectLst/>
                <a:uFillTx/>
                <a:latin typeface="Consolas"/>
                <a:ea typeface="Consolas"/>
              </a:rPr>
              <a:t>Hotel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.</a:t>
            </a:r>
            <a:r>
              <a:rPr lang="en-US" sz="1850" b="0" u="none" strike="noStrike">
                <a:solidFill>
                  <a:srgbClr val="6639BA"/>
                </a:solidFill>
                <a:effectLst/>
                <a:uFillTx/>
                <a:latin typeface="Consolas"/>
                <a:ea typeface="Consolas"/>
              </a:rPr>
              <a:t>find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({</a:t>
            </a:r>
            <a:r>
              <a:rPr lang="en-US" sz="185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status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: </a:t>
            </a:r>
            <a:r>
              <a:rPr lang="en-US" sz="1850" b="0" u="none" strike="noStrike">
                <a:solidFill>
                  <a:srgbClr val="0A3069"/>
                </a:solidFill>
                <a:effectLst/>
                <a:uFillTx/>
                <a:latin typeface="Consolas"/>
                <a:ea typeface="Consolas"/>
              </a:rPr>
              <a:t>'published'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});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0" name=""/>
          <p:cNvSpPr txBox="1"/>
          <p:nvPr/>
        </p:nvSpPr>
        <p:spPr>
          <a:xfrm>
            <a:off x="1467000" y="4768920"/>
            <a:ext cx="851688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CF222E"/>
                </a:solidFill>
                <a:effectLst/>
                <a:uFillTx/>
                <a:latin typeface="Consolas"/>
                <a:ea typeface="Consolas"/>
              </a:rPr>
              <a:t>await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redis.</a:t>
            </a:r>
            <a:r>
              <a:rPr lang="en-US" sz="1850" b="0" u="none" strike="noStrike">
                <a:solidFill>
                  <a:srgbClr val="6639BA"/>
                </a:solidFill>
                <a:effectLst/>
                <a:uFillTx/>
                <a:latin typeface="Consolas"/>
                <a:ea typeface="Consolas"/>
              </a:rPr>
              <a:t>set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(</a:t>
            </a:r>
            <a:r>
              <a:rPr lang="en-US" sz="1850" b="0" u="none" strike="noStrike">
                <a:solidFill>
                  <a:srgbClr val="0A3069"/>
                </a:solidFill>
                <a:effectLst/>
                <a:uFillTx/>
                <a:latin typeface="Consolas"/>
                <a:ea typeface="Consolas"/>
              </a:rPr>
              <a:t>'hotels:list'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, </a:t>
            </a:r>
            <a:r>
              <a:rPr lang="en-US" sz="1850" b="0" u="none" strike="noStrike">
                <a:solidFill>
                  <a:srgbClr val="6639BA"/>
                </a:solidFill>
                <a:effectLst/>
                <a:uFillTx/>
                <a:latin typeface="Consolas"/>
                <a:ea typeface="Consolas"/>
              </a:rPr>
              <a:t>JSON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.</a:t>
            </a:r>
            <a:r>
              <a:rPr lang="en-US" sz="1850" b="0" u="none" strike="noStrike">
                <a:solidFill>
                  <a:srgbClr val="6639BA"/>
                </a:solidFill>
                <a:effectLst/>
                <a:uFillTx/>
                <a:latin typeface="Consolas"/>
                <a:ea typeface="Consolas"/>
              </a:rPr>
              <a:t>stringify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(hotels), </a:t>
            </a:r>
            <a:r>
              <a:rPr lang="en-US" sz="1850" b="0" u="none" strike="noStrike">
                <a:solidFill>
                  <a:srgbClr val="0A3069"/>
                </a:solidFill>
                <a:effectLst/>
                <a:uFillTx/>
                <a:latin typeface="Consolas"/>
                <a:ea typeface="Consolas"/>
              </a:rPr>
              <a:t>'EX'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, </a:t>
            </a:r>
            <a:r>
              <a:rPr lang="en-US" sz="185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300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);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1" name=""/>
          <p:cNvSpPr txBox="1"/>
          <p:nvPr/>
        </p:nvSpPr>
        <p:spPr>
          <a:xfrm>
            <a:off x="747720" y="5362560"/>
            <a:ext cx="5522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级别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2" name=""/>
          <p:cNvSpPr txBox="1"/>
          <p:nvPr/>
        </p:nvSpPr>
        <p:spPr>
          <a:xfrm>
            <a:off x="1300320" y="5340600"/>
            <a:ext cx="27576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2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3" name=""/>
          <p:cNvSpPr/>
          <p:nvPr/>
        </p:nvSpPr>
        <p:spPr>
          <a:xfrm>
            <a:off x="1047600" y="6057720"/>
            <a:ext cx="95400" cy="95760"/>
          </a:xfrm>
          <a:custGeom>
            <a:avLst/>
            <a:gdLst/>
            <a:ahLst/>
            <a:rect l="0" t="0" r="r" b="b"/>
            <a:pathLst>
              <a:path w="265" h="266">
                <a:moveTo>
                  <a:pt x="265" y="132"/>
                </a:moveTo>
                <a:cubicBezTo>
                  <a:pt x="265" y="150"/>
                  <a:pt x="262" y="167"/>
                  <a:pt x="255" y="183"/>
                </a:cubicBezTo>
                <a:cubicBezTo>
                  <a:pt x="249" y="199"/>
                  <a:pt x="239" y="214"/>
                  <a:pt x="227" y="227"/>
                </a:cubicBezTo>
                <a:cubicBezTo>
                  <a:pt x="214" y="239"/>
                  <a:pt x="200" y="249"/>
                  <a:pt x="184" y="256"/>
                </a:cubicBezTo>
                <a:cubicBezTo>
                  <a:pt x="168" y="262"/>
                  <a:pt x="151" y="266"/>
                  <a:pt x="133" y="266"/>
                </a:cubicBezTo>
                <a:cubicBezTo>
                  <a:pt x="115" y="266"/>
                  <a:pt x="98" y="262"/>
                  <a:pt x="82" y="256"/>
                </a:cubicBezTo>
                <a:cubicBezTo>
                  <a:pt x="65" y="249"/>
                  <a:pt x="51" y="239"/>
                  <a:pt x="39" y="227"/>
                </a:cubicBezTo>
                <a:cubicBezTo>
                  <a:pt x="26" y="214"/>
                  <a:pt x="17" y="199"/>
                  <a:pt x="10" y="183"/>
                </a:cubicBezTo>
                <a:cubicBezTo>
                  <a:pt x="3" y="167"/>
                  <a:pt x="0" y="150"/>
                  <a:pt x="0" y="132"/>
                </a:cubicBezTo>
                <a:cubicBezTo>
                  <a:pt x="0" y="115"/>
                  <a:pt x="3" y="98"/>
                  <a:pt x="10" y="82"/>
                </a:cubicBezTo>
                <a:cubicBezTo>
                  <a:pt x="17" y="65"/>
                  <a:pt x="26" y="51"/>
                  <a:pt x="39" y="39"/>
                </a:cubicBezTo>
                <a:cubicBezTo>
                  <a:pt x="51" y="26"/>
                  <a:pt x="65" y="17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1" y="0"/>
                  <a:pt x="168" y="3"/>
                  <a:pt x="184" y="10"/>
                </a:cubicBezTo>
                <a:cubicBezTo>
                  <a:pt x="200" y="17"/>
                  <a:pt x="214" y="26"/>
                  <a:pt x="227" y="39"/>
                </a:cubicBezTo>
                <a:cubicBezTo>
                  <a:pt x="239" y="51"/>
                  <a:pt x="249" y="65"/>
                  <a:pt x="255" y="82"/>
                </a:cubicBezTo>
                <a:cubicBezTo>
                  <a:pt x="262" y="98"/>
                  <a:pt x="265" y="115"/>
                  <a:pt x="265" y="132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04" name=""/>
          <p:cNvSpPr txBox="1"/>
          <p:nvPr/>
        </p:nvSpPr>
        <p:spPr>
          <a:xfrm>
            <a:off x="1453680" y="5362560"/>
            <a:ext cx="35866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：中等故障（部分请求失败）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5" name=""/>
          <p:cNvSpPr txBox="1"/>
          <p:nvPr/>
        </p:nvSpPr>
        <p:spPr>
          <a:xfrm>
            <a:off x="1300320" y="5924520"/>
            <a:ext cx="82836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症状：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6" name=""/>
          <p:cNvSpPr txBox="1"/>
          <p:nvPr/>
        </p:nvSpPr>
        <p:spPr>
          <a:xfrm>
            <a:off x="2128680" y="5902560"/>
            <a:ext cx="40248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5xx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7" name=""/>
          <p:cNvSpPr txBox="1"/>
          <p:nvPr/>
        </p:nvSpPr>
        <p:spPr>
          <a:xfrm>
            <a:off x="2531160" y="5924520"/>
            <a:ext cx="82836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错误率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8" name=""/>
          <p:cNvSpPr txBox="1"/>
          <p:nvPr/>
        </p:nvSpPr>
        <p:spPr>
          <a:xfrm>
            <a:off x="3359880" y="5902560"/>
            <a:ext cx="71496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&gt; 1%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9" name=""/>
          <p:cNvSpPr/>
          <p:nvPr/>
        </p:nvSpPr>
        <p:spPr>
          <a:xfrm>
            <a:off x="1047600" y="6543360"/>
            <a:ext cx="95400" cy="95760"/>
          </a:xfrm>
          <a:custGeom>
            <a:avLst/>
            <a:gdLst/>
            <a:ahLst/>
            <a:rect l="0" t="0" r="r" b="b"/>
            <a:pathLst>
              <a:path w="265" h="266">
                <a:moveTo>
                  <a:pt x="265" y="133"/>
                </a:moveTo>
                <a:cubicBezTo>
                  <a:pt x="265" y="150"/>
                  <a:pt x="262" y="167"/>
                  <a:pt x="255" y="184"/>
                </a:cubicBezTo>
                <a:cubicBezTo>
                  <a:pt x="249" y="200"/>
                  <a:pt x="239" y="215"/>
                  <a:pt x="227" y="227"/>
                </a:cubicBezTo>
                <a:cubicBezTo>
                  <a:pt x="214" y="240"/>
                  <a:pt x="200" y="249"/>
                  <a:pt x="184" y="256"/>
                </a:cubicBezTo>
                <a:cubicBezTo>
                  <a:pt x="168" y="263"/>
                  <a:pt x="151" y="266"/>
                  <a:pt x="133" y="266"/>
                </a:cubicBezTo>
                <a:cubicBezTo>
                  <a:pt x="115" y="266"/>
                  <a:pt x="98" y="263"/>
                  <a:pt x="82" y="256"/>
                </a:cubicBezTo>
                <a:cubicBezTo>
                  <a:pt x="65" y="249"/>
                  <a:pt x="51" y="240"/>
                  <a:pt x="39" y="227"/>
                </a:cubicBezTo>
                <a:cubicBezTo>
                  <a:pt x="26" y="215"/>
                  <a:pt x="17" y="200"/>
                  <a:pt x="10" y="184"/>
                </a:cubicBezTo>
                <a:cubicBezTo>
                  <a:pt x="3" y="167"/>
                  <a:pt x="0" y="150"/>
                  <a:pt x="0" y="133"/>
                </a:cubicBezTo>
                <a:cubicBezTo>
                  <a:pt x="0" y="115"/>
                  <a:pt x="3" y="98"/>
                  <a:pt x="10" y="82"/>
                </a:cubicBezTo>
                <a:cubicBezTo>
                  <a:pt x="17" y="66"/>
                  <a:pt x="26" y="52"/>
                  <a:pt x="39" y="39"/>
                </a:cubicBezTo>
                <a:cubicBezTo>
                  <a:pt x="51" y="27"/>
                  <a:pt x="65" y="17"/>
                  <a:pt x="82" y="10"/>
                </a:cubicBezTo>
                <a:cubicBezTo>
                  <a:pt x="98" y="4"/>
                  <a:pt x="115" y="0"/>
                  <a:pt x="133" y="0"/>
                </a:cubicBezTo>
                <a:cubicBezTo>
                  <a:pt x="151" y="0"/>
                  <a:pt x="168" y="4"/>
                  <a:pt x="184" y="10"/>
                </a:cubicBezTo>
                <a:cubicBezTo>
                  <a:pt x="200" y="17"/>
                  <a:pt x="214" y="27"/>
                  <a:pt x="227" y="39"/>
                </a:cubicBezTo>
                <a:cubicBezTo>
                  <a:pt x="239" y="52"/>
                  <a:pt x="249" y="66"/>
                  <a:pt x="255" y="82"/>
                </a:cubicBezTo>
                <a:cubicBezTo>
                  <a:pt x="262" y="98"/>
                  <a:pt x="265" y="115"/>
                  <a:pt x="265" y="133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10" name=""/>
          <p:cNvSpPr txBox="1"/>
          <p:nvPr/>
        </p:nvSpPr>
        <p:spPr>
          <a:xfrm>
            <a:off x="4075200" y="5924520"/>
            <a:ext cx="22075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，但数据库仍可⽤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1" name=""/>
          <p:cNvSpPr txBox="1"/>
          <p:nvPr/>
        </p:nvSpPr>
        <p:spPr>
          <a:xfrm>
            <a:off x="1300320" y="6410160"/>
            <a:ext cx="35866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触发条件：数据库连接池耗尽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2" name=""/>
          <p:cNvSpPr txBox="1"/>
          <p:nvPr/>
        </p:nvSpPr>
        <p:spPr>
          <a:xfrm>
            <a:off x="4890960" y="6388560"/>
            <a:ext cx="27576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3" name=""/>
          <p:cNvSpPr txBox="1"/>
          <p:nvPr/>
        </p:nvSpPr>
        <p:spPr>
          <a:xfrm>
            <a:off x="4966920" y="6410160"/>
            <a:ext cx="2764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或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4" name=""/>
          <p:cNvSpPr txBox="1"/>
          <p:nvPr/>
        </p:nvSpPr>
        <p:spPr>
          <a:xfrm>
            <a:off x="5243040" y="6388560"/>
            <a:ext cx="27576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5" name=""/>
          <p:cNvSpPr txBox="1"/>
          <p:nvPr/>
        </p:nvSpPr>
        <p:spPr>
          <a:xfrm>
            <a:off x="5318640" y="6410160"/>
            <a:ext cx="16556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进程内存溢出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6" name=""/>
          <p:cNvSpPr txBox="1"/>
          <p:nvPr/>
        </p:nvSpPr>
        <p:spPr>
          <a:xfrm>
            <a:off x="11659680" y="6335280"/>
            <a:ext cx="24732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SegoeUI"/>
                <a:ea typeface="SegoeUI"/>
              </a:rPr>
              <a:t>18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0" name=""/>
          <p:cNvSpPr txBox="1"/>
          <p:nvPr/>
        </p:nvSpPr>
        <p:spPr>
          <a:xfrm>
            <a:off x="747720" y="310680"/>
            <a:ext cx="884520" cy="53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3480" b="0" u="none" strike="noStrike">
                <a:solidFill>
                  <a:srgbClr val="224466"/>
                </a:solidFill>
                <a:effectLst/>
                <a:uFillTx/>
                <a:latin typeface="NotoSansSC"/>
                <a:ea typeface="NotoSansSC"/>
              </a:rPr>
              <a:t>总结</a:t>
            </a:r>
            <a:endParaRPr lang="en-US" sz="34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1" name=""/>
          <p:cNvSpPr/>
          <p:nvPr/>
        </p:nvSpPr>
        <p:spPr>
          <a:xfrm>
            <a:off x="1800000" y="352080"/>
            <a:ext cx="438480" cy="438840"/>
          </a:xfrm>
          <a:custGeom>
            <a:avLst/>
            <a:gdLst/>
            <a:ahLst/>
            <a:rect l="0" t="0" r="r" b="b"/>
            <a:pathLst>
              <a:path w="1218" h="1219">
                <a:moveTo>
                  <a:pt x="1218" y="1083"/>
                </a:moveTo>
                <a:cubicBezTo>
                  <a:pt x="1218" y="1158"/>
                  <a:pt x="1158" y="1219"/>
                  <a:pt x="1083" y="1219"/>
                </a:cubicBezTo>
                <a:lnTo>
                  <a:pt x="135" y="1219"/>
                </a:lnTo>
                <a:cubicBezTo>
                  <a:pt x="61" y="1219"/>
                  <a:pt x="0" y="1158"/>
                  <a:pt x="0" y="1083"/>
                </a:cubicBezTo>
                <a:lnTo>
                  <a:pt x="0" y="136"/>
                </a:lnTo>
                <a:cubicBezTo>
                  <a:pt x="0" y="61"/>
                  <a:pt x="61" y="0"/>
                  <a:pt x="135" y="0"/>
                </a:cubicBezTo>
                <a:lnTo>
                  <a:pt x="1083" y="0"/>
                </a:lnTo>
                <a:cubicBezTo>
                  <a:pt x="1158" y="0"/>
                  <a:pt x="1218" y="61"/>
                  <a:pt x="1218" y="136"/>
                </a:cubicBezTo>
                <a:lnTo>
                  <a:pt x="1218" y="1083"/>
                </a:lnTo>
                <a:close/>
              </a:path>
            </a:pathLst>
          </a:custGeom>
          <a:solidFill>
            <a:srgbClr val="77B25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2" name=""/>
          <p:cNvSpPr/>
          <p:nvPr/>
        </p:nvSpPr>
        <p:spPr>
          <a:xfrm>
            <a:off x="1869480" y="424800"/>
            <a:ext cx="300960" cy="295560"/>
          </a:xfrm>
          <a:custGeom>
            <a:avLst/>
            <a:gdLst/>
            <a:ahLst/>
            <a:rect l="0" t="0" r="r" b="b"/>
            <a:pathLst>
              <a:path w="836" h="821">
                <a:moveTo>
                  <a:pt x="798" y="14"/>
                </a:moveTo>
                <a:cubicBezTo>
                  <a:pt x="759" y="-12"/>
                  <a:pt x="707" y="-1"/>
                  <a:pt x="681" y="38"/>
                </a:cubicBezTo>
                <a:lnTo>
                  <a:pt x="313" y="607"/>
                </a:lnTo>
                <a:lnTo>
                  <a:pt x="142" y="449"/>
                </a:lnTo>
                <a:cubicBezTo>
                  <a:pt x="108" y="418"/>
                  <a:pt x="54" y="420"/>
                  <a:pt x="23" y="454"/>
                </a:cubicBezTo>
                <a:cubicBezTo>
                  <a:pt x="-9" y="488"/>
                  <a:pt x="-7" y="542"/>
                  <a:pt x="27" y="574"/>
                </a:cubicBezTo>
                <a:lnTo>
                  <a:pt x="272" y="799"/>
                </a:lnTo>
                <a:cubicBezTo>
                  <a:pt x="288" y="814"/>
                  <a:pt x="309" y="821"/>
                  <a:pt x="329" y="821"/>
                </a:cubicBezTo>
                <a:cubicBezTo>
                  <a:pt x="352" y="821"/>
                  <a:pt x="381" y="812"/>
                  <a:pt x="400" y="783"/>
                </a:cubicBezTo>
                <a:cubicBezTo>
                  <a:pt x="412" y="766"/>
                  <a:pt x="823" y="131"/>
                  <a:pt x="823" y="131"/>
                </a:cubicBezTo>
                <a:cubicBezTo>
                  <a:pt x="848" y="92"/>
                  <a:pt x="837" y="39"/>
                  <a:pt x="798" y="1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3" name=""/>
          <p:cNvSpPr txBox="1"/>
          <p:nvPr/>
        </p:nvSpPr>
        <p:spPr>
          <a:xfrm>
            <a:off x="1631520" y="275760"/>
            <a:ext cx="441720" cy="58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480" b="1" u="none" strike="noStrike">
                <a:solidFill>
                  <a:srgbClr val="224466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34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4" name=""/>
          <p:cNvSpPr txBox="1"/>
          <p:nvPr/>
        </p:nvSpPr>
        <p:spPr>
          <a:xfrm>
            <a:off x="747720" y="1212480"/>
            <a:ext cx="143928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83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适⽤场景</a:t>
            </a:r>
            <a:endParaRPr lang="en-US" sz="28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5" name=""/>
          <p:cNvSpPr/>
          <p:nvPr/>
        </p:nvSpPr>
        <p:spPr>
          <a:xfrm>
            <a:off x="1047600" y="2647800"/>
            <a:ext cx="95400" cy="95400"/>
          </a:xfrm>
          <a:custGeom>
            <a:avLst/>
            <a:gdLst/>
            <a:ahLst/>
            <a:rect l="0" t="0" r="r" b="b"/>
            <a:pathLst>
              <a:path w="265" h="265">
                <a:moveTo>
                  <a:pt x="265" y="132"/>
                </a:moveTo>
                <a:cubicBezTo>
                  <a:pt x="265" y="150"/>
                  <a:pt x="262" y="167"/>
                  <a:pt x="255" y="184"/>
                </a:cubicBezTo>
                <a:cubicBezTo>
                  <a:pt x="249" y="200"/>
                  <a:pt x="239" y="214"/>
                  <a:pt x="227" y="227"/>
                </a:cubicBezTo>
                <a:cubicBezTo>
                  <a:pt x="214" y="239"/>
                  <a:pt x="200" y="249"/>
                  <a:pt x="184" y="255"/>
                </a:cubicBezTo>
                <a:cubicBezTo>
                  <a:pt x="168" y="262"/>
                  <a:pt x="151" y="265"/>
                  <a:pt x="133" y="265"/>
                </a:cubicBezTo>
                <a:cubicBezTo>
                  <a:pt x="115" y="265"/>
                  <a:pt x="98" y="262"/>
                  <a:pt x="82" y="255"/>
                </a:cubicBezTo>
                <a:cubicBezTo>
                  <a:pt x="65" y="249"/>
                  <a:pt x="51" y="239"/>
                  <a:pt x="39" y="227"/>
                </a:cubicBezTo>
                <a:cubicBezTo>
                  <a:pt x="26" y="214"/>
                  <a:pt x="17" y="200"/>
                  <a:pt x="10" y="184"/>
                </a:cubicBezTo>
                <a:cubicBezTo>
                  <a:pt x="3" y="167"/>
                  <a:pt x="0" y="150"/>
                  <a:pt x="0" y="132"/>
                </a:cubicBezTo>
                <a:cubicBezTo>
                  <a:pt x="0" y="115"/>
                  <a:pt x="3" y="98"/>
                  <a:pt x="10" y="82"/>
                </a:cubicBezTo>
                <a:cubicBezTo>
                  <a:pt x="17" y="65"/>
                  <a:pt x="26" y="51"/>
                  <a:pt x="39" y="39"/>
                </a:cubicBezTo>
                <a:cubicBezTo>
                  <a:pt x="51" y="26"/>
                  <a:pt x="65" y="17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1" y="0"/>
                  <a:pt x="168" y="3"/>
                  <a:pt x="184" y="10"/>
                </a:cubicBezTo>
                <a:cubicBezTo>
                  <a:pt x="200" y="17"/>
                  <a:pt x="214" y="26"/>
                  <a:pt x="227" y="39"/>
                </a:cubicBezTo>
                <a:cubicBezTo>
                  <a:pt x="239" y="51"/>
                  <a:pt x="249" y="65"/>
                  <a:pt x="255" y="82"/>
                </a:cubicBezTo>
                <a:cubicBezTo>
                  <a:pt x="262" y="98"/>
                  <a:pt x="265" y="115"/>
                  <a:pt x="265" y="132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26" name=""/>
          <p:cNvSpPr/>
          <p:nvPr/>
        </p:nvSpPr>
        <p:spPr>
          <a:xfrm>
            <a:off x="1323720" y="2543040"/>
            <a:ext cx="276480" cy="276480"/>
          </a:xfrm>
          <a:custGeom>
            <a:avLst/>
            <a:gdLst/>
            <a:ahLst/>
            <a:rect l="0" t="0" r="r" b="b"/>
            <a:pathLst>
              <a:path w="768" h="768">
                <a:moveTo>
                  <a:pt x="768" y="683"/>
                </a:moveTo>
                <a:cubicBezTo>
                  <a:pt x="768" y="730"/>
                  <a:pt x="730" y="768"/>
                  <a:pt x="683" y="768"/>
                </a:cubicBezTo>
                <a:lnTo>
                  <a:pt x="85" y="768"/>
                </a:lnTo>
                <a:cubicBezTo>
                  <a:pt x="38" y="768"/>
                  <a:pt x="0" y="730"/>
                  <a:pt x="0" y="683"/>
                </a:cubicBezTo>
                <a:lnTo>
                  <a:pt x="0" y="85"/>
                </a:lnTo>
                <a:cubicBezTo>
                  <a:pt x="0" y="38"/>
                  <a:pt x="38" y="0"/>
                  <a:pt x="85" y="0"/>
                </a:cubicBezTo>
                <a:lnTo>
                  <a:pt x="683" y="0"/>
                </a:lnTo>
                <a:cubicBezTo>
                  <a:pt x="730" y="0"/>
                  <a:pt x="768" y="38"/>
                  <a:pt x="768" y="85"/>
                </a:cubicBezTo>
                <a:lnTo>
                  <a:pt x="768" y="683"/>
                </a:lnTo>
                <a:close/>
              </a:path>
            </a:pathLst>
          </a:custGeom>
          <a:solidFill>
            <a:srgbClr val="77B25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7" name=""/>
          <p:cNvSpPr/>
          <p:nvPr/>
        </p:nvSpPr>
        <p:spPr>
          <a:xfrm>
            <a:off x="1367640" y="2588760"/>
            <a:ext cx="190080" cy="186840"/>
          </a:xfrm>
          <a:custGeom>
            <a:avLst/>
            <a:gdLst/>
            <a:ahLst/>
            <a:rect l="0" t="0" r="r" b="b"/>
            <a:pathLst>
              <a:path w="528" h="519">
                <a:moveTo>
                  <a:pt x="503" y="9"/>
                </a:moveTo>
                <a:cubicBezTo>
                  <a:pt x="479" y="-7"/>
                  <a:pt x="446" y="0"/>
                  <a:pt x="430" y="25"/>
                </a:cubicBezTo>
                <a:lnTo>
                  <a:pt x="198" y="384"/>
                </a:lnTo>
                <a:lnTo>
                  <a:pt x="89" y="284"/>
                </a:lnTo>
                <a:cubicBezTo>
                  <a:pt x="68" y="264"/>
                  <a:pt x="34" y="265"/>
                  <a:pt x="14" y="287"/>
                </a:cubicBezTo>
                <a:cubicBezTo>
                  <a:pt x="-6" y="309"/>
                  <a:pt x="-5" y="343"/>
                  <a:pt x="17" y="363"/>
                </a:cubicBezTo>
                <a:lnTo>
                  <a:pt x="172" y="505"/>
                </a:lnTo>
                <a:cubicBezTo>
                  <a:pt x="182" y="514"/>
                  <a:pt x="195" y="519"/>
                  <a:pt x="208" y="519"/>
                </a:cubicBezTo>
                <a:cubicBezTo>
                  <a:pt x="222" y="519"/>
                  <a:pt x="241" y="513"/>
                  <a:pt x="253" y="495"/>
                </a:cubicBezTo>
                <a:cubicBezTo>
                  <a:pt x="260" y="484"/>
                  <a:pt x="519" y="83"/>
                  <a:pt x="519" y="83"/>
                </a:cubicBezTo>
                <a:cubicBezTo>
                  <a:pt x="535" y="58"/>
                  <a:pt x="528" y="25"/>
                  <a:pt x="503" y="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8" name=""/>
          <p:cNvSpPr txBox="1"/>
          <p:nvPr/>
        </p:nvSpPr>
        <p:spPr>
          <a:xfrm>
            <a:off x="747720" y="1952640"/>
            <a:ext cx="13798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完全适合：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9" name=""/>
          <p:cNvSpPr txBox="1"/>
          <p:nvPr/>
        </p:nvSpPr>
        <p:spPr>
          <a:xfrm>
            <a:off x="1617480" y="2492640"/>
            <a:ext cx="27576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0" name=""/>
          <p:cNvSpPr/>
          <p:nvPr/>
        </p:nvSpPr>
        <p:spPr>
          <a:xfrm>
            <a:off x="1047600" y="3133440"/>
            <a:ext cx="95400" cy="95760"/>
          </a:xfrm>
          <a:custGeom>
            <a:avLst/>
            <a:gdLst/>
            <a:ahLst/>
            <a:rect l="0" t="0" r="r" b="b"/>
            <a:pathLst>
              <a:path w="265" h="266">
                <a:moveTo>
                  <a:pt x="265" y="133"/>
                </a:moveTo>
                <a:cubicBezTo>
                  <a:pt x="265" y="151"/>
                  <a:pt x="262" y="168"/>
                  <a:pt x="255" y="184"/>
                </a:cubicBezTo>
                <a:cubicBezTo>
                  <a:pt x="249" y="200"/>
                  <a:pt x="239" y="215"/>
                  <a:pt x="227" y="227"/>
                </a:cubicBezTo>
                <a:cubicBezTo>
                  <a:pt x="214" y="240"/>
                  <a:pt x="200" y="249"/>
                  <a:pt x="184" y="256"/>
                </a:cubicBezTo>
                <a:cubicBezTo>
                  <a:pt x="168" y="263"/>
                  <a:pt x="151" y="266"/>
                  <a:pt x="133" y="266"/>
                </a:cubicBezTo>
                <a:cubicBezTo>
                  <a:pt x="115" y="266"/>
                  <a:pt x="98" y="263"/>
                  <a:pt x="82" y="256"/>
                </a:cubicBezTo>
                <a:cubicBezTo>
                  <a:pt x="65" y="249"/>
                  <a:pt x="51" y="240"/>
                  <a:pt x="39" y="227"/>
                </a:cubicBezTo>
                <a:cubicBezTo>
                  <a:pt x="26" y="215"/>
                  <a:pt x="17" y="200"/>
                  <a:pt x="10" y="184"/>
                </a:cubicBezTo>
                <a:cubicBezTo>
                  <a:pt x="3" y="168"/>
                  <a:pt x="0" y="151"/>
                  <a:pt x="0" y="133"/>
                </a:cubicBezTo>
                <a:cubicBezTo>
                  <a:pt x="0" y="115"/>
                  <a:pt x="3" y="98"/>
                  <a:pt x="10" y="82"/>
                </a:cubicBezTo>
                <a:cubicBezTo>
                  <a:pt x="17" y="66"/>
                  <a:pt x="26" y="51"/>
                  <a:pt x="39" y="39"/>
                </a:cubicBezTo>
                <a:cubicBezTo>
                  <a:pt x="51" y="27"/>
                  <a:pt x="65" y="17"/>
                  <a:pt x="82" y="10"/>
                </a:cubicBezTo>
                <a:cubicBezTo>
                  <a:pt x="98" y="4"/>
                  <a:pt x="115" y="0"/>
                  <a:pt x="133" y="0"/>
                </a:cubicBezTo>
                <a:cubicBezTo>
                  <a:pt x="151" y="0"/>
                  <a:pt x="168" y="4"/>
                  <a:pt x="184" y="10"/>
                </a:cubicBezTo>
                <a:cubicBezTo>
                  <a:pt x="200" y="17"/>
                  <a:pt x="214" y="27"/>
                  <a:pt x="227" y="39"/>
                </a:cubicBezTo>
                <a:cubicBezTo>
                  <a:pt x="239" y="51"/>
                  <a:pt x="249" y="66"/>
                  <a:pt x="255" y="82"/>
                </a:cubicBezTo>
                <a:cubicBezTo>
                  <a:pt x="262" y="98"/>
                  <a:pt x="265" y="115"/>
                  <a:pt x="265" y="133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31" name=""/>
          <p:cNvSpPr/>
          <p:nvPr/>
        </p:nvSpPr>
        <p:spPr>
          <a:xfrm>
            <a:off x="1323720" y="3028680"/>
            <a:ext cx="276480" cy="276840"/>
          </a:xfrm>
          <a:custGeom>
            <a:avLst/>
            <a:gdLst/>
            <a:ahLst/>
            <a:rect l="0" t="0" r="r" b="b"/>
            <a:pathLst>
              <a:path w="768" h="769">
                <a:moveTo>
                  <a:pt x="768" y="683"/>
                </a:moveTo>
                <a:cubicBezTo>
                  <a:pt x="768" y="730"/>
                  <a:pt x="730" y="769"/>
                  <a:pt x="683" y="769"/>
                </a:cubicBezTo>
                <a:lnTo>
                  <a:pt x="85" y="769"/>
                </a:lnTo>
                <a:cubicBezTo>
                  <a:pt x="38" y="769"/>
                  <a:pt x="0" y="730"/>
                  <a:pt x="0" y="683"/>
                </a:cubicBezTo>
                <a:lnTo>
                  <a:pt x="0" y="86"/>
                </a:lnTo>
                <a:cubicBezTo>
                  <a:pt x="0" y="38"/>
                  <a:pt x="38" y="0"/>
                  <a:pt x="85" y="0"/>
                </a:cubicBezTo>
                <a:lnTo>
                  <a:pt x="683" y="0"/>
                </a:lnTo>
                <a:cubicBezTo>
                  <a:pt x="730" y="0"/>
                  <a:pt x="768" y="38"/>
                  <a:pt x="768" y="86"/>
                </a:cubicBezTo>
                <a:lnTo>
                  <a:pt x="768" y="683"/>
                </a:lnTo>
                <a:close/>
              </a:path>
            </a:pathLst>
          </a:custGeom>
          <a:solidFill>
            <a:srgbClr val="77B25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2" name=""/>
          <p:cNvSpPr/>
          <p:nvPr/>
        </p:nvSpPr>
        <p:spPr>
          <a:xfrm>
            <a:off x="1367640" y="3074400"/>
            <a:ext cx="190080" cy="186840"/>
          </a:xfrm>
          <a:custGeom>
            <a:avLst/>
            <a:gdLst/>
            <a:ahLst/>
            <a:rect l="0" t="0" r="r" b="b"/>
            <a:pathLst>
              <a:path w="528" h="519">
                <a:moveTo>
                  <a:pt x="503" y="9"/>
                </a:moveTo>
                <a:cubicBezTo>
                  <a:pt x="479" y="-7"/>
                  <a:pt x="446" y="0"/>
                  <a:pt x="430" y="25"/>
                </a:cubicBezTo>
                <a:lnTo>
                  <a:pt x="198" y="382"/>
                </a:lnTo>
                <a:lnTo>
                  <a:pt x="89" y="283"/>
                </a:lnTo>
                <a:cubicBezTo>
                  <a:pt x="68" y="263"/>
                  <a:pt x="34" y="264"/>
                  <a:pt x="14" y="286"/>
                </a:cubicBezTo>
                <a:cubicBezTo>
                  <a:pt x="-6" y="308"/>
                  <a:pt x="-5" y="341"/>
                  <a:pt x="17" y="361"/>
                </a:cubicBezTo>
                <a:lnTo>
                  <a:pt x="172" y="503"/>
                </a:lnTo>
                <a:cubicBezTo>
                  <a:pt x="182" y="514"/>
                  <a:pt x="195" y="519"/>
                  <a:pt x="208" y="519"/>
                </a:cubicBezTo>
                <a:cubicBezTo>
                  <a:pt x="222" y="519"/>
                  <a:pt x="241" y="513"/>
                  <a:pt x="253" y="493"/>
                </a:cubicBezTo>
                <a:cubicBezTo>
                  <a:pt x="260" y="482"/>
                  <a:pt x="519" y="83"/>
                  <a:pt x="519" y="83"/>
                </a:cubicBezTo>
                <a:cubicBezTo>
                  <a:pt x="535" y="58"/>
                  <a:pt x="528" y="25"/>
                  <a:pt x="503" y="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3" name=""/>
          <p:cNvSpPr txBox="1"/>
          <p:nvPr/>
        </p:nvSpPr>
        <p:spPr>
          <a:xfrm>
            <a:off x="1693440" y="2514600"/>
            <a:ext cx="60692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库存敏感型交易系统（酒店、机票、演唱会票务）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4" name=""/>
          <p:cNvSpPr txBox="1"/>
          <p:nvPr/>
        </p:nvSpPr>
        <p:spPr>
          <a:xfrm>
            <a:off x="1617480" y="2978640"/>
            <a:ext cx="27576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5" name=""/>
          <p:cNvSpPr txBox="1"/>
          <p:nvPr/>
        </p:nvSpPr>
        <p:spPr>
          <a:xfrm>
            <a:off x="1693440" y="3000240"/>
            <a:ext cx="24832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中⼩规模业务（⽇均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6" name=""/>
          <p:cNvSpPr txBox="1"/>
          <p:nvPr/>
        </p:nvSpPr>
        <p:spPr>
          <a:xfrm>
            <a:off x="4179240" y="2978640"/>
            <a:ext cx="135828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10k~100k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7" name=""/>
          <p:cNvSpPr/>
          <p:nvPr/>
        </p:nvSpPr>
        <p:spPr>
          <a:xfrm>
            <a:off x="1047600" y="3619440"/>
            <a:ext cx="95400" cy="95400"/>
          </a:xfrm>
          <a:custGeom>
            <a:avLst/>
            <a:gdLst/>
            <a:ahLst/>
            <a:rect l="0" t="0" r="r" b="b"/>
            <a:pathLst>
              <a:path w="265" h="265">
                <a:moveTo>
                  <a:pt x="265" y="133"/>
                </a:moveTo>
                <a:cubicBezTo>
                  <a:pt x="265" y="150"/>
                  <a:pt x="262" y="167"/>
                  <a:pt x="255" y="184"/>
                </a:cubicBezTo>
                <a:cubicBezTo>
                  <a:pt x="249" y="200"/>
                  <a:pt x="239" y="214"/>
                  <a:pt x="227" y="227"/>
                </a:cubicBezTo>
                <a:cubicBezTo>
                  <a:pt x="214" y="239"/>
                  <a:pt x="200" y="248"/>
                  <a:pt x="184" y="255"/>
                </a:cubicBezTo>
                <a:cubicBezTo>
                  <a:pt x="168" y="262"/>
                  <a:pt x="151" y="265"/>
                  <a:pt x="133" y="265"/>
                </a:cubicBezTo>
                <a:cubicBezTo>
                  <a:pt x="115" y="265"/>
                  <a:pt x="98" y="262"/>
                  <a:pt x="82" y="255"/>
                </a:cubicBezTo>
                <a:cubicBezTo>
                  <a:pt x="65" y="248"/>
                  <a:pt x="51" y="239"/>
                  <a:pt x="39" y="227"/>
                </a:cubicBezTo>
                <a:cubicBezTo>
                  <a:pt x="26" y="214"/>
                  <a:pt x="17" y="200"/>
                  <a:pt x="10" y="184"/>
                </a:cubicBezTo>
                <a:cubicBezTo>
                  <a:pt x="3" y="167"/>
                  <a:pt x="0" y="150"/>
                  <a:pt x="0" y="133"/>
                </a:cubicBezTo>
                <a:cubicBezTo>
                  <a:pt x="0" y="115"/>
                  <a:pt x="3" y="98"/>
                  <a:pt x="10" y="81"/>
                </a:cubicBezTo>
                <a:cubicBezTo>
                  <a:pt x="17" y="65"/>
                  <a:pt x="26" y="51"/>
                  <a:pt x="39" y="38"/>
                </a:cubicBezTo>
                <a:cubicBezTo>
                  <a:pt x="51" y="26"/>
                  <a:pt x="65" y="16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1" y="0"/>
                  <a:pt x="168" y="3"/>
                  <a:pt x="184" y="10"/>
                </a:cubicBezTo>
                <a:cubicBezTo>
                  <a:pt x="200" y="16"/>
                  <a:pt x="214" y="26"/>
                  <a:pt x="227" y="38"/>
                </a:cubicBezTo>
                <a:cubicBezTo>
                  <a:pt x="239" y="51"/>
                  <a:pt x="249" y="65"/>
                  <a:pt x="255" y="81"/>
                </a:cubicBezTo>
                <a:cubicBezTo>
                  <a:pt x="262" y="98"/>
                  <a:pt x="265" y="115"/>
                  <a:pt x="265" y="133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38" name=""/>
          <p:cNvSpPr/>
          <p:nvPr/>
        </p:nvSpPr>
        <p:spPr>
          <a:xfrm>
            <a:off x="1323720" y="3514680"/>
            <a:ext cx="276480" cy="276480"/>
          </a:xfrm>
          <a:custGeom>
            <a:avLst/>
            <a:gdLst/>
            <a:ahLst/>
            <a:rect l="0" t="0" r="r" b="b"/>
            <a:pathLst>
              <a:path w="768" h="768">
                <a:moveTo>
                  <a:pt x="768" y="683"/>
                </a:moveTo>
                <a:cubicBezTo>
                  <a:pt x="768" y="730"/>
                  <a:pt x="730" y="768"/>
                  <a:pt x="683" y="768"/>
                </a:cubicBezTo>
                <a:lnTo>
                  <a:pt x="85" y="768"/>
                </a:lnTo>
                <a:cubicBezTo>
                  <a:pt x="38" y="768"/>
                  <a:pt x="0" y="730"/>
                  <a:pt x="0" y="683"/>
                </a:cubicBezTo>
                <a:lnTo>
                  <a:pt x="0" y="85"/>
                </a:lnTo>
                <a:cubicBezTo>
                  <a:pt x="0" y="38"/>
                  <a:pt x="38" y="0"/>
                  <a:pt x="85" y="0"/>
                </a:cubicBezTo>
                <a:lnTo>
                  <a:pt x="683" y="0"/>
                </a:lnTo>
                <a:cubicBezTo>
                  <a:pt x="730" y="0"/>
                  <a:pt x="768" y="38"/>
                  <a:pt x="768" y="85"/>
                </a:cubicBezTo>
                <a:lnTo>
                  <a:pt x="768" y="683"/>
                </a:lnTo>
                <a:close/>
              </a:path>
            </a:pathLst>
          </a:custGeom>
          <a:solidFill>
            <a:srgbClr val="77B25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9" name=""/>
          <p:cNvSpPr/>
          <p:nvPr/>
        </p:nvSpPr>
        <p:spPr>
          <a:xfrm>
            <a:off x="1367640" y="3560400"/>
            <a:ext cx="190080" cy="186840"/>
          </a:xfrm>
          <a:custGeom>
            <a:avLst/>
            <a:gdLst/>
            <a:ahLst/>
            <a:rect l="0" t="0" r="r" b="b"/>
            <a:pathLst>
              <a:path w="528" h="519">
                <a:moveTo>
                  <a:pt x="503" y="9"/>
                </a:moveTo>
                <a:cubicBezTo>
                  <a:pt x="479" y="-7"/>
                  <a:pt x="446" y="0"/>
                  <a:pt x="430" y="25"/>
                </a:cubicBezTo>
                <a:lnTo>
                  <a:pt x="198" y="384"/>
                </a:lnTo>
                <a:lnTo>
                  <a:pt x="89" y="284"/>
                </a:lnTo>
                <a:cubicBezTo>
                  <a:pt x="68" y="264"/>
                  <a:pt x="34" y="266"/>
                  <a:pt x="14" y="287"/>
                </a:cubicBezTo>
                <a:cubicBezTo>
                  <a:pt x="-6" y="309"/>
                  <a:pt x="-5" y="343"/>
                  <a:pt x="17" y="363"/>
                </a:cubicBezTo>
                <a:lnTo>
                  <a:pt x="172" y="505"/>
                </a:lnTo>
                <a:cubicBezTo>
                  <a:pt x="182" y="514"/>
                  <a:pt x="195" y="519"/>
                  <a:pt x="208" y="519"/>
                </a:cubicBezTo>
                <a:cubicBezTo>
                  <a:pt x="222" y="519"/>
                  <a:pt x="241" y="513"/>
                  <a:pt x="253" y="495"/>
                </a:cubicBezTo>
                <a:cubicBezTo>
                  <a:pt x="260" y="484"/>
                  <a:pt x="519" y="83"/>
                  <a:pt x="519" y="83"/>
                </a:cubicBezTo>
                <a:cubicBezTo>
                  <a:pt x="535" y="58"/>
                  <a:pt x="528" y="25"/>
                  <a:pt x="503" y="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0" name=""/>
          <p:cNvSpPr txBox="1"/>
          <p:nvPr/>
        </p:nvSpPr>
        <p:spPr>
          <a:xfrm>
            <a:off x="5538600" y="3000240"/>
            <a:ext cx="82836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订单）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1" name=""/>
          <p:cNvSpPr txBox="1"/>
          <p:nvPr/>
        </p:nvSpPr>
        <p:spPr>
          <a:xfrm>
            <a:off x="1617480" y="3464280"/>
            <a:ext cx="27576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2" name=""/>
          <p:cNvSpPr txBox="1"/>
          <p:nvPr/>
        </p:nvSpPr>
        <p:spPr>
          <a:xfrm>
            <a:off x="1693440" y="3486240"/>
            <a:ext cx="44143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快速迭代阶段（需要灵活扩展字段）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3" name=""/>
          <p:cNvSpPr/>
          <p:nvPr/>
        </p:nvSpPr>
        <p:spPr>
          <a:xfrm>
            <a:off x="1047600" y="4752720"/>
            <a:ext cx="95400" cy="95760"/>
          </a:xfrm>
          <a:custGeom>
            <a:avLst/>
            <a:gdLst/>
            <a:ahLst/>
            <a:rect l="0" t="0" r="r" b="b"/>
            <a:pathLst>
              <a:path w="265" h="266">
                <a:moveTo>
                  <a:pt x="265" y="133"/>
                </a:moveTo>
                <a:cubicBezTo>
                  <a:pt x="265" y="151"/>
                  <a:pt x="262" y="168"/>
                  <a:pt x="255" y="184"/>
                </a:cubicBezTo>
                <a:cubicBezTo>
                  <a:pt x="249" y="200"/>
                  <a:pt x="239" y="215"/>
                  <a:pt x="227" y="227"/>
                </a:cubicBezTo>
                <a:cubicBezTo>
                  <a:pt x="214" y="239"/>
                  <a:pt x="200" y="249"/>
                  <a:pt x="184" y="256"/>
                </a:cubicBezTo>
                <a:cubicBezTo>
                  <a:pt x="168" y="262"/>
                  <a:pt x="151" y="266"/>
                  <a:pt x="133" y="266"/>
                </a:cubicBezTo>
                <a:cubicBezTo>
                  <a:pt x="115" y="266"/>
                  <a:pt x="98" y="262"/>
                  <a:pt x="82" y="256"/>
                </a:cubicBezTo>
                <a:cubicBezTo>
                  <a:pt x="65" y="249"/>
                  <a:pt x="51" y="239"/>
                  <a:pt x="39" y="227"/>
                </a:cubicBezTo>
                <a:cubicBezTo>
                  <a:pt x="26" y="215"/>
                  <a:pt x="17" y="200"/>
                  <a:pt x="10" y="184"/>
                </a:cubicBezTo>
                <a:cubicBezTo>
                  <a:pt x="3" y="168"/>
                  <a:pt x="0" y="151"/>
                  <a:pt x="0" y="133"/>
                </a:cubicBezTo>
                <a:cubicBezTo>
                  <a:pt x="0" y="115"/>
                  <a:pt x="3" y="98"/>
                  <a:pt x="10" y="82"/>
                </a:cubicBezTo>
                <a:cubicBezTo>
                  <a:pt x="17" y="66"/>
                  <a:pt x="26" y="51"/>
                  <a:pt x="39" y="39"/>
                </a:cubicBezTo>
                <a:cubicBezTo>
                  <a:pt x="51" y="27"/>
                  <a:pt x="65" y="17"/>
                  <a:pt x="82" y="10"/>
                </a:cubicBezTo>
                <a:cubicBezTo>
                  <a:pt x="98" y="4"/>
                  <a:pt x="115" y="0"/>
                  <a:pt x="133" y="0"/>
                </a:cubicBezTo>
                <a:cubicBezTo>
                  <a:pt x="151" y="0"/>
                  <a:pt x="168" y="4"/>
                  <a:pt x="184" y="10"/>
                </a:cubicBezTo>
                <a:cubicBezTo>
                  <a:pt x="200" y="17"/>
                  <a:pt x="214" y="27"/>
                  <a:pt x="227" y="39"/>
                </a:cubicBezTo>
                <a:cubicBezTo>
                  <a:pt x="239" y="51"/>
                  <a:pt x="249" y="66"/>
                  <a:pt x="255" y="82"/>
                </a:cubicBezTo>
                <a:cubicBezTo>
                  <a:pt x="262" y="98"/>
                  <a:pt x="265" y="115"/>
                  <a:pt x="265" y="133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44" name=""/>
          <p:cNvSpPr/>
          <p:nvPr/>
        </p:nvSpPr>
        <p:spPr>
          <a:xfrm>
            <a:off x="1327680" y="4653720"/>
            <a:ext cx="268920" cy="263160"/>
          </a:xfrm>
          <a:custGeom>
            <a:avLst/>
            <a:gdLst/>
            <a:ahLst/>
            <a:rect l="0" t="0" r="r" b="b"/>
            <a:pathLst>
              <a:path w="747" h="731">
                <a:moveTo>
                  <a:pt x="46" y="731"/>
                </a:moveTo>
                <a:cubicBezTo>
                  <a:pt x="6" y="731"/>
                  <a:pt x="-11" y="703"/>
                  <a:pt x="7" y="668"/>
                </a:cubicBezTo>
                <a:lnTo>
                  <a:pt x="340" y="26"/>
                </a:lnTo>
                <a:cubicBezTo>
                  <a:pt x="358" y="-9"/>
                  <a:pt x="388" y="-9"/>
                  <a:pt x="406" y="26"/>
                </a:cubicBezTo>
                <a:lnTo>
                  <a:pt x="739" y="668"/>
                </a:lnTo>
                <a:cubicBezTo>
                  <a:pt x="758" y="703"/>
                  <a:pt x="740" y="731"/>
                  <a:pt x="701" y="731"/>
                </a:cubicBezTo>
                <a:lnTo>
                  <a:pt x="46" y="731"/>
                </a:lnTo>
                <a:close/>
              </a:path>
            </a:pathLst>
          </a:custGeom>
          <a:solidFill>
            <a:srgbClr val="FFCC4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5" name=""/>
          <p:cNvSpPr/>
          <p:nvPr/>
        </p:nvSpPr>
        <p:spPr>
          <a:xfrm>
            <a:off x="1443240" y="4713480"/>
            <a:ext cx="37440" cy="175680"/>
          </a:xfrm>
          <a:custGeom>
            <a:avLst/>
            <a:gdLst/>
            <a:ahLst/>
            <a:rect l="0" t="0" r="r" b="b"/>
            <a:pathLst>
              <a:path w="104" h="488">
                <a:moveTo>
                  <a:pt x="0" y="436"/>
                </a:moveTo>
                <a:cubicBezTo>
                  <a:pt x="0" y="408"/>
                  <a:pt x="23" y="385"/>
                  <a:pt x="52" y="385"/>
                </a:cubicBezTo>
                <a:cubicBezTo>
                  <a:pt x="81" y="385"/>
                  <a:pt x="104" y="408"/>
                  <a:pt x="104" y="436"/>
                </a:cubicBezTo>
                <a:cubicBezTo>
                  <a:pt x="104" y="465"/>
                  <a:pt x="81" y="488"/>
                  <a:pt x="52" y="488"/>
                </a:cubicBezTo>
                <a:cubicBezTo>
                  <a:pt x="23" y="488"/>
                  <a:pt x="0" y="465"/>
                  <a:pt x="0" y="436"/>
                </a:cubicBezTo>
                <a:moveTo>
                  <a:pt x="4" y="45"/>
                </a:moveTo>
                <a:cubicBezTo>
                  <a:pt x="4" y="18"/>
                  <a:pt x="25" y="0"/>
                  <a:pt x="52" y="0"/>
                </a:cubicBezTo>
                <a:cubicBezTo>
                  <a:pt x="79" y="0"/>
                  <a:pt x="100" y="18"/>
                  <a:pt x="100" y="45"/>
                </a:cubicBezTo>
                <a:lnTo>
                  <a:pt x="100" y="301"/>
                </a:lnTo>
                <a:cubicBezTo>
                  <a:pt x="100" y="328"/>
                  <a:pt x="79" y="346"/>
                  <a:pt x="52" y="346"/>
                </a:cubicBezTo>
                <a:cubicBezTo>
                  <a:pt x="25" y="346"/>
                  <a:pt x="4" y="329"/>
                  <a:pt x="4" y="301"/>
                </a:cubicBezTo>
                <a:lnTo>
                  <a:pt x="4" y="45"/>
                </a:lnTo>
                <a:close/>
              </a:path>
            </a:pathLst>
          </a:custGeom>
          <a:solidFill>
            <a:srgbClr val="231F2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46" name=""/>
          <p:cNvSpPr txBox="1"/>
          <p:nvPr/>
        </p:nvSpPr>
        <p:spPr>
          <a:xfrm>
            <a:off x="747720" y="4048200"/>
            <a:ext cx="22075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需要改造的场景：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7" name=""/>
          <p:cNvSpPr txBox="1"/>
          <p:nvPr/>
        </p:nvSpPr>
        <p:spPr>
          <a:xfrm>
            <a:off x="1617480" y="4597920"/>
            <a:ext cx="27576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8" name=""/>
          <p:cNvSpPr txBox="1"/>
          <p:nvPr/>
        </p:nvSpPr>
        <p:spPr>
          <a:xfrm>
            <a:off x="1693440" y="4619520"/>
            <a:ext cx="193176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超⼤规模（⽇均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9" name=""/>
          <p:cNvSpPr txBox="1"/>
          <p:nvPr/>
        </p:nvSpPr>
        <p:spPr>
          <a:xfrm>
            <a:off x="3627000" y="4597920"/>
            <a:ext cx="113472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1000w+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0" name=""/>
          <p:cNvSpPr txBox="1"/>
          <p:nvPr/>
        </p:nvSpPr>
        <p:spPr>
          <a:xfrm>
            <a:off x="4762440" y="4619520"/>
            <a:ext cx="82836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订单）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1" name=""/>
          <p:cNvSpPr txBox="1"/>
          <p:nvPr/>
        </p:nvSpPr>
        <p:spPr>
          <a:xfrm>
            <a:off x="5591160" y="4597920"/>
            <a:ext cx="31428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→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2" name=""/>
          <p:cNvSpPr txBox="1"/>
          <p:nvPr/>
        </p:nvSpPr>
        <p:spPr>
          <a:xfrm>
            <a:off x="5905080" y="4619520"/>
            <a:ext cx="16556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需要分布式锁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3" name=""/>
          <p:cNvSpPr txBox="1"/>
          <p:nvPr/>
        </p:nvSpPr>
        <p:spPr>
          <a:xfrm>
            <a:off x="7562520" y="4597920"/>
            <a:ext cx="34056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+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4" name=""/>
          <p:cNvSpPr/>
          <p:nvPr/>
        </p:nvSpPr>
        <p:spPr>
          <a:xfrm>
            <a:off x="1047600" y="5238720"/>
            <a:ext cx="95400" cy="95400"/>
          </a:xfrm>
          <a:custGeom>
            <a:avLst/>
            <a:gdLst/>
            <a:ahLst/>
            <a:rect l="0" t="0" r="r" b="b"/>
            <a:pathLst>
              <a:path w="265" h="265">
                <a:moveTo>
                  <a:pt x="265" y="133"/>
                </a:moveTo>
                <a:cubicBezTo>
                  <a:pt x="265" y="150"/>
                  <a:pt x="262" y="167"/>
                  <a:pt x="255" y="183"/>
                </a:cubicBezTo>
                <a:cubicBezTo>
                  <a:pt x="249" y="200"/>
                  <a:pt x="239" y="214"/>
                  <a:pt x="227" y="226"/>
                </a:cubicBezTo>
                <a:cubicBezTo>
                  <a:pt x="214" y="239"/>
                  <a:pt x="200" y="248"/>
                  <a:pt x="184" y="255"/>
                </a:cubicBezTo>
                <a:cubicBezTo>
                  <a:pt x="168" y="262"/>
                  <a:pt x="151" y="265"/>
                  <a:pt x="133" y="265"/>
                </a:cubicBezTo>
                <a:cubicBezTo>
                  <a:pt x="115" y="265"/>
                  <a:pt x="98" y="262"/>
                  <a:pt x="82" y="255"/>
                </a:cubicBezTo>
                <a:cubicBezTo>
                  <a:pt x="65" y="248"/>
                  <a:pt x="51" y="239"/>
                  <a:pt x="39" y="226"/>
                </a:cubicBezTo>
                <a:cubicBezTo>
                  <a:pt x="26" y="214"/>
                  <a:pt x="17" y="200"/>
                  <a:pt x="10" y="183"/>
                </a:cubicBezTo>
                <a:cubicBezTo>
                  <a:pt x="3" y="167"/>
                  <a:pt x="0" y="150"/>
                  <a:pt x="0" y="133"/>
                </a:cubicBezTo>
                <a:cubicBezTo>
                  <a:pt x="0" y="115"/>
                  <a:pt x="3" y="97"/>
                  <a:pt x="10" y="81"/>
                </a:cubicBezTo>
                <a:cubicBezTo>
                  <a:pt x="17" y="65"/>
                  <a:pt x="26" y="51"/>
                  <a:pt x="39" y="38"/>
                </a:cubicBezTo>
                <a:cubicBezTo>
                  <a:pt x="51" y="26"/>
                  <a:pt x="65" y="16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1" y="0"/>
                  <a:pt x="168" y="3"/>
                  <a:pt x="184" y="10"/>
                </a:cubicBezTo>
                <a:cubicBezTo>
                  <a:pt x="200" y="16"/>
                  <a:pt x="214" y="26"/>
                  <a:pt x="227" y="38"/>
                </a:cubicBezTo>
                <a:cubicBezTo>
                  <a:pt x="239" y="51"/>
                  <a:pt x="249" y="65"/>
                  <a:pt x="255" y="81"/>
                </a:cubicBezTo>
                <a:cubicBezTo>
                  <a:pt x="262" y="97"/>
                  <a:pt x="265" y="115"/>
                  <a:pt x="265" y="133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55" name=""/>
          <p:cNvSpPr/>
          <p:nvPr/>
        </p:nvSpPr>
        <p:spPr>
          <a:xfrm>
            <a:off x="1327680" y="5139360"/>
            <a:ext cx="268920" cy="263160"/>
          </a:xfrm>
          <a:custGeom>
            <a:avLst/>
            <a:gdLst/>
            <a:ahLst/>
            <a:rect l="0" t="0" r="r" b="b"/>
            <a:pathLst>
              <a:path w="747" h="731">
                <a:moveTo>
                  <a:pt x="46" y="731"/>
                </a:moveTo>
                <a:cubicBezTo>
                  <a:pt x="6" y="731"/>
                  <a:pt x="-11" y="702"/>
                  <a:pt x="7" y="666"/>
                </a:cubicBezTo>
                <a:lnTo>
                  <a:pt x="340" y="26"/>
                </a:lnTo>
                <a:cubicBezTo>
                  <a:pt x="358" y="-9"/>
                  <a:pt x="388" y="-9"/>
                  <a:pt x="406" y="26"/>
                </a:cubicBezTo>
                <a:lnTo>
                  <a:pt x="739" y="666"/>
                </a:lnTo>
                <a:cubicBezTo>
                  <a:pt x="758" y="702"/>
                  <a:pt x="740" y="731"/>
                  <a:pt x="701" y="731"/>
                </a:cubicBezTo>
                <a:lnTo>
                  <a:pt x="46" y="731"/>
                </a:lnTo>
                <a:close/>
              </a:path>
            </a:pathLst>
          </a:custGeom>
          <a:solidFill>
            <a:srgbClr val="FFCC4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6" name=""/>
          <p:cNvSpPr/>
          <p:nvPr/>
        </p:nvSpPr>
        <p:spPr>
          <a:xfrm>
            <a:off x="1443240" y="5199480"/>
            <a:ext cx="37440" cy="175320"/>
          </a:xfrm>
          <a:custGeom>
            <a:avLst/>
            <a:gdLst/>
            <a:ahLst/>
            <a:rect l="0" t="0" r="r" b="b"/>
            <a:pathLst>
              <a:path w="104" h="487">
                <a:moveTo>
                  <a:pt x="0" y="436"/>
                </a:moveTo>
                <a:cubicBezTo>
                  <a:pt x="0" y="407"/>
                  <a:pt x="23" y="384"/>
                  <a:pt x="52" y="384"/>
                </a:cubicBezTo>
                <a:cubicBezTo>
                  <a:pt x="81" y="384"/>
                  <a:pt x="104" y="407"/>
                  <a:pt x="104" y="436"/>
                </a:cubicBezTo>
                <a:cubicBezTo>
                  <a:pt x="104" y="464"/>
                  <a:pt x="81" y="487"/>
                  <a:pt x="52" y="487"/>
                </a:cubicBezTo>
                <a:cubicBezTo>
                  <a:pt x="23" y="487"/>
                  <a:pt x="0" y="464"/>
                  <a:pt x="0" y="436"/>
                </a:cubicBezTo>
                <a:moveTo>
                  <a:pt x="4" y="45"/>
                </a:moveTo>
                <a:cubicBezTo>
                  <a:pt x="4" y="17"/>
                  <a:pt x="25" y="0"/>
                  <a:pt x="52" y="0"/>
                </a:cubicBezTo>
                <a:cubicBezTo>
                  <a:pt x="79" y="0"/>
                  <a:pt x="100" y="18"/>
                  <a:pt x="100" y="45"/>
                </a:cubicBezTo>
                <a:lnTo>
                  <a:pt x="100" y="299"/>
                </a:lnTo>
                <a:cubicBezTo>
                  <a:pt x="100" y="326"/>
                  <a:pt x="79" y="344"/>
                  <a:pt x="52" y="344"/>
                </a:cubicBezTo>
                <a:cubicBezTo>
                  <a:pt x="25" y="344"/>
                  <a:pt x="4" y="327"/>
                  <a:pt x="4" y="299"/>
                </a:cubicBezTo>
                <a:lnTo>
                  <a:pt x="4" y="45"/>
                </a:lnTo>
                <a:close/>
              </a:path>
            </a:pathLst>
          </a:custGeom>
          <a:solidFill>
            <a:srgbClr val="231F2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57" name=""/>
          <p:cNvSpPr txBox="1"/>
          <p:nvPr/>
        </p:nvSpPr>
        <p:spPr>
          <a:xfrm>
            <a:off x="7902720" y="4619520"/>
            <a:ext cx="11041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消息队列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8" name=""/>
          <p:cNvSpPr txBox="1"/>
          <p:nvPr/>
        </p:nvSpPr>
        <p:spPr>
          <a:xfrm>
            <a:off x="1617480" y="5083560"/>
            <a:ext cx="27576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9" name=""/>
          <p:cNvSpPr txBox="1"/>
          <p:nvPr/>
        </p:nvSpPr>
        <p:spPr>
          <a:xfrm>
            <a:off x="1693440" y="5105520"/>
            <a:ext cx="35866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⾦融级交易（需要精确到分）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0" name=""/>
          <p:cNvSpPr txBox="1"/>
          <p:nvPr/>
        </p:nvSpPr>
        <p:spPr>
          <a:xfrm>
            <a:off x="5284080" y="5083560"/>
            <a:ext cx="38988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→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1" name=""/>
          <p:cNvSpPr/>
          <p:nvPr/>
        </p:nvSpPr>
        <p:spPr>
          <a:xfrm>
            <a:off x="1047600" y="5714640"/>
            <a:ext cx="95400" cy="95760"/>
          </a:xfrm>
          <a:custGeom>
            <a:avLst/>
            <a:gdLst/>
            <a:ahLst/>
            <a:rect l="0" t="0" r="r" b="b"/>
            <a:pathLst>
              <a:path w="265" h="266">
                <a:moveTo>
                  <a:pt x="265" y="134"/>
                </a:moveTo>
                <a:cubicBezTo>
                  <a:pt x="265" y="151"/>
                  <a:pt x="262" y="168"/>
                  <a:pt x="255" y="184"/>
                </a:cubicBezTo>
                <a:cubicBezTo>
                  <a:pt x="249" y="201"/>
                  <a:pt x="239" y="215"/>
                  <a:pt x="227" y="227"/>
                </a:cubicBezTo>
                <a:cubicBezTo>
                  <a:pt x="214" y="240"/>
                  <a:pt x="200" y="249"/>
                  <a:pt x="184" y="256"/>
                </a:cubicBezTo>
                <a:cubicBezTo>
                  <a:pt x="168" y="263"/>
                  <a:pt x="151" y="266"/>
                  <a:pt x="133" y="266"/>
                </a:cubicBezTo>
                <a:cubicBezTo>
                  <a:pt x="115" y="266"/>
                  <a:pt x="98" y="263"/>
                  <a:pt x="82" y="256"/>
                </a:cubicBezTo>
                <a:cubicBezTo>
                  <a:pt x="65" y="249"/>
                  <a:pt x="51" y="240"/>
                  <a:pt x="39" y="227"/>
                </a:cubicBezTo>
                <a:cubicBezTo>
                  <a:pt x="26" y="215"/>
                  <a:pt x="17" y="201"/>
                  <a:pt x="10" y="184"/>
                </a:cubicBezTo>
                <a:cubicBezTo>
                  <a:pt x="3" y="168"/>
                  <a:pt x="0" y="151"/>
                  <a:pt x="0" y="134"/>
                </a:cubicBezTo>
                <a:cubicBezTo>
                  <a:pt x="0" y="116"/>
                  <a:pt x="3" y="99"/>
                  <a:pt x="10" y="82"/>
                </a:cubicBezTo>
                <a:cubicBezTo>
                  <a:pt x="17" y="66"/>
                  <a:pt x="26" y="52"/>
                  <a:pt x="39" y="39"/>
                </a:cubicBezTo>
                <a:cubicBezTo>
                  <a:pt x="51" y="27"/>
                  <a:pt x="65" y="17"/>
                  <a:pt x="82" y="11"/>
                </a:cubicBezTo>
                <a:cubicBezTo>
                  <a:pt x="98" y="4"/>
                  <a:pt x="115" y="0"/>
                  <a:pt x="133" y="0"/>
                </a:cubicBezTo>
                <a:cubicBezTo>
                  <a:pt x="151" y="0"/>
                  <a:pt x="168" y="4"/>
                  <a:pt x="184" y="11"/>
                </a:cubicBezTo>
                <a:cubicBezTo>
                  <a:pt x="200" y="17"/>
                  <a:pt x="214" y="27"/>
                  <a:pt x="227" y="39"/>
                </a:cubicBezTo>
                <a:cubicBezTo>
                  <a:pt x="239" y="52"/>
                  <a:pt x="249" y="66"/>
                  <a:pt x="255" y="82"/>
                </a:cubicBezTo>
                <a:cubicBezTo>
                  <a:pt x="262" y="99"/>
                  <a:pt x="265" y="116"/>
                  <a:pt x="265" y="134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62" name=""/>
          <p:cNvSpPr/>
          <p:nvPr/>
        </p:nvSpPr>
        <p:spPr>
          <a:xfrm>
            <a:off x="1327680" y="5615640"/>
            <a:ext cx="268920" cy="263160"/>
          </a:xfrm>
          <a:custGeom>
            <a:avLst/>
            <a:gdLst/>
            <a:ahLst/>
            <a:rect l="0" t="0" r="r" b="b"/>
            <a:pathLst>
              <a:path w="747" h="731">
                <a:moveTo>
                  <a:pt x="46" y="731"/>
                </a:moveTo>
                <a:cubicBezTo>
                  <a:pt x="6" y="731"/>
                  <a:pt x="-11" y="703"/>
                  <a:pt x="7" y="668"/>
                </a:cubicBezTo>
                <a:lnTo>
                  <a:pt x="340" y="26"/>
                </a:lnTo>
                <a:cubicBezTo>
                  <a:pt x="358" y="-8"/>
                  <a:pt x="388" y="-8"/>
                  <a:pt x="406" y="26"/>
                </a:cubicBezTo>
                <a:lnTo>
                  <a:pt x="739" y="668"/>
                </a:lnTo>
                <a:cubicBezTo>
                  <a:pt x="758" y="703"/>
                  <a:pt x="740" y="731"/>
                  <a:pt x="701" y="731"/>
                </a:cubicBezTo>
                <a:lnTo>
                  <a:pt x="46" y="731"/>
                </a:lnTo>
                <a:close/>
              </a:path>
            </a:pathLst>
          </a:custGeom>
          <a:solidFill>
            <a:srgbClr val="FFCC4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3" name=""/>
          <p:cNvSpPr/>
          <p:nvPr/>
        </p:nvSpPr>
        <p:spPr>
          <a:xfrm>
            <a:off x="1443240" y="5675760"/>
            <a:ext cx="37440" cy="175320"/>
          </a:xfrm>
          <a:custGeom>
            <a:avLst/>
            <a:gdLst/>
            <a:ahLst/>
            <a:rect l="0" t="0" r="r" b="b"/>
            <a:pathLst>
              <a:path w="104" h="487">
                <a:moveTo>
                  <a:pt x="0" y="436"/>
                </a:moveTo>
                <a:cubicBezTo>
                  <a:pt x="0" y="407"/>
                  <a:pt x="23" y="384"/>
                  <a:pt x="52" y="384"/>
                </a:cubicBezTo>
                <a:cubicBezTo>
                  <a:pt x="81" y="384"/>
                  <a:pt x="104" y="407"/>
                  <a:pt x="104" y="436"/>
                </a:cubicBezTo>
                <a:cubicBezTo>
                  <a:pt x="104" y="464"/>
                  <a:pt x="81" y="487"/>
                  <a:pt x="52" y="487"/>
                </a:cubicBezTo>
                <a:cubicBezTo>
                  <a:pt x="23" y="487"/>
                  <a:pt x="0" y="464"/>
                  <a:pt x="0" y="436"/>
                </a:cubicBezTo>
                <a:moveTo>
                  <a:pt x="4" y="46"/>
                </a:moveTo>
                <a:cubicBezTo>
                  <a:pt x="4" y="17"/>
                  <a:pt x="25" y="0"/>
                  <a:pt x="52" y="0"/>
                </a:cubicBezTo>
                <a:cubicBezTo>
                  <a:pt x="79" y="0"/>
                  <a:pt x="100" y="18"/>
                  <a:pt x="100" y="46"/>
                </a:cubicBezTo>
                <a:lnTo>
                  <a:pt x="100" y="300"/>
                </a:lnTo>
                <a:cubicBezTo>
                  <a:pt x="100" y="327"/>
                  <a:pt x="79" y="345"/>
                  <a:pt x="52" y="345"/>
                </a:cubicBezTo>
                <a:cubicBezTo>
                  <a:pt x="25" y="345"/>
                  <a:pt x="4" y="328"/>
                  <a:pt x="4" y="300"/>
                </a:cubicBezTo>
                <a:lnTo>
                  <a:pt x="4" y="46"/>
                </a:lnTo>
                <a:close/>
              </a:path>
            </a:pathLst>
          </a:custGeom>
          <a:solidFill>
            <a:srgbClr val="231F2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64" name=""/>
          <p:cNvSpPr txBox="1"/>
          <p:nvPr/>
        </p:nvSpPr>
        <p:spPr>
          <a:xfrm>
            <a:off x="5673960" y="5105520"/>
            <a:ext cx="35866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需要补充审计⽇志和回滚机制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5" name=""/>
          <p:cNvSpPr txBox="1"/>
          <p:nvPr/>
        </p:nvSpPr>
        <p:spPr>
          <a:xfrm>
            <a:off x="1617480" y="5559840"/>
            <a:ext cx="27576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6" name=""/>
          <p:cNvSpPr txBox="1"/>
          <p:nvPr/>
        </p:nvSpPr>
        <p:spPr>
          <a:xfrm>
            <a:off x="1693440" y="5581800"/>
            <a:ext cx="22075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实时计费（秒级）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7" name=""/>
          <p:cNvSpPr txBox="1"/>
          <p:nvPr/>
        </p:nvSpPr>
        <p:spPr>
          <a:xfrm>
            <a:off x="3903120" y="5559840"/>
            <a:ext cx="38988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→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8" name=""/>
          <p:cNvSpPr txBox="1"/>
          <p:nvPr/>
        </p:nvSpPr>
        <p:spPr>
          <a:xfrm>
            <a:off x="4292640" y="5581800"/>
            <a:ext cx="11041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需要引⼊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9" name=""/>
          <p:cNvSpPr txBox="1"/>
          <p:nvPr/>
        </p:nvSpPr>
        <p:spPr>
          <a:xfrm>
            <a:off x="5397480" y="5559840"/>
            <a:ext cx="80748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Redis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0" name=""/>
          <p:cNvSpPr txBox="1"/>
          <p:nvPr/>
        </p:nvSpPr>
        <p:spPr>
          <a:xfrm>
            <a:off x="6197400" y="5581800"/>
            <a:ext cx="13798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和流式处理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1" name=""/>
          <p:cNvSpPr txBox="1"/>
          <p:nvPr/>
        </p:nvSpPr>
        <p:spPr>
          <a:xfrm>
            <a:off x="11659680" y="6335280"/>
            <a:ext cx="24732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SegoeUI"/>
                <a:ea typeface="SegoeUI"/>
              </a:rPr>
              <a:t>19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LibreOffice/26.2.0.3$Windows_X86_64 LibreOffice_project/620$Build-3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zh-CN</dc:language>
  <cp:lastModifiedBy/>
  <cp:revision>0</cp:revision>
  <dc:subject/>
  <dc:title/>
</cp:coreProperties>
</file>
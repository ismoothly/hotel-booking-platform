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5"/>
    <p:sldId id="268" r:id="rId16"/>
    <p:sldId id="269" r:id="rId17"/>
    <p:sldId id="270" r:id="rId18"/>
    <p:sldId id="271" r:id="rId19"/>
    <p:sldId id="277" r:id="rId20"/>
  </p:sldIdLst>
  <p:sldSz cx="12192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720185" y="0"/>
            <a:ext cx="3611028" cy="627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16306" y="1562610"/>
            <a:ext cx="7500529" cy="42190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833314" y="6016049"/>
            <a:ext cx="6666513" cy="492222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720185" y="11873668"/>
            <a:ext cx="3611028" cy="627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1pPr>
            <a:lvl2pPr lvl="1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3pPr>
            <a:lvl4pPr lvl="3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4pPr>
            <a:lvl5pPr lvl="4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5pPr>
            <a:lvl6pPr lvl="5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6pPr>
            <a:lvl7pPr lvl="6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defRPr>
            </a:lvl7pPr>
          </a:lstStyle>
          <a:p>
            <a:pPr marL="431800" indent="-323850" algn="l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 algn="l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 algn="l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 algn="l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 algn="l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7720" y="1644120"/>
            <a:ext cx="530424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酒店预订平台后端设计⽅法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1047600" y="34192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7720" y="2517840"/>
            <a:ext cx="6823800" cy="47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83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Hotel Booking Platform Backend Design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00320" y="32860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技术栈：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1047600" y="39049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405160" y="3264480"/>
            <a:ext cx="5221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Node.js + Express + MongoDB(Mongoose)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1047600" y="43812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0320" y="3771720"/>
            <a:ext cx="6345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关键词：认证授权、并发控制、可维护性、可观测性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0320" y="42480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⽇期：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28680" y="4226400"/>
            <a:ext cx="1410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2026-03-04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 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7720" y="9043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1.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53800" y="9392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设计⽬标与约束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1047600" y="25048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7720" y="18003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业务⽬标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0032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覆盖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852560" y="23500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956600" y="2371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查询酒店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06180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45132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下单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00392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39344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945680" y="235008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35560" y="2371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订单管理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440400" y="23500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1047600" y="29811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544440" y="237168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闭环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30032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852560" y="2826000"/>
            <a:ext cx="20926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Admin / Client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947400" y="284796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⼩程序多端统⼀后端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" name="任意多边形 41"/>
          <p:cNvSpPr/>
          <p:nvPr/>
        </p:nvSpPr>
        <p:spPr>
          <a:xfrm>
            <a:off x="1047600" y="411444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47720" y="34196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架构约束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" name="任意多边形 43"/>
          <p:cNvSpPr/>
          <p:nvPr/>
        </p:nvSpPr>
        <p:spPr>
          <a:xfrm>
            <a:off x="1047600" y="460044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7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300320" y="398160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⾼并发下避免超卖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1300320" y="4467240"/>
            <a:ext cx="331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⻆⾊权限边界清晰（管理员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614840" y="4445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73680" y="4467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商⼾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426280" y="4445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/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任意多边形 49"/>
          <p:cNvSpPr/>
          <p:nvPr/>
        </p:nvSpPr>
        <p:spPr>
          <a:xfrm>
            <a:off x="1047600" y="50860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685120" y="446724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00320" y="495288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便于演进：从内存数据平滑迁移到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443560" y="4931280"/>
            <a:ext cx="1317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多边形 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任意多边形 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757080" y="464328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8"/>
                  <a:pt x="117" y="5396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任意多边形 58"/>
          <p:cNvSpPr/>
          <p:nvPr/>
        </p:nvSpPr>
        <p:spPr>
          <a:xfrm>
            <a:off x="757080" y="4643280"/>
            <a:ext cx="10687320" cy="1943280"/>
          </a:xfrm>
          <a:custGeom>
            <a:avLst/>
            <a:gdLst/>
            <a:ahLst/>
            <a:cxnLst/>
            <a:rect l="0" t="0" r="r" b="b"/>
            <a:pathLst>
              <a:path w="29687" h="5398">
                <a:moveTo>
                  <a:pt x="0" y="525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5253"/>
                </a:lnTo>
                <a:cubicBezTo>
                  <a:pt x="29687" y="5262"/>
                  <a:pt x="29686" y="5272"/>
                  <a:pt x="29684" y="5281"/>
                </a:cubicBezTo>
                <a:cubicBezTo>
                  <a:pt x="29683" y="5291"/>
                  <a:pt x="29680" y="5300"/>
                  <a:pt x="29676" y="5309"/>
                </a:cubicBezTo>
                <a:cubicBezTo>
                  <a:pt x="29672" y="5317"/>
                  <a:pt x="29668" y="5326"/>
                  <a:pt x="29663" y="5334"/>
                </a:cubicBezTo>
                <a:cubicBezTo>
                  <a:pt x="29657" y="5342"/>
                  <a:pt x="29651" y="5349"/>
                  <a:pt x="29645" y="5356"/>
                </a:cubicBezTo>
                <a:cubicBezTo>
                  <a:pt x="29638" y="5363"/>
                  <a:pt x="29630" y="5369"/>
                  <a:pt x="29623" y="5374"/>
                </a:cubicBezTo>
                <a:cubicBezTo>
                  <a:pt x="29615" y="5379"/>
                  <a:pt x="29606" y="5384"/>
                  <a:pt x="29597" y="5387"/>
                </a:cubicBezTo>
                <a:cubicBezTo>
                  <a:pt x="29589" y="5391"/>
                  <a:pt x="29579" y="5394"/>
                  <a:pt x="29570" y="5396"/>
                </a:cubicBezTo>
                <a:cubicBezTo>
                  <a:pt x="29561" y="5398"/>
                  <a:pt x="29551" y="5398"/>
                  <a:pt x="29542" y="5398"/>
                </a:cubicBezTo>
                <a:lnTo>
                  <a:pt x="145" y="5398"/>
                </a:lnTo>
                <a:cubicBezTo>
                  <a:pt x="136" y="5398"/>
                  <a:pt x="126" y="5398"/>
                  <a:pt x="117" y="5396"/>
                </a:cubicBezTo>
                <a:cubicBezTo>
                  <a:pt x="108" y="5394"/>
                  <a:pt x="99" y="5391"/>
                  <a:pt x="90" y="5387"/>
                </a:cubicBezTo>
                <a:cubicBezTo>
                  <a:pt x="81" y="5384"/>
                  <a:pt x="73" y="5379"/>
                  <a:pt x="65" y="5374"/>
                </a:cubicBezTo>
                <a:cubicBezTo>
                  <a:pt x="57" y="5369"/>
                  <a:pt x="49" y="5363"/>
                  <a:pt x="43" y="5356"/>
                </a:cubicBezTo>
                <a:cubicBezTo>
                  <a:pt x="36" y="5349"/>
                  <a:pt x="30" y="5342"/>
                  <a:pt x="24" y="5334"/>
                </a:cubicBezTo>
                <a:cubicBezTo>
                  <a:pt x="19" y="5326"/>
                  <a:pt x="15" y="5317"/>
                  <a:pt x="11" y="5309"/>
                </a:cubicBezTo>
                <a:cubicBezTo>
                  <a:pt x="7" y="5300"/>
                  <a:pt x="5" y="5291"/>
                  <a:pt x="3" y="5281"/>
                </a:cubicBezTo>
                <a:cubicBezTo>
                  <a:pt x="1" y="5272"/>
                  <a:pt x="0" y="5262"/>
                  <a:pt x="0" y="525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221120" y="15804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总体架构设计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47720" y="10191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前后端分离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2128680" y="99720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247248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多端复⽤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1047600" y="17143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577320" y="99720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API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1300320" y="1559160"/>
            <a:ext cx="699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Client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任意多边形 67"/>
          <p:cNvSpPr/>
          <p:nvPr/>
        </p:nvSpPr>
        <p:spPr>
          <a:xfrm>
            <a:off x="2276280" y="1590480"/>
            <a:ext cx="2895840" cy="371880"/>
          </a:xfrm>
          <a:custGeom>
            <a:avLst/>
            <a:gdLst/>
            <a:ahLst/>
            <a:cxnLst/>
            <a:rect l="0" t="0" r="r" b="b"/>
            <a:pathLst>
              <a:path w="8044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86" y="0"/>
                </a:lnTo>
                <a:cubicBezTo>
                  <a:pt x="7896" y="0"/>
                  <a:pt x="7906" y="1"/>
                  <a:pt x="7917" y="3"/>
                </a:cubicBezTo>
                <a:cubicBezTo>
                  <a:pt x="7927" y="5"/>
                  <a:pt x="7937" y="8"/>
                  <a:pt x="7946" y="12"/>
                </a:cubicBezTo>
                <a:cubicBezTo>
                  <a:pt x="7956" y="16"/>
                  <a:pt x="7965" y="21"/>
                  <a:pt x="7974" y="27"/>
                </a:cubicBezTo>
                <a:cubicBezTo>
                  <a:pt x="7982" y="33"/>
                  <a:pt x="7991" y="39"/>
                  <a:pt x="7998" y="47"/>
                </a:cubicBezTo>
                <a:cubicBezTo>
                  <a:pt x="8005" y="54"/>
                  <a:pt x="8012" y="62"/>
                  <a:pt x="8018" y="71"/>
                </a:cubicBezTo>
                <a:cubicBezTo>
                  <a:pt x="8023" y="79"/>
                  <a:pt x="8028" y="88"/>
                  <a:pt x="8032" y="98"/>
                </a:cubicBezTo>
                <a:cubicBezTo>
                  <a:pt x="8036" y="108"/>
                  <a:pt x="8039" y="118"/>
                  <a:pt x="8041" y="128"/>
                </a:cubicBezTo>
                <a:cubicBezTo>
                  <a:pt x="8043" y="138"/>
                  <a:pt x="8044" y="148"/>
                  <a:pt x="8044" y="159"/>
                </a:cubicBezTo>
                <a:lnTo>
                  <a:pt x="8044" y="874"/>
                </a:lnTo>
                <a:cubicBezTo>
                  <a:pt x="8044" y="885"/>
                  <a:pt x="8043" y="895"/>
                  <a:pt x="8041" y="905"/>
                </a:cubicBezTo>
                <a:cubicBezTo>
                  <a:pt x="8039" y="915"/>
                  <a:pt x="8036" y="925"/>
                  <a:pt x="8032" y="935"/>
                </a:cubicBezTo>
                <a:cubicBezTo>
                  <a:pt x="8028" y="945"/>
                  <a:pt x="8023" y="954"/>
                  <a:pt x="8018" y="962"/>
                </a:cubicBezTo>
                <a:cubicBezTo>
                  <a:pt x="8012" y="971"/>
                  <a:pt x="8005" y="979"/>
                  <a:pt x="7998" y="986"/>
                </a:cubicBezTo>
                <a:cubicBezTo>
                  <a:pt x="7991" y="994"/>
                  <a:pt x="7982" y="1000"/>
                  <a:pt x="7974" y="1006"/>
                </a:cubicBezTo>
                <a:cubicBezTo>
                  <a:pt x="7965" y="1012"/>
                  <a:pt x="7956" y="1017"/>
                  <a:pt x="7946" y="1021"/>
                </a:cubicBezTo>
                <a:cubicBezTo>
                  <a:pt x="7937" y="1025"/>
                  <a:pt x="7927" y="1028"/>
                  <a:pt x="7917" y="1030"/>
                </a:cubicBezTo>
                <a:cubicBezTo>
                  <a:pt x="7906" y="1032"/>
                  <a:pt x="7896" y="1033"/>
                  <a:pt x="788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999440" y="1581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369520" y="168228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http://localhost:3000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1047600" y="220968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174280" y="1581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1300320" y="2054520"/>
            <a:ext cx="801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任意多边形 73"/>
          <p:cNvSpPr/>
          <p:nvPr/>
        </p:nvSpPr>
        <p:spPr>
          <a:xfrm>
            <a:off x="2381040" y="2085840"/>
            <a:ext cx="2895840" cy="371880"/>
          </a:xfrm>
          <a:custGeom>
            <a:avLst/>
            <a:gdLst/>
            <a:ahLst/>
            <a:cxnLst/>
            <a:rect l="0" t="0" r="r" b="b"/>
            <a:pathLst>
              <a:path w="8044" h="1033">
                <a:moveTo>
                  <a:pt x="0" y="87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886" y="0"/>
                </a:lnTo>
                <a:cubicBezTo>
                  <a:pt x="7896" y="0"/>
                  <a:pt x="7906" y="1"/>
                  <a:pt x="7917" y="3"/>
                </a:cubicBezTo>
                <a:cubicBezTo>
                  <a:pt x="7927" y="5"/>
                  <a:pt x="7937" y="8"/>
                  <a:pt x="7946" y="12"/>
                </a:cubicBezTo>
                <a:cubicBezTo>
                  <a:pt x="7956" y="16"/>
                  <a:pt x="7965" y="21"/>
                  <a:pt x="7974" y="27"/>
                </a:cubicBezTo>
                <a:cubicBezTo>
                  <a:pt x="7983" y="32"/>
                  <a:pt x="7991" y="39"/>
                  <a:pt x="7998" y="46"/>
                </a:cubicBezTo>
                <a:cubicBezTo>
                  <a:pt x="8005" y="54"/>
                  <a:pt x="8012" y="62"/>
                  <a:pt x="8018" y="70"/>
                </a:cubicBezTo>
                <a:cubicBezTo>
                  <a:pt x="8023" y="79"/>
                  <a:pt x="8028" y="88"/>
                  <a:pt x="8032" y="98"/>
                </a:cubicBezTo>
                <a:cubicBezTo>
                  <a:pt x="8036" y="108"/>
                  <a:pt x="8039" y="117"/>
                  <a:pt x="8041" y="128"/>
                </a:cubicBezTo>
                <a:cubicBezTo>
                  <a:pt x="8043" y="138"/>
                  <a:pt x="8044" y="148"/>
                  <a:pt x="8044" y="159"/>
                </a:cubicBezTo>
                <a:lnTo>
                  <a:pt x="8044" y="873"/>
                </a:lnTo>
                <a:cubicBezTo>
                  <a:pt x="8044" y="883"/>
                  <a:pt x="8043" y="894"/>
                  <a:pt x="8041" y="904"/>
                </a:cubicBezTo>
                <a:cubicBezTo>
                  <a:pt x="8039" y="915"/>
                  <a:pt x="8036" y="925"/>
                  <a:pt x="8032" y="935"/>
                </a:cubicBezTo>
                <a:cubicBezTo>
                  <a:pt x="8028" y="944"/>
                  <a:pt x="8023" y="954"/>
                  <a:pt x="8018" y="962"/>
                </a:cubicBezTo>
                <a:cubicBezTo>
                  <a:pt x="8012" y="971"/>
                  <a:pt x="8005" y="979"/>
                  <a:pt x="7998" y="986"/>
                </a:cubicBezTo>
                <a:cubicBezTo>
                  <a:pt x="7991" y="994"/>
                  <a:pt x="7983" y="1000"/>
                  <a:pt x="7974" y="1006"/>
                </a:cubicBezTo>
                <a:cubicBezTo>
                  <a:pt x="7965" y="1012"/>
                  <a:pt x="7956" y="1017"/>
                  <a:pt x="7946" y="1021"/>
                </a:cubicBezTo>
                <a:cubicBezTo>
                  <a:pt x="7937" y="1025"/>
                  <a:pt x="7927" y="1028"/>
                  <a:pt x="7917" y="1030"/>
                </a:cubicBezTo>
                <a:cubicBezTo>
                  <a:pt x="7906" y="1032"/>
                  <a:pt x="7896" y="1033"/>
                  <a:pt x="7886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4"/>
                </a:cubicBezTo>
                <a:cubicBezTo>
                  <a:pt x="1" y="894"/>
                  <a:pt x="0" y="883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102040" y="2076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2472480" y="217764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http://localhost:3001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1047600" y="26953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5277240" y="20764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300320" y="2540520"/>
            <a:ext cx="759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Server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边形 79"/>
          <p:cNvSpPr/>
          <p:nvPr/>
        </p:nvSpPr>
        <p:spPr>
          <a:xfrm>
            <a:off x="2333520" y="2571480"/>
            <a:ext cx="2905560" cy="371880"/>
          </a:xfrm>
          <a:custGeom>
            <a:avLst/>
            <a:gdLst/>
            <a:ahLst/>
            <a:cxnLst/>
            <a:rect l="0" t="0" r="r" b="b"/>
            <a:pathLst>
              <a:path w="807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7912" y="0"/>
                </a:lnTo>
                <a:cubicBezTo>
                  <a:pt x="7922" y="0"/>
                  <a:pt x="7933" y="1"/>
                  <a:pt x="7943" y="3"/>
                </a:cubicBezTo>
                <a:cubicBezTo>
                  <a:pt x="7953" y="5"/>
                  <a:pt x="7963" y="8"/>
                  <a:pt x="7973" y="12"/>
                </a:cubicBezTo>
                <a:cubicBezTo>
                  <a:pt x="7982" y="16"/>
                  <a:pt x="7991" y="21"/>
                  <a:pt x="8000" y="27"/>
                </a:cubicBezTo>
                <a:cubicBezTo>
                  <a:pt x="8009" y="33"/>
                  <a:pt x="8017" y="39"/>
                  <a:pt x="8024" y="47"/>
                </a:cubicBezTo>
                <a:cubicBezTo>
                  <a:pt x="8031" y="54"/>
                  <a:pt x="8038" y="62"/>
                  <a:pt x="8044" y="71"/>
                </a:cubicBezTo>
                <a:cubicBezTo>
                  <a:pt x="8050" y="79"/>
                  <a:pt x="8055" y="89"/>
                  <a:pt x="8058" y="98"/>
                </a:cubicBezTo>
                <a:cubicBezTo>
                  <a:pt x="8062" y="108"/>
                  <a:pt x="8065" y="118"/>
                  <a:pt x="8068" y="128"/>
                </a:cubicBezTo>
                <a:cubicBezTo>
                  <a:pt x="8070" y="138"/>
                  <a:pt x="8071" y="149"/>
                  <a:pt x="8071" y="159"/>
                </a:cubicBezTo>
                <a:lnTo>
                  <a:pt x="8071" y="874"/>
                </a:lnTo>
                <a:cubicBezTo>
                  <a:pt x="8071" y="885"/>
                  <a:pt x="8070" y="895"/>
                  <a:pt x="8068" y="905"/>
                </a:cubicBezTo>
                <a:cubicBezTo>
                  <a:pt x="8065" y="916"/>
                  <a:pt x="8062" y="925"/>
                  <a:pt x="8058" y="935"/>
                </a:cubicBezTo>
                <a:cubicBezTo>
                  <a:pt x="8055" y="945"/>
                  <a:pt x="8050" y="954"/>
                  <a:pt x="8044" y="963"/>
                </a:cubicBezTo>
                <a:cubicBezTo>
                  <a:pt x="8038" y="971"/>
                  <a:pt x="8031" y="979"/>
                  <a:pt x="8024" y="987"/>
                </a:cubicBezTo>
                <a:cubicBezTo>
                  <a:pt x="8017" y="994"/>
                  <a:pt x="8009" y="1001"/>
                  <a:pt x="8000" y="1006"/>
                </a:cubicBezTo>
                <a:cubicBezTo>
                  <a:pt x="7991" y="1012"/>
                  <a:pt x="7982" y="1017"/>
                  <a:pt x="7973" y="1021"/>
                </a:cubicBezTo>
                <a:cubicBezTo>
                  <a:pt x="7963" y="1025"/>
                  <a:pt x="7953" y="1028"/>
                  <a:pt x="7943" y="1030"/>
                </a:cubicBezTo>
                <a:cubicBezTo>
                  <a:pt x="7933" y="1032"/>
                  <a:pt x="7922" y="1033"/>
                  <a:pt x="791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2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060280" y="2562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430360" y="266328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http://localhost:5000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235120" y="2562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511240" y="25405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776200" y="25621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统⼀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任意多边形 85"/>
          <p:cNvSpPr/>
          <p:nvPr/>
        </p:nvSpPr>
        <p:spPr>
          <a:xfrm>
            <a:off x="6400440" y="2571480"/>
            <a:ext cx="962640" cy="371880"/>
          </a:xfrm>
          <a:custGeom>
            <a:avLst/>
            <a:gdLst/>
            <a:ahLst/>
            <a:cxnLst/>
            <a:rect l="0" t="0" r="r" b="b"/>
            <a:pathLst>
              <a:path w="2674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2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515" y="0"/>
                </a:lnTo>
                <a:cubicBezTo>
                  <a:pt x="2525" y="0"/>
                  <a:pt x="2536" y="1"/>
                  <a:pt x="2546" y="3"/>
                </a:cubicBezTo>
                <a:cubicBezTo>
                  <a:pt x="2556" y="5"/>
                  <a:pt x="2566" y="8"/>
                  <a:pt x="2576" y="12"/>
                </a:cubicBezTo>
                <a:cubicBezTo>
                  <a:pt x="2585" y="16"/>
                  <a:pt x="2595" y="21"/>
                  <a:pt x="2603" y="27"/>
                </a:cubicBezTo>
                <a:cubicBezTo>
                  <a:pt x="2612" y="33"/>
                  <a:pt x="2620" y="39"/>
                  <a:pt x="2627" y="47"/>
                </a:cubicBezTo>
                <a:cubicBezTo>
                  <a:pt x="2635" y="54"/>
                  <a:pt x="2641" y="62"/>
                  <a:pt x="2647" y="71"/>
                </a:cubicBezTo>
                <a:cubicBezTo>
                  <a:pt x="2653" y="79"/>
                  <a:pt x="2658" y="89"/>
                  <a:pt x="2662" y="98"/>
                </a:cubicBezTo>
                <a:cubicBezTo>
                  <a:pt x="2666" y="108"/>
                  <a:pt x="2669" y="118"/>
                  <a:pt x="2671" y="128"/>
                </a:cubicBezTo>
                <a:cubicBezTo>
                  <a:pt x="2673" y="138"/>
                  <a:pt x="2674" y="149"/>
                  <a:pt x="2674" y="159"/>
                </a:cubicBezTo>
                <a:lnTo>
                  <a:pt x="2674" y="874"/>
                </a:lnTo>
                <a:cubicBezTo>
                  <a:pt x="2674" y="885"/>
                  <a:pt x="2673" y="895"/>
                  <a:pt x="2671" y="905"/>
                </a:cubicBezTo>
                <a:cubicBezTo>
                  <a:pt x="2669" y="916"/>
                  <a:pt x="2666" y="925"/>
                  <a:pt x="2662" y="935"/>
                </a:cubicBezTo>
                <a:cubicBezTo>
                  <a:pt x="2658" y="945"/>
                  <a:pt x="2653" y="954"/>
                  <a:pt x="2647" y="963"/>
                </a:cubicBezTo>
                <a:cubicBezTo>
                  <a:pt x="2641" y="971"/>
                  <a:pt x="2635" y="979"/>
                  <a:pt x="2627" y="987"/>
                </a:cubicBezTo>
                <a:cubicBezTo>
                  <a:pt x="2620" y="994"/>
                  <a:pt x="2612" y="1001"/>
                  <a:pt x="2603" y="1006"/>
                </a:cubicBezTo>
                <a:cubicBezTo>
                  <a:pt x="2595" y="1012"/>
                  <a:pt x="2585" y="1017"/>
                  <a:pt x="2576" y="1021"/>
                </a:cubicBezTo>
                <a:cubicBezTo>
                  <a:pt x="2566" y="1025"/>
                  <a:pt x="2556" y="1028"/>
                  <a:pt x="2546" y="1030"/>
                </a:cubicBezTo>
                <a:cubicBezTo>
                  <a:pt x="2536" y="1032"/>
                  <a:pt x="2525" y="1033"/>
                  <a:pt x="2515" y="1033"/>
                </a:cubicBezTo>
                <a:lnTo>
                  <a:pt x="159" y="1033"/>
                </a:lnTo>
                <a:cubicBezTo>
                  <a:pt x="149" y="1033"/>
                  <a:pt x="139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7" y="945"/>
                  <a:pt x="13" y="935"/>
                </a:cubicBezTo>
                <a:cubicBezTo>
                  <a:pt x="9" y="925"/>
                  <a:pt x="6" y="916"/>
                  <a:pt x="4" y="905"/>
                </a:cubicBezTo>
                <a:cubicBezTo>
                  <a:pt x="2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6328440" y="25405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1047600" y="31813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6498000" y="266328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/api/*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00320" y="3026160"/>
            <a:ext cx="12416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任意多边形 90"/>
          <p:cNvSpPr/>
          <p:nvPr/>
        </p:nvSpPr>
        <p:spPr>
          <a:xfrm>
            <a:off x="2819160" y="3057480"/>
            <a:ext cx="3420000" cy="371520"/>
          </a:xfrm>
          <a:custGeom>
            <a:avLst/>
            <a:gdLst/>
            <a:ahLst/>
            <a:cxnLst/>
            <a:rect l="0" t="0" r="r" b="b"/>
            <a:pathLst>
              <a:path w="9500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341" y="0"/>
                </a:lnTo>
                <a:cubicBezTo>
                  <a:pt x="9351" y="0"/>
                  <a:pt x="9362" y="1"/>
                  <a:pt x="9372" y="3"/>
                </a:cubicBezTo>
                <a:cubicBezTo>
                  <a:pt x="9382" y="5"/>
                  <a:pt x="9392" y="8"/>
                  <a:pt x="9402" y="12"/>
                </a:cubicBezTo>
                <a:cubicBezTo>
                  <a:pt x="9411" y="16"/>
                  <a:pt x="9420" y="21"/>
                  <a:pt x="9429" y="26"/>
                </a:cubicBezTo>
                <a:cubicBezTo>
                  <a:pt x="9438" y="32"/>
                  <a:pt x="9446" y="39"/>
                  <a:pt x="9453" y="46"/>
                </a:cubicBezTo>
                <a:cubicBezTo>
                  <a:pt x="9461" y="53"/>
                  <a:pt x="9467" y="62"/>
                  <a:pt x="9473" y="70"/>
                </a:cubicBezTo>
                <a:cubicBezTo>
                  <a:pt x="9479" y="79"/>
                  <a:pt x="9484" y="88"/>
                  <a:pt x="9488" y="98"/>
                </a:cubicBezTo>
                <a:cubicBezTo>
                  <a:pt x="9492" y="107"/>
                  <a:pt x="9495" y="117"/>
                  <a:pt x="9497" y="127"/>
                </a:cubicBezTo>
                <a:cubicBezTo>
                  <a:pt x="9499" y="138"/>
                  <a:pt x="9500" y="148"/>
                  <a:pt x="9500" y="158"/>
                </a:cubicBezTo>
                <a:lnTo>
                  <a:pt x="9500" y="874"/>
                </a:lnTo>
                <a:cubicBezTo>
                  <a:pt x="9500" y="884"/>
                  <a:pt x="9499" y="894"/>
                  <a:pt x="9497" y="905"/>
                </a:cubicBezTo>
                <a:cubicBezTo>
                  <a:pt x="9495" y="915"/>
                  <a:pt x="9492" y="925"/>
                  <a:pt x="9488" y="935"/>
                </a:cubicBezTo>
                <a:cubicBezTo>
                  <a:pt x="9484" y="944"/>
                  <a:pt x="9479" y="953"/>
                  <a:pt x="9473" y="962"/>
                </a:cubicBezTo>
                <a:cubicBezTo>
                  <a:pt x="9467" y="971"/>
                  <a:pt x="9461" y="979"/>
                  <a:pt x="9453" y="986"/>
                </a:cubicBezTo>
                <a:cubicBezTo>
                  <a:pt x="9446" y="993"/>
                  <a:pt x="9438" y="1000"/>
                  <a:pt x="9429" y="1006"/>
                </a:cubicBezTo>
                <a:cubicBezTo>
                  <a:pt x="9420" y="1012"/>
                  <a:pt x="9411" y="1016"/>
                  <a:pt x="9402" y="1020"/>
                </a:cubicBezTo>
                <a:cubicBezTo>
                  <a:pt x="9392" y="1024"/>
                  <a:pt x="9382" y="1027"/>
                  <a:pt x="9372" y="1029"/>
                </a:cubicBezTo>
                <a:cubicBezTo>
                  <a:pt x="9362" y="1031"/>
                  <a:pt x="9351" y="1032"/>
                  <a:pt x="9341" y="1032"/>
                </a:cubicBezTo>
                <a:lnTo>
                  <a:pt x="159" y="1032"/>
                </a:lnTo>
                <a:cubicBezTo>
                  <a:pt x="148" y="1032"/>
                  <a:pt x="138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79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543040" y="3048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913120" y="3148920"/>
            <a:ext cx="3226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mongodb://localhost:27018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1047600" y="366696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234480" y="3048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1300320" y="3511800"/>
            <a:ext cx="70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Redis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2247840" y="3543120"/>
            <a:ext cx="1990800" cy="371880"/>
          </a:xfrm>
          <a:custGeom>
            <a:avLst/>
            <a:gdLst/>
            <a:ahLst/>
            <a:cxnLst/>
            <a:rect l="0" t="0" r="r" b="b"/>
            <a:pathLst>
              <a:path w="5530" h="1033">
                <a:moveTo>
                  <a:pt x="0" y="87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372" y="0"/>
                </a:lnTo>
                <a:cubicBezTo>
                  <a:pt x="5382" y="0"/>
                  <a:pt x="5392" y="1"/>
                  <a:pt x="5403" y="3"/>
                </a:cubicBezTo>
                <a:cubicBezTo>
                  <a:pt x="5413" y="5"/>
                  <a:pt x="5423" y="8"/>
                  <a:pt x="5432" y="12"/>
                </a:cubicBezTo>
                <a:cubicBezTo>
                  <a:pt x="5442" y="16"/>
                  <a:pt x="5451" y="21"/>
                  <a:pt x="5460" y="27"/>
                </a:cubicBezTo>
                <a:cubicBezTo>
                  <a:pt x="5469" y="33"/>
                  <a:pt x="5477" y="39"/>
                  <a:pt x="5484" y="46"/>
                </a:cubicBezTo>
                <a:cubicBezTo>
                  <a:pt x="5491" y="54"/>
                  <a:pt x="5498" y="62"/>
                  <a:pt x="5504" y="71"/>
                </a:cubicBezTo>
                <a:cubicBezTo>
                  <a:pt x="5509" y="79"/>
                  <a:pt x="5514" y="88"/>
                  <a:pt x="5518" y="98"/>
                </a:cubicBezTo>
                <a:cubicBezTo>
                  <a:pt x="5522" y="108"/>
                  <a:pt x="5525" y="118"/>
                  <a:pt x="5527" y="128"/>
                </a:cubicBezTo>
                <a:cubicBezTo>
                  <a:pt x="5529" y="138"/>
                  <a:pt x="5530" y="148"/>
                  <a:pt x="5530" y="159"/>
                </a:cubicBezTo>
                <a:lnTo>
                  <a:pt x="5530" y="873"/>
                </a:lnTo>
                <a:cubicBezTo>
                  <a:pt x="5530" y="884"/>
                  <a:pt x="5529" y="894"/>
                  <a:pt x="5527" y="904"/>
                </a:cubicBezTo>
                <a:cubicBezTo>
                  <a:pt x="5525" y="914"/>
                  <a:pt x="5522" y="924"/>
                  <a:pt x="5518" y="934"/>
                </a:cubicBezTo>
                <a:cubicBezTo>
                  <a:pt x="5514" y="944"/>
                  <a:pt x="5509" y="953"/>
                  <a:pt x="5504" y="961"/>
                </a:cubicBezTo>
                <a:cubicBezTo>
                  <a:pt x="5498" y="970"/>
                  <a:pt x="5491" y="978"/>
                  <a:pt x="5484" y="986"/>
                </a:cubicBezTo>
                <a:cubicBezTo>
                  <a:pt x="5477" y="994"/>
                  <a:pt x="5469" y="1000"/>
                  <a:pt x="5460" y="1006"/>
                </a:cubicBezTo>
                <a:cubicBezTo>
                  <a:pt x="5451" y="1012"/>
                  <a:pt x="5442" y="1017"/>
                  <a:pt x="5432" y="1021"/>
                </a:cubicBezTo>
                <a:cubicBezTo>
                  <a:pt x="5423" y="1025"/>
                  <a:pt x="5413" y="1028"/>
                  <a:pt x="5403" y="1030"/>
                </a:cubicBezTo>
                <a:cubicBezTo>
                  <a:pt x="5392" y="1032"/>
                  <a:pt x="5382" y="1033"/>
                  <a:pt x="5372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8"/>
                  <a:pt x="32" y="970"/>
                  <a:pt x="26" y="961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4"/>
                  <a:pt x="5" y="914"/>
                  <a:pt x="3" y="904"/>
                </a:cubicBezTo>
                <a:cubicBezTo>
                  <a:pt x="1" y="894"/>
                  <a:pt x="0" y="884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1969200" y="35337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339280" y="3634920"/>
            <a:ext cx="180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1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127.0.0.1:6379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240800" y="353376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）：消息队列（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036120" y="3511800"/>
            <a:ext cx="448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Bull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6484680" y="35337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6760800" y="35118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7025400" y="35337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分布式锁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747720" y="410544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调⽤链详解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14400" y="4835520"/>
            <a:ext cx="3226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Client → middleware(auth/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4141800" y="48085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限流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4611240" y="4835520"/>
            <a:ext cx="5291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 → router → controller → model → MongoDB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914400" y="510228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├─ auth.js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3367080" y="507528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：验证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4071600" y="510228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Bearer Token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914400" y="537876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├─ rateLimiter.js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4270680" y="53514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：按流量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209920" y="53787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5338800" y="53514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用户限流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914400" y="5645160"/>
            <a:ext cx="3097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└─ errorHandler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4012560" y="561816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：统一异常捕获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任意多边形 117"/>
          <p:cNvSpPr/>
          <p:nvPr/>
        </p:nvSpPr>
        <p:spPr>
          <a:xfrm>
            <a:off x="2485800" y="6009120"/>
            <a:ext cx="238680" cy="106200"/>
          </a:xfrm>
          <a:custGeom>
            <a:avLst/>
            <a:gdLst/>
            <a:ahLst/>
            <a:cxnLst/>
            <a:rect l="0" t="0" r="r" b="b"/>
            <a:pathLst>
              <a:path w="663" h="295">
                <a:moveTo>
                  <a:pt x="663" y="221"/>
                </a:moveTo>
                <a:cubicBezTo>
                  <a:pt x="663" y="262"/>
                  <a:pt x="630" y="295"/>
                  <a:pt x="589" y="295"/>
                </a:cubicBezTo>
                <a:lnTo>
                  <a:pt x="75" y="295"/>
                </a:lnTo>
                <a:cubicBezTo>
                  <a:pt x="33" y="295"/>
                  <a:pt x="0" y="262"/>
                  <a:pt x="0" y="221"/>
                </a:cubicBezTo>
                <a:lnTo>
                  <a:pt x="0" y="55"/>
                </a:lnTo>
                <a:cubicBezTo>
                  <a:pt x="0" y="14"/>
                  <a:pt x="15" y="0"/>
                  <a:pt x="56" y="0"/>
                </a:cubicBezTo>
                <a:lnTo>
                  <a:pt x="607" y="0"/>
                </a:lnTo>
                <a:cubicBezTo>
                  <a:pt x="648" y="0"/>
                  <a:pt x="663" y="14"/>
                  <a:pt x="663" y="55"/>
                </a:cubicBezTo>
                <a:lnTo>
                  <a:pt x="663" y="221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任意多边形 118"/>
          <p:cNvSpPr/>
          <p:nvPr/>
        </p:nvSpPr>
        <p:spPr>
          <a:xfrm>
            <a:off x="2558520" y="6009120"/>
            <a:ext cx="92880" cy="46440"/>
          </a:xfrm>
          <a:custGeom>
            <a:avLst/>
            <a:gdLst/>
            <a:ahLst/>
            <a:cxnLst/>
            <a:rect l="0" t="0" r="r" b="b"/>
            <a:pathLst>
              <a:path w="258" h="129">
                <a:moveTo>
                  <a:pt x="258" y="0"/>
                </a:moveTo>
                <a:cubicBezTo>
                  <a:pt x="258" y="72"/>
                  <a:pt x="200" y="129"/>
                  <a:pt x="129" y="129"/>
                </a:cubicBezTo>
                <a:cubicBezTo>
                  <a:pt x="58" y="129"/>
                  <a:pt x="0" y="72"/>
                  <a:pt x="0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任意多边形 119"/>
          <p:cNvSpPr/>
          <p:nvPr/>
        </p:nvSpPr>
        <p:spPr>
          <a:xfrm>
            <a:off x="2485800" y="6088320"/>
            <a:ext cx="238680" cy="27000"/>
          </a:xfrm>
          <a:custGeom>
            <a:avLst/>
            <a:gdLst/>
            <a:ahLst/>
            <a:cxnLst/>
            <a:rect l="0" t="0" r="r" b="b"/>
            <a:pathLst>
              <a:path w="663" h="75">
                <a:moveTo>
                  <a:pt x="589" y="75"/>
                </a:moveTo>
                <a:cubicBezTo>
                  <a:pt x="630" y="75"/>
                  <a:pt x="663" y="41"/>
                  <a:pt x="663" y="0"/>
                </a:cubicBezTo>
                <a:lnTo>
                  <a:pt x="0" y="0"/>
                </a:lnTo>
                <a:cubicBezTo>
                  <a:pt x="0" y="41"/>
                  <a:pt x="33" y="75"/>
                  <a:pt x="75" y="75"/>
                </a:cubicBezTo>
                <a:lnTo>
                  <a:pt x="589" y="75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任意多边形 120"/>
          <p:cNvSpPr/>
          <p:nvPr/>
        </p:nvSpPr>
        <p:spPr>
          <a:xfrm>
            <a:off x="2539080" y="5876640"/>
            <a:ext cx="131760" cy="119520"/>
          </a:xfrm>
          <a:custGeom>
            <a:avLst/>
            <a:gdLst/>
            <a:ahLst/>
            <a:cxnLst/>
            <a:rect l="0" t="0" r="r" b="b"/>
            <a:pathLst>
              <a:path w="366" h="332">
                <a:moveTo>
                  <a:pt x="357" y="158"/>
                </a:moveTo>
                <a:lnTo>
                  <a:pt x="213" y="13"/>
                </a:lnTo>
                <a:cubicBezTo>
                  <a:pt x="205" y="4"/>
                  <a:pt x="195" y="1"/>
                  <a:pt x="185" y="0"/>
                </a:cubicBezTo>
                <a:lnTo>
                  <a:pt x="183" y="0"/>
                </a:lnTo>
                <a:cubicBezTo>
                  <a:pt x="173" y="1"/>
                  <a:pt x="163" y="4"/>
                  <a:pt x="155" y="13"/>
                </a:cubicBezTo>
                <a:lnTo>
                  <a:pt x="9" y="158"/>
                </a:lnTo>
                <a:cubicBezTo>
                  <a:pt x="-6" y="174"/>
                  <a:pt x="-1" y="185"/>
                  <a:pt x="21" y="185"/>
                </a:cubicBezTo>
                <a:lnTo>
                  <a:pt x="110" y="185"/>
                </a:lnTo>
                <a:lnTo>
                  <a:pt x="110" y="295"/>
                </a:lnTo>
                <a:cubicBezTo>
                  <a:pt x="110" y="316"/>
                  <a:pt x="127" y="332"/>
                  <a:pt x="147" y="332"/>
                </a:cubicBezTo>
                <a:lnTo>
                  <a:pt x="221" y="332"/>
                </a:lnTo>
                <a:cubicBezTo>
                  <a:pt x="241" y="332"/>
                  <a:pt x="257" y="316"/>
                  <a:pt x="257" y="295"/>
                </a:cubicBezTo>
                <a:lnTo>
                  <a:pt x="257" y="185"/>
                </a:lnTo>
                <a:lnTo>
                  <a:pt x="345" y="185"/>
                </a:lnTo>
                <a:cubicBezTo>
                  <a:pt x="368" y="185"/>
                  <a:pt x="373" y="174"/>
                  <a:pt x="357" y="158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14400" y="592164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└─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2733120" y="5921640"/>
            <a:ext cx="3484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Message Queue (Bull/Redis)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6218640" y="589428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：异步处理库存扣减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任意多边形 124"/>
          <p:cNvSpPr/>
          <p:nvPr/>
        </p:nvSpPr>
        <p:spPr>
          <a:xfrm>
            <a:off x="2691000" y="6225840"/>
            <a:ext cx="33480" cy="46440"/>
          </a:xfrm>
          <a:custGeom>
            <a:avLst/>
            <a:gdLst/>
            <a:ahLst/>
            <a:cxnLst/>
            <a:rect l="0" t="0" r="r" b="b"/>
            <a:pathLst>
              <a:path w="93" h="129">
                <a:moveTo>
                  <a:pt x="93" y="65"/>
                </a:moveTo>
                <a:cubicBezTo>
                  <a:pt x="93" y="74"/>
                  <a:pt x="91" y="82"/>
                  <a:pt x="89" y="90"/>
                </a:cubicBezTo>
                <a:cubicBezTo>
                  <a:pt x="87" y="97"/>
                  <a:pt x="83" y="104"/>
                  <a:pt x="79" y="110"/>
                </a:cubicBezTo>
                <a:cubicBezTo>
                  <a:pt x="75" y="117"/>
                  <a:pt x="70" y="121"/>
                  <a:pt x="64" y="124"/>
                </a:cubicBezTo>
                <a:cubicBezTo>
                  <a:pt x="59" y="128"/>
                  <a:pt x="53" y="129"/>
                  <a:pt x="47" y="129"/>
                </a:cubicBezTo>
                <a:cubicBezTo>
                  <a:pt x="41" y="129"/>
                  <a:pt x="35" y="128"/>
                  <a:pt x="28" y="124"/>
                </a:cubicBezTo>
                <a:cubicBezTo>
                  <a:pt x="22" y="121"/>
                  <a:pt x="17" y="117"/>
                  <a:pt x="13" y="110"/>
                </a:cubicBezTo>
                <a:cubicBezTo>
                  <a:pt x="9" y="104"/>
                  <a:pt x="6" y="97"/>
                  <a:pt x="3" y="90"/>
                </a:cubicBezTo>
                <a:cubicBezTo>
                  <a:pt x="1" y="82"/>
                  <a:pt x="0" y="74"/>
                  <a:pt x="0" y="65"/>
                </a:cubicBezTo>
                <a:cubicBezTo>
                  <a:pt x="0" y="56"/>
                  <a:pt x="1" y="47"/>
                  <a:pt x="3" y="39"/>
                </a:cubicBezTo>
                <a:cubicBezTo>
                  <a:pt x="6" y="32"/>
                  <a:pt x="9" y="25"/>
                  <a:pt x="13" y="19"/>
                </a:cubicBezTo>
                <a:cubicBezTo>
                  <a:pt x="17" y="13"/>
                  <a:pt x="22" y="8"/>
                  <a:pt x="28" y="5"/>
                </a:cubicBezTo>
                <a:cubicBezTo>
                  <a:pt x="35" y="1"/>
                  <a:pt x="41" y="0"/>
                  <a:pt x="47" y="0"/>
                </a:cubicBezTo>
                <a:cubicBezTo>
                  <a:pt x="53" y="0"/>
                  <a:pt x="59" y="1"/>
                  <a:pt x="64" y="5"/>
                </a:cubicBezTo>
                <a:cubicBezTo>
                  <a:pt x="70" y="8"/>
                  <a:pt x="75" y="13"/>
                  <a:pt x="79" y="19"/>
                </a:cubicBezTo>
                <a:cubicBezTo>
                  <a:pt x="83" y="25"/>
                  <a:pt x="87" y="32"/>
                  <a:pt x="89" y="39"/>
                </a:cubicBezTo>
                <a:cubicBezTo>
                  <a:pt x="91" y="47"/>
                  <a:pt x="93" y="56"/>
                  <a:pt x="93" y="6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2485800" y="6225840"/>
            <a:ext cx="33480" cy="46440"/>
          </a:xfrm>
          <a:custGeom>
            <a:avLst/>
            <a:gdLst/>
            <a:ahLst/>
            <a:cxnLst/>
            <a:rect l="0" t="0" r="r" b="b"/>
            <a:pathLst>
              <a:path w="93" h="129">
                <a:moveTo>
                  <a:pt x="93" y="65"/>
                </a:moveTo>
                <a:cubicBezTo>
                  <a:pt x="93" y="74"/>
                  <a:pt x="92" y="82"/>
                  <a:pt x="89" y="90"/>
                </a:cubicBezTo>
                <a:cubicBezTo>
                  <a:pt x="87" y="97"/>
                  <a:pt x="84" y="104"/>
                  <a:pt x="80" y="110"/>
                </a:cubicBezTo>
                <a:cubicBezTo>
                  <a:pt x="75" y="117"/>
                  <a:pt x="70" y="121"/>
                  <a:pt x="65" y="124"/>
                </a:cubicBezTo>
                <a:cubicBezTo>
                  <a:pt x="59" y="128"/>
                  <a:pt x="52" y="129"/>
                  <a:pt x="46" y="129"/>
                </a:cubicBezTo>
                <a:cubicBezTo>
                  <a:pt x="40" y="129"/>
                  <a:pt x="34" y="128"/>
                  <a:pt x="28" y="124"/>
                </a:cubicBezTo>
                <a:cubicBezTo>
                  <a:pt x="23" y="121"/>
                  <a:pt x="18" y="117"/>
                  <a:pt x="14" y="110"/>
                </a:cubicBezTo>
                <a:cubicBezTo>
                  <a:pt x="9" y="104"/>
                  <a:pt x="6" y="97"/>
                  <a:pt x="4" y="90"/>
                </a:cubicBezTo>
                <a:cubicBezTo>
                  <a:pt x="1" y="82"/>
                  <a:pt x="0" y="74"/>
                  <a:pt x="0" y="65"/>
                </a:cubicBezTo>
                <a:cubicBezTo>
                  <a:pt x="0" y="56"/>
                  <a:pt x="1" y="47"/>
                  <a:pt x="4" y="39"/>
                </a:cubicBezTo>
                <a:cubicBezTo>
                  <a:pt x="6" y="32"/>
                  <a:pt x="9" y="25"/>
                  <a:pt x="14" y="19"/>
                </a:cubicBezTo>
                <a:cubicBezTo>
                  <a:pt x="18" y="13"/>
                  <a:pt x="23" y="8"/>
                  <a:pt x="28" y="5"/>
                </a:cubicBezTo>
                <a:cubicBezTo>
                  <a:pt x="34" y="1"/>
                  <a:pt x="40" y="0"/>
                  <a:pt x="46" y="0"/>
                </a:cubicBezTo>
                <a:cubicBezTo>
                  <a:pt x="52" y="0"/>
                  <a:pt x="59" y="1"/>
                  <a:pt x="65" y="5"/>
                </a:cubicBezTo>
                <a:cubicBezTo>
                  <a:pt x="70" y="8"/>
                  <a:pt x="75" y="13"/>
                  <a:pt x="80" y="19"/>
                </a:cubicBezTo>
                <a:cubicBezTo>
                  <a:pt x="84" y="25"/>
                  <a:pt x="87" y="32"/>
                  <a:pt x="89" y="39"/>
                </a:cubicBezTo>
                <a:cubicBezTo>
                  <a:pt x="92" y="47"/>
                  <a:pt x="93" y="56"/>
                  <a:pt x="93" y="65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任意多边形 126"/>
          <p:cNvSpPr/>
          <p:nvPr/>
        </p:nvSpPr>
        <p:spPr>
          <a:xfrm>
            <a:off x="2499120" y="6212520"/>
            <a:ext cx="212040" cy="73080"/>
          </a:xfrm>
          <a:custGeom>
            <a:avLst/>
            <a:gdLst/>
            <a:ahLst/>
            <a:cxnLst/>
            <a:rect l="0" t="0" r="r" b="b"/>
            <a:pathLst>
              <a:path w="589" h="203">
                <a:moveTo>
                  <a:pt x="589" y="185"/>
                </a:moveTo>
                <a:cubicBezTo>
                  <a:pt x="589" y="195"/>
                  <a:pt x="581" y="203"/>
                  <a:pt x="570" y="203"/>
                </a:cubicBezTo>
                <a:lnTo>
                  <a:pt x="515" y="203"/>
                </a:lnTo>
                <a:cubicBezTo>
                  <a:pt x="505" y="203"/>
                  <a:pt x="497" y="195"/>
                  <a:pt x="497" y="185"/>
                </a:cubicBezTo>
                <a:lnTo>
                  <a:pt x="497" y="19"/>
                </a:lnTo>
                <a:cubicBezTo>
                  <a:pt x="497" y="8"/>
                  <a:pt x="505" y="0"/>
                  <a:pt x="515" y="0"/>
                </a:cubicBezTo>
                <a:lnTo>
                  <a:pt x="570" y="0"/>
                </a:lnTo>
                <a:cubicBezTo>
                  <a:pt x="581" y="0"/>
                  <a:pt x="589" y="8"/>
                  <a:pt x="589" y="19"/>
                </a:cubicBezTo>
                <a:lnTo>
                  <a:pt x="589" y="185"/>
                </a:lnTo>
                <a:moveTo>
                  <a:pt x="92" y="185"/>
                </a:moveTo>
                <a:cubicBezTo>
                  <a:pt x="92" y="195"/>
                  <a:pt x="84" y="203"/>
                  <a:pt x="73" y="203"/>
                </a:cubicBezTo>
                <a:lnTo>
                  <a:pt x="18" y="203"/>
                </a:lnTo>
                <a:cubicBezTo>
                  <a:pt x="8" y="203"/>
                  <a:pt x="0" y="195"/>
                  <a:pt x="0" y="185"/>
                </a:cubicBezTo>
                <a:lnTo>
                  <a:pt x="0" y="19"/>
                </a:lnTo>
                <a:cubicBezTo>
                  <a:pt x="0" y="8"/>
                  <a:pt x="8" y="0"/>
                  <a:pt x="18" y="0"/>
                </a:cubicBezTo>
                <a:lnTo>
                  <a:pt x="73" y="0"/>
                </a:lnTo>
                <a:cubicBezTo>
                  <a:pt x="84" y="0"/>
                  <a:pt x="92" y="8"/>
                  <a:pt x="92" y="19"/>
                </a:cubicBezTo>
                <a:lnTo>
                  <a:pt x="92" y="185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2538720" y="6153120"/>
            <a:ext cx="132840" cy="59760"/>
          </a:xfrm>
          <a:custGeom>
            <a:avLst/>
            <a:gdLst/>
            <a:ahLst/>
            <a:cxnLst/>
            <a:rect l="0" t="0" r="r" b="b"/>
            <a:pathLst>
              <a:path w="369" h="166">
                <a:moveTo>
                  <a:pt x="369" y="91"/>
                </a:moveTo>
                <a:cubicBezTo>
                  <a:pt x="369" y="142"/>
                  <a:pt x="286" y="166"/>
                  <a:pt x="185" y="166"/>
                </a:cubicBezTo>
                <a:cubicBezTo>
                  <a:pt x="82" y="166"/>
                  <a:pt x="0" y="142"/>
                  <a:pt x="0" y="91"/>
                </a:cubicBezTo>
                <a:cubicBezTo>
                  <a:pt x="0" y="41"/>
                  <a:pt x="82" y="0"/>
                  <a:pt x="185" y="0"/>
                </a:cubicBezTo>
                <a:cubicBezTo>
                  <a:pt x="286" y="0"/>
                  <a:pt x="369" y="41"/>
                  <a:pt x="369" y="91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2558520" y="6160680"/>
            <a:ext cx="92880" cy="38880"/>
          </a:xfrm>
          <a:custGeom>
            <a:avLst/>
            <a:gdLst/>
            <a:ahLst/>
            <a:cxnLst/>
            <a:rect l="0" t="0" r="r" b="b"/>
            <a:pathLst>
              <a:path w="258" h="108">
                <a:moveTo>
                  <a:pt x="258" y="54"/>
                </a:moveTo>
                <a:cubicBezTo>
                  <a:pt x="258" y="84"/>
                  <a:pt x="200" y="108"/>
                  <a:pt x="129" y="108"/>
                </a:cubicBezTo>
                <a:cubicBezTo>
                  <a:pt x="58" y="108"/>
                  <a:pt x="0" y="84"/>
                  <a:pt x="0" y="54"/>
                </a:cubicBezTo>
                <a:cubicBezTo>
                  <a:pt x="0" y="24"/>
                  <a:pt x="58" y="0"/>
                  <a:pt x="129" y="0"/>
                </a:cubicBezTo>
                <a:cubicBezTo>
                  <a:pt x="200" y="0"/>
                  <a:pt x="258" y="24"/>
                  <a:pt x="258" y="54"/>
                </a:cubicBezTo>
                <a:close/>
              </a:path>
            </a:pathLst>
          </a:custGeom>
          <a:solidFill>
            <a:srgbClr val="F4900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0" name="任意多边形 129"/>
          <p:cNvSpPr/>
          <p:nvPr/>
        </p:nvSpPr>
        <p:spPr>
          <a:xfrm>
            <a:off x="2525400" y="6172920"/>
            <a:ext cx="159120" cy="26640"/>
          </a:xfrm>
          <a:custGeom>
            <a:avLst/>
            <a:gdLst/>
            <a:ahLst/>
            <a:cxnLst/>
            <a:rect l="0" t="0" r="r" b="b"/>
            <a:pathLst>
              <a:path w="442" h="74">
                <a:moveTo>
                  <a:pt x="442" y="47"/>
                </a:moveTo>
                <a:cubicBezTo>
                  <a:pt x="442" y="72"/>
                  <a:pt x="422" y="74"/>
                  <a:pt x="396" y="74"/>
                </a:cubicBezTo>
                <a:lnTo>
                  <a:pt x="46" y="74"/>
                </a:lnTo>
                <a:cubicBezTo>
                  <a:pt x="21" y="74"/>
                  <a:pt x="0" y="72"/>
                  <a:pt x="0" y="47"/>
                </a:cubicBezTo>
                <a:cubicBezTo>
                  <a:pt x="0" y="20"/>
                  <a:pt x="21" y="0"/>
                  <a:pt x="46" y="0"/>
                </a:cubicBezTo>
                <a:lnTo>
                  <a:pt x="396" y="0"/>
                </a:lnTo>
                <a:cubicBezTo>
                  <a:pt x="422" y="0"/>
                  <a:pt x="442" y="20"/>
                  <a:pt x="442" y="47"/>
                </a:cubicBezTo>
                <a:close/>
              </a:path>
            </a:pathLst>
          </a:custGeom>
          <a:solidFill>
            <a:srgbClr val="2266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任意多边形 130"/>
          <p:cNvSpPr/>
          <p:nvPr/>
        </p:nvSpPr>
        <p:spPr>
          <a:xfrm>
            <a:off x="2512440" y="6192720"/>
            <a:ext cx="185400" cy="185400"/>
          </a:xfrm>
          <a:custGeom>
            <a:avLst/>
            <a:gdLst/>
            <a:ahLst/>
            <a:cxnLst/>
            <a:rect l="0" t="0" r="r" b="b"/>
            <a:pathLst>
              <a:path w="515" h="515">
                <a:moveTo>
                  <a:pt x="478" y="0"/>
                </a:moveTo>
                <a:lnTo>
                  <a:pt x="36" y="0"/>
                </a:lnTo>
                <a:cubicBezTo>
                  <a:pt x="16" y="0"/>
                  <a:pt x="0" y="16"/>
                  <a:pt x="0" y="38"/>
                </a:cubicBezTo>
                <a:lnTo>
                  <a:pt x="0" y="515"/>
                </a:lnTo>
                <a:lnTo>
                  <a:pt x="515" y="515"/>
                </a:lnTo>
                <a:lnTo>
                  <a:pt x="515" y="38"/>
                </a:lnTo>
                <a:cubicBezTo>
                  <a:pt x="515" y="16"/>
                  <a:pt x="499" y="0"/>
                  <a:pt x="478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2" name="任意多边形 131"/>
          <p:cNvSpPr/>
          <p:nvPr/>
        </p:nvSpPr>
        <p:spPr>
          <a:xfrm>
            <a:off x="2492280" y="6351480"/>
            <a:ext cx="225360" cy="33480"/>
          </a:xfrm>
          <a:custGeom>
            <a:avLst/>
            <a:gdLst/>
            <a:ahLst/>
            <a:cxnLst/>
            <a:rect l="0" t="0" r="r" b="b"/>
            <a:pathLst>
              <a:path w="626" h="93">
                <a:moveTo>
                  <a:pt x="626" y="55"/>
                </a:moveTo>
                <a:lnTo>
                  <a:pt x="626" y="37"/>
                </a:lnTo>
                <a:cubicBezTo>
                  <a:pt x="626" y="16"/>
                  <a:pt x="610" y="0"/>
                  <a:pt x="589" y="0"/>
                </a:cubicBezTo>
                <a:lnTo>
                  <a:pt x="389" y="0"/>
                </a:lnTo>
                <a:lnTo>
                  <a:pt x="327" y="63"/>
                </a:lnTo>
                <a:cubicBezTo>
                  <a:pt x="320" y="70"/>
                  <a:pt x="308" y="70"/>
                  <a:pt x="301" y="63"/>
                </a:cubicBezTo>
                <a:lnTo>
                  <a:pt x="238" y="0"/>
                </a:lnTo>
                <a:lnTo>
                  <a:pt x="37" y="0"/>
                </a:lnTo>
                <a:cubicBezTo>
                  <a:pt x="17" y="0"/>
                  <a:pt x="0" y="16"/>
                  <a:pt x="0" y="37"/>
                </a:cubicBezTo>
                <a:lnTo>
                  <a:pt x="0" y="55"/>
                </a:lnTo>
                <a:cubicBezTo>
                  <a:pt x="0" y="76"/>
                  <a:pt x="-1" y="93"/>
                  <a:pt x="19" y="93"/>
                </a:cubicBezTo>
                <a:lnTo>
                  <a:pt x="608" y="93"/>
                </a:lnTo>
                <a:cubicBezTo>
                  <a:pt x="628" y="93"/>
                  <a:pt x="626" y="76"/>
                  <a:pt x="626" y="55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任意多边形 132"/>
          <p:cNvSpPr/>
          <p:nvPr/>
        </p:nvSpPr>
        <p:spPr>
          <a:xfrm>
            <a:off x="2618280" y="6219000"/>
            <a:ext cx="59760" cy="60120"/>
          </a:xfrm>
          <a:custGeom>
            <a:avLst/>
            <a:gdLst/>
            <a:ahLst/>
            <a:cxnLst/>
            <a:rect l="0" t="0" r="r" b="b"/>
            <a:pathLst>
              <a:path w="166" h="167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5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5"/>
                  <a:pt x="94" y="167"/>
                  <a:pt x="83" y="167"/>
                </a:cubicBezTo>
                <a:cubicBezTo>
                  <a:pt x="72" y="167"/>
                  <a:pt x="61" y="165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5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4" name="任意多边形 133"/>
          <p:cNvSpPr/>
          <p:nvPr/>
        </p:nvSpPr>
        <p:spPr>
          <a:xfrm>
            <a:off x="2629800" y="6230880"/>
            <a:ext cx="36360" cy="36360"/>
          </a:xfrm>
          <a:custGeom>
            <a:avLst/>
            <a:gdLst/>
            <a:ahLst/>
            <a:cxnLst/>
            <a:rect l="0" t="0" r="r" b="b"/>
            <a:pathLst>
              <a:path w="101" h="101">
                <a:moveTo>
                  <a:pt x="101" y="50"/>
                </a:moveTo>
                <a:cubicBezTo>
                  <a:pt x="101" y="57"/>
                  <a:pt x="100" y="63"/>
                  <a:pt x="97" y="70"/>
                </a:cubicBezTo>
                <a:cubicBezTo>
                  <a:pt x="95" y="76"/>
                  <a:pt x="91" y="82"/>
                  <a:pt x="87" y="86"/>
                </a:cubicBezTo>
                <a:cubicBezTo>
                  <a:pt x="82" y="91"/>
                  <a:pt x="77" y="95"/>
                  <a:pt x="69" y="97"/>
                </a:cubicBezTo>
                <a:cubicBezTo>
                  <a:pt x="63" y="100"/>
                  <a:pt x="57" y="101"/>
                  <a:pt x="50" y="101"/>
                </a:cubicBezTo>
                <a:cubicBezTo>
                  <a:pt x="44" y="101"/>
                  <a:pt x="37" y="100"/>
                  <a:pt x="31" y="97"/>
                </a:cubicBezTo>
                <a:cubicBezTo>
                  <a:pt x="25" y="95"/>
                  <a:pt x="20" y="91"/>
                  <a:pt x="15" y="86"/>
                </a:cubicBezTo>
                <a:cubicBezTo>
                  <a:pt x="10" y="82"/>
                  <a:pt x="7" y="76"/>
                  <a:pt x="4" y="70"/>
                </a:cubicBezTo>
                <a:cubicBezTo>
                  <a:pt x="2" y="63"/>
                  <a:pt x="0" y="57"/>
                  <a:pt x="0" y="50"/>
                </a:cubicBezTo>
                <a:cubicBezTo>
                  <a:pt x="0" y="43"/>
                  <a:pt x="2" y="37"/>
                  <a:pt x="4" y="31"/>
                </a:cubicBezTo>
                <a:cubicBezTo>
                  <a:pt x="7" y="25"/>
                  <a:pt x="10" y="19"/>
                  <a:pt x="15" y="15"/>
                </a:cubicBezTo>
                <a:cubicBezTo>
                  <a:pt x="20" y="10"/>
                  <a:pt x="25" y="6"/>
                  <a:pt x="31" y="4"/>
                </a:cubicBezTo>
                <a:cubicBezTo>
                  <a:pt x="37" y="1"/>
                  <a:pt x="44" y="0"/>
                  <a:pt x="50" y="0"/>
                </a:cubicBezTo>
                <a:cubicBezTo>
                  <a:pt x="57" y="0"/>
                  <a:pt x="63" y="1"/>
                  <a:pt x="69" y="4"/>
                </a:cubicBezTo>
                <a:cubicBezTo>
                  <a:pt x="77" y="6"/>
                  <a:pt x="82" y="10"/>
                  <a:pt x="87" y="15"/>
                </a:cubicBezTo>
                <a:cubicBezTo>
                  <a:pt x="91" y="19"/>
                  <a:pt x="95" y="25"/>
                  <a:pt x="97" y="31"/>
                </a:cubicBezTo>
                <a:cubicBezTo>
                  <a:pt x="100" y="37"/>
                  <a:pt x="101" y="43"/>
                  <a:pt x="101" y="5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2532240" y="6219000"/>
            <a:ext cx="59760" cy="60120"/>
          </a:xfrm>
          <a:custGeom>
            <a:avLst/>
            <a:gdLst/>
            <a:ahLst/>
            <a:cxnLst/>
            <a:rect l="0" t="0" r="r" b="b"/>
            <a:pathLst>
              <a:path w="166" h="167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5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5"/>
                  <a:pt x="93" y="167"/>
                  <a:pt x="82" y="167"/>
                </a:cubicBezTo>
                <a:cubicBezTo>
                  <a:pt x="71" y="167"/>
                  <a:pt x="61" y="165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5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2532240" y="6305040"/>
            <a:ext cx="145800" cy="33480"/>
          </a:xfrm>
          <a:custGeom>
            <a:avLst/>
            <a:gdLst/>
            <a:ahLst/>
            <a:cxnLst/>
            <a:rect l="0" t="0" r="r" b="b"/>
            <a:pathLst>
              <a:path w="405" h="93">
                <a:moveTo>
                  <a:pt x="405" y="47"/>
                </a:moveTo>
                <a:cubicBezTo>
                  <a:pt x="405" y="72"/>
                  <a:pt x="384" y="93"/>
                  <a:pt x="359" y="93"/>
                </a:cubicBezTo>
                <a:lnTo>
                  <a:pt x="47" y="93"/>
                </a:lnTo>
                <a:cubicBezTo>
                  <a:pt x="20" y="93"/>
                  <a:pt x="0" y="72"/>
                  <a:pt x="0" y="47"/>
                </a:cubicBezTo>
                <a:cubicBezTo>
                  <a:pt x="0" y="22"/>
                  <a:pt x="20" y="0"/>
                  <a:pt x="47" y="0"/>
                </a:cubicBezTo>
                <a:lnTo>
                  <a:pt x="359" y="0"/>
                </a:lnTo>
                <a:cubicBezTo>
                  <a:pt x="384" y="0"/>
                  <a:pt x="405" y="22"/>
                  <a:pt x="405" y="47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任意多边形 136"/>
          <p:cNvSpPr/>
          <p:nvPr/>
        </p:nvSpPr>
        <p:spPr>
          <a:xfrm>
            <a:off x="2532240" y="6305040"/>
            <a:ext cx="145800" cy="33480"/>
          </a:xfrm>
          <a:custGeom>
            <a:avLst/>
            <a:gdLst/>
            <a:ahLst/>
            <a:cxnLst/>
            <a:rect l="0" t="0" r="r" b="b"/>
            <a:pathLst>
              <a:path w="405" h="93">
                <a:moveTo>
                  <a:pt x="184" y="0"/>
                </a:moveTo>
                <a:lnTo>
                  <a:pt x="221" y="0"/>
                </a:lnTo>
                <a:lnTo>
                  <a:pt x="221" y="93"/>
                </a:lnTo>
                <a:lnTo>
                  <a:pt x="184" y="93"/>
                </a:lnTo>
                <a:lnTo>
                  <a:pt x="184" y="0"/>
                </a:lnTo>
                <a:moveTo>
                  <a:pt x="93" y="0"/>
                </a:moveTo>
                <a:lnTo>
                  <a:pt x="129" y="0"/>
                </a:lnTo>
                <a:lnTo>
                  <a:pt x="129" y="93"/>
                </a:lnTo>
                <a:lnTo>
                  <a:pt x="93" y="93"/>
                </a:lnTo>
                <a:lnTo>
                  <a:pt x="93" y="0"/>
                </a:lnTo>
                <a:moveTo>
                  <a:pt x="276" y="0"/>
                </a:moveTo>
                <a:lnTo>
                  <a:pt x="313" y="0"/>
                </a:lnTo>
                <a:lnTo>
                  <a:pt x="313" y="93"/>
                </a:lnTo>
                <a:lnTo>
                  <a:pt x="276" y="93"/>
                </a:lnTo>
                <a:lnTo>
                  <a:pt x="276" y="0"/>
                </a:lnTo>
                <a:moveTo>
                  <a:pt x="37" y="92"/>
                </a:moveTo>
                <a:lnTo>
                  <a:pt x="37" y="1"/>
                </a:lnTo>
                <a:cubicBezTo>
                  <a:pt x="16" y="6"/>
                  <a:pt x="0" y="25"/>
                  <a:pt x="0" y="47"/>
                </a:cubicBezTo>
                <a:cubicBezTo>
                  <a:pt x="0" y="69"/>
                  <a:pt x="16" y="88"/>
                  <a:pt x="37" y="92"/>
                </a:cubicBezTo>
                <a:moveTo>
                  <a:pt x="368" y="1"/>
                </a:moveTo>
                <a:lnTo>
                  <a:pt x="368" y="92"/>
                </a:lnTo>
                <a:cubicBezTo>
                  <a:pt x="389" y="88"/>
                  <a:pt x="405" y="69"/>
                  <a:pt x="405" y="47"/>
                </a:cubicBezTo>
                <a:cubicBezTo>
                  <a:pt x="405" y="25"/>
                  <a:pt x="389" y="6"/>
                  <a:pt x="368" y="1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任意多边形 137"/>
          <p:cNvSpPr/>
          <p:nvPr/>
        </p:nvSpPr>
        <p:spPr>
          <a:xfrm>
            <a:off x="2543760" y="6230880"/>
            <a:ext cx="36360" cy="36360"/>
          </a:xfrm>
          <a:custGeom>
            <a:avLst/>
            <a:gdLst/>
            <a:ahLst/>
            <a:cxnLst/>
            <a:rect l="0" t="0" r="r" b="b"/>
            <a:pathLst>
              <a:path w="101" h="101">
                <a:moveTo>
                  <a:pt x="101" y="50"/>
                </a:moveTo>
                <a:cubicBezTo>
                  <a:pt x="101" y="57"/>
                  <a:pt x="100" y="63"/>
                  <a:pt x="98" y="70"/>
                </a:cubicBezTo>
                <a:cubicBezTo>
                  <a:pt x="95" y="76"/>
                  <a:pt x="91" y="82"/>
                  <a:pt x="87" y="86"/>
                </a:cubicBezTo>
                <a:cubicBezTo>
                  <a:pt x="82" y="91"/>
                  <a:pt x="77" y="95"/>
                  <a:pt x="71" y="97"/>
                </a:cubicBezTo>
                <a:cubicBezTo>
                  <a:pt x="64" y="100"/>
                  <a:pt x="58" y="101"/>
                  <a:pt x="51" y="101"/>
                </a:cubicBezTo>
                <a:cubicBezTo>
                  <a:pt x="45" y="101"/>
                  <a:pt x="38" y="100"/>
                  <a:pt x="32" y="97"/>
                </a:cubicBezTo>
                <a:cubicBezTo>
                  <a:pt x="26" y="95"/>
                  <a:pt x="21" y="91"/>
                  <a:pt x="16" y="86"/>
                </a:cubicBezTo>
                <a:cubicBezTo>
                  <a:pt x="10" y="82"/>
                  <a:pt x="7" y="76"/>
                  <a:pt x="4" y="70"/>
                </a:cubicBezTo>
                <a:cubicBezTo>
                  <a:pt x="2" y="63"/>
                  <a:pt x="0" y="57"/>
                  <a:pt x="0" y="50"/>
                </a:cubicBezTo>
                <a:cubicBezTo>
                  <a:pt x="0" y="43"/>
                  <a:pt x="2" y="37"/>
                  <a:pt x="4" y="31"/>
                </a:cubicBezTo>
                <a:cubicBezTo>
                  <a:pt x="7" y="25"/>
                  <a:pt x="10" y="19"/>
                  <a:pt x="16" y="15"/>
                </a:cubicBezTo>
                <a:cubicBezTo>
                  <a:pt x="21" y="10"/>
                  <a:pt x="26" y="6"/>
                  <a:pt x="32" y="4"/>
                </a:cubicBezTo>
                <a:cubicBezTo>
                  <a:pt x="38" y="1"/>
                  <a:pt x="45" y="0"/>
                  <a:pt x="51" y="0"/>
                </a:cubicBezTo>
                <a:cubicBezTo>
                  <a:pt x="58" y="0"/>
                  <a:pt x="64" y="1"/>
                  <a:pt x="71" y="4"/>
                </a:cubicBezTo>
                <a:cubicBezTo>
                  <a:pt x="77" y="6"/>
                  <a:pt x="82" y="10"/>
                  <a:pt x="87" y="15"/>
                </a:cubicBezTo>
                <a:cubicBezTo>
                  <a:pt x="91" y="19"/>
                  <a:pt x="95" y="25"/>
                  <a:pt x="98" y="31"/>
                </a:cubicBezTo>
                <a:cubicBezTo>
                  <a:pt x="100" y="37"/>
                  <a:pt x="101" y="43"/>
                  <a:pt x="101" y="50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914400" y="618840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└─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2733120" y="6188400"/>
            <a:ext cx="180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Agent Service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4540320" y="616104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：只读工具（查酒店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6653520" y="618840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6782760" y="616104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查我的订单）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任意多边形 14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任意多边形 14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任意多边形 14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747720" y="146628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1573200" y="1501200"/>
            <a:ext cx="221040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系统架构图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747720" y="236232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系统分层架构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任意多边形 150"/>
          <p:cNvSpPr/>
          <p:nvPr/>
        </p:nvSpPr>
        <p:spPr>
          <a:xfrm>
            <a:off x="2714040" y="2453760"/>
            <a:ext cx="7920" cy="92520"/>
          </a:xfrm>
          <a:custGeom>
            <a:avLst/>
            <a:gdLst/>
            <a:ahLst/>
            <a:cxnLst/>
            <a:rect l="0" t="0" r="r" b="b"/>
            <a:pathLst>
              <a:path w="22" h="257">
                <a:moveTo>
                  <a:pt x="22" y="6"/>
                </a:moveTo>
                <a:cubicBezTo>
                  <a:pt x="22" y="3"/>
                  <a:pt x="20" y="0"/>
                  <a:pt x="17" y="0"/>
                </a:cubicBezTo>
                <a:lnTo>
                  <a:pt x="5" y="0"/>
                </a:lnTo>
                <a:cubicBezTo>
                  <a:pt x="2" y="0"/>
                  <a:pt x="0" y="3"/>
                  <a:pt x="0" y="6"/>
                </a:cubicBezTo>
                <a:lnTo>
                  <a:pt x="0" y="252"/>
                </a:lnTo>
                <a:cubicBezTo>
                  <a:pt x="0" y="255"/>
                  <a:pt x="2" y="257"/>
                  <a:pt x="5" y="257"/>
                </a:cubicBezTo>
                <a:lnTo>
                  <a:pt x="17" y="257"/>
                </a:lnTo>
                <a:cubicBezTo>
                  <a:pt x="20" y="257"/>
                  <a:pt x="22" y="255"/>
                  <a:pt x="22" y="252"/>
                </a:cubicBezTo>
                <a:lnTo>
                  <a:pt x="22" y="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" name="任意多边形 151"/>
          <p:cNvSpPr/>
          <p:nvPr/>
        </p:nvSpPr>
        <p:spPr>
          <a:xfrm>
            <a:off x="2706480" y="2530800"/>
            <a:ext cx="23040" cy="23040"/>
          </a:xfrm>
          <a:custGeom>
            <a:avLst/>
            <a:gdLst/>
            <a:ahLst/>
            <a:cxnLst/>
            <a:rect l="0" t="0" r="r" b="b"/>
            <a:pathLst>
              <a:path w="64" h="64">
                <a:moveTo>
                  <a:pt x="64" y="31"/>
                </a:moveTo>
                <a:cubicBezTo>
                  <a:pt x="64" y="40"/>
                  <a:pt x="61" y="48"/>
                  <a:pt x="55" y="54"/>
                </a:cubicBezTo>
                <a:cubicBezTo>
                  <a:pt x="49" y="61"/>
                  <a:pt x="41" y="64"/>
                  <a:pt x="32" y="64"/>
                </a:cubicBezTo>
                <a:cubicBezTo>
                  <a:pt x="24" y="64"/>
                  <a:pt x="16" y="61"/>
                  <a:pt x="9" y="54"/>
                </a:cubicBezTo>
                <a:cubicBezTo>
                  <a:pt x="3" y="48"/>
                  <a:pt x="0" y="40"/>
                  <a:pt x="0" y="31"/>
                </a:cubicBezTo>
                <a:cubicBezTo>
                  <a:pt x="0" y="23"/>
                  <a:pt x="3" y="15"/>
                  <a:pt x="9" y="9"/>
                </a:cubicBezTo>
                <a:cubicBezTo>
                  <a:pt x="16" y="3"/>
                  <a:pt x="24" y="0"/>
                  <a:pt x="32" y="0"/>
                </a:cubicBezTo>
                <a:cubicBezTo>
                  <a:pt x="41" y="0"/>
                  <a:pt x="49" y="3"/>
                  <a:pt x="55" y="9"/>
                </a:cubicBezTo>
                <a:cubicBezTo>
                  <a:pt x="61" y="15"/>
                  <a:pt x="64" y="23"/>
                  <a:pt x="64" y="3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" name="任意多边形 152"/>
          <p:cNvSpPr/>
          <p:nvPr/>
        </p:nvSpPr>
        <p:spPr>
          <a:xfrm>
            <a:off x="2710080" y="2553480"/>
            <a:ext cx="15840" cy="15840"/>
          </a:xfrm>
          <a:custGeom>
            <a:avLst/>
            <a:gdLst/>
            <a:ahLst/>
            <a:cxnLst/>
            <a:rect l="0" t="0" r="r" b="b"/>
            <a:pathLst>
              <a:path w="44" h="44">
                <a:moveTo>
                  <a:pt x="44" y="22"/>
                </a:moveTo>
                <a:cubicBezTo>
                  <a:pt x="44" y="29"/>
                  <a:pt x="42" y="34"/>
                  <a:pt x="38" y="38"/>
                </a:cubicBezTo>
                <a:cubicBezTo>
                  <a:pt x="33" y="42"/>
                  <a:pt x="28" y="44"/>
                  <a:pt x="22" y="44"/>
                </a:cubicBezTo>
                <a:cubicBezTo>
                  <a:pt x="17" y="44"/>
                  <a:pt x="11" y="42"/>
                  <a:pt x="6" y="38"/>
                </a:cubicBezTo>
                <a:cubicBezTo>
                  <a:pt x="2" y="34"/>
                  <a:pt x="0" y="29"/>
                  <a:pt x="0" y="22"/>
                </a:cubicBezTo>
                <a:cubicBezTo>
                  <a:pt x="0" y="16"/>
                  <a:pt x="2" y="11"/>
                  <a:pt x="6" y="7"/>
                </a:cubicBezTo>
                <a:cubicBezTo>
                  <a:pt x="11" y="3"/>
                  <a:pt x="17" y="0"/>
                  <a:pt x="22" y="0"/>
                </a:cubicBezTo>
                <a:cubicBezTo>
                  <a:pt x="28" y="0"/>
                  <a:pt x="33" y="3"/>
                  <a:pt x="38" y="7"/>
                </a:cubicBezTo>
                <a:cubicBezTo>
                  <a:pt x="42" y="11"/>
                  <a:pt x="44" y="16"/>
                  <a:pt x="44" y="22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任意多边形 153"/>
          <p:cNvSpPr/>
          <p:nvPr/>
        </p:nvSpPr>
        <p:spPr>
          <a:xfrm>
            <a:off x="2506680" y="2392560"/>
            <a:ext cx="261360" cy="274680"/>
          </a:xfrm>
          <a:custGeom>
            <a:avLst/>
            <a:gdLst/>
            <a:ahLst/>
            <a:cxnLst/>
            <a:rect l="0" t="0" r="r" b="b"/>
            <a:pathLst>
              <a:path w="726" h="763">
                <a:moveTo>
                  <a:pt x="705" y="170"/>
                </a:moveTo>
                <a:lnTo>
                  <a:pt x="616" y="170"/>
                </a:lnTo>
                <a:lnTo>
                  <a:pt x="207" y="1"/>
                </a:lnTo>
                <a:cubicBezTo>
                  <a:pt x="207" y="1"/>
                  <a:pt x="206" y="1"/>
                  <a:pt x="206" y="0"/>
                </a:cubicBezTo>
                <a:cubicBezTo>
                  <a:pt x="205" y="0"/>
                  <a:pt x="204" y="0"/>
                  <a:pt x="203" y="0"/>
                </a:cubicBezTo>
                <a:cubicBezTo>
                  <a:pt x="201" y="0"/>
                  <a:pt x="200" y="0"/>
                  <a:pt x="199" y="1"/>
                </a:cubicBezTo>
                <a:cubicBezTo>
                  <a:pt x="198" y="1"/>
                  <a:pt x="197" y="2"/>
                  <a:pt x="196" y="2"/>
                </a:cubicBezTo>
                <a:cubicBezTo>
                  <a:pt x="196" y="3"/>
                  <a:pt x="196" y="3"/>
                  <a:pt x="195" y="3"/>
                </a:cubicBezTo>
                <a:cubicBezTo>
                  <a:pt x="194" y="4"/>
                  <a:pt x="194" y="5"/>
                  <a:pt x="193" y="6"/>
                </a:cubicBezTo>
                <a:cubicBezTo>
                  <a:pt x="193" y="7"/>
                  <a:pt x="193" y="7"/>
                  <a:pt x="193" y="7"/>
                </a:cubicBezTo>
                <a:lnTo>
                  <a:pt x="75" y="174"/>
                </a:lnTo>
                <a:cubicBezTo>
                  <a:pt x="69" y="178"/>
                  <a:pt x="64" y="184"/>
                  <a:pt x="64" y="192"/>
                </a:cubicBezTo>
                <a:lnTo>
                  <a:pt x="64" y="234"/>
                </a:lnTo>
                <a:cubicBezTo>
                  <a:pt x="64" y="246"/>
                  <a:pt x="74" y="256"/>
                  <a:pt x="86" y="256"/>
                </a:cubicBezTo>
                <a:lnTo>
                  <a:pt x="117" y="256"/>
                </a:lnTo>
                <a:lnTo>
                  <a:pt x="38" y="720"/>
                </a:lnTo>
                <a:lnTo>
                  <a:pt x="0" y="720"/>
                </a:lnTo>
                <a:lnTo>
                  <a:pt x="0" y="763"/>
                </a:lnTo>
                <a:lnTo>
                  <a:pt x="404" y="763"/>
                </a:lnTo>
                <a:lnTo>
                  <a:pt x="404" y="720"/>
                </a:lnTo>
                <a:lnTo>
                  <a:pt x="367" y="720"/>
                </a:lnTo>
                <a:lnTo>
                  <a:pt x="288" y="256"/>
                </a:lnTo>
                <a:lnTo>
                  <a:pt x="705" y="256"/>
                </a:lnTo>
                <a:cubicBezTo>
                  <a:pt x="717" y="256"/>
                  <a:pt x="726" y="246"/>
                  <a:pt x="726" y="234"/>
                </a:cubicBezTo>
                <a:lnTo>
                  <a:pt x="726" y="192"/>
                </a:lnTo>
                <a:cubicBezTo>
                  <a:pt x="726" y="180"/>
                  <a:pt x="717" y="170"/>
                  <a:pt x="705" y="170"/>
                </a:cubicBezTo>
                <a:moveTo>
                  <a:pt x="240" y="256"/>
                </a:moveTo>
                <a:lnTo>
                  <a:pt x="203" y="285"/>
                </a:lnTo>
                <a:lnTo>
                  <a:pt x="166" y="256"/>
                </a:lnTo>
                <a:lnTo>
                  <a:pt x="240" y="256"/>
                </a:lnTo>
                <a:moveTo>
                  <a:pt x="203" y="449"/>
                </a:moveTo>
                <a:lnTo>
                  <a:pt x="281" y="500"/>
                </a:lnTo>
                <a:lnTo>
                  <a:pt x="203" y="542"/>
                </a:lnTo>
                <a:lnTo>
                  <a:pt x="125" y="500"/>
                </a:lnTo>
                <a:lnTo>
                  <a:pt x="203" y="449"/>
                </a:lnTo>
                <a:moveTo>
                  <a:pt x="125" y="464"/>
                </a:moveTo>
                <a:lnTo>
                  <a:pt x="135" y="404"/>
                </a:lnTo>
                <a:lnTo>
                  <a:pt x="175" y="430"/>
                </a:lnTo>
                <a:lnTo>
                  <a:pt x="125" y="464"/>
                </a:lnTo>
                <a:moveTo>
                  <a:pt x="231" y="430"/>
                </a:moveTo>
                <a:lnTo>
                  <a:pt x="270" y="404"/>
                </a:lnTo>
                <a:lnTo>
                  <a:pt x="281" y="464"/>
                </a:lnTo>
                <a:lnTo>
                  <a:pt x="231" y="430"/>
                </a:lnTo>
                <a:moveTo>
                  <a:pt x="203" y="412"/>
                </a:moveTo>
                <a:lnTo>
                  <a:pt x="143" y="372"/>
                </a:lnTo>
                <a:lnTo>
                  <a:pt x="203" y="322"/>
                </a:lnTo>
                <a:lnTo>
                  <a:pt x="263" y="372"/>
                </a:lnTo>
                <a:lnTo>
                  <a:pt x="203" y="412"/>
                </a:lnTo>
                <a:moveTo>
                  <a:pt x="148" y="329"/>
                </a:moveTo>
                <a:lnTo>
                  <a:pt x="156" y="284"/>
                </a:lnTo>
                <a:lnTo>
                  <a:pt x="180" y="304"/>
                </a:lnTo>
                <a:lnTo>
                  <a:pt x="148" y="329"/>
                </a:lnTo>
                <a:moveTo>
                  <a:pt x="226" y="304"/>
                </a:moveTo>
                <a:lnTo>
                  <a:pt x="250" y="284"/>
                </a:lnTo>
                <a:lnTo>
                  <a:pt x="258" y="329"/>
                </a:lnTo>
                <a:lnTo>
                  <a:pt x="226" y="304"/>
                </a:lnTo>
                <a:moveTo>
                  <a:pt x="103" y="170"/>
                </a:moveTo>
                <a:lnTo>
                  <a:pt x="192" y="45"/>
                </a:lnTo>
                <a:lnTo>
                  <a:pt x="192" y="128"/>
                </a:lnTo>
                <a:lnTo>
                  <a:pt x="150" y="128"/>
                </a:lnTo>
                <a:cubicBezTo>
                  <a:pt x="138" y="128"/>
                  <a:pt x="128" y="137"/>
                  <a:pt x="128" y="149"/>
                </a:cubicBezTo>
                <a:lnTo>
                  <a:pt x="128" y="170"/>
                </a:lnTo>
                <a:lnTo>
                  <a:pt x="103" y="170"/>
                </a:lnTo>
                <a:moveTo>
                  <a:pt x="114" y="527"/>
                </a:moveTo>
                <a:lnTo>
                  <a:pt x="173" y="559"/>
                </a:lnTo>
                <a:lnTo>
                  <a:pt x="103" y="598"/>
                </a:lnTo>
                <a:lnTo>
                  <a:pt x="114" y="527"/>
                </a:lnTo>
                <a:moveTo>
                  <a:pt x="324" y="720"/>
                </a:moveTo>
                <a:lnTo>
                  <a:pt x="82" y="720"/>
                </a:lnTo>
                <a:lnTo>
                  <a:pt x="96" y="634"/>
                </a:lnTo>
                <a:lnTo>
                  <a:pt x="203" y="575"/>
                </a:lnTo>
                <a:lnTo>
                  <a:pt x="310" y="635"/>
                </a:lnTo>
                <a:lnTo>
                  <a:pt x="324" y="720"/>
                </a:lnTo>
                <a:moveTo>
                  <a:pt x="291" y="527"/>
                </a:moveTo>
                <a:lnTo>
                  <a:pt x="303" y="598"/>
                </a:lnTo>
                <a:lnTo>
                  <a:pt x="233" y="559"/>
                </a:lnTo>
                <a:lnTo>
                  <a:pt x="291" y="527"/>
                </a:lnTo>
                <a:moveTo>
                  <a:pt x="277" y="170"/>
                </a:moveTo>
                <a:lnTo>
                  <a:pt x="277" y="149"/>
                </a:lnTo>
                <a:cubicBezTo>
                  <a:pt x="277" y="137"/>
                  <a:pt x="268" y="128"/>
                  <a:pt x="256" y="128"/>
                </a:cubicBezTo>
                <a:lnTo>
                  <a:pt x="214" y="128"/>
                </a:lnTo>
                <a:lnTo>
                  <a:pt x="214" y="26"/>
                </a:lnTo>
                <a:lnTo>
                  <a:pt x="560" y="170"/>
                </a:lnTo>
                <a:lnTo>
                  <a:pt x="277" y="170"/>
                </a:lnTo>
                <a:moveTo>
                  <a:pt x="320" y="234"/>
                </a:moveTo>
                <a:lnTo>
                  <a:pt x="295" y="234"/>
                </a:lnTo>
                <a:lnTo>
                  <a:pt x="295" y="192"/>
                </a:lnTo>
                <a:lnTo>
                  <a:pt x="320" y="192"/>
                </a:lnTo>
                <a:lnTo>
                  <a:pt x="320" y="234"/>
                </a:lnTo>
                <a:moveTo>
                  <a:pt x="384" y="234"/>
                </a:moveTo>
                <a:lnTo>
                  <a:pt x="341" y="234"/>
                </a:lnTo>
                <a:lnTo>
                  <a:pt x="341" y="192"/>
                </a:lnTo>
                <a:lnTo>
                  <a:pt x="384" y="192"/>
                </a:lnTo>
                <a:lnTo>
                  <a:pt x="384" y="234"/>
                </a:lnTo>
                <a:moveTo>
                  <a:pt x="448" y="234"/>
                </a:moveTo>
                <a:lnTo>
                  <a:pt x="405" y="234"/>
                </a:lnTo>
                <a:lnTo>
                  <a:pt x="405" y="192"/>
                </a:lnTo>
                <a:lnTo>
                  <a:pt x="448" y="192"/>
                </a:lnTo>
                <a:lnTo>
                  <a:pt x="448" y="234"/>
                </a:lnTo>
                <a:moveTo>
                  <a:pt x="512" y="234"/>
                </a:moveTo>
                <a:lnTo>
                  <a:pt x="469" y="234"/>
                </a:lnTo>
                <a:lnTo>
                  <a:pt x="469" y="192"/>
                </a:lnTo>
                <a:lnTo>
                  <a:pt x="512" y="192"/>
                </a:lnTo>
                <a:lnTo>
                  <a:pt x="512" y="234"/>
                </a:lnTo>
                <a:moveTo>
                  <a:pt x="576" y="234"/>
                </a:moveTo>
                <a:lnTo>
                  <a:pt x="533" y="234"/>
                </a:lnTo>
                <a:lnTo>
                  <a:pt x="533" y="192"/>
                </a:lnTo>
                <a:lnTo>
                  <a:pt x="576" y="192"/>
                </a:lnTo>
                <a:lnTo>
                  <a:pt x="576" y="234"/>
                </a:lnTo>
                <a:moveTo>
                  <a:pt x="641" y="234"/>
                </a:moveTo>
                <a:lnTo>
                  <a:pt x="597" y="234"/>
                </a:lnTo>
                <a:lnTo>
                  <a:pt x="597" y="192"/>
                </a:lnTo>
                <a:lnTo>
                  <a:pt x="641" y="192"/>
                </a:lnTo>
                <a:lnTo>
                  <a:pt x="641" y="234"/>
                </a:lnTo>
                <a:moveTo>
                  <a:pt x="705" y="224"/>
                </a:moveTo>
                <a:cubicBezTo>
                  <a:pt x="705" y="230"/>
                  <a:pt x="700" y="234"/>
                  <a:pt x="694" y="234"/>
                </a:cubicBezTo>
                <a:lnTo>
                  <a:pt x="662" y="234"/>
                </a:lnTo>
                <a:lnTo>
                  <a:pt x="662" y="192"/>
                </a:lnTo>
                <a:lnTo>
                  <a:pt x="694" y="192"/>
                </a:lnTo>
                <a:cubicBezTo>
                  <a:pt x="700" y="192"/>
                  <a:pt x="705" y="196"/>
                  <a:pt x="705" y="202"/>
                </a:cubicBezTo>
                <a:lnTo>
                  <a:pt x="705" y="224"/>
                </a:lnTo>
                <a:close/>
              </a:path>
            </a:pathLst>
          </a:custGeom>
          <a:solidFill>
            <a:srgbClr val="BD203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任意多边形 154"/>
          <p:cNvSpPr/>
          <p:nvPr/>
        </p:nvSpPr>
        <p:spPr>
          <a:xfrm>
            <a:off x="2575800" y="2446200"/>
            <a:ext cx="30960" cy="30960"/>
          </a:xfrm>
          <a:custGeom>
            <a:avLst/>
            <a:gdLst/>
            <a:ahLst/>
            <a:cxnLst/>
            <a:rect l="0" t="0" r="r" b="b"/>
            <a:pathLst>
              <a:path w="86" h="86">
                <a:moveTo>
                  <a:pt x="65" y="0"/>
                </a:moveTo>
                <a:lnTo>
                  <a:pt x="22" y="0"/>
                </a:lnTo>
                <a:cubicBezTo>
                  <a:pt x="10" y="0"/>
                  <a:pt x="0" y="10"/>
                  <a:pt x="0" y="21"/>
                </a:cubicBezTo>
                <a:lnTo>
                  <a:pt x="0" y="65"/>
                </a:lnTo>
                <a:cubicBezTo>
                  <a:pt x="0" y="77"/>
                  <a:pt x="10" y="86"/>
                  <a:pt x="22" y="86"/>
                </a:cubicBezTo>
                <a:lnTo>
                  <a:pt x="86" y="86"/>
                </a:lnTo>
                <a:lnTo>
                  <a:pt x="86" y="0"/>
                </a:lnTo>
                <a:lnTo>
                  <a:pt x="65" y="0"/>
                </a:lnTo>
                <a:close/>
              </a:path>
            </a:pathLst>
          </a:custGeom>
          <a:solidFill>
            <a:srgbClr val="4B54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任意多边形 155"/>
          <p:cNvSpPr/>
          <p:nvPr/>
        </p:nvSpPr>
        <p:spPr>
          <a:xfrm>
            <a:off x="2591280" y="2446200"/>
            <a:ext cx="15480" cy="30960"/>
          </a:xfrm>
          <a:custGeom>
            <a:avLst/>
            <a:gdLst/>
            <a:ahLst/>
            <a:cxnLst/>
            <a:rect l="0" t="0" r="r" b="b"/>
            <a:pathLst>
              <a:path w="43" h="86">
                <a:moveTo>
                  <a:pt x="0" y="0"/>
                </a:moveTo>
                <a:lnTo>
                  <a:pt x="43" y="0"/>
                </a:lnTo>
                <a:lnTo>
                  <a:pt x="43" y="86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CDD7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任意多边形 156"/>
          <p:cNvSpPr/>
          <p:nvPr/>
        </p:nvSpPr>
        <p:spPr>
          <a:xfrm>
            <a:off x="2663280" y="2567160"/>
            <a:ext cx="109440" cy="34560"/>
          </a:xfrm>
          <a:custGeom>
            <a:avLst/>
            <a:gdLst/>
            <a:ahLst/>
            <a:cxnLst/>
            <a:rect l="0" t="0" r="r" b="b"/>
            <a:pathLst>
              <a:path w="304" h="96">
                <a:moveTo>
                  <a:pt x="304" y="21"/>
                </a:moveTo>
                <a:lnTo>
                  <a:pt x="304" y="0"/>
                </a:lnTo>
                <a:lnTo>
                  <a:pt x="0" y="0"/>
                </a:lnTo>
                <a:lnTo>
                  <a:pt x="0" y="21"/>
                </a:lnTo>
                <a:lnTo>
                  <a:pt x="19" y="21"/>
                </a:lnTo>
                <a:lnTo>
                  <a:pt x="19" y="75"/>
                </a:lnTo>
                <a:lnTo>
                  <a:pt x="0" y="75"/>
                </a:lnTo>
                <a:lnTo>
                  <a:pt x="0" y="96"/>
                </a:lnTo>
                <a:lnTo>
                  <a:pt x="304" y="96"/>
                </a:lnTo>
                <a:lnTo>
                  <a:pt x="304" y="75"/>
                </a:lnTo>
                <a:lnTo>
                  <a:pt x="286" y="75"/>
                </a:lnTo>
                <a:lnTo>
                  <a:pt x="286" y="21"/>
                </a:lnTo>
                <a:lnTo>
                  <a:pt x="304" y="21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58" name="图片 157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00" y="2895480"/>
            <a:ext cx="9886680" cy="177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文本框 158"/>
          <p:cNvSpPr txBox="1"/>
          <p:nvPr/>
        </p:nvSpPr>
        <p:spPr>
          <a:xfrm>
            <a:off x="2405160" y="23403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任意多边形 1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2" name="任意多边形 1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3" name="任意多边形 16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文本框 163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2.6.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65" name="图片 164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00" y="981000"/>
            <a:ext cx="4733640" cy="554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文本框 165"/>
          <p:cNvSpPr txBox="1"/>
          <p:nvPr/>
        </p:nvSpPr>
        <p:spPr>
          <a:xfrm>
            <a:off x="1574280" y="158040"/>
            <a:ext cx="442044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⽤⼾下单的完整数据流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任意多边形 16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任意多边形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任意多边形 16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747720" y="66600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1221120" y="70092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后端分层⽅法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任意多边形 172"/>
          <p:cNvSpPr/>
          <p:nvPr/>
        </p:nvSpPr>
        <p:spPr>
          <a:xfrm>
            <a:off x="1047600" y="22572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747720" y="15620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分层职责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1300320" y="2102400"/>
            <a:ext cx="83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Routes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2130840" y="212400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：定义资源与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3787920" y="2102400"/>
            <a:ext cx="791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HTTP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任意多边形 177"/>
          <p:cNvSpPr/>
          <p:nvPr/>
        </p:nvSpPr>
        <p:spPr>
          <a:xfrm>
            <a:off x="1047600" y="274284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4584960" y="2124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动词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1300320" y="2588040"/>
            <a:ext cx="1330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Controllers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2632320" y="26100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：处理请求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4013280" y="25880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3" name="任意多边形 182"/>
          <p:cNvSpPr/>
          <p:nvPr/>
        </p:nvSpPr>
        <p:spPr>
          <a:xfrm>
            <a:off x="1047600" y="322884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4120920" y="261000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响应，组织业务流程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1300320" y="3073680"/>
            <a:ext cx="900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Models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任意多边形 185"/>
          <p:cNvSpPr/>
          <p:nvPr/>
        </p:nvSpPr>
        <p:spPr>
          <a:xfrm>
            <a:off x="1047600" y="370512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2201400" y="309564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：定义实体结构与约束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1300320" y="3549960"/>
            <a:ext cx="143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Middleware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文本框 188"/>
          <p:cNvSpPr txBox="1"/>
          <p:nvPr/>
        </p:nvSpPr>
        <p:spPr>
          <a:xfrm>
            <a:off x="2732400" y="357192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：认证、限流、异常处理横切逻辑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任意多边形 189"/>
          <p:cNvSpPr/>
          <p:nvPr/>
        </p:nvSpPr>
        <p:spPr>
          <a:xfrm>
            <a:off x="1047600" y="48384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747720" y="41432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收益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任意多边形 191"/>
          <p:cNvSpPr/>
          <p:nvPr/>
        </p:nvSpPr>
        <p:spPr>
          <a:xfrm>
            <a:off x="1047600" y="532440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1"/>
                  <a:pt x="0" y="133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1300320" y="470520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降低耦合，提升可测试性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1300320" y="51912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新增模块时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2681280" y="51692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2785320" y="51912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按层扩展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3890160" y="51692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8" name="文本框 197"/>
          <p:cNvSpPr txBox="1"/>
          <p:nvPr/>
        </p:nvSpPr>
        <p:spPr>
          <a:xfrm>
            <a:off x="3994560" y="51912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，改动范围可控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任意多边形 1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1" name="任意多边形 2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任意多边形 202"/>
          <p:cNvSpPr/>
          <p:nvPr/>
        </p:nvSpPr>
        <p:spPr>
          <a:xfrm>
            <a:off x="752400" y="2752560"/>
            <a:ext cx="1410120" cy="533880"/>
          </a:xfrm>
          <a:custGeom>
            <a:avLst/>
            <a:gdLst/>
            <a:ahLst/>
            <a:cxnLst/>
            <a:rect l="0" t="0" r="r" b="b"/>
            <a:pathLst>
              <a:path w="3917" h="1483">
                <a:moveTo>
                  <a:pt x="0" y="0"/>
                </a:moveTo>
                <a:lnTo>
                  <a:pt x="3917" y="0"/>
                </a:lnTo>
                <a:lnTo>
                  <a:pt x="391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2162160" y="2752560"/>
            <a:ext cx="3019680" cy="533880"/>
          </a:xfrm>
          <a:custGeom>
            <a:avLst/>
            <a:gdLst/>
            <a:ahLst/>
            <a:cxnLst/>
            <a:rect l="0" t="0" r="r" b="b"/>
            <a:pathLst>
              <a:path w="8388" h="1483">
                <a:moveTo>
                  <a:pt x="0" y="0"/>
                </a:moveTo>
                <a:lnTo>
                  <a:pt x="8388" y="0"/>
                </a:lnTo>
                <a:lnTo>
                  <a:pt x="838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任意多边形 204"/>
          <p:cNvSpPr/>
          <p:nvPr/>
        </p:nvSpPr>
        <p:spPr>
          <a:xfrm>
            <a:off x="5181480" y="2752560"/>
            <a:ext cx="5382000" cy="533880"/>
          </a:xfrm>
          <a:custGeom>
            <a:avLst/>
            <a:gdLst/>
            <a:ahLst/>
            <a:cxnLst/>
            <a:rect l="0" t="0" r="r" b="b"/>
            <a:pathLst>
              <a:path w="14950" h="1483">
                <a:moveTo>
                  <a:pt x="0" y="0"/>
                </a:moveTo>
                <a:lnTo>
                  <a:pt x="14950" y="0"/>
                </a:lnTo>
                <a:lnTo>
                  <a:pt x="149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752400" y="3286080"/>
            <a:ext cx="1410120" cy="543240"/>
          </a:xfrm>
          <a:custGeom>
            <a:avLst/>
            <a:gdLst/>
            <a:ahLst/>
            <a:cxnLst/>
            <a:rect l="0" t="0" r="r" b="b"/>
            <a:pathLst>
              <a:path w="3917" h="1509">
                <a:moveTo>
                  <a:pt x="0" y="0"/>
                </a:moveTo>
                <a:lnTo>
                  <a:pt x="3917" y="0"/>
                </a:lnTo>
                <a:lnTo>
                  <a:pt x="391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任意多边形 206"/>
          <p:cNvSpPr/>
          <p:nvPr/>
        </p:nvSpPr>
        <p:spPr>
          <a:xfrm>
            <a:off x="2162160" y="3286080"/>
            <a:ext cx="3019680" cy="543240"/>
          </a:xfrm>
          <a:custGeom>
            <a:avLst/>
            <a:gdLst/>
            <a:ahLst/>
            <a:cxnLst/>
            <a:rect l="0" t="0" r="r" b="b"/>
            <a:pathLst>
              <a:path w="8388" h="1509">
                <a:moveTo>
                  <a:pt x="0" y="0"/>
                </a:moveTo>
                <a:lnTo>
                  <a:pt x="8388" y="0"/>
                </a:lnTo>
                <a:lnTo>
                  <a:pt x="838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5181480" y="3286080"/>
            <a:ext cx="5382000" cy="543240"/>
          </a:xfrm>
          <a:custGeom>
            <a:avLst/>
            <a:gdLst/>
            <a:ahLst/>
            <a:cxnLst/>
            <a:rect l="0" t="0" r="r" b="b"/>
            <a:pathLst>
              <a:path w="14950" h="1509">
                <a:moveTo>
                  <a:pt x="0" y="0"/>
                </a:moveTo>
                <a:lnTo>
                  <a:pt x="14950" y="0"/>
                </a:lnTo>
                <a:lnTo>
                  <a:pt x="149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任意多边形 208"/>
          <p:cNvSpPr/>
          <p:nvPr/>
        </p:nvSpPr>
        <p:spPr>
          <a:xfrm>
            <a:off x="752400" y="3828960"/>
            <a:ext cx="1410120" cy="533520"/>
          </a:xfrm>
          <a:custGeom>
            <a:avLst/>
            <a:gdLst/>
            <a:ahLst/>
            <a:cxnLst/>
            <a:rect l="0" t="0" r="r" b="b"/>
            <a:pathLst>
              <a:path w="3917" h="1482">
                <a:moveTo>
                  <a:pt x="0" y="0"/>
                </a:moveTo>
                <a:lnTo>
                  <a:pt x="3917" y="0"/>
                </a:lnTo>
                <a:lnTo>
                  <a:pt x="391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0" name="任意多边形 209"/>
          <p:cNvSpPr/>
          <p:nvPr/>
        </p:nvSpPr>
        <p:spPr>
          <a:xfrm>
            <a:off x="2162160" y="3828960"/>
            <a:ext cx="3019680" cy="533520"/>
          </a:xfrm>
          <a:custGeom>
            <a:avLst/>
            <a:gdLst/>
            <a:ahLst/>
            <a:cxnLst/>
            <a:rect l="0" t="0" r="r" b="b"/>
            <a:pathLst>
              <a:path w="8388" h="1482">
                <a:moveTo>
                  <a:pt x="0" y="0"/>
                </a:moveTo>
                <a:lnTo>
                  <a:pt x="8388" y="0"/>
                </a:lnTo>
                <a:lnTo>
                  <a:pt x="838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1" name="任意多边形 210"/>
          <p:cNvSpPr/>
          <p:nvPr/>
        </p:nvSpPr>
        <p:spPr>
          <a:xfrm>
            <a:off x="5181480" y="3828960"/>
            <a:ext cx="5382000" cy="533520"/>
          </a:xfrm>
          <a:custGeom>
            <a:avLst/>
            <a:gdLst/>
            <a:ahLst/>
            <a:cxnLst/>
            <a:rect l="0" t="0" r="r" b="b"/>
            <a:pathLst>
              <a:path w="14950" h="1482">
                <a:moveTo>
                  <a:pt x="0" y="0"/>
                </a:moveTo>
                <a:lnTo>
                  <a:pt x="14950" y="0"/>
                </a:lnTo>
                <a:lnTo>
                  <a:pt x="14950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2" name="任意多边形 211"/>
          <p:cNvSpPr/>
          <p:nvPr/>
        </p:nvSpPr>
        <p:spPr>
          <a:xfrm>
            <a:off x="752400" y="4362120"/>
            <a:ext cx="1410120" cy="543600"/>
          </a:xfrm>
          <a:custGeom>
            <a:avLst/>
            <a:gdLst/>
            <a:ahLst/>
            <a:cxnLst/>
            <a:rect l="0" t="0" r="r" b="b"/>
            <a:pathLst>
              <a:path w="3917" h="1510">
                <a:moveTo>
                  <a:pt x="0" y="0"/>
                </a:moveTo>
                <a:lnTo>
                  <a:pt x="3917" y="0"/>
                </a:lnTo>
                <a:lnTo>
                  <a:pt x="391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3" name="任意多边形 212"/>
          <p:cNvSpPr/>
          <p:nvPr/>
        </p:nvSpPr>
        <p:spPr>
          <a:xfrm>
            <a:off x="2162160" y="4362120"/>
            <a:ext cx="3019680" cy="543600"/>
          </a:xfrm>
          <a:custGeom>
            <a:avLst/>
            <a:gdLst/>
            <a:ahLst/>
            <a:cxnLst/>
            <a:rect l="0" t="0" r="r" b="b"/>
            <a:pathLst>
              <a:path w="8388" h="1510">
                <a:moveTo>
                  <a:pt x="0" y="0"/>
                </a:moveTo>
                <a:lnTo>
                  <a:pt x="8388" y="0"/>
                </a:lnTo>
                <a:lnTo>
                  <a:pt x="8388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4" name="任意多边形 213"/>
          <p:cNvSpPr/>
          <p:nvPr/>
        </p:nvSpPr>
        <p:spPr>
          <a:xfrm>
            <a:off x="5181480" y="4362120"/>
            <a:ext cx="5382000" cy="543600"/>
          </a:xfrm>
          <a:custGeom>
            <a:avLst/>
            <a:gdLst/>
            <a:ahLst/>
            <a:cxnLst/>
            <a:rect l="0" t="0" r="r" b="b"/>
            <a:pathLst>
              <a:path w="14950" h="1510">
                <a:moveTo>
                  <a:pt x="0" y="0"/>
                </a:moveTo>
                <a:lnTo>
                  <a:pt x="14950" y="0"/>
                </a:lnTo>
                <a:lnTo>
                  <a:pt x="14950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752400" y="2742840"/>
            <a:ext cx="9720" cy="552960"/>
          </a:xfrm>
          <a:custGeom>
            <a:avLst/>
            <a:gdLst/>
            <a:ahLst/>
            <a:cxn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6" name="任意多边形 215"/>
          <p:cNvSpPr/>
          <p:nvPr/>
        </p:nvSpPr>
        <p:spPr>
          <a:xfrm>
            <a:off x="752400" y="2742840"/>
            <a:ext cx="1419480" cy="10080"/>
          </a:xfrm>
          <a:custGeom>
            <a:avLst/>
            <a:gdLst/>
            <a:ahLst/>
            <a:cxn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7" name="任意多边形 216"/>
          <p:cNvSpPr/>
          <p:nvPr/>
        </p:nvSpPr>
        <p:spPr>
          <a:xfrm>
            <a:off x="2162160" y="2742840"/>
            <a:ext cx="9720" cy="552960"/>
          </a:xfrm>
          <a:custGeom>
            <a:avLst/>
            <a:gdLst/>
            <a:ahLst/>
            <a:cxn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8" name="任意多边形 217"/>
          <p:cNvSpPr/>
          <p:nvPr/>
        </p:nvSpPr>
        <p:spPr>
          <a:xfrm>
            <a:off x="2171520" y="2742840"/>
            <a:ext cx="3019680" cy="10080"/>
          </a:xfrm>
          <a:custGeom>
            <a:avLst/>
            <a:gdLst/>
            <a:ahLst/>
            <a:cxn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9" name="任意多边形 218"/>
          <p:cNvSpPr/>
          <p:nvPr/>
        </p:nvSpPr>
        <p:spPr>
          <a:xfrm>
            <a:off x="5181480" y="2742840"/>
            <a:ext cx="9720" cy="552960"/>
          </a:xfrm>
          <a:custGeom>
            <a:avLst/>
            <a:gdLst/>
            <a:ahLst/>
            <a:cxn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任意多边形 219"/>
          <p:cNvSpPr/>
          <p:nvPr/>
        </p:nvSpPr>
        <p:spPr>
          <a:xfrm>
            <a:off x="5190840" y="2742840"/>
            <a:ext cx="5372640" cy="10080"/>
          </a:xfrm>
          <a:custGeom>
            <a:avLst/>
            <a:gdLst/>
            <a:ahLst/>
            <a:cxn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1" name="任意多边形 220"/>
          <p:cNvSpPr/>
          <p:nvPr/>
        </p:nvSpPr>
        <p:spPr>
          <a:xfrm>
            <a:off x="10553400" y="2742840"/>
            <a:ext cx="10080" cy="552960"/>
          </a:xfrm>
          <a:custGeom>
            <a:avLst/>
            <a:gdLst/>
            <a:ahLst/>
            <a:cxn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2" name="任意多边形 221"/>
          <p:cNvSpPr/>
          <p:nvPr/>
        </p:nvSpPr>
        <p:spPr>
          <a:xfrm>
            <a:off x="752400" y="3286080"/>
            <a:ext cx="1419480" cy="9720"/>
          </a:xfrm>
          <a:custGeom>
            <a:avLst/>
            <a:gdLst/>
            <a:ahLst/>
            <a:cxnLst/>
            <a:rect l="0" t="0" r="r" b="b"/>
            <a:pathLst>
              <a:path w="3943" h="27">
                <a:moveTo>
                  <a:pt x="0" y="0"/>
                </a:moveTo>
                <a:lnTo>
                  <a:pt x="3943" y="0"/>
                </a:lnTo>
                <a:lnTo>
                  <a:pt x="394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3" name="任意多边形 222"/>
          <p:cNvSpPr/>
          <p:nvPr/>
        </p:nvSpPr>
        <p:spPr>
          <a:xfrm>
            <a:off x="2171520" y="3286080"/>
            <a:ext cx="3019680" cy="9720"/>
          </a:xfrm>
          <a:custGeom>
            <a:avLst/>
            <a:gdLst/>
            <a:ahLst/>
            <a:cxnLst/>
            <a:rect l="0" t="0" r="r" b="b"/>
            <a:pathLst>
              <a:path w="8388" h="27">
                <a:moveTo>
                  <a:pt x="0" y="0"/>
                </a:moveTo>
                <a:lnTo>
                  <a:pt x="8388" y="0"/>
                </a:lnTo>
                <a:lnTo>
                  <a:pt x="838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4" name="任意多边形 223"/>
          <p:cNvSpPr/>
          <p:nvPr/>
        </p:nvSpPr>
        <p:spPr>
          <a:xfrm>
            <a:off x="5190840" y="3286080"/>
            <a:ext cx="5372640" cy="9720"/>
          </a:xfrm>
          <a:custGeom>
            <a:avLst/>
            <a:gdLst/>
            <a:ahLst/>
            <a:cxnLst/>
            <a:rect l="0" t="0" r="r" b="b"/>
            <a:pathLst>
              <a:path w="14924" h="27">
                <a:moveTo>
                  <a:pt x="0" y="0"/>
                </a:moveTo>
                <a:lnTo>
                  <a:pt x="14924" y="0"/>
                </a:lnTo>
                <a:lnTo>
                  <a:pt x="1492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5" name="任意多边形 224"/>
          <p:cNvSpPr/>
          <p:nvPr/>
        </p:nvSpPr>
        <p:spPr>
          <a:xfrm>
            <a:off x="752400" y="32954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6" name="任意多边形 225"/>
          <p:cNvSpPr/>
          <p:nvPr/>
        </p:nvSpPr>
        <p:spPr>
          <a:xfrm>
            <a:off x="2162160" y="32954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7" name="任意多边形 226"/>
          <p:cNvSpPr/>
          <p:nvPr/>
        </p:nvSpPr>
        <p:spPr>
          <a:xfrm>
            <a:off x="5181480" y="32954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8" name="任意多边形 227"/>
          <p:cNvSpPr/>
          <p:nvPr/>
        </p:nvSpPr>
        <p:spPr>
          <a:xfrm>
            <a:off x="10553400" y="32954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9" name="任意多边形 228"/>
          <p:cNvSpPr/>
          <p:nvPr/>
        </p:nvSpPr>
        <p:spPr>
          <a:xfrm>
            <a:off x="752400" y="38289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0" name="任意多边形 229"/>
          <p:cNvSpPr/>
          <p:nvPr/>
        </p:nvSpPr>
        <p:spPr>
          <a:xfrm>
            <a:off x="752400" y="3819240"/>
            <a:ext cx="1419480" cy="10080"/>
          </a:xfrm>
          <a:custGeom>
            <a:avLst/>
            <a:gdLst/>
            <a:ahLst/>
            <a:cxn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1" name="任意多边形 230"/>
          <p:cNvSpPr/>
          <p:nvPr/>
        </p:nvSpPr>
        <p:spPr>
          <a:xfrm>
            <a:off x="2162160" y="38289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2" name="任意多边形 231"/>
          <p:cNvSpPr/>
          <p:nvPr/>
        </p:nvSpPr>
        <p:spPr>
          <a:xfrm>
            <a:off x="2171520" y="3819240"/>
            <a:ext cx="3019680" cy="10080"/>
          </a:xfrm>
          <a:custGeom>
            <a:avLst/>
            <a:gdLst/>
            <a:ahLst/>
            <a:cxn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3" name="任意多边形 232"/>
          <p:cNvSpPr/>
          <p:nvPr/>
        </p:nvSpPr>
        <p:spPr>
          <a:xfrm>
            <a:off x="5181480" y="38289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4" name="任意多边形 233"/>
          <p:cNvSpPr/>
          <p:nvPr/>
        </p:nvSpPr>
        <p:spPr>
          <a:xfrm>
            <a:off x="5190840" y="3819240"/>
            <a:ext cx="5372640" cy="10080"/>
          </a:xfrm>
          <a:custGeom>
            <a:avLst/>
            <a:gdLst/>
            <a:ahLst/>
            <a:cxn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10553400" y="38289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6" name="任意多边形 235"/>
          <p:cNvSpPr/>
          <p:nvPr/>
        </p:nvSpPr>
        <p:spPr>
          <a:xfrm>
            <a:off x="752400" y="43718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752400" y="4362120"/>
            <a:ext cx="1419480" cy="10080"/>
          </a:xfrm>
          <a:custGeom>
            <a:avLst/>
            <a:gdLst/>
            <a:ahLst/>
            <a:cxn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8" name="任意多边形 237"/>
          <p:cNvSpPr/>
          <p:nvPr/>
        </p:nvSpPr>
        <p:spPr>
          <a:xfrm>
            <a:off x="2162160" y="43718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2171520" y="4362120"/>
            <a:ext cx="3019680" cy="10080"/>
          </a:xfrm>
          <a:custGeom>
            <a:avLst/>
            <a:gdLst/>
            <a:ahLst/>
            <a:cxn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0" name="任意多边形 239"/>
          <p:cNvSpPr/>
          <p:nvPr/>
        </p:nvSpPr>
        <p:spPr>
          <a:xfrm>
            <a:off x="5181480" y="437184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1" name="任意多边形 240"/>
          <p:cNvSpPr/>
          <p:nvPr/>
        </p:nvSpPr>
        <p:spPr>
          <a:xfrm>
            <a:off x="5190840" y="4362120"/>
            <a:ext cx="5372640" cy="10080"/>
          </a:xfrm>
          <a:custGeom>
            <a:avLst/>
            <a:gdLst/>
            <a:ahLst/>
            <a:cxn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2" name="任意多边形 241"/>
          <p:cNvSpPr/>
          <p:nvPr/>
        </p:nvSpPr>
        <p:spPr>
          <a:xfrm>
            <a:off x="10553400" y="437184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3" name="任意多边形 242"/>
          <p:cNvSpPr/>
          <p:nvPr/>
        </p:nvSpPr>
        <p:spPr>
          <a:xfrm>
            <a:off x="752400" y="4895640"/>
            <a:ext cx="1419480" cy="10080"/>
          </a:xfrm>
          <a:custGeom>
            <a:avLst/>
            <a:gdLst/>
            <a:ahLst/>
            <a:cxnLst/>
            <a:rect l="0" t="0" r="r" b="b"/>
            <a:pathLst>
              <a:path w="3943" h="28">
                <a:moveTo>
                  <a:pt x="0" y="0"/>
                </a:moveTo>
                <a:lnTo>
                  <a:pt x="3943" y="0"/>
                </a:lnTo>
                <a:lnTo>
                  <a:pt x="394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4" name="任意多边形 243"/>
          <p:cNvSpPr/>
          <p:nvPr/>
        </p:nvSpPr>
        <p:spPr>
          <a:xfrm>
            <a:off x="2171520" y="4895640"/>
            <a:ext cx="3019680" cy="10080"/>
          </a:xfrm>
          <a:custGeom>
            <a:avLst/>
            <a:gdLst/>
            <a:ahLst/>
            <a:cxnLst/>
            <a:rect l="0" t="0" r="r" b="b"/>
            <a:pathLst>
              <a:path w="8388" h="28">
                <a:moveTo>
                  <a:pt x="0" y="0"/>
                </a:moveTo>
                <a:lnTo>
                  <a:pt x="8388" y="0"/>
                </a:lnTo>
                <a:lnTo>
                  <a:pt x="838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5" name="任意多边形 244"/>
          <p:cNvSpPr/>
          <p:nvPr/>
        </p:nvSpPr>
        <p:spPr>
          <a:xfrm>
            <a:off x="5190840" y="4895640"/>
            <a:ext cx="5372640" cy="10080"/>
          </a:xfrm>
          <a:custGeom>
            <a:avLst/>
            <a:gdLst/>
            <a:ahLst/>
            <a:cxnLst/>
            <a:rect l="0" t="0" r="r" b="b"/>
            <a:pathLst>
              <a:path w="14924" h="28">
                <a:moveTo>
                  <a:pt x="0" y="0"/>
                </a:moveTo>
                <a:lnTo>
                  <a:pt x="14924" y="0"/>
                </a:lnTo>
                <a:lnTo>
                  <a:pt x="1492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747720" y="34236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4.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230480" y="37728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认证与权限设计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8" name="文本框 247"/>
          <p:cNvSpPr txBox="1"/>
          <p:nvPr/>
        </p:nvSpPr>
        <p:spPr>
          <a:xfrm>
            <a:off x="74772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1023840" y="1216440"/>
            <a:ext cx="1950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Token </a:t>
            </a:r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- Access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291240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3188880" y="121644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3486600" y="12384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4315320" y="1216440"/>
            <a:ext cx="1173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Refresh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4" name="文本框 253"/>
          <p:cNvSpPr txBox="1"/>
          <p:nvPr/>
        </p:nvSpPr>
        <p:spPr>
          <a:xfrm>
            <a:off x="548172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5758200" y="12164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5906880" y="1238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天）；被盗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7149960" y="1216440"/>
            <a:ext cx="963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Access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8113680" y="1238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仅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8389800" y="1216440"/>
            <a:ext cx="449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15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8839080" y="1238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分钟窗⼝，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0220040" y="1216440"/>
            <a:ext cx="909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Refresh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747720" y="16477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被盗可⽴刻拉⿊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747720" y="22194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权限边界（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2128680" y="2197440"/>
            <a:ext cx="723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RBAC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2820600" y="2219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118116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⻆⾊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339588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7342560" y="282600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7845840" y="2847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端点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880920" y="3369240"/>
            <a:ext cx="514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user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2291040" y="33908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查酒店、下单、⽀付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5310360" y="3369240"/>
            <a:ext cx="43884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GET /hotels, POST /orders, PUT /pay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880920" y="3902400"/>
            <a:ext cx="1152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merchant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2291040" y="39243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管理⾃家酒店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5" name="文本框 274"/>
          <p:cNvSpPr txBox="1"/>
          <p:nvPr/>
        </p:nvSpPr>
        <p:spPr>
          <a:xfrm>
            <a:off x="5310360" y="3902400"/>
            <a:ext cx="3234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GET/POST/PUT /my-hotels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6" name="文本框 275"/>
          <p:cNvSpPr txBox="1"/>
          <p:nvPr/>
        </p:nvSpPr>
        <p:spPr>
          <a:xfrm>
            <a:off x="880920" y="4445280"/>
            <a:ext cx="763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admin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7" name="文本框 276"/>
          <p:cNvSpPr txBox="1"/>
          <p:nvPr/>
        </p:nvSpPr>
        <p:spPr>
          <a:xfrm>
            <a:off x="2291040" y="446724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审核、发布、全局管理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5310360" y="4445280"/>
            <a:ext cx="51138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PUT /admin/approve, /publish, /unpublish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747720" y="50958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实现：路由前置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2681280" y="5074200"/>
            <a:ext cx="7416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auth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3399120" y="50958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中间件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2" name="任意多边形 281"/>
          <p:cNvSpPr/>
          <p:nvPr/>
        </p:nvSpPr>
        <p:spPr>
          <a:xfrm>
            <a:off x="4305240" y="5105160"/>
            <a:ext cx="2248200" cy="371880"/>
          </a:xfrm>
          <a:custGeom>
            <a:avLst/>
            <a:gdLst/>
            <a:ahLst/>
            <a:cxnLst/>
            <a:rect l="0" t="0" r="r" b="b"/>
            <a:pathLst>
              <a:path w="624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6086" y="0"/>
                </a:lnTo>
                <a:cubicBezTo>
                  <a:pt x="6097" y="0"/>
                  <a:pt x="6107" y="1"/>
                  <a:pt x="6117" y="3"/>
                </a:cubicBezTo>
                <a:cubicBezTo>
                  <a:pt x="6127" y="5"/>
                  <a:pt x="6137" y="8"/>
                  <a:pt x="6147" y="12"/>
                </a:cubicBezTo>
                <a:cubicBezTo>
                  <a:pt x="6156" y="16"/>
                  <a:pt x="6166" y="21"/>
                  <a:pt x="6174" y="27"/>
                </a:cubicBezTo>
                <a:cubicBezTo>
                  <a:pt x="6183" y="33"/>
                  <a:pt x="6191" y="39"/>
                  <a:pt x="6198" y="47"/>
                </a:cubicBezTo>
                <a:cubicBezTo>
                  <a:pt x="6206" y="54"/>
                  <a:pt x="6212" y="62"/>
                  <a:pt x="6218" y="71"/>
                </a:cubicBezTo>
                <a:cubicBezTo>
                  <a:pt x="6224" y="79"/>
                  <a:pt x="6229" y="89"/>
                  <a:pt x="6233" y="98"/>
                </a:cubicBezTo>
                <a:cubicBezTo>
                  <a:pt x="6237" y="108"/>
                  <a:pt x="6240" y="118"/>
                  <a:pt x="6242" y="128"/>
                </a:cubicBezTo>
                <a:cubicBezTo>
                  <a:pt x="6244" y="138"/>
                  <a:pt x="6245" y="148"/>
                  <a:pt x="6245" y="159"/>
                </a:cubicBezTo>
                <a:lnTo>
                  <a:pt x="6245" y="874"/>
                </a:lnTo>
                <a:cubicBezTo>
                  <a:pt x="6245" y="885"/>
                  <a:pt x="6244" y="895"/>
                  <a:pt x="6242" y="905"/>
                </a:cubicBezTo>
                <a:cubicBezTo>
                  <a:pt x="6240" y="915"/>
                  <a:pt x="6237" y="925"/>
                  <a:pt x="6233" y="935"/>
                </a:cubicBezTo>
                <a:cubicBezTo>
                  <a:pt x="6229" y="945"/>
                  <a:pt x="6224" y="954"/>
                  <a:pt x="6218" y="962"/>
                </a:cubicBezTo>
                <a:cubicBezTo>
                  <a:pt x="6212" y="971"/>
                  <a:pt x="6206" y="979"/>
                  <a:pt x="6198" y="987"/>
                </a:cubicBezTo>
                <a:cubicBezTo>
                  <a:pt x="6191" y="994"/>
                  <a:pt x="6183" y="1000"/>
                  <a:pt x="6174" y="1006"/>
                </a:cubicBezTo>
                <a:cubicBezTo>
                  <a:pt x="6166" y="1012"/>
                  <a:pt x="6156" y="1017"/>
                  <a:pt x="6147" y="1021"/>
                </a:cubicBezTo>
                <a:cubicBezTo>
                  <a:pt x="6137" y="1025"/>
                  <a:pt x="6127" y="1028"/>
                  <a:pt x="6117" y="1030"/>
                </a:cubicBezTo>
                <a:cubicBezTo>
                  <a:pt x="6107" y="1032"/>
                  <a:pt x="6097" y="1033"/>
                  <a:pt x="6086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7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3" name="文本框 282"/>
          <p:cNvSpPr txBox="1"/>
          <p:nvPr/>
        </p:nvSpPr>
        <p:spPr>
          <a:xfrm>
            <a:off x="4227840" y="5074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4397400" y="519696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router.use(auth)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6557040" y="507420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6946560" y="5095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7499160" y="5074200"/>
            <a:ext cx="1208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Token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8682120" y="50958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提取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9234360" y="5074200"/>
            <a:ext cx="933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role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10168920" y="5095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再做⻆⾊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47720" y="55148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校验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任意多边形 2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4" name="任意多边形 2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5" name="任意多边形 2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6" name="任意多边形 295"/>
          <p:cNvSpPr/>
          <p:nvPr/>
        </p:nvSpPr>
        <p:spPr>
          <a:xfrm>
            <a:off x="752400" y="1552320"/>
            <a:ext cx="810000" cy="533880"/>
          </a:xfrm>
          <a:custGeom>
            <a:avLst/>
            <a:gdLst/>
            <a:ahLst/>
            <a:cxnLst/>
            <a:rect l="0" t="0" r="r" b="b"/>
            <a:pathLst>
              <a:path w="2250" h="1483">
                <a:moveTo>
                  <a:pt x="0" y="0"/>
                </a:moveTo>
                <a:lnTo>
                  <a:pt x="2250" y="0"/>
                </a:lnTo>
                <a:lnTo>
                  <a:pt x="225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7" name="任意多边形 296"/>
          <p:cNvSpPr/>
          <p:nvPr/>
        </p:nvSpPr>
        <p:spPr>
          <a:xfrm>
            <a:off x="1562040" y="1552320"/>
            <a:ext cx="4677120" cy="533880"/>
          </a:xfrm>
          <a:custGeom>
            <a:avLst/>
            <a:gdLst/>
            <a:ahLst/>
            <a:cxnLst/>
            <a:rect l="0" t="0" r="r" b="b"/>
            <a:pathLst>
              <a:path w="12992" h="1483">
                <a:moveTo>
                  <a:pt x="0" y="0"/>
                </a:moveTo>
                <a:lnTo>
                  <a:pt x="12992" y="0"/>
                </a:lnTo>
                <a:lnTo>
                  <a:pt x="1299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8" name="任意多边形 297"/>
          <p:cNvSpPr/>
          <p:nvPr/>
        </p:nvSpPr>
        <p:spPr>
          <a:xfrm>
            <a:off x="6238800" y="1552320"/>
            <a:ext cx="4305600" cy="533880"/>
          </a:xfrm>
          <a:custGeom>
            <a:avLst/>
            <a:gdLst/>
            <a:ahLst/>
            <a:cxnLst/>
            <a:rect l="0" t="0" r="r" b="b"/>
            <a:pathLst>
              <a:path w="11960" h="1483">
                <a:moveTo>
                  <a:pt x="0" y="0"/>
                </a:moveTo>
                <a:lnTo>
                  <a:pt x="11960" y="0"/>
                </a:lnTo>
                <a:lnTo>
                  <a:pt x="1196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9" name="任意多边形 298"/>
          <p:cNvSpPr/>
          <p:nvPr/>
        </p:nvSpPr>
        <p:spPr>
          <a:xfrm>
            <a:off x="752400" y="2085840"/>
            <a:ext cx="810000" cy="543240"/>
          </a:xfrm>
          <a:custGeom>
            <a:avLst/>
            <a:gdLst/>
            <a:ahLst/>
            <a:cxn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1562040" y="2085840"/>
            <a:ext cx="4677120" cy="543240"/>
          </a:xfrm>
          <a:custGeom>
            <a:avLst/>
            <a:gdLst/>
            <a:ahLst/>
            <a:cxn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1" name="任意多边形 300"/>
          <p:cNvSpPr/>
          <p:nvPr/>
        </p:nvSpPr>
        <p:spPr>
          <a:xfrm>
            <a:off x="6238800" y="2085840"/>
            <a:ext cx="4305600" cy="543240"/>
          </a:xfrm>
          <a:custGeom>
            <a:avLst/>
            <a:gdLst/>
            <a:ahLst/>
            <a:cxn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2" name="任意多边形 301"/>
          <p:cNvSpPr/>
          <p:nvPr/>
        </p:nvSpPr>
        <p:spPr>
          <a:xfrm>
            <a:off x="752400" y="2628720"/>
            <a:ext cx="810000" cy="543240"/>
          </a:xfrm>
          <a:custGeom>
            <a:avLst/>
            <a:gdLst/>
            <a:ahLst/>
            <a:cxn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3" name="任意多边形 302"/>
          <p:cNvSpPr/>
          <p:nvPr/>
        </p:nvSpPr>
        <p:spPr>
          <a:xfrm>
            <a:off x="1562040" y="2628720"/>
            <a:ext cx="4677120" cy="543240"/>
          </a:xfrm>
          <a:custGeom>
            <a:avLst/>
            <a:gdLst/>
            <a:ahLst/>
            <a:cxn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4" name="任意多边形 303"/>
          <p:cNvSpPr/>
          <p:nvPr/>
        </p:nvSpPr>
        <p:spPr>
          <a:xfrm>
            <a:off x="6238800" y="2628720"/>
            <a:ext cx="4305600" cy="543240"/>
          </a:xfrm>
          <a:custGeom>
            <a:avLst/>
            <a:gdLst/>
            <a:ahLst/>
            <a:cxn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5" name="任意多边形 304"/>
          <p:cNvSpPr/>
          <p:nvPr/>
        </p:nvSpPr>
        <p:spPr>
          <a:xfrm>
            <a:off x="752400" y="3171600"/>
            <a:ext cx="810000" cy="543240"/>
          </a:xfrm>
          <a:custGeom>
            <a:avLst/>
            <a:gdLst/>
            <a:ahLst/>
            <a:cxnLst/>
            <a:rect l="0" t="0" r="r" b="b"/>
            <a:pathLst>
              <a:path w="2250" h="1509">
                <a:moveTo>
                  <a:pt x="0" y="0"/>
                </a:moveTo>
                <a:lnTo>
                  <a:pt x="2250" y="0"/>
                </a:lnTo>
                <a:lnTo>
                  <a:pt x="225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6" name="任意多边形 305"/>
          <p:cNvSpPr/>
          <p:nvPr/>
        </p:nvSpPr>
        <p:spPr>
          <a:xfrm>
            <a:off x="1562040" y="3171600"/>
            <a:ext cx="4677120" cy="543240"/>
          </a:xfrm>
          <a:custGeom>
            <a:avLst/>
            <a:gdLst/>
            <a:ahLst/>
            <a:cxnLst/>
            <a:rect l="0" t="0" r="r" b="b"/>
            <a:pathLst>
              <a:path w="12992" h="1509">
                <a:moveTo>
                  <a:pt x="0" y="0"/>
                </a:moveTo>
                <a:lnTo>
                  <a:pt x="12992" y="0"/>
                </a:lnTo>
                <a:lnTo>
                  <a:pt x="1299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7" name="任意多边形 306"/>
          <p:cNvSpPr/>
          <p:nvPr/>
        </p:nvSpPr>
        <p:spPr>
          <a:xfrm>
            <a:off x="6238800" y="3171600"/>
            <a:ext cx="4305600" cy="543240"/>
          </a:xfrm>
          <a:custGeom>
            <a:avLst/>
            <a:gdLst/>
            <a:ahLst/>
            <a:cxnLst/>
            <a:rect l="0" t="0" r="r" b="b"/>
            <a:pathLst>
              <a:path w="11960" h="1509">
                <a:moveTo>
                  <a:pt x="0" y="0"/>
                </a:moveTo>
                <a:lnTo>
                  <a:pt x="11960" y="0"/>
                </a:lnTo>
                <a:lnTo>
                  <a:pt x="1196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8" name="任意多边形 307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9" name="任意多边形 308"/>
          <p:cNvSpPr/>
          <p:nvPr/>
        </p:nvSpPr>
        <p:spPr>
          <a:xfrm>
            <a:off x="752400" y="1542960"/>
            <a:ext cx="819360" cy="9720"/>
          </a:xfrm>
          <a:custGeom>
            <a:avLst/>
            <a:gdLst/>
            <a:ahLst/>
            <a:cxn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0" name="任意多边形 309"/>
          <p:cNvSpPr/>
          <p:nvPr/>
        </p:nvSpPr>
        <p:spPr>
          <a:xfrm>
            <a:off x="156204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1" name="任意多边形 310"/>
          <p:cNvSpPr/>
          <p:nvPr/>
        </p:nvSpPr>
        <p:spPr>
          <a:xfrm>
            <a:off x="1571400" y="154296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2" name="任意多边形 311"/>
          <p:cNvSpPr/>
          <p:nvPr/>
        </p:nvSpPr>
        <p:spPr>
          <a:xfrm>
            <a:off x="623880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3" name="任意多边形 312"/>
          <p:cNvSpPr/>
          <p:nvPr/>
        </p:nvSpPr>
        <p:spPr>
          <a:xfrm>
            <a:off x="6248160" y="1542960"/>
            <a:ext cx="4305600" cy="9720"/>
          </a:xfrm>
          <a:custGeom>
            <a:avLst/>
            <a:gdLst/>
            <a:ahLst/>
            <a:cxn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4" name="任意多边形 313"/>
          <p:cNvSpPr/>
          <p:nvPr/>
        </p:nvSpPr>
        <p:spPr>
          <a:xfrm>
            <a:off x="1054404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5" name="任意多边形 314"/>
          <p:cNvSpPr/>
          <p:nvPr/>
        </p:nvSpPr>
        <p:spPr>
          <a:xfrm>
            <a:off x="752400" y="2085840"/>
            <a:ext cx="819360" cy="9720"/>
          </a:xfrm>
          <a:custGeom>
            <a:avLst/>
            <a:gdLst/>
            <a:ahLst/>
            <a:cxn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6" name="任意多边形 315"/>
          <p:cNvSpPr/>
          <p:nvPr/>
        </p:nvSpPr>
        <p:spPr>
          <a:xfrm>
            <a:off x="1571400" y="208584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7" name="任意多边形 316"/>
          <p:cNvSpPr/>
          <p:nvPr/>
        </p:nvSpPr>
        <p:spPr>
          <a:xfrm>
            <a:off x="6248160" y="2085840"/>
            <a:ext cx="4305600" cy="9720"/>
          </a:xfrm>
          <a:custGeom>
            <a:avLst/>
            <a:gdLst/>
            <a:ahLst/>
            <a:cxn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8" name="任意多边形 317"/>
          <p:cNvSpPr/>
          <p:nvPr/>
        </p:nvSpPr>
        <p:spPr>
          <a:xfrm>
            <a:off x="752400" y="20952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9" name="任意多边形 318"/>
          <p:cNvSpPr/>
          <p:nvPr/>
        </p:nvSpPr>
        <p:spPr>
          <a:xfrm>
            <a:off x="1562040" y="20952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0" name="任意多边形 319"/>
          <p:cNvSpPr/>
          <p:nvPr/>
        </p:nvSpPr>
        <p:spPr>
          <a:xfrm>
            <a:off x="6238800" y="20952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1" name="任意多边形 320"/>
          <p:cNvSpPr/>
          <p:nvPr/>
        </p:nvSpPr>
        <p:spPr>
          <a:xfrm>
            <a:off x="10544040" y="20952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2" name="任意多边形 321"/>
          <p:cNvSpPr/>
          <p:nvPr/>
        </p:nvSpPr>
        <p:spPr>
          <a:xfrm>
            <a:off x="752400" y="2638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3" name="任意多边形 322"/>
          <p:cNvSpPr/>
          <p:nvPr/>
        </p:nvSpPr>
        <p:spPr>
          <a:xfrm>
            <a:off x="752400" y="2628720"/>
            <a:ext cx="819360" cy="9720"/>
          </a:xfrm>
          <a:custGeom>
            <a:avLst/>
            <a:gdLst/>
            <a:ahLst/>
            <a:cxn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4" name="任意多边形 323"/>
          <p:cNvSpPr/>
          <p:nvPr/>
        </p:nvSpPr>
        <p:spPr>
          <a:xfrm>
            <a:off x="1562040" y="2638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5" name="任意多边形 324"/>
          <p:cNvSpPr/>
          <p:nvPr/>
        </p:nvSpPr>
        <p:spPr>
          <a:xfrm>
            <a:off x="1571400" y="262872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6" name="任意多边形 325"/>
          <p:cNvSpPr/>
          <p:nvPr/>
        </p:nvSpPr>
        <p:spPr>
          <a:xfrm>
            <a:off x="6238800" y="2638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7" name="任意多边形 326"/>
          <p:cNvSpPr/>
          <p:nvPr/>
        </p:nvSpPr>
        <p:spPr>
          <a:xfrm>
            <a:off x="6248160" y="2628720"/>
            <a:ext cx="4305600" cy="9720"/>
          </a:xfrm>
          <a:custGeom>
            <a:avLst/>
            <a:gdLst/>
            <a:ahLst/>
            <a:cxn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8" name="任意多边形 327"/>
          <p:cNvSpPr/>
          <p:nvPr/>
        </p:nvSpPr>
        <p:spPr>
          <a:xfrm>
            <a:off x="10544040" y="2638080"/>
            <a:ext cx="9720" cy="543600"/>
          </a:xfrm>
          <a:custGeom>
            <a:avLst/>
            <a:gdLst/>
            <a:ahLst/>
            <a:cxnLst/>
            <a:rect l="0" t="0" r="r" b="b"/>
            <a:pathLst>
              <a:path w="27" h="1510">
                <a:moveTo>
                  <a:pt x="0" y="0"/>
                </a:moveTo>
                <a:lnTo>
                  <a:pt x="27" y="0"/>
                </a:lnTo>
                <a:lnTo>
                  <a:pt x="27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9" name="任意多边形 328"/>
          <p:cNvSpPr/>
          <p:nvPr/>
        </p:nvSpPr>
        <p:spPr>
          <a:xfrm>
            <a:off x="752400" y="31813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0" name="任意多边形 329"/>
          <p:cNvSpPr/>
          <p:nvPr/>
        </p:nvSpPr>
        <p:spPr>
          <a:xfrm>
            <a:off x="752400" y="3171600"/>
            <a:ext cx="819360" cy="10080"/>
          </a:xfrm>
          <a:custGeom>
            <a:avLst/>
            <a:gdLst/>
            <a:ahLst/>
            <a:cxnLst/>
            <a:rect l="0" t="0" r="r" b="b"/>
            <a:pathLst>
              <a:path w="2276" h="28">
                <a:moveTo>
                  <a:pt x="0" y="0"/>
                </a:moveTo>
                <a:lnTo>
                  <a:pt x="2276" y="0"/>
                </a:lnTo>
                <a:lnTo>
                  <a:pt x="22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1" name="任意多边形 330"/>
          <p:cNvSpPr/>
          <p:nvPr/>
        </p:nvSpPr>
        <p:spPr>
          <a:xfrm>
            <a:off x="1562040" y="31813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2" name="任意多边形 331"/>
          <p:cNvSpPr/>
          <p:nvPr/>
        </p:nvSpPr>
        <p:spPr>
          <a:xfrm>
            <a:off x="1571400" y="3171600"/>
            <a:ext cx="4677120" cy="10080"/>
          </a:xfrm>
          <a:custGeom>
            <a:avLst/>
            <a:gdLst/>
            <a:ahLst/>
            <a:cxn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3" name="任意多边形 332"/>
          <p:cNvSpPr/>
          <p:nvPr/>
        </p:nvSpPr>
        <p:spPr>
          <a:xfrm>
            <a:off x="6238800" y="31813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4" name="任意多边形 333"/>
          <p:cNvSpPr/>
          <p:nvPr/>
        </p:nvSpPr>
        <p:spPr>
          <a:xfrm>
            <a:off x="6248160" y="3171600"/>
            <a:ext cx="4305600" cy="10080"/>
          </a:xfrm>
          <a:custGeom>
            <a:avLst/>
            <a:gdLst/>
            <a:ahLst/>
            <a:cxnLst/>
            <a:rect l="0" t="0" r="r" b="b"/>
            <a:pathLst>
              <a:path w="11960" h="28">
                <a:moveTo>
                  <a:pt x="0" y="0"/>
                </a:moveTo>
                <a:lnTo>
                  <a:pt x="11960" y="0"/>
                </a:lnTo>
                <a:lnTo>
                  <a:pt x="11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5" name="任意多边形 334"/>
          <p:cNvSpPr/>
          <p:nvPr/>
        </p:nvSpPr>
        <p:spPr>
          <a:xfrm>
            <a:off x="10544040" y="3181320"/>
            <a:ext cx="9720" cy="533520"/>
          </a:xfrm>
          <a:custGeom>
            <a:avLst/>
            <a:gdLst/>
            <a:ahLst/>
            <a:cxn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6" name="任意多边形 335"/>
          <p:cNvSpPr/>
          <p:nvPr/>
        </p:nvSpPr>
        <p:spPr>
          <a:xfrm>
            <a:off x="752400" y="3705120"/>
            <a:ext cx="819360" cy="9720"/>
          </a:xfrm>
          <a:custGeom>
            <a:avLst/>
            <a:gdLst/>
            <a:ahLst/>
            <a:cxnLst/>
            <a:rect l="0" t="0" r="r" b="b"/>
            <a:pathLst>
              <a:path w="2276" h="27">
                <a:moveTo>
                  <a:pt x="0" y="0"/>
                </a:moveTo>
                <a:lnTo>
                  <a:pt x="2276" y="0"/>
                </a:lnTo>
                <a:lnTo>
                  <a:pt x="22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7" name="任意多边形 336"/>
          <p:cNvSpPr/>
          <p:nvPr/>
        </p:nvSpPr>
        <p:spPr>
          <a:xfrm>
            <a:off x="1571400" y="3705120"/>
            <a:ext cx="4677120" cy="9720"/>
          </a:xfrm>
          <a:custGeom>
            <a:avLst/>
            <a:gdLst/>
            <a:ahLst/>
            <a:cxn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8" name="任意多边形 337"/>
          <p:cNvSpPr/>
          <p:nvPr/>
        </p:nvSpPr>
        <p:spPr>
          <a:xfrm>
            <a:off x="6248160" y="3705120"/>
            <a:ext cx="4305600" cy="9720"/>
          </a:xfrm>
          <a:custGeom>
            <a:avLst/>
            <a:gdLst/>
            <a:ahLst/>
            <a:cxnLst/>
            <a:rect l="0" t="0" r="r" b="b"/>
            <a:pathLst>
              <a:path w="11960" h="27">
                <a:moveTo>
                  <a:pt x="0" y="0"/>
                </a:moveTo>
                <a:lnTo>
                  <a:pt x="11960" y="0"/>
                </a:lnTo>
                <a:lnTo>
                  <a:pt x="11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9" name="任意多边形 338"/>
          <p:cNvSpPr/>
          <p:nvPr/>
        </p:nvSpPr>
        <p:spPr>
          <a:xfrm>
            <a:off x="757080" y="3871800"/>
            <a:ext cx="10687320" cy="2986200"/>
          </a:xfrm>
          <a:custGeom>
            <a:avLst/>
            <a:gdLst/>
            <a:ahLst/>
            <a:cxnLst/>
            <a:rect l="0" t="0" r="r" b="b"/>
            <a:pathLst>
              <a:path w="29687" h="8295">
                <a:moveTo>
                  <a:pt x="0" y="82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79"/>
                  <a:pt x="29680" y="8288"/>
                  <a:pt x="29677" y="8295"/>
                </a:cubicBezTo>
                <a:lnTo>
                  <a:pt x="10" y="8295"/>
                </a:lnTo>
                <a:cubicBezTo>
                  <a:pt x="7" y="8288"/>
                  <a:pt x="4" y="8279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0" name="任意多边形 339"/>
          <p:cNvSpPr/>
          <p:nvPr/>
        </p:nvSpPr>
        <p:spPr>
          <a:xfrm>
            <a:off x="757080" y="3871800"/>
            <a:ext cx="10687320" cy="2986200"/>
          </a:xfrm>
          <a:custGeom>
            <a:avLst/>
            <a:gdLst/>
            <a:ahLst/>
            <a:cxnLst/>
            <a:rect l="0" t="0" r="r" b="b"/>
            <a:pathLst>
              <a:path w="29687" h="8295">
                <a:moveTo>
                  <a:pt x="0" y="824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2"/>
                </a:cubicBezTo>
                <a:cubicBezTo>
                  <a:pt x="29651" y="49"/>
                  <a:pt x="29657" y="57"/>
                  <a:pt x="29663" y="64"/>
                </a:cubicBezTo>
                <a:cubicBezTo>
                  <a:pt x="29668" y="72"/>
                  <a:pt x="29672" y="81"/>
                  <a:pt x="29676" y="90"/>
                </a:cubicBezTo>
                <a:cubicBezTo>
                  <a:pt x="29680" y="98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8243"/>
                </a:lnTo>
                <a:cubicBezTo>
                  <a:pt x="29687" y="8252"/>
                  <a:pt x="29686" y="8262"/>
                  <a:pt x="29684" y="8271"/>
                </a:cubicBezTo>
                <a:cubicBezTo>
                  <a:pt x="29683" y="8279"/>
                  <a:pt x="29680" y="8288"/>
                  <a:pt x="29677" y="8295"/>
                </a:cubicBezTo>
                <a:lnTo>
                  <a:pt x="10" y="8295"/>
                </a:lnTo>
                <a:cubicBezTo>
                  <a:pt x="7" y="8288"/>
                  <a:pt x="4" y="8279"/>
                  <a:pt x="3" y="8271"/>
                </a:cubicBezTo>
                <a:cubicBezTo>
                  <a:pt x="1" y="8262"/>
                  <a:pt x="0" y="8252"/>
                  <a:pt x="0" y="824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4.5.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1582560" y="158040"/>
            <a:ext cx="26524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密码安全机制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3" name="文本框 342"/>
          <p:cNvSpPr txBox="1"/>
          <p:nvPr/>
        </p:nvSpPr>
        <p:spPr>
          <a:xfrm>
            <a:off x="74772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密码存储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1852560" y="9972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-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2115360" y="101916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不存明⽂，存哈希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88092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阶段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7" name="文本框 346"/>
          <p:cNvSpPr txBox="1"/>
          <p:nvPr/>
        </p:nvSpPr>
        <p:spPr>
          <a:xfrm>
            <a:off x="3348000" y="16477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处理⽅式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811656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⽬的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9" name="任意多边形 348"/>
          <p:cNvSpPr/>
          <p:nvPr/>
        </p:nvSpPr>
        <p:spPr>
          <a:xfrm>
            <a:off x="1695240" y="2199960"/>
            <a:ext cx="3524760" cy="371880"/>
          </a:xfrm>
          <a:custGeom>
            <a:avLst/>
            <a:gdLst/>
            <a:ahLst/>
            <a:cxnLst/>
            <a:rect l="0" t="0" r="r" b="b"/>
            <a:pathLst>
              <a:path w="979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632" y="0"/>
                </a:lnTo>
                <a:cubicBezTo>
                  <a:pt x="9642" y="0"/>
                  <a:pt x="9653" y="1"/>
                  <a:pt x="9663" y="3"/>
                </a:cubicBezTo>
                <a:cubicBezTo>
                  <a:pt x="9673" y="5"/>
                  <a:pt x="9683" y="8"/>
                  <a:pt x="9693" y="12"/>
                </a:cubicBezTo>
                <a:cubicBezTo>
                  <a:pt x="9702" y="16"/>
                  <a:pt x="9711" y="21"/>
                  <a:pt x="9720" y="27"/>
                </a:cubicBezTo>
                <a:cubicBezTo>
                  <a:pt x="9729" y="33"/>
                  <a:pt x="9737" y="40"/>
                  <a:pt x="9744" y="47"/>
                </a:cubicBezTo>
                <a:cubicBezTo>
                  <a:pt x="9752" y="54"/>
                  <a:pt x="9758" y="62"/>
                  <a:pt x="9764" y="71"/>
                </a:cubicBezTo>
                <a:cubicBezTo>
                  <a:pt x="9770" y="80"/>
                  <a:pt x="9775" y="89"/>
                  <a:pt x="9779" y="98"/>
                </a:cubicBezTo>
                <a:cubicBezTo>
                  <a:pt x="9783" y="108"/>
                  <a:pt x="9786" y="118"/>
                  <a:pt x="9788" y="128"/>
                </a:cubicBezTo>
                <a:cubicBezTo>
                  <a:pt x="9790" y="138"/>
                  <a:pt x="9791" y="149"/>
                  <a:pt x="9791" y="159"/>
                </a:cubicBezTo>
                <a:lnTo>
                  <a:pt x="9791" y="874"/>
                </a:lnTo>
                <a:cubicBezTo>
                  <a:pt x="9791" y="885"/>
                  <a:pt x="9790" y="895"/>
                  <a:pt x="9788" y="905"/>
                </a:cubicBezTo>
                <a:cubicBezTo>
                  <a:pt x="9786" y="916"/>
                  <a:pt x="9783" y="926"/>
                  <a:pt x="9779" y="935"/>
                </a:cubicBezTo>
                <a:cubicBezTo>
                  <a:pt x="9775" y="945"/>
                  <a:pt x="9770" y="954"/>
                  <a:pt x="9764" y="963"/>
                </a:cubicBezTo>
                <a:cubicBezTo>
                  <a:pt x="9758" y="971"/>
                  <a:pt x="9752" y="979"/>
                  <a:pt x="9744" y="987"/>
                </a:cubicBezTo>
                <a:cubicBezTo>
                  <a:pt x="9737" y="994"/>
                  <a:pt x="9729" y="1001"/>
                  <a:pt x="9720" y="1006"/>
                </a:cubicBezTo>
                <a:cubicBezTo>
                  <a:pt x="9711" y="1012"/>
                  <a:pt x="9702" y="1017"/>
                  <a:pt x="9693" y="1021"/>
                </a:cubicBezTo>
                <a:cubicBezTo>
                  <a:pt x="9683" y="1025"/>
                  <a:pt x="9673" y="1028"/>
                  <a:pt x="9663" y="1030"/>
                </a:cubicBezTo>
                <a:cubicBezTo>
                  <a:pt x="9653" y="1032"/>
                  <a:pt x="9642" y="1033"/>
                  <a:pt x="963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880920" y="2190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注册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1" name="文本框 350"/>
          <p:cNvSpPr txBox="1"/>
          <p:nvPr/>
        </p:nvSpPr>
        <p:spPr>
          <a:xfrm>
            <a:off x="1784520" y="229176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bcrypt(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2688120" y="22644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密码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3" name="文本框 352"/>
          <p:cNvSpPr txBox="1"/>
          <p:nvPr/>
        </p:nvSpPr>
        <p:spPr>
          <a:xfrm>
            <a:off x="3157920" y="22917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+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4" name="文本框 353"/>
          <p:cNvSpPr txBox="1"/>
          <p:nvPr/>
        </p:nvSpPr>
        <p:spPr>
          <a:xfrm>
            <a:off x="3544920" y="22644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随机盐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5" name="文本框 354"/>
          <p:cNvSpPr txBox="1"/>
          <p:nvPr/>
        </p:nvSpPr>
        <p:spPr>
          <a:xfrm>
            <a:off x="4249440" y="229176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, 10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4765680" y="226440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5000760" y="22917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6367320" y="219060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防⽌彩虹表；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8024760" y="216900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8322480" y="21906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轮损耗：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9427680" y="2169000"/>
            <a:ext cx="990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~100ms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2" name="任意多边形 361"/>
          <p:cNvSpPr/>
          <p:nvPr/>
        </p:nvSpPr>
        <p:spPr>
          <a:xfrm>
            <a:off x="1695240" y="2742840"/>
            <a:ext cx="4381920" cy="371880"/>
          </a:xfrm>
          <a:custGeom>
            <a:avLst/>
            <a:gdLst/>
            <a:ahLst/>
            <a:cxnLst/>
            <a:rect l="0" t="0" r="r" b="b"/>
            <a:pathLst>
              <a:path w="12172" h="1033">
                <a:moveTo>
                  <a:pt x="0" y="875"/>
                </a:moveTo>
                <a:lnTo>
                  <a:pt x="0" y="160"/>
                </a:lnTo>
                <a:cubicBezTo>
                  <a:pt x="0" y="150"/>
                  <a:pt x="1" y="140"/>
                  <a:pt x="3" y="129"/>
                </a:cubicBezTo>
                <a:cubicBezTo>
                  <a:pt x="5" y="119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12013" y="0"/>
                </a:lnTo>
                <a:cubicBezTo>
                  <a:pt x="12024" y="0"/>
                  <a:pt x="12034" y="2"/>
                  <a:pt x="12044" y="4"/>
                </a:cubicBezTo>
                <a:cubicBezTo>
                  <a:pt x="12054" y="6"/>
                  <a:pt x="12064" y="9"/>
                  <a:pt x="12074" y="13"/>
                </a:cubicBezTo>
                <a:cubicBezTo>
                  <a:pt x="12084" y="17"/>
                  <a:pt x="12093" y="21"/>
                  <a:pt x="12101" y="27"/>
                </a:cubicBezTo>
                <a:cubicBezTo>
                  <a:pt x="12110" y="33"/>
                  <a:pt x="12118" y="40"/>
                  <a:pt x="12125" y="47"/>
                </a:cubicBezTo>
                <a:cubicBezTo>
                  <a:pt x="12133" y="54"/>
                  <a:pt x="12139" y="62"/>
                  <a:pt x="12145" y="71"/>
                </a:cubicBezTo>
                <a:cubicBezTo>
                  <a:pt x="12151" y="80"/>
                  <a:pt x="12156" y="89"/>
                  <a:pt x="12160" y="98"/>
                </a:cubicBezTo>
                <a:cubicBezTo>
                  <a:pt x="12164" y="108"/>
                  <a:pt x="12167" y="119"/>
                  <a:pt x="12169" y="129"/>
                </a:cubicBezTo>
                <a:cubicBezTo>
                  <a:pt x="12171" y="140"/>
                  <a:pt x="12172" y="150"/>
                  <a:pt x="12172" y="160"/>
                </a:cubicBezTo>
                <a:lnTo>
                  <a:pt x="12172" y="875"/>
                </a:lnTo>
                <a:cubicBezTo>
                  <a:pt x="12172" y="885"/>
                  <a:pt x="12171" y="895"/>
                  <a:pt x="12169" y="906"/>
                </a:cubicBezTo>
                <a:cubicBezTo>
                  <a:pt x="12167" y="916"/>
                  <a:pt x="12164" y="926"/>
                  <a:pt x="12160" y="935"/>
                </a:cubicBezTo>
                <a:cubicBezTo>
                  <a:pt x="12156" y="945"/>
                  <a:pt x="12151" y="954"/>
                  <a:pt x="12145" y="963"/>
                </a:cubicBezTo>
                <a:cubicBezTo>
                  <a:pt x="12139" y="971"/>
                  <a:pt x="12133" y="980"/>
                  <a:pt x="12125" y="987"/>
                </a:cubicBezTo>
                <a:cubicBezTo>
                  <a:pt x="12118" y="994"/>
                  <a:pt x="12110" y="1001"/>
                  <a:pt x="12101" y="1007"/>
                </a:cubicBezTo>
                <a:cubicBezTo>
                  <a:pt x="12093" y="1012"/>
                  <a:pt x="12084" y="1017"/>
                  <a:pt x="12074" y="1021"/>
                </a:cubicBezTo>
                <a:cubicBezTo>
                  <a:pt x="12064" y="1025"/>
                  <a:pt x="12054" y="1028"/>
                  <a:pt x="12044" y="1030"/>
                </a:cubicBezTo>
                <a:cubicBezTo>
                  <a:pt x="12034" y="1032"/>
                  <a:pt x="12024" y="1033"/>
                  <a:pt x="12013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7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80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6"/>
                </a:cubicBezTo>
                <a:cubicBezTo>
                  <a:pt x="1" y="895"/>
                  <a:pt x="0" y="885"/>
                  <a:pt x="0" y="875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3" name="文本框 362"/>
          <p:cNvSpPr txBox="1"/>
          <p:nvPr/>
        </p:nvSpPr>
        <p:spPr>
          <a:xfrm>
            <a:off x="880920" y="27338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4" name="文本框 363"/>
          <p:cNvSpPr txBox="1"/>
          <p:nvPr/>
        </p:nvSpPr>
        <p:spPr>
          <a:xfrm>
            <a:off x="1784520" y="283464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bcrypt.compare(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5" name="文本框 364"/>
          <p:cNvSpPr txBox="1"/>
          <p:nvPr/>
        </p:nvSpPr>
        <p:spPr>
          <a:xfrm>
            <a:off x="3720960" y="28076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输入密码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6" name="文本框 365"/>
          <p:cNvSpPr txBox="1"/>
          <p:nvPr/>
        </p:nvSpPr>
        <p:spPr>
          <a:xfrm>
            <a:off x="4660200" y="28346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7" name="文本框 366"/>
          <p:cNvSpPr txBox="1"/>
          <p:nvPr/>
        </p:nvSpPr>
        <p:spPr>
          <a:xfrm>
            <a:off x="4918320" y="28076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存储哈希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8" name="文本框 367"/>
          <p:cNvSpPr txBox="1"/>
          <p:nvPr/>
        </p:nvSpPr>
        <p:spPr>
          <a:xfrm>
            <a:off x="5857560" y="28346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9" name="文本框 368"/>
          <p:cNvSpPr txBox="1"/>
          <p:nvPr/>
        </p:nvSpPr>
        <p:spPr>
          <a:xfrm>
            <a:off x="6367320" y="27338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验证密码，不需解密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0" name="文本框 369"/>
          <p:cNvSpPr txBox="1"/>
          <p:nvPr/>
        </p:nvSpPr>
        <p:spPr>
          <a:xfrm>
            <a:off x="880920" y="3276720"/>
            <a:ext cx="5027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泄露 即使数据库被⿊，也⽆法反推原密码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1" name="文本框 370"/>
          <p:cNvSpPr txBox="1"/>
          <p:nvPr/>
        </p:nvSpPr>
        <p:spPr>
          <a:xfrm>
            <a:off x="914400" y="40640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1301760" y="40370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注册时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3" name="文本框 372"/>
          <p:cNvSpPr txBox="1"/>
          <p:nvPr/>
        </p:nvSpPr>
        <p:spPr>
          <a:xfrm>
            <a:off x="914400" y="4330800"/>
            <a:ext cx="68396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passwordHash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bcrypt.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hash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(password,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10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4" name="文本框 373"/>
          <p:cNvSpPr txBox="1"/>
          <p:nvPr/>
        </p:nvSpPr>
        <p:spPr>
          <a:xfrm>
            <a:off x="914400" y="46069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5" name="文本框 374"/>
          <p:cNvSpPr txBox="1"/>
          <p:nvPr/>
        </p:nvSpPr>
        <p:spPr>
          <a:xfrm>
            <a:off x="1301760" y="4579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存储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1771200" y="460692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passwordHash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7" name="文本框 376"/>
          <p:cNvSpPr txBox="1"/>
          <p:nvPr/>
        </p:nvSpPr>
        <p:spPr>
          <a:xfrm>
            <a:off x="3449520" y="457992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，不存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8" name="文本框 377"/>
          <p:cNvSpPr txBox="1"/>
          <p:nvPr/>
        </p:nvSpPr>
        <p:spPr>
          <a:xfrm>
            <a:off x="4153680" y="460692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password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9" name="文本框 378"/>
          <p:cNvSpPr txBox="1"/>
          <p:nvPr/>
        </p:nvSpPr>
        <p:spPr>
          <a:xfrm>
            <a:off x="914400" y="51404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1301760" y="511344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登录时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1" name="文本框 380"/>
          <p:cNvSpPr txBox="1"/>
          <p:nvPr/>
        </p:nvSpPr>
        <p:spPr>
          <a:xfrm>
            <a:off x="914400" y="5416560"/>
            <a:ext cx="8516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const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isValid =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await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bcrypt.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compare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(inputPassword, passwordHash);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914400" y="5683320"/>
            <a:ext cx="3999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if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(!isValid)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throw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Error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'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3" name="文本框 382"/>
          <p:cNvSpPr txBox="1"/>
          <p:nvPr/>
        </p:nvSpPr>
        <p:spPr>
          <a:xfrm>
            <a:off x="4916880" y="5656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密码错误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4" name="文本框 383"/>
          <p:cNvSpPr txBox="1"/>
          <p:nvPr/>
        </p:nvSpPr>
        <p:spPr>
          <a:xfrm>
            <a:off x="5855760" y="56833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'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5" name="文本框 384"/>
          <p:cNvSpPr txBox="1"/>
          <p:nvPr/>
        </p:nvSpPr>
        <p:spPr>
          <a:xfrm>
            <a:off x="914400" y="62262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6" name="文本框 385"/>
          <p:cNvSpPr txBox="1"/>
          <p:nvPr/>
        </p:nvSpPr>
        <p:spPr>
          <a:xfrm>
            <a:off x="1301760" y="61992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即使黑客拿到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7" name="文本框 386"/>
          <p:cNvSpPr txBox="1"/>
          <p:nvPr/>
        </p:nvSpPr>
        <p:spPr>
          <a:xfrm>
            <a:off x="2710440" y="622620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hash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3355920" y="61992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，反推难度：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914400" y="649296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bcrypt 10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0" name="文本框 389"/>
          <p:cNvSpPr txBox="1"/>
          <p:nvPr/>
        </p:nvSpPr>
        <p:spPr>
          <a:xfrm>
            <a:off x="2463480" y="64659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1" name="文本框 390"/>
          <p:cNvSpPr txBox="1"/>
          <p:nvPr/>
        </p:nvSpPr>
        <p:spPr>
          <a:xfrm>
            <a:off x="2698200" y="649296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≈ 2^80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2" name="文本框 391"/>
          <p:cNvSpPr txBox="1"/>
          <p:nvPr/>
        </p:nvSpPr>
        <p:spPr>
          <a:xfrm>
            <a:off x="3731040" y="6465960"/>
            <a:ext cx="3051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的工作量，暴力破解成本极高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3" name="文本框 392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任意多边形 39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5" name="任意多边形 39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6" name="任意多边形 3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7" name="任意多边形 396"/>
          <p:cNvSpPr/>
          <p:nvPr/>
        </p:nvSpPr>
        <p:spPr>
          <a:xfrm>
            <a:off x="757080" y="1547640"/>
            <a:ext cx="10687320" cy="4638960"/>
          </a:xfrm>
          <a:custGeom>
            <a:avLst/>
            <a:gdLst/>
            <a:ahLst/>
            <a:cxn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8"/>
                  <a:pt x="29676" y="12796"/>
                </a:cubicBezTo>
                <a:cubicBezTo>
                  <a:pt x="29672" y="12805"/>
                  <a:pt x="29668" y="12814"/>
                  <a:pt x="29663" y="12822"/>
                </a:cubicBezTo>
                <a:cubicBezTo>
                  <a:pt x="29657" y="12829"/>
                  <a:pt x="29651" y="12837"/>
                  <a:pt x="29645" y="12844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2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2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4"/>
                </a:cubicBezTo>
                <a:cubicBezTo>
                  <a:pt x="36" y="12837"/>
                  <a:pt x="30" y="12829"/>
                  <a:pt x="24" y="12822"/>
                </a:cubicBezTo>
                <a:cubicBezTo>
                  <a:pt x="19" y="12814"/>
                  <a:pt x="15" y="12805"/>
                  <a:pt x="11" y="12796"/>
                </a:cubicBezTo>
                <a:cubicBezTo>
                  <a:pt x="7" y="12788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8" name="任意多边形 397"/>
          <p:cNvSpPr/>
          <p:nvPr/>
        </p:nvSpPr>
        <p:spPr>
          <a:xfrm>
            <a:off x="757080" y="1547640"/>
            <a:ext cx="10687320" cy="4638960"/>
          </a:xfrm>
          <a:custGeom>
            <a:avLst/>
            <a:gdLst/>
            <a:ahLst/>
            <a:cxnLst/>
            <a:rect l="0" t="0" r="r" b="b"/>
            <a:pathLst>
              <a:path w="29687" h="12886">
                <a:moveTo>
                  <a:pt x="0" y="1274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12741"/>
                </a:lnTo>
                <a:cubicBezTo>
                  <a:pt x="29687" y="12750"/>
                  <a:pt x="29686" y="12760"/>
                  <a:pt x="29684" y="12769"/>
                </a:cubicBezTo>
                <a:cubicBezTo>
                  <a:pt x="29683" y="12778"/>
                  <a:pt x="29680" y="12788"/>
                  <a:pt x="29676" y="12796"/>
                </a:cubicBezTo>
                <a:cubicBezTo>
                  <a:pt x="29672" y="12805"/>
                  <a:pt x="29668" y="12814"/>
                  <a:pt x="29663" y="12822"/>
                </a:cubicBezTo>
                <a:cubicBezTo>
                  <a:pt x="29657" y="12829"/>
                  <a:pt x="29651" y="12837"/>
                  <a:pt x="29645" y="12844"/>
                </a:cubicBezTo>
                <a:cubicBezTo>
                  <a:pt x="29638" y="12850"/>
                  <a:pt x="29630" y="12856"/>
                  <a:pt x="29623" y="12862"/>
                </a:cubicBezTo>
                <a:cubicBezTo>
                  <a:pt x="29615" y="12867"/>
                  <a:pt x="29606" y="12871"/>
                  <a:pt x="29597" y="12875"/>
                </a:cubicBezTo>
                <a:cubicBezTo>
                  <a:pt x="29589" y="12879"/>
                  <a:pt x="29579" y="12882"/>
                  <a:pt x="29570" y="12883"/>
                </a:cubicBezTo>
                <a:cubicBezTo>
                  <a:pt x="29561" y="12885"/>
                  <a:pt x="29551" y="12886"/>
                  <a:pt x="29542" y="12886"/>
                </a:cubicBezTo>
                <a:lnTo>
                  <a:pt x="145" y="12886"/>
                </a:lnTo>
                <a:cubicBezTo>
                  <a:pt x="136" y="12886"/>
                  <a:pt x="126" y="12885"/>
                  <a:pt x="117" y="12883"/>
                </a:cubicBezTo>
                <a:cubicBezTo>
                  <a:pt x="108" y="12882"/>
                  <a:pt x="99" y="12879"/>
                  <a:pt x="90" y="12875"/>
                </a:cubicBezTo>
                <a:cubicBezTo>
                  <a:pt x="81" y="12871"/>
                  <a:pt x="73" y="12867"/>
                  <a:pt x="65" y="12862"/>
                </a:cubicBezTo>
                <a:cubicBezTo>
                  <a:pt x="57" y="12856"/>
                  <a:pt x="49" y="12850"/>
                  <a:pt x="43" y="12844"/>
                </a:cubicBezTo>
                <a:cubicBezTo>
                  <a:pt x="36" y="12837"/>
                  <a:pt x="30" y="12829"/>
                  <a:pt x="24" y="12822"/>
                </a:cubicBezTo>
                <a:cubicBezTo>
                  <a:pt x="19" y="12814"/>
                  <a:pt x="15" y="12805"/>
                  <a:pt x="11" y="12796"/>
                </a:cubicBezTo>
                <a:cubicBezTo>
                  <a:pt x="7" y="12788"/>
                  <a:pt x="5" y="12778"/>
                  <a:pt x="3" y="12769"/>
                </a:cubicBezTo>
                <a:cubicBezTo>
                  <a:pt x="1" y="12760"/>
                  <a:pt x="0" y="12750"/>
                  <a:pt x="0" y="1274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99" name="文本框 398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1221120" y="1580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核⼼业务流设计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1" name="文本框 400"/>
          <p:cNvSpPr txBox="1"/>
          <p:nvPr/>
        </p:nvSpPr>
        <p:spPr>
          <a:xfrm>
            <a:off x="747720" y="997200"/>
            <a:ext cx="527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2" name="文本框 401"/>
          <p:cNvSpPr txBox="1"/>
          <p:nvPr/>
        </p:nvSpPr>
        <p:spPr>
          <a:xfrm>
            <a:off x="1251000" y="10191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端点（实际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3" name="文本框 402"/>
          <p:cNvSpPr txBox="1"/>
          <p:nvPr/>
        </p:nvSpPr>
        <p:spPr>
          <a:xfrm>
            <a:off x="2632320" y="997200"/>
            <a:ext cx="1071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RESTful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4" name="文本框 403"/>
          <p:cNvSpPr txBox="1"/>
          <p:nvPr/>
        </p:nvSpPr>
        <p:spPr>
          <a:xfrm>
            <a:off x="3642120" y="10191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5" name="文本框 404"/>
          <p:cNvSpPr txBox="1"/>
          <p:nvPr/>
        </p:nvSpPr>
        <p:spPr>
          <a:xfrm>
            <a:off x="914400" y="171288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酒店侧：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6" name="文本框 405"/>
          <p:cNvSpPr txBox="1"/>
          <p:nvPr/>
        </p:nvSpPr>
        <p:spPr>
          <a:xfrm>
            <a:off x="914400" y="20066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GET    /api/hotels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7" name="文本框 406"/>
          <p:cNvSpPr txBox="1"/>
          <p:nvPr/>
        </p:nvSpPr>
        <p:spPr>
          <a:xfrm>
            <a:off x="5303520" y="197964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查询酒店列表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914400" y="228312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GET    /api/hotels/:id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5303520" y="225576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酒店详情（价格、库存）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914400" y="254952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POST   /api/hotels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5303520" y="252252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商户创建酒店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2" name="文本框 411"/>
          <p:cNvSpPr txBox="1"/>
          <p:nvPr/>
        </p:nvSpPr>
        <p:spPr>
          <a:xfrm>
            <a:off x="914400" y="281628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3" name="文本框 412"/>
          <p:cNvSpPr txBox="1"/>
          <p:nvPr/>
        </p:nvSpPr>
        <p:spPr>
          <a:xfrm>
            <a:off x="914400" y="30654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订单侧：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4" name="文本框 413"/>
          <p:cNvSpPr txBox="1"/>
          <p:nvPr/>
        </p:nvSpPr>
        <p:spPr>
          <a:xfrm>
            <a:off x="914400" y="335916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POST   /api/orders    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5303520" y="333216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创建订单（设置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6" name="文本框 415"/>
          <p:cNvSpPr txBox="1"/>
          <p:nvPr/>
        </p:nvSpPr>
        <p:spPr>
          <a:xfrm>
            <a:off x="6946920" y="335916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orderLimiter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7" name="文本框 416"/>
          <p:cNvSpPr txBox="1"/>
          <p:nvPr/>
        </p:nvSpPr>
        <p:spPr>
          <a:xfrm>
            <a:off x="8625240" y="33321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8" name="文本框 417"/>
          <p:cNvSpPr txBox="1"/>
          <p:nvPr/>
        </p:nvSpPr>
        <p:spPr>
          <a:xfrm>
            <a:off x="914400" y="362592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PUT    /api/orders/:id/pay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19" name="文本框 418"/>
          <p:cNvSpPr txBox="1"/>
          <p:nvPr/>
        </p:nvSpPr>
        <p:spPr>
          <a:xfrm>
            <a:off x="5303520" y="359892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支付（设置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6477480" y="362592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paymentLimiter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8413560" y="359892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914400" y="390240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GET    /api/orders/:id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3" name="文本框 422"/>
          <p:cNvSpPr txBox="1"/>
          <p:nvPr/>
        </p:nvSpPr>
        <p:spPr>
          <a:xfrm>
            <a:off x="5303520" y="38750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订单详情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4" name="文本框 423"/>
          <p:cNvSpPr txBox="1"/>
          <p:nvPr/>
        </p:nvSpPr>
        <p:spPr>
          <a:xfrm>
            <a:off x="914400" y="41688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5" name="文本框 424"/>
          <p:cNvSpPr txBox="1"/>
          <p:nvPr/>
        </p:nvSpPr>
        <p:spPr>
          <a:xfrm>
            <a:off x="914400" y="440856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管理员：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6" name="文本框 425"/>
          <p:cNvSpPr txBox="1"/>
          <p:nvPr/>
        </p:nvSpPr>
        <p:spPr>
          <a:xfrm>
            <a:off x="914400" y="47120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GET    /api/admin/hotels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7" name="文本框 426"/>
          <p:cNvSpPr txBox="1"/>
          <p:nvPr/>
        </p:nvSpPr>
        <p:spPr>
          <a:xfrm>
            <a:off x="5303520" y="468468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待审核列表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914400" y="4978440"/>
            <a:ext cx="5162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PUT    /api/admin/hotels/:id/publish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6077880" y="495144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发布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0" name="文本框 429"/>
          <p:cNvSpPr txBox="1"/>
          <p:nvPr/>
        </p:nvSpPr>
        <p:spPr>
          <a:xfrm>
            <a:off x="914400" y="5494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智能体：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1" name="文本框 430"/>
          <p:cNvSpPr txBox="1"/>
          <p:nvPr/>
        </p:nvSpPr>
        <p:spPr>
          <a:xfrm>
            <a:off x="914400" y="578808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POST   /api/agent/chat         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2" name="文本框 431"/>
          <p:cNvSpPr txBox="1"/>
          <p:nvPr/>
        </p:nvSpPr>
        <p:spPr>
          <a:xfrm>
            <a:off x="5303520" y="5761080"/>
            <a:ext cx="328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问答与流程建议（仅只读工具）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3" name="任意多边形 432"/>
          <p:cNvSpPr/>
          <p:nvPr/>
        </p:nvSpPr>
        <p:spPr>
          <a:xfrm>
            <a:off x="2133360" y="6391080"/>
            <a:ext cx="6125040" cy="371880"/>
          </a:xfrm>
          <a:custGeom>
            <a:avLst/>
            <a:gdLst/>
            <a:ahLst/>
            <a:cxnLst/>
            <a:rect l="0" t="0" r="r" b="b"/>
            <a:pathLst>
              <a:path w="17014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855" y="0"/>
                </a:lnTo>
                <a:cubicBezTo>
                  <a:pt x="16866" y="0"/>
                  <a:pt x="16876" y="1"/>
                  <a:pt x="16886" y="3"/>
                </a:cubicBezTo>
                <a:cubicBezTo>
                  <a:pt x="16896" y="5"/>
                  <a:pt x="16906" y="8"/>
                  <a:pt x="16916" y="12"/>
                </a:cubicBezTo>
                <a:cubicBezTo>
                  <a:pt x="16926" y="16"/>
                  <a:pt x="16935" y="21"/>
                  <a:pt x="16943" y="27"/>
                </a:cubicBezTo>
                <a:cubicBezTo>
                  <a:pt x="16952" y="33"/>
                  <a:pt x="16960" y="39"/>
                  <a:pt x="16967" y="47"/>
                </a:cubicBezTo>
                <a:cubicBezTo>
                  <a:pt x="16975" y="54"/>
                  <a:pt x="16981" y="62"/>
                  <a:pt x="16987" y="71"/>
                </a:cubicBezTo>
                <a:cubicBezTo>
                  <a:pt x="16993" y="79"/>
                  <a:pt x="16998" y="88"/>
                  <a:pt x="17002" y="98"/>
                </a:cubicBezTo>
                <a:cubicBezTo>
                  <a:pt x="17006" y="108"/>
                  <a:pt x="17009" y="118"/>
                  <a:pt x="17011" y="128"/>
                </a:cubicBezTo>
                <a:cubicBezTo>
                  <a:pt x="17013" y="138"/>
                  <a:pt x="17014" y="148"/>
                  <a:pt x="17014" y="159"/>
                </a:cubicBezTo>
                <a:lnTo>
                  <a:pt x="17014" y="874"/>
                </a:lnTo>
                <a:cubicBezTo>
                  <a:pt x="17014" y="885"/>
                  <a:pt x="17013" y="895"/>
                  <a:pt x="17011" y="905"/>
                </a:cubicBezTo>
                <a:cubicBezTo>
                  <a:pt x="17009" y="915"/>
                  <a:pt x="17006" y="925"/>
                  <a:pt x="17002" y="935"/>
                </a:cubicBezTo>
                <a:cubicBezTo>
                  <a:pt x="16998" y="945"/>
                  <a:pt x="16993" y="954"/>
                  <a:pt x="16987" y="962"/>
                </a:cubicBezTo>
                <a:cubicBezTo>
                  <a:pt x="16981" y="971"/>
                  <a:pt x="16975" y="979"/>
                  <a:pt x="16967" y="986"/>
                </a:cubicBezTo>
                <a:cubicBezTo>
                  <a:pt x="16960" y="994"/>
                  <a:pt x="16952" y="1000"/>
                  <a:pt x="16943" y="1006"/>
                </a:cubicBezTo>
                <a:cubicBezTo>
                  <a:pt x="16935" y="1012"/>
                  <a:pt x="16926" y="1017"/>
                  <a:pt x="16916" y="1021"/>
                </a:cubicBezTo>
                <a:cubicBezTo>
                  <a:pt x="16906" y="1025"/>
                  <a:pt x="16896" y="1028"/>
                  <a:pt x="16886" y="1030"/>
                </a:cubicBezTo>
                <a:cubicBezTo>
                  <a:pt x="16876" y="1032"/>
                  <a:pt x="16866" y="1033"/>
                  <a:pt x="16855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4" name="文本框 433"/>
          <p:cNvSpPr txBox="1"/>
          <p:nvPr/>
        </p:nvSpPr>
        <p:spPr>
          <a:xfrm>
            <a:off x="747720" y="638172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统⼀响应：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5" name="文本框 434"/>
          <p:cNvSpPr txBox="1"/>
          <p:nvPr/>
        </p:nvSpPr>
        <p:spPr>
          <a:xfrm>
            <a:off x="2222640" y="6482880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{ code: 200, message: "success", data: {...}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6" name="文本框 435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任意多边形 4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8" name="任意多边形 4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39" name="任意多边形 4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0" name="任意多边形 439"/>
          <p:cNvSpPr/>
          <p:nvPr/>
        </p:nvSpPr>
        <p:spPr>
          <a:xfrm>
            <a:off x="627940" y="3428745"/>
            <a:ext cx="2381400" cy="533880"/>
          </a:xfrm>
          <a:custGeom>
            <a:avLst/>
            <a:gdLst/>
            <a:ahLst/>
            <a:cxnLst/>
            <a:rect l="0" t="0" r="r" b="b"/>
            <a:pathLst>
              <a:path w="6615" h="1483">
                <a:moveTo>
                  <a:pt x="0" y="0"/>
                </a:moveTo>
                <a:lnTo>
                  <a:pt x="6615" y="0"/>
                </a:lnTo>
                <a:lnTo>
                  <a:pt x="66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1" name="任意多边形 440"/>
          <p:cNvSpPr/>
          <p:nvPr/>
        </p:nvSpPr>
        <p:spPr>
          <a:xfrm>
            <a:off x="3008980" y="3428745"/>
            <a:ext cx="914760" cy="533880"/>
          </a:xfrm>
          <a:custGeom>
            <a:avLst/>
            <a:gdLst/>
            <a:ahLst/>
            <a:cxnLst/>
            <a:rect l="0" t="0" r="r" b="b"/>
            <a:pathLst>
              <a:path w="2541" h="1483">
                <a:moveTo>
                  <a:pt x="0" y="0"/>
                </a:moveTo>
                <a:lnTo>
                  <a:pt x="2541" y="0"/>
                </a:lnTo>
                <a:lnTo>
                  <a:pt x="254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2" name="任意多边形 441"/>
          <p:cNvSpPr/>
          <p:nvPr/>
        </p:nvSpPr>
        <p:spPr>
          <a:xfrm>
            <a:off x="3923380" y="3428745"/>
            <a:ext cx="1991160" cy="533880"/>
          </a:xfrm>
          <a:custGeom>
            <a:avLst/>
            <a:gdLst/>
            <a:ahLst/>
            <a:cxnLst/>
            <a:rect l="0" t="0" r="r" b="b"/>
            <a:pathLst>
              <a:path w="5531" h="1483">
                <a:moveTo>
                  <a:pt x="0" y="0"/>
                </a:moveTo>
                <a:lnTo>
                  <a:pt x="5531" y="0"/>
                </a:lnTo>
                <a:lnTo>
                  <a:pt x="55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3" name="任意多边形 442"/>
          <p:cNvSpPr/>
          <p:nvPr/>
        </p:nvSpPr>
        <p:spPr>
          <a:xfrm>
            <a:off x="5914180" y="3428745"/>
            <a:ext cx="2153160" cy="533880"/>
          </a:xfrm>
          <a:custGeom>
            <a:avLst/>
            <a:gdLst/>
            <a:ahLst/>
            <a:cxnLst/>
            <a:rect l="0" t="0" r="r" b="b"/>
            <a:pathLst>
              <a:path w="5981" h="1483">
                <a:moveTo>
                  <a:pt x="0" y="0"/>
                </a:moveTo>
                <a:lnTo>
                  <a:pt x="5981" y="0"/>
                </a:lnTo>
                <a:lnTo>
                  <a:pt x="598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4" name="任意多边形 443"/>
          <p:cNvSpPr/>
          <p:nvPr/>
        </p:nvSpPr>
        <p:spPr>
          <a:xfrm>
            <a:off x="8066980" y="3428745"/>
            <a:ext cx="3124440" cy="533880"/>
          </a:xfrm>
          <a:custGeom>
            <a:avLst/>
            <a:gdLst/>
            <a:ahLst/>
            <a:cxnLst/>
            <a:rect l="0" t="0" r="r" b="b"/>
            <a:pathLst>
              <a:path w="8679" h="1483">
                <a:moveTo>
                  <a:pt x="0" y="0"/>
                </a:moveTo>
                <a:lnTo>
                  <a:pt x="8679" y="0"/>
                </a:lnTo>
                <a:lnTo>
                  <a:pt x="867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5" name="任意多边形 444"/>
          <p:cNvSpPr/>
          <p:nvPr/>
        </p:nvSpPr>
        <p:spPr>
          <a:xfrm>
            <a:off x="627940" y="3962265"/>
            <a:ext cx="2381400" cy="543240"/>
          </a:xfrm>
          <a:custGeom>
            <a:avLst/>
            <a:gdLst/>
            <a:ahLst/>
            <a:cxnLst/>
            <a:rect l="0" t="0" r="r" b="b"/>
            <a:pathLst>
              <a:path w="6615" h="1509">
                <a:moveTo>
                  <a:pt x="0" y="0"/>
                </a:moveTo>
                <a:lnTo>
                  <a:pt x="6615" y="0"/>
                </a:lnTo>
                <a:lnTo>
                  <a:pt x="66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6" name="任意多边形 445"/>
          <p:cNvSpPr/>
          <p:nvPr/>
        </p:nvSpPr>
        <p:spPr>
          <a:xfrm>
            <a:off x="3008980" y="3962265"/>
            <a:ext cx="914760" cy="543240"/>
          </a:xfrm>
          <a:custGeom>
            <a:avLst/>
            <a:gdLst/>
            <a:ahLst/>
            <a:cxnLst/>
            <a:rect l="0" t="0" r="r" b="b"/>
            <a:pathLst>
              <a:path w="2541" h="1509">
                <a:moveTo>
                  <a:pt x="0" y="0"/>
                </a:moveTo>
                <a:lnTo>
                  <a:pt x="2541" y="0"/>
                </a:lnTo>
                <a:lnTo>
                  <a:pt x="254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7" name="任意多边形 446"/>
          <p:cNvSpPr/>
          <p:nvPr/>
        </p:nvSpPr>
        <p:spPr>
          <a:xfrm>
            <a:off x="3923380" y="3962265"/>
            <a:ext cx="1991160" cy="543240"/>
          </a:xfrm>
          <a:custGeom>
            <a:avLst/>
            <a:gdLst/>
            <a:ahLst/>
            <a:cxnLst/>
            <a:rect l="0" t="0" r="r" b="b"/>
            <a:pathLst>
              <a:path w="5531" h="1509">
                <a:moveTo>
                  <a:pt x="0" y="0"/>
                </a:moveTo>
                <a:lnTo>
                  <a:pt x="5531" y="0"/>
                </a:lnTo>
                <a:lnTo>
                  <a:pt x="553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8" name="任意多边形 447"/>
          <p:cNvSpPr/>
          <p:nvPr/>
        </p:nvSpPr>
        <p:spPr>
          <a:xfrm>
            <a:off x="5914180" y="3962265"/>
            <a:ext cx="2153160" cy="543240"/>
          </a:xfrm>
          <a:custGeom>
            <a:avLst/>
            <a:gdLst/>
            <a:ahLst/>
            <a:cxnLst/>
            <a:rect l="0" t="0" r="r" b="b"/>
            <a:pathLst>
              <a:path w="5981" h="1509">
                <a:moveTo>
                  <a:pt x="0" y="0"/>
                </a:moveTo>
                <a:lnTo>
                  <a:pt x="5981" y="0"/>
                </a:lnTo>
                <a:lnTo>
                  <a:pt x="598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49" name="任意多边形 448"/>
          <p:cNvSpPr/>
          <p:nvPr/>
        </p:nvSpPr>
        <p:spPr>
          <a:xfrm>
            <a:off x="8066980" y="3962265"/>
            <a:ext cx="3124440" cy="543240"/>
          </a:xfrm>
          <a:custGeom>
            <a:avLst/>
            <a:gdLst/>
            <a:ahLst/>
            <a:cxnLst/>
            <a:rect l="0" t="0" r="r" b="b"/>
            <a:pathLst>
              <a:path w="8679" h="1509">
                <a:moveTo>
                  <a:pt x="0" y="0"/>
                </a:moveTo>
                <a:lnTo>
                  <a:pt x="8679" y="0"/>
                </a:lnTo>
                <a:lnTo>
                  <a:pt x="867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0" name="任意多边形 449"/>
          <p:cNvSpPr/>
          <p:nvPr/>
        </p:nvSpPr>
        <p:spPr>
          <a:xfrm>
            <a:off x="627940" y="341938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1" name="任意多边形 450"/>
          <p:cNvSpPr/>
          <p:nvPr/>
        </p:nvSpPr>
        <p:spPr>
          <a:xfrm>
            <a:off x="627940" y="3419385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2" name="任意多边形 451"/>
          <p:cNvSpPr/>
          <p:nvPr/>
        </p:nvSpPr>
        <p:spPr>
          <a:xfrm>
            <a:off x="3008980" y="3419385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3" name="任意多边形 452"/>
          <p:cNvSpPr/>
          <p:nvPr/>
        </p:nvSpPr>
        <p:spPr>
          <a:xfrm>
            <a:off x="3018700" y="3419385"/>
            <a:ext cx="905040" cy="9720"/>
          </a:xfrm>
          <a:custGeom>
            <a:avLst/>
            <a:gdLst/>
            <a:ahLst/>
            <a:cxn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4" name="任意多边形 453"/>
          <p:cNvSpPr/>
          <p:nvPr/>
        </p:nvSpPr>
        <p:spPr>
          <a:xfrm>
            <a:off x="3914020" y="341938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5" name="任意多边形 454"/>
          <p:cNvSpPr/>
          <p:nvPr/>
        </p:nvSpPr>
        <p:spPr>
          <a:xfrm>
            <a:off x="3923380" y="3419385"/>
            <a:ext cx="2000880" cy="9720"/>
          </a:xfrm>
          <a:custGeom>
            <a:avLst/>
            <a:gdLst/>
            <a:ahLst/>
            <a:cxn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6" name="任意多边形 455"/>
          <p:cNvSpPr/>
          <p:nvPr/>
        </p:nvSpPr>
        <p:spPr>
          <a:xfrm>
            <a:off x="5914180" y="3419385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7" name="任意多边形 456"/>
          <p:cNvSpPr/>
          <p:nvPr/>
        </p:nvSpPr>
        <p:spPr>
          <a:xfrm>
            <a:off x="5923900" y="3419385"/>
            <a:ext cx="2143440" cy="9720"/>
          </a:xfrm>
          <a:custGeom>
            <a:avLst/>
            <a:gdLst/>
            <a:ahLst/>
            <a:cxn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8" name="任意多边形 457"/>
          <p:cNvSpPr/>
          <p:nvPr/>
        </p:nvSpPr>
        <p:spPr>
          <a:xfrm>
            <a:off x="8057260" y="3419385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59" name="任意多边形 458"/>
          <p:cNvSpPr/>
          <p:nvPr/>
        </p:nvSpPr>
        <p:spPr>
          <a:xfrm>
            <a:off x="8066980" y="3419385"/>
            <a:ext cx="3133800" cy="9720"/>
          </a:xfrm>
          <a:custGeom>
            <a:avLst/>
            <a:gdLst/>
            <a:ahLst/>
            <a:cxnLst/>
            <a:rect l="0" t="0" r="r" b="b"/>
            <a:pathLst>
              <a:path w="8705" h="27">
                <a:moveTo>
                  <a:pt x="0" y="0"/>
                </a:moveTo>
                <a:lnTo>
                  <a:pt x="8705" y="0"/>
                </a:lnTo>
                <a:lnTo>
                  <a:pt x="8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0" name="任意多边形 459"/>
          <p:cNvSpPr/>
          <p:nvPr/>
        </p:nvSpPr>
        <p:spPr>
          <a:xfrm>
            <a:off x="11191060" y="341938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1" name="任意多边形 460"/>
          <p:cNvSpPr/>
          <p:nvPr/>
        </p:nvSpPr>
        <p:spPr>
          <a:xfrm>
            <a:off x="627940" y="3962265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2" name="任意多边形 461"/>
          <p:cNvSpPr/>
          <p:nvPr/>
        </p:nvSpPr>
        <p:spPr>
          <a:xfrm>
            <a:off x="3018700" y="3962265"/>
            <a:ext cx="905040" cy="9720"/>
          </a:xfrm>
          <a:custGeom>
            <a:avLst/>
            <a:gdLst/>
            <a:ahLst/>
            <a:cxn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3" name="任意多边形 462"/>
          <p:cNvSpPr/>
          <p:nvPr/>
        </p:nvSpPr>
        <p:spPr>
          <a:xfrm>
            <a:off x="3923380" y="3962265"/>
            <a:ext cx="2000880" cy="9720"/>
          </a:xfrm>
          <a:custGeom>
            <a:avLst/>
            <a:gdLst/>
            <a:ahLst/>
            <a:cxn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4" name="任意多边形 463"/>
          <p:cNvSpPr/>
          <p:nvPr/>
        </p:nvSpPr>
        <p:spPr>
          <a:xfrm>
            <a:off x="5923900" y="3962265"/>
            <a:ext cx="2143440" cy="9720"/>
          </a:xfrm>
          <a:custGeom>
            <a:avLst/>
            <a:gdLst/>
            <a:ahLst/>
            <a:cxn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5" name="任意多边形 464"/>
          <p:cNvSpPr/>
          <p:nvPr/>
        </p:nvSpPr>
        <p:spPr>
          <a:xfrm>
            <a:off x="8066980" y="3962265"/>
            <a:ext cx="3133800" cy="9720"/>
          </a:xfrm>
          <a:custGeom>
            <a:avLst/>
            <a:gdLst/>
            <a:ahLst/>
            <a:cxnLst/>
            <a:rect l="0" t="0" r="r" b="b"/>
            <a:pathLst>
              <a:path w="8705" h="27">
                <a:moveTo>
                  <a:pt x="0" y="0"/>
                </a:moveTo>
                <a:lnTo>
                  <a:pt x="8705" y="0"/>
                </a:lnTo>
                <a:lnTo>
                  <a:pt x="8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6" name="任意多边形 465"/>
          <p:cNvSpPr/>
          <p:nvPr/>
        </p:nvSpPr>
        <p:spPr>
          <a:xfrm>
            <a:off x="627940" y="3971625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7" name="任意多边形 466"/>
          <p:cNvSpPr/>
          <p:nvPr/>
        </p:nvSpPr>
        <p:spPr>
          <a:xfrm>
            <a:off x="3008980" y="3971625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8" name="任意多边形 467"/>
          <p:cNvSpPr/>
          <p:nvPr/>
        </p:nvSpPr>
        <p:spPr>
          <a:xfrm>
            <a:off x="3914020" y="3971625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9" name="任意多边形 468"/>
          <p:cNvSpPr/>
          <p:nvPr/>
        </p:nvSpPr>
        <p:spPr>
          <a:xfrm>
            <a:off x="5914180" y="3971625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0" name="任意多边形 469"/>
          <p:cNvSpPr/>
          <p:nvPr/>
        </p:nvSpPr>
        <p:spPr>
          <a:xfrm>
            <a:off x="8057260" y="3971625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1" name="任意多边形 470"/>
          <p:cNvSpPr/>
          <p:nvPr/>
        </p:nvSpPr>
        <p:spPr>
          <a:xfrm>
            <a:off x="11191060" y="3971625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2" name="任意多边形 471"/>
          <p:cNvSpPr/>
          <p:nvPr/>
        </p:nvSpPr>
        <p:spPr>
          <a:xfrm>
            <a:off x="627940" y="4505145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3" name="任意多边形 472"/>
          <p:cNvSpPr/>
          <p:nvPr/>
        </p:nvSpPr>
        <p:spPr>
          <a:xfrm>
            <a:off x="3018700" y="4505145"/>
            <a:ext cx="905040" cy="9720"/>
          </a:xfrm>
          <a:custGeom>
            <a:avLst/>
            <a:gdLst/>
            <a:ahLst/>
            <a:cxn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4" name="任意多边形 473"/>
          <p:cNvSpPr/>
          <p:nvPr/>
        </p:nvSpPr>
        <p:spPr>
          <a:xfrm>
            <a:off x="3923380" y="4505145"/>
            <a:ext cx="2000880" cy="9720"/>
          </a:xfrm>
          <a:custGeom>
            <a:avLst/>
            <a:gdLst/>
            <a:ahLst/>
            <a:cxnLst/>
            <a:rect l="0" t="0" r="r" b="b"/>
            <a:pathLst>
              <a:path w="5558" h="27">
                <a:moveTo>
                  <a:pt x="0" y="0"/>
                </a:moveTo>
                <a:lnTo>
                  <a:pt x="5558" y="0"/>
                </a:lnTo>
                <a:lnTo>
                  <a:pt x="5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5" name="任意多边形 474"/>
          <p:cNvSpPr/>
          <p:nvPr/>
        </p:nvSpPr>
        <p:spPr>
          <a:xfrm>
            <a:off x="5923900" y="4505145"/>
            <a:ext cx="2143440" cy="9720"/>
          </a:xfrm>
          <a:custGeom>
            <a:avLst/>
            <a:gdLst/>
            <a:ahLst/>
            <a:cxnLst/>
            <a:rect l="0" t="0" r="r" b="b"/>
            <a:pathLst>
              <a:path w="5954" h="27">
                <a:moveTo>
                  <a:pt x="0" y="0"/>
                </a:moveTo>
                <a:lnTo>
                  <a:pt x="5954" y="0"/>
                </a:lnTo>
                <a:lnTo>
                  <a:pt x="59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6" name="任意多边形 475"/>
          <p:cNvSpPr/>
          <p:nvPr/>
        </p:nvSpPr>
        <p:spPr>
          <a:xfrm>
            <a:off x="8066980" y="4505145"/>
            <a:ext cx="3133800" cy="9720"/>
          </a:xfrm>
          <a:custGeom>
            <a:avLst/>
            <a:gdLst/>
            <a:ahLst/>
            <a:cxnLst/>
            <a:rect l="0" t="0" r="r" b="b"/>
            <a:pathLst>
              <a:path w="8705" h="27">
                <a:moveTo>
                  <a:pt x="0" y="0"/>
                </a:moveTo>
                <a:lnTo>
                  <a:pt x="8705" y="0"/>
                </a:lnTo>
                <a:lnTo>
                  <a:pt x="87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7" name="任意多边形 476"/>
          <p:cNvSpPr/>
          <p:nvPr/>
        </p:nvSpPr>
        <p:spPr>
          <a:xfrm>
            <a:off x="632460" y="5233670"/>
            <a:ext cx="10687050" cy="988060"/>
          </a:xfrm>
          <a:custGeom>
            <a:avLst/>
            <a:gdLst/>
            <a:ahLst/>
            <a:cxnLst/>
            <a:rect l="0" t="0" r="r" b="b"/>
            <a:pathLst>
              <a:path w="29687" h="2739">
                <a:moveTo>
                  <a:pt x="0" y="273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739"/>
                </a:lnTo>
                <a:lnTo>
                  <a:pt x="0" y="273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8" name="任意多边形 477"/>
          <p:cNvSpPr/>
          <p:nvPr/>
        </p:nvSpPr>
        <p:spPr>
          <a:xfrm>
            <a:off x="632620" y="5233785"/>
            <a:ext cx="10687320" cy="986040"/>
          </a:xfrm>
          <a:custGeom>
            <a:avLst/>
            <a:gdLst/>
            <a:ahLst/>
            <a:cxnLst/>
            <a:rect l="0" t="0" r="r" b="b"/>
            <a:pathLst>
              <a:path w="29687" h="2739">
                <a:moveTo>
                  <a:pt x="0" y="2739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7"/>
                  <a:pt x="29687" y="136"/>
                  <a:pt x="29687" y="146"/>
                </a:cubicBezTo>
                <a:lnTo>
                  <a:pt x="29687" y="2739"/>
                </a:lnTo>
                <a:lnTo>
                  <a:pt x="0" y="2739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9" name="文本框 478"/>
          <p:cNvSpPr txBox="1"/>
          <p:nvPr/>
        </p:nvSpPr>
        <p:spPr>
          <a:xfrm>
            <a:off x="747720" y="123120"/>
            <a:ext cx="22554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5.5. Agent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0" name="文本框 479"/>
          <p:cNvSpPr txBox="1"/>
          <p:nvPr/>
        </p:nvSpPr>
        <p:spPr>
          <a:xfrm>
            <a:off x="2909880" y="158040"/>
            <a:ext cx="17686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智能体（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1" name="文本框 480"/>
          <p:cNvSpPr txBox="1"/>
          <p:nvPr/>
        </p:nvSpPr>
        <p:spPr>
          <a:xfrm>
            <a:off x="4677840" y="123120"/>
            <a:ext cx="9900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MVP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2" name="文本框 481"/>
          <p:cNvSpPr txBox="1"/>
          <p:nvPr/>
        </p:nvSpPr>
        <p:spPr>
          <a:xfrm>
            <a:off x="5628240" y="158040"/>
            <a:ext cx="132660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）设计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3" name="任意多边形 482"/>
          <p:cNvSpPr/>
          <p:nvPr/>
        </p:nvSpPr>
        <p:spPr>
          <a:xfrm>
            <a:off x="986640" y="126601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4" name="文本框 483"/>
          <p:cNvSpPr txBox="1"/>
          <p:nvPr/>
        </p:nvSpPr>
        <p:spPr>
          <a:xfrm>
            <a:off x="686760" y="570850"/>
            <a:ext cx="4965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⽬标定位：问答增强，不接管交易写操作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5" name="文本框 484"/>
          <p:cNvSpPr txBox="1"/>
          <p:nvPr/>
        </p:nvSpPr>
        <p:spPr>
          <a:xfrm>
            <a:off x="1239360" y="113281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场景：⼩程序⾸⻚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6" name="文本框 485"/>
          <p:cNvSpPr txBox="1"/>
          <p:nvPr/>
        </p:nvSpPr>
        <p:spPr>
          <a:xfrm>
            <a:off x="3449040" y="111085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7" name="文本框 486"/>
          <p:cNvSpPr txBox="1"/>
          <p:nvPr/>
        </p:nvSpPr>
        <p:spPr>
          <a:xfrm>
            <a:off x="3553080" y="113281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智能体助⼿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8" name="文本框 487"/>
          <p:cNvSpPr txBox="1"/>
          <p:nvPr/>
        </p:nvSpPr>
        <p:spPr>
          <a:xfrm>
            <a:off x="4934400" y="111085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9" name="任意多边形 488"/>
          <p:cNvSpPr/>
          <p:nvPr/>
        </p:nvSpPr>
        <p:spPr>
          <a:xfrm>
            <a:off x="986640" y="175165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9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0" name="文本框 489"/>
          <p:cNvSpPr txBox="1"/>
          <p:nvPr/>
        </p:nvSpPr>
        <p:spPr>
          <a:xfrm>
            <a:off x="5038440" y="1132810"/>
            <a:ext cx="3310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问答、排障引导、流程建议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1" name="任意多边形 490"/>
          <p:cNvSpPr/>
          <p:nvPr/>
        </p:nvSpPr>
        <p:spPr>
          <a:xfrm>
            <a:off x="1538880" y="2171050"/>
            <a:ext cx="95760" cy="95400"/>
          </a:xfrm>
          <a:custGeom>
            <a:avLst/>
            <a:gdLst/>
            <a:ahLst/>
            <a:cxnLst/>
            <a:rect l="0" t="0" r="r" b="b"/>
            <a:pathLst>
              <a:path w="266" h="265">
                <a:moveTo>
                  <a:pt x="266" y="132"/>
                </a:moveTo>
                <a:cubicBezTo>
                  <a:pt x="266" y="149"/>
                  <a:pt x="263" y="166"/>
                  <a:pt x="256" y="182"/>
                </a:cubicBezTo>
                <a:cubicBezTo>
                  <a:pt x="249" y="199"/>
                  <a:pt x="240" y="213"/>
                  <a:pt x="227" y="225"/>
                </a:cubicBezTo>
                <a:cubicBezTo>
                  <a:pt x="215" y="238"/>
                  <a:pt x="201" y="247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7"/>
                  <a:pt x="52" y="238"/>
                  <a:pt x="39" y="225"/>
                </a:cubicBezTo>
                <a:cubicBezTo>
                  <a:pt x="27" y="213"/>
                  <a:pt x="17" y="199"/>
                  <a:pt x="11" y="182"/>
                </a:cubicBezTo>
                <a:cubicBezTo>
                  <a:pt x="4" y="166"/>
                  <a:pt x="0" y="149"/>
                  <a:pt x="0" y="132"/>
                </a:cubicBezTo>
                <a:cubicBezTo>
                  <a:pt x="0" y="114"/>
                  <a:pt x="4" y="97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1" y="16"/>
                  <a:pt x="215" y="26"/>
                  <a:pt x="227" y="38"/>
                </a:cubicBezTo>
                <a:cubicBezTo>
                  <a:pt x="240" y="51"/>
                  <a:pt x="249" y="65"/>
                  <a:pt x="256" y="81"/>
                </a:cubicBezTo>
                <a:cubicBezTo>
                  <a:pt x="263" y="97"/>
                  <a:pt x="266" y="114"/>
                  <a:pt x="266" y="132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2" name="任意多边形 491"/>
          <p:cNvSpPr/>
          <p:nvPr/>
        </p:nvSpPr>
        <p:spPr>
          <a:xfrm>
            <a:off x="1815360" y="206593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68" y="684"/>
                </a:moveTo>
                <a:cubicBezTo>
                  <a:pt x="768" y="731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1"/>
                  <a:pt x="0" y="684"/>
                </a:cubicBezTo>
                <a:lnTo>
                  <a:pt x="0" y="86"/>
                </a:lnTo>
                <a:cubicBezTo>
                  <a:pt x="0" y="39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9"/>
                  <a:pt x="768" y="86"/>
                </a:cubicBezTo>
                <a:lnTo>
                  <a:pt x="768" y="684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3" name="任意多边形 492"/>
          <p:cNvSpPr/>
          <p:nvPr/>
        </p:nvSpPr>
        <p:spPr>
          <a:xfrm>
            <a:off x="1859280" y="211201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8" y="-7"/>
                  <a:pt x="445" y="0"/>
                  <a:pt x="429" y="25"/>
                </a:cubicBezTo>
                <a:lnTo>
                  <a:pt x="197" y="382"/>
                </a:lnTo>
                <a:lnTo>
                  <a:pt x="89" y="283"/>
                </a:lnTo>
                <a:cubicBezTo>
                  <a:pt x="67" y="263"/>
                  <a:pt x="34" y="265"/>
                  <a:pt x="14" y="286"/>
                </a:cubicBezTo>
                <a:cubicBezTo>
                  <a:pt x="-6" y="308"/>
                  <a:pt x="-5" y="342"/>
                  <a:pt x="17" y="362"/>
                </a:cubicBezTo>
                <a:lnTo>
                  <a:pt x="170" y="505"/>
                </a:lnTo>
                <a:cubicBezTo>
                  <a:pt x="180" y="514"/>
                  <a:pt x="194" y="519"/>
                  <a:pt x="207" y="519"/>
                </a:cubicBezTo>
                <a:cubicBezTo>
                  <a:pt x="222" y="519"/>
                  <a:pt x="240" y="513"/>
                  <a:pt x="252" y="495"/>
                </a:cubicBezTo>
                <a:cubicBezTo>
                  <a:pt x="259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4" name="文本框 493"/>
          <p:cNvSpPr txBox="1"/>
          <p:nvPr/>
        </p:nvSpPr>
        <p:spPr>
          <a:xfrm>
            <a:off x="1239360" y="161845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原则：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5" name="文本框 494"/>
          <p:cNvSpPr txBox="1"/>
          <p:nvPr/>
        </p:nvSpPr>
        <p:spPr>
          <a:xfrm>
            <a:off x="2109120" y="201589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6" name="任意多边形 495"/>
          <p:cNvSpPr/>
          <p:nvPr/>
        </p:nvSpPr>
        <p:spPr>
          <a:xfrm>
            <a:off x="1538880" y="2646970"/>
            <a:ext cx="95760" cy="95760"/>
          </a:xfrm>
          <a:custGeom>
            <a:avLst/>
            <a:gdLst/>
            <a:ahLst/>
            <a:cxn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3"/>
                </a:cubicBezTo>
                <a:cubicBezTo>
                  <a:pt x="249" y="200"/>
                  <a:pt x="240" y="214"/>
                  <a:pt x="227" y="226"/>
                </a:cubicBezTo>
                <a:cubicBezTo>
                  <a:pt x="215" y="239"/>
                  <a:pt x="201" y="249"/>
                  <a:pt x="184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200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1"/>
                </a:cubicBezTo>
                <a:cubicBezTo>
                  <a:pt x="201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7" name="任意多边形 496"/>
          <p:cNvSpPr/>
          <p:nvPr/>
        </p:nvSpPr>
        <p:spPr>
          <a:xfrm>
            <a:off x="1826520" y="2553730"/>
            <a:ext cx="253800" cy="253800"/>
          </a:xfrm>
          <a:custGeom>
            <a:avLst/>
            <a:gdLst/>
            <a:ahLst/>
            <a:cxnLst/>
            <a:rect l="0" t="0" r="r" b="b"/>
            <a:pathLst>
              <a:path w="705" h="705">
                <a:moveTo>
                  <a:pt x="429" y="352"/>
                </a:moveTo>
                <a:lnTo>
                  <a:pt x="690" y="91"/>
                </a:lnTo>
                <a:cubicBezTo>
                  <a:pt x="710" y="71"/>
                  <a:pt x="710" y="37"/>
                  <a:pt x="690" y="16"/>
                </a:cubicBezTo>
                <a:cubicBezTo>
                  <a:pt x="669" y="-5"/>
                  <a:pt x="635" y="-5"/>
                  <a:pt x="614" y="16"/>
                </a:cubicBezTo>
                <a:lnTo>
                  <a:pt x="353" y="277"/>
                </a:lnTo>
                <a:lnTo>
                  <a:pt x="93" y="16"/>
                </a:lnTo>
                <a:cubicBezTo>
                  <a:pt x="72" y="-5"/>
                  <a:pt x="38" y="-5"/>
                  <a:pt x="16" y="16"/>
                </a:cubicBezTo>
                <a:cubicBezTo>
                  <a:pt x="-5" y="37"/>
                  <a:pt x="-5" y="71"/>
                  <a:pt x="16" y="91"/>
                </a:cubicBezTo>
                <a:lnTo>
                  <a:pt x="278" y="352"/>
                </a:lnTo>
                <a:lnTo>
                  <a:pt x="16" y="614"/>
                </a:lnTo>
                <a:cubicBezTo>
                  <a:pt x="-5" y="635"/>
                  <a:pt x="-5" y="669"/>
                  <a:pt x="16" y="690"/>
                </a:cubicBezTo>
                <a:cubicBezTo>
                  <a:pt x="26" y="700"/>
                  <a:pt x="41" y="705"/>
                  <a:pt x="54" y="705"/>
                </a:cubicBezTo>
                <a:cubicBezTo>
                  <a:pt x="68" y="705"/>
                  <a:pt x="82" y="700"/>
                  <a:pt x="92" y="690"/>
                </a:cubicBezTo>
                <a:lnTo>
                  <a:pt x="353" y="427"/>
                </a:lnTo>
                <a:lnTo>
                  <a:pt x="614" y="689"/>
                </a:lnTo>
                <a:cubicBezTo>
                  <a:pt x="625" y="700"/>
                  <a:pt x="638" y="705"/>
                  <a:pt x="652" y="705"/>
                </a:cubicBezTo>
                <a:cubicBezTo>
                  <a:pt x="665" y="705"/>
                  <a:pt x="679" y="700"/>
                  <a:pt x="690" y="689"/>
                </a:cubicBezTo>
                <a:cubicBezTo>
                  <a:pt x="710" y="668"/>
                  <a:pt x="710" y="635"/>
                  <a:pt x="690" y="614"/>
                </a:cubicBezTo>
                <a:lnTo>
                  <a:pt x="429" y="352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8" name="文本框 497"/>
          <p:cNvSpPr txBox="1"/>
          <p:nvPr/>
        </p:nvSpPr>
        <p:spPr>
          <a:xfrm>
            <a:off x="2184720" y="2037850"/>
            <a:ext cx="5241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允许：查酒店（已发布）、查当前⽤⼾订单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9" name="文本框 498"/>
          <p:cNvSpPr txBox="1"/>
          <p:nvPr/>
        </p:nvSpPr>
        <p:spPr>
          <a:xfrm>
            <a:off x="2109120" y="249217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0" name="文本框 499"/>
          <p:cNvSpPr txBox="1"/>
          <p:nvPr/>
        </p:nvSpPr>
        <p:spPr>
          <a:xfrm>
            <a:off x="2184720" y="251413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禁⽌：创建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1" name="文本框 500"/>
          <p:cNvSpPr txBox="1"/>
          <p:nvPr/>
        </p:nvSpPr>
        <p:spPr>
          <a:xfrm>
            <a:off x="3566040" y="249217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2" name="文本框 501"/>
          <p:cNvSpPr txBox="1"/>
          <p:nvPr/>
        </p:nvSpPr>
        <p:spPr>
          <a:xfrm>
            <a:off x="3673680" y="251413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修改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3" name="文本框 502"/>
          <p:cNvSpPr txBox="1"/>
          <p:nvPr/>
        </p:nvSpPr>
        <p:spPr>
          <a:xfrm>
            <a:off x="4225920" y="249217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4" name="文本框 503"/>
          <p:cNvSpPr txBox="1"/>
          <p:nvPr/>
        </p:nvSpPr>
        <p:spPr>
          <a:xfrm>
            <a:off x="4333560" y="251413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5" name="文本框 504"/>
          <p:cNvSpPr txBox="1"/>
          <p:nvPr/>
        </p:nvSpPr>
        <p:spPr>
          <a:xfrm>
            <a:off x="4886160" y="249217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6" name="文本框 505"/>
          <p:cNvSpPr txBox="1"/>
          <p:nvPr/>
        </p:nvSpPr>
        <p:spPr>
          <a:xfrm>
            <a:off x="4993800" y="251413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取消订单、库存写操作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7" name="文本框 506"/>
          <p:cNvSpPr txBox="1"/>
          <p:nvPr/>
        </p:nvSpPr>
        <p:spPr>
          <a:xfrm>
            <a:off x="623260" y="2895585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接⼝与限流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8" name="文本框 507"/>
          <p:cNvSpPr txBox="1"/>
          <p:nvPr/>
        </p:nvSpPr>
        <p:spPr>
          <a:xfrm>
            <a:off x="1542340" y="352414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接⼝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9" name="文本框 508"/>
          <p:cNvSpPr txBox="1"/>
          <p:nvPr/>
        </p:nvSpPr>
        <p:spPr>
          <a:xfrm>
            <a:off x="3188980" y="352414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⽅法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0" name="文本框 509"/>
          <p:cNvSpPr txBox="1"/>
          <p:nvPr/>
        </p:nvSpPr>
        <p:spPr>
          <a:xfrm>
            <a:off x="4641940" y="352414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认证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1" name="文本框 510"/>
          <p:cNvSpPr txBox="1"/>
          <p:nvPr/>
        </p:nvSpPr>
        <p:spPr>
          <a:xfrm>
            <a:off x="6714820" y="352414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限流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2" name="任意多边形 511"/>
          <p:cNvSpPr/>
          <p:nvPr/>
        </p:nvSpPr>
        <p:spPr>
          <a:xfrm>
            <a:off x="761140" y="4076385"/>
            <a:ext cx="2124360" cy="371880"/>
          </a:xfrm>
          <a:custGeom>
            <a:avLst/>
            <a:gdLst/>
            <a:ahLst/>
            <a:cxnLst/>
            <a:rect l="0" t="0" r="r" b="b"/>
            <a:pathLst>
              <a:path w="5901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743" y="0"/>
                </a:lnTo>
                <a:cubicBezTo>
                  <a:pt x="5753" y="0"/>
                  <a:pt x="5763" y="1"/>
                  <a:pt x="5774" y="3"/>
                </a:cubicBezTo>
                <a:cubicBezTo>
                  <a:pt x="5784" y="5"/>
                  <a:pt x="5794" y="8"/>
                  <a:pt x="5803" y="12"/>
                </a:cubicBezTo>
                <a:cubicBezTo>
                  <a:pt x="5813" y="16"/>
                  <a:pt x="5822" y="21"/>
                  <a:pt x="5831" y="27"/>
                </a:cubicBezTo>
                <a:cubicBezTo>
                  <a:pt x="5839" y="33"/>
                  <a:pt x="5847" y="39"/>
                  <a:pt x="5855" y="47"/>
                </a:cubicBezTo>
                <a:cubicBezTo>
                  <a:pt x="5862" y="54"/>
                  <a:pt x="5869" y="62"/>
                  <a:pt x="5875" y="71"/>
                </a:cubicBezTo>
                <a:cubicBezTo>
                  <a:pt x="5880" y="80"/>
                  <a:pt x="5885" y="89"/>
                  <a:pt x="5889" y="98"/>
                </a:cubicBezTo>
                <a:cubicBezTo>
                  <a:pt x="5893" y="108"/>
                  <a:pt x="5896" y="118"/>
                  <a:pt x="5898" y="128"/>
                </a:cubicBezTo>
                <a:cubicBezTo>
                  <a:pt x="5900" y="138"/>
                  <a:pt x="5901" y="149"/>
                  <a:pt x="5901" y="159"/>
                </a:cubicBezTo>
                <a:lnTo>
                  <a:pt x="5901" y="874"/>
                </a:lnTo>
                <a:cubicBezTo>
                  <a:pt x="5901" y="885"/>
                  <a:pt x="5900" y="895"/>
                  <a:pt x="5898" y="905"/>
                </a:cubicBezTo>
                <a:cubicBezTo>
                  <a:pt x="5896" y="916"/>
                  <a:pt x="5893" y="926"/>
                  <a:pt x="5889" y="935"/>
                </a:cubicBezTo>
                <a:cubicBezTo>
                  <a:pt x="5885" y="945"/>
                  <a:pt x="5880" y="954"/>
                  <a:pt x="5875" y="963"/>
                </a:cubicBezTo>
                <a:cubicBezTo>
                  <a:pt x="5869" y="971"/>
                  <a:pt x="5862" y="979"/>
                  <a:pt x="5855" y="987"/>
                </a:cubicBezTo>
                <a:cubicBezTo>
                  <a:pt x="5847" y="994"/>
                  <a:pt x="5839" y="1001"/>
                  <a:pt x="5831" y="1006"/>
                </a:cubicBezTo>
                <a:cubicBezTo>
                  <a:pt x="5822" y="1012"/>
                  <a:pt x="5813" y="1017"/>
                  <a:pt x="5803" y="1021"/>
                </a:cubicBezTo>
                <a:cubicBezTo>
                  <a:pt x="5794" y="1025"/>
                  <a:pt x="5784" y="1028"/>
                  <a:pt x="5774" y="1030"/>
                </a:cubicBezTo>
                <a:cubicBezTo>
                  <a:pt x="5763" y="1032"/>
                  <a:pt x="5753" y="1033"/>
                  <a:pt x="5743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3" name="文本框 512"/>
          <p:cNvSpPr txBox="1"/>
          <p:nvPr/>
        </p:nvSpPr>
        <p:spPr>
          <a:xfrm>
            <a:off x="9353980" y="352414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说明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4" name="文本框 513"/>
          <p:cNvSpPr txBox="1"/>
          <p:nvPr/>
        </p:nvSpPr>
        <p:spPr>
          <a:xfrm>
            <a:off x="850420" y="4168185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/api/agent/chat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5" name="任意多边形 514"/>
          <p:cNvSpPr/>
          <p:nvPr/>
        </p:nvSpPr>
        <p:spPr>
          <a:xfrm>
            <a:off x="4047220" y="4076385"/>
            <a:ext cx="1743480" cy="371880"/>
          </a:xfrm>
          <a:custGeom>
            <a:avLst/>
            <a:gdLst/>
            <a:ahLst/>
            <a:cxnLst/>
            <a:rect l="0" t="0" r="r" b="b"/>
            <a:pathLst>
              <a:path w="4843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684" y="0"/>
                </a:lnTo>
                <a:cubicBezTo>
                  <a:pt x="4695" y="0"/>
                  <a:pt x="4705" y="1"/>
                  <a:pt x="4715" y="3"/>
                </a:cubicBezTo>
                <a:cubicBezTo>
                  <a:pt x="4726" y="5"/>
                  <a:pt x="4735" y="8"/>
                  <a:pt x="4745" y="12"/>
                </a:cubicBezTo>
                <a:cubicBezTo>
                  <a:pt x="4755" y="16"/>
                  <a:pt x="4764" y="21"/>
                  <a:pt x="4773" y="27"/>
                </a:cubicBezTo>
                <a:cubicBezTo>
                  <a:pt x="4781" y="33"/>
                  <a:pt x="4789" y="39"/>
                  <a:pt x="4797" y="47"/>
                </a:cubicBezTo>
                <a:cubicBezTo>
                  <a:pt x="4804" y="54"/>
                  <a:pt x="4811" y="62"/>
                  <a:pt x="4816" y="71"/>
                </a:cubicBezTo>
                <a:cubicBezTo>
                  <a:pt x="4822" y="80"/>
                  <a:pt x="4827" y="89"/>
                  <a:pt x="4831" y="98"/>
                </a:cubicBezTo>
                <a:cubicBezTo>
                  <a:pt x="4835" y="108"/>
                  <a:pt x="4838" y="118"/>
                  <a:pt x="4840" y="128"/>
                </a:cubicBezTo>
                <a:cubicBezTo>
                  <a:pt x="4842" y="138"/>
                  <a:pt x="4843" y="149"/>
                  <a:pt x="4843" y="159"/>
                </a:cubicBezTo>
                <a:lnTo>
                  <a:pt x="4843" y="874"/>
                </a:lnTo>
                <a:cubicBezTo>
                  <a:pt x="4843" y="885"/>
                  <a:pt x="4842" y="895"/>
                  <a:pt x="4840" y="905"/>
                </a:cubicBezTo>
                <a:cubicBezTo>
                  <a:pt x="4838" y="916"/>
                  <a:pt x="4835" y="926"/>
                  <a:pt x="4831" y="935"/>
                </a:cubicBezTo>
                <a:cubicBezTo>
                  <a:pt x="4827" y="945"/>
                  <a:pt x="4822" y="954"/>
                  <a:pt x="4816" y="963"/>
                </a:cubicBezTo>
                <a:cubicBezTo>
                  <a:pt x="4811" y="971"/>
                  <a:pt x="4804" y="979"/>
                  <a:pt x="4797" y="987"/>
                </a:cubicBezTo>
                <a:cubicBezTo>
                  <a:pt x="4789" y="994"/>
                  <a:pt x="4781" y="1001"/>
                  <a:pt x="4773" y="1006"/>
                </a:cubicBezTo>
                <a:cubicBezTo>
                  <a:pt x="4764" y="1012"/>
                  <a:pt x="4755" y="1017"/>
                  <a:pt x="4745" y="1021"/>
                </a:cubicBezTo>
                <a:cubicBezTo>
                  <a:pt x="4735" y="1025"/>
                  <a:pt x="4726" y="1028"/>
                  <a:pt x="4715" y="1030"/>
                </a:cubicBezTo>
                <a:cubicBezTo>
                  <a:pt x="4705" y="1032"/>
                  <a:pt x="4695" y="1033"/>
                  <a:pt x="468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6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6" name="文本框 515"/>
          <p:cNvSpPr txBox="1"/>
          <p:nvPr/>
        </p:nvSpPr>
        <p:spPr>
          <a:xfrm>
            <a:off x="3137860" y="4045425"/>
            <a:ext cx="654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POST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7" name="文本框 516"/>
          <p:cNvSpPr txBox="1"/>
          <p:nvPr/>
        </p:nvSpPr>
        <p:spPr>
          <a:xfrm>
            <a:off x="4143700" y="4168185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Bearer Token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8" name="文本框 517"/>
          <p:cNvSpPr txBox="1"/>
          <p:nvPr/>
        </p:nvSpPr>
        <p:spPr>
          <a:xfrm>
            <a:off x="6043780" y="4045425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9" name="文本框 518"/>
          <p:cNvSpPr txBox="1"/>
          <p:nvPr/>
        </p:nvSpPr>
        <p:spPr>
          <a:xfrm>
            <a:off x="6341500" y="4067025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0" name="文本框 519"/>
          <p:cNvSpPr txBox="1"/>
          <p:nvPr/>
        </p:nvSpPr>
        <p:spPr>
          <a:xfrm>
            <a:off x="6617980" y="404542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1" name="文本框 520"/>
          <p:cNvSpPr txBox="1"/>
          <p:nvPr/>
        </p:nvSpPr>
        <p:spPr>
          <a:xfrm>
            <a:off x="6725620" y="406702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2" name="文本框 521"/>
          <p:cNvSpPr txBox="1"/>
          <p:nvPr/>
        </p:nvSpPr>
        <p:spPr>
          <a:xfrm>
            <a:off x="7277860" y="404542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3" name="文本框 522"/>
          <p:cNvSpPr txBox="1"/>
          <p:nvPr/>
        </p:nvSpPr>
        <p:spPr>
          <a:xfrm>
            <a:off x="7385500" y="4067025"/>
            <a:ext cx="1717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 返回建议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4" name="文本框 523"/>
          <p:cNvSpPr txBox="1"/>
          <p:nvPr/>
        </p:nvSpPr>
        <p:spPr>
          <a:xfrm>
            <a:off x="9300340" y="404542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/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5" name="文本框 524"/>
          <p:cNvSpPr txBox="1"/>
          <p:nvPr/>
        </p:nvSpPr>
        <p:spPr>
          <a:xfrm>
            <a:off x="9407980" y="4067025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⼯具查询结果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6" name="文本框 525"/>
          <p:cNvSpPr txBox="1"/>
          <p:nvPr/>
        </p:nvSpPr>
        <p:spPr>
          <a:xfrm>
            <a:off x="623260" y="4705305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执⾏链路（当前实现）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7" name="文本框 526"/>
          <p:cNvSpPr txBox="1"/>
          <p:nvPr/>
        </p:nvSpPr>
        <p:spPr>
          <a:xfrm>
            <a:off x="789940" y="5426385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chat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(message, user)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8" name="文本框 527"/>
          <p:cNvSpPr txBox="1"/>
          <p:nvPr/>
        </p:nvSpPr>
        <p:spPr>
          <a:xfrm>
            <a:off x="789940" y="5692785"/>
            <a:ext cx="1033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1)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9" name="文本框 528"/>
          <p:cNvSpPr txBox="1"/>
          <p:nvPr/>
        </p:nvSpPr>
        <p:spPr>
          <a:xfrm>
            <a:off x="1822780" y="5665785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意图识别（规则匹配）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0" name="文本框 529"/>
          <p:cNvSpPr txBox="1"/>
          <p:nvPr/>
        </p:nvSpPr>
        <p:spPr>
          <a:xfrm>
            <a:off x="789940" y="5969265"/>
            <a:ext cx="1033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2)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1" name="文本框 530"/>
          <p:cNvSpPr txBox="1"/>
          <p:nvPr/>
        </p:nvSpPr>
        <p:spPr>
          <a:xfrm>
            <a:off x="1822780" y="5941905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命中只读工具：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2" name="文本框 531"/>
          <p:cNvSpPr txBox="1"/>
          <p:nvPr/>
        </p:nvSpPr>
        <p:spPr>
          <a:xfrm>
            <a:off x="3466180" y="5969265"/>
            <a:ext cx="3484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query_hotels / query_orders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3" name="文本框 532"/>
          <p:cNvSpPr txBox="1"/>
          <p:nvPr/>
        </p:nvSpPr>
        <p:spPr>
          <a:xfrm>
            <a:off x="2057500" y="6208665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4" name="文本框 533"/>
          <p:cNvSpPr txBox="1"/>
          <p:nvPr/>
        </p:nvSpPr>
        <p:spPr>
          <a:xfrm>
            <a:off x="3231460" y="6208665"/>
            <a:ext cx="822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模型 未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5" name="文本框 534"/>
          <p:cNvSpPr txBox="1"/>
          <p:nvPr/>
        </p:nvSpPr>
        <p:spPr>
          <a:xfrm>
            <a:off x="4640140" y="6208665"/>
            <a:ext cx="5875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则 过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6" name="文本框 535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任意多边形 53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8" name="任意多边形 53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9" name="任意多边形 5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0" name="任意多边形 539"/>
          <p:cNvSpPr/>
          <p:nvPr/>
        </p:nvSpPr>
        <p:spPr>
          <a:xfrm>
            <a:off x="738430" y="1370075"/>
            <a:ext cx="1057680" cy="533880"/>
          </a:xfrm>
          <a:custGeom>
            <a:avLst/>
            <a:gdLst/>
            <a:ahLst/>
            <a:cxnLst/>
            <a:rect l="0" t="0" r="r" b="b"/>
            <a:pathLst>
              <a:path w="2938" h="1483">
                <a:moveTo>
                  <a:pt x="0" y="0"/>
                </a:moveTo>
                <a:lnTo>
                  <a:pt x="2938" y="0"/>
                </a:lnTo>
                <a:lnTo>
                  <a:pt x="293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1" name="任意多边形 540"/>
          <p:cNvSpPr/>
          <p:nvPr/>
        </p:nvSpPr>
        <p:spPr>
          <a:xfrm>
            <a:off x="1795750" y="1370075"/>
            <a:ext cx="7201080" cy="533880"/>
          </a:xfrm>
          <a:custGeom>
            <a:avLst/>
            <a:gdLst/>
            <a:ahLst/>
            <a:cxnLst/>
            <a:rect l="0" t="0" r="r" b="b"/>
            <a:pathLst>
              <a:path w="20003" h="1483">
                <a:moveTo>
                  <a:pt x="0" y="0"/>
                </a:moveTo>
                <a:lnTo>
                  <a:pt x="20003" y="0"/>
                </a:lnTo>
                <a:lnTo>
                  <a:pt x="20003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2" name="任意多边形 541"/>
          <p:cNvSpPr/>
          <p:nvPr/>
        </p:nvSpPr>
        <p:spPr>
          <a:xfrm>
            <a:off x="8996470" y="1370075"/>
            <a:ext cx="2429280" cy="533880"/>
          </a:xfrm>
          <a:custGeom>
            <a:avLst/>
            <a:gdLst/>
            <a:ahLst/>
            <a:cxnLst/>
            <a:rect l="0" t="0" r="r" b="b"/>
            <a:pathLst>
              <a:path w="6748" h="1483">
                <a:moveTo>
                  <a:pt x="0" y="0"/>
                </a:moveTo>
                <a:lnTo>
                  <a:pt x="6748" y="0"/>
                </a:lnTo>
                <a:lnTo>
                  <a:pt x="674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3" name="任意多边形 542"/>
          <p:cNvSpPr/>
          <p:nvPr/>
        </p:nvSpPr>
        <p:spPr>
          <a:xfrm>
            <a:off x="738430" y="1903595"/>
            <a:ext cx="1057680" cy="952920"/>
          </a:xfrm>
          <a:custGeom>
            <a:avLst/>
            <a:gdLst/>
            <a:ahLst/>
            <a:cxnLst/>
            <a:rect l="0" t="0" r="r" b="b"/>
            <a:pathLst>
              <a:path w="2938" h="2647">
                <a:moveTo>
                  <a:pt x="0" y="0"/>
                </a:moveTo>
                <a:lnTo>
                  <a:pt x="2938" y="0"/>
                </a:lnTo>
                <a:lnTo>
                  <a:pt x="29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4" name="任意多边形 543"/>
          <p:cNvSpPr/>
          <p:nvPr/>
        </p:nvSpPr>
        <p:spPr>
          <a:xfrm>
            <a:off x="1795750" y="1903595"/>
            <a:ext cx="7201080" cy="952920"/>
          </a:xfrm>
          <a:custGeom>
            <a:avLst/>
            <a:gdLst/>
            <a:ahLst/>
            <a:cxnLst/>
            <a:rect l="0" t="0" r="r" b="b"/>
            <a:pathLst>
              <a:path w="20003" h="2647">
                <a:moveTo>
                  <a:pt x="0" y="0"/>
                </a:moveTo>
                <a:lnTo>
                  <a:pt x="20003" y="0"/>
                </a:lnTo>
                <a:lnTo>
                  <a:pt x="2000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5" name="任意多边形 544"/>
          <p:cNvSpPr/>
          <p:nvPr/>
        </p:nvSpPr>
        <p:spPr>
          <a:xfrm>
            <a:off x="8996470" y="1903595"/>
            <a:ext cx="2429280" cy="952920"/>
          </a:xfrm>
          <a:custGeom>
            <a:avLst/>
            <a:gdLst/>
            <a:ahLst/>
            <a:cxnLst/>
            <a:rect l="0" t="0" r="r" b="b"/>
            <a:pathLst>
              <a:path w="6748" h="2647">
                <a:moveTo>
                  <a:pt x="0" y="0"/>
                </a:moveTo>
                <a:lnTo>
                  <a:pt x="6748" y="0"/>
                </a:lnTo>
                <a:lnTo>
                  <a:pt x="674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6" name="任意多边形 545"/>
          <p:cNvSpPr/>
          <p:nvPr/>
        </p:nvSpPr>
        <p:spPr>
          <a:xfrm>
            <a:off x="738430" y="2856155"/>
            <a:ext cx="1057680" cy="952920"/>
          </a:xfrm>
          <a:custGeom>
            <a:avLst/>
            <a:gdLst/>
            <a:ahLst/>
            <a:cxnLst/>
            <a:rect l="0" t="0" r="r" b="b"/>
            <a:pathLst>
              <a:path w="2938" h="2647">
                <a:moveTo>
                  <a:pt x="0" y="0"/>
                </a:moveTo>
                <a:lnTo>
                  <a:pt x="2938" y="0"/>
                </a:lnTo>
                <a:lnTo>
                  <a:pt x="293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7" name="任意多边形 546"/>
          <p:cNvSpPr/>
          <p:nvPr/>
        </p:nvSpPr>
        <p:spPr>
          <a:xfrm>
            <a:off x="1795750" y="2856155"/>
            <a:ext cx="7201080" cy="952920"/>
          </a:xfrm>
          <a:custGeom>
            <a:avLst/>
            <a:gdLst/>
            <a:ahLst/>
            <a:cxnLst/>
            <a:rect l="0" t="0" r="r" b="b"/>
            <a:pathLst>
              <a:path w="20003" h="2647">
                <a:moveTo>
                  <a:pt x="0" y="0"/>
                </a:moveTo>
                <a:lnTo>
                  <a:pt x="20003" y="0"/>
                </a:lnTo>
                <a:lnTo>
                  <a:pt x="20003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8" name="任意多边形 547"/>
          <p:cNvSpPr/>
          <p:nvPr/>
        </p:nvSpPr>
        <p:spPr>
          <a:xfrm>
            <a:off x="8996470" y="2856155"/>
            <a:ext cx="2429280" cy="952920"/>
          </a:xfrm>
          <a:custGeom>
            <a:avLst/>
            <a:gdLst/>
            <a:ahLst/>
            <a:cxnLst/>
            <a:rect l="0" t="0" r="r" b="b"/>
            <a:pathLst>
              <a:path w="6748" h="2647">
                <a:moveTo>
                  <a:pt x="0" y="0"/>
                </a:moveTo>
                <a:lnTo>
                  <a:pt x="6748" y="0"/>
                </a:lnTo>
                <a:lnTo>
                  <a:pt x="674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9" name="任意多边形 548"/>
          <p:cNvSpPr/>
          <p:nvPr/>
        </p:nvSpPr>
        <p:spPr>
          <a:xfrm>
            <a:off x="738430" y="3808715"/>
            <a:ext cx="1057680" cy="962280"/>
          </a:xfrm>
          <a:custGeom>
            <a:avLst/>
            <a:gdLst/>
            <a:ahLst/>
            <a:cxnLst/>
            <a:rect l="0" t="0" r="r" b="b"/>
            <a:pathLst>
              <a:path w="2938" h="2673">
                <a:moveTo>
                  <a:pt x="0" y="0"/>
                </a:moveTo>
                <a:lnTo>
                  <a:pt x="2938" y="0"/>
                </a:lnTo>
                <a:lnTo>
                  <a:pt x="293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0" name="任意多边形 549"/>
          <p:cNvSpPr/>
          <p:nvPr/>
        </p:nvSpPr>
        <p:spPr>
          <a:xfrm>
            <a:off x="1795750" y="3808715"/>
            <a:ext cx="7201080" cy="962280"/>
          </a:xfrm>
          <a:custGeom>
            <a:avLst/>
            <a:gdLst/>
            <a:ahLst/>
            <a:cxnLst/>
            <a:rect l="0" t="0" r="r" b="b"/>
            <a:pathLst>
              <a:path w="20003" h="2673">
                <a:moveTo>
                  <a:pt x="0" y="0"/>
                </a:moveTo>
                <a:lnTo>
                  <a:pt x="20003" y="0"/>
                </a:lnTo>
                <a:lnTo>
                  <a:pt x="20003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1" name="任意多边形 550"/>
          <p:cNvSpPr/>
          <p:nvPr/>
        </p:nvSpPr>
        <p:spPr>
          <a:xfrm>
            <a:off x="8996470" y="3808715"/>
            <a:ext cx="2429280" cy="962280"/>
          </a:xfrm>
          <a:custGeom>
            <a:avLst/>
            <a:gdLst/>
            <a:ahLst/>
            <a:cxnLst/>
            <a:rect l="0" t="0" r="r" b="b"/>
            <a:pathLst>
              <a:path w="6748" h="2673">
                <a:moveTo>
                  <a:pt x="0" y="0"/>
                </a:moveTo>
                <a:lnTo>
                  <a:pt x="6748" y="0"/>
                </a:lnTo>
                <a:lnTo>
                  <a:pt x="6748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2" name="任意多边形 551"/>
          <p:cNvSpPr/>
          <p:nvPr/>
        </p:nvSpPr>
        <p:spPr>
          <a:xfrm>
            <a:off x="738430" y="136071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3" name="任意多边形 552"/>
          <p:cNvSpPr/>
          <p:nvPr/>
        </p:nvSpPr>
        <p:spPr>
          <a:xfrm>
            <a:off x="738430" y="1360715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4" name="任意多边形 553"/>
          <p:cNvSpPr/>
          <p:nvPr/>
        </p:nvSpPr>
        <p:spPr>
          <a:xfrm>
            <a:off x="1795750" y="136071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5" name="任意多边形 554"/>
          <p:cNvSpPr/>
          <p:nvPr/>
        </p:nvSpPr>
        <p:spPr>
          <a:xfrm>
            <a:off x="1805110" y="1360715"/>
            <a:ext cx="7191720" cy="9720"/>
          </a:xfrm>
          <a:custGeom>
            <a:avLst/>
            <a:gdLst/>
            <a:ahLst/>
            <a:cxnLst/>
            <a:rect l="0" t="0" r="r" b="b"/>
            <a:pathLst>
              <a:path w="19977" h="27">
                <a:moveTo>
                  <a:pt x="0" y="0"/>
                </a:moveTo>
                <a:lnTo>
                  <a:pt x="19977" y="0"/>
                </a:lnTo>
                <a:lnTo>
                  <a:pt x="199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6" name="任意多边形 555"/>
          <p:cNvSpPr/>
          <p:nvPr/>
        </p:nvSpPr>
        <p:spPr>
          <a:xfrm>
            <a:off x="8987110" y="136071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7" name="任意多边形 556"/>
          <p:cNvSpPr/>
          <p:nvPr/>
        </p:nvSpPr>
        <p:spPr>
          <a:xfrm>
            <a:off x="8996470" y="1360715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8" name="任意多边形 557"/>
          <p:cNvSpPr/>
          <p:nvPr/>
        </p:nvSpPr>
        <p:spPr>
          <a:xfrm>
            <a:off x="11425390" y="1360715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9" name="任意多边形 558"/>
          <p:cNvSpPr/>
          <p:nvPr/>
        </p:nvSpPr>
        <p:spPr>
          <a:xfrm>
            <a:off x="738430" y="1903595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0" name="任意多边形 559"/>
          <p:cNvSpPr/>
          <p:nvPr/>
        </p:nvSpPr>
        <p:spPr>
          <a:xfrm>
            <a:off x="1805110" y="1903595"/>
            <a:ext cx="7191720" cy="9720"/>
          </a:xfrm>
          <a:custGeom>
            <a:avLst/>
            <a:gdLst/>
            <a:ahLst/>
            <a:cxnLst/>
            <a:rect l="0" t="0" r="r" b="b"/>
            <a:pathLst>
              <a:path w="19977" h="27">
                <a:moveTo>
                  <a:pt x="0" y="0"/>
                </a:moveTo>
                <a:lnTo>
                  <a:pt x="19977" y="0"/>
                </a:lnTo>
                <a:lnTo>
                  <a:pt x="199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1" name="任意多边形 560"/>
          <p:cNvSpPr/>
          <p:nvPr/>
        </p:nvSpPr>
        <p:spPr>
          <a:xfrm>
            <a:off x="8996470" y="1903595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2" name="任意多边形 561"/>
          <p:cNvSpPr/>
          <p:nvPr/>
        </p:nvSpPr>
        <p:spPr>
          <a:xfrm>
            <a:off x="738430" y="191295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3" name="任意多边形 562"/>
          <p:cNvSpPr/>
          <p:nvPr/>
        </p:nvSpPr>
        <p:spPr>
          <a:xfrm>
            <a:off x="1795750" y="191295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4" name="任意多边形 563"/>
          <p:cNvSpPr/>
          <p:nvPr/>
        </p:nvSpPr>
        <p:spPr>
          <a:xfrm>
            <a:off x="8987110" y="191295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5" name="任意多边形 564"/>
          <p:cNvSpPr/>
          <p:nvPr/>
        </p:nvSpPr>
        <p:spPr>
          <a:xfrm>
            <a:off x="11425390" y="191295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6" name="任意多边形 565"/>
          <p:cNvSpPr/>
          <p:nvPr/>
        </p:nvSpPr>
        <p:spPr>
          <a:xfrm>
            <a:off x="738430" y="286551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7" name="任意多边形 566"/>
          <p:cNvSpPr/>
          <p:nvPr/>
        </p:nvSpPr>
        <p:spPr>
          <a:xfrm>
            <a:off x="738430" y="2856155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8" name="任意多边形 567"/>
          <p:cNvSpPr/>
          <p:nvPr/>
        </p:nvSpPr>
        <p:spPr>
          <a:xfrm>
            <a:off x="1795750" y="286551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9" name="任意多边形 568"/>
          <p:cNvSpPr/>
          <p:nvPr/>
        </p:nvSpPr>
        <p:spPr>
          <a:xfrm>
            <a:off x="1805110" y="2856155"/>
            <a:ext cx="7191720" cy="9720"/>
          </a:xfrm>
          <a:custGeom>
            <a:avLst/>
            <a:gdLst/>
            <a:ahLst/>
            <a:cxnLst/>
            <a:rect l="0" t="0" r="r" b="b"/>
            <a:pathLst>
              <a:path w="19977" h="27">
                <a:moveTo>
                  <a:pt x="0" y="0"/>
                </a:moveTo>
                <a:lnTo>
                  <a:pt x="19977" y="0"/>
                </a:lnTo>
                <a:lnTo>
                  <a:pt x="199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0" name="任意多边形 569"/>
          <p:cNvSpPr/>
          <p:nvPr/>
        </p:nvSpPr>
        <p:spPr>
          <a:xfrm>
            <a:off x="8987110" y="286551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1" name="任意多边形 570"/>
          <p:cNvSpPr/>
          <p:nvPr/>
        </p:nvSpPr>
        <p:spPr>
          <a:xfrm>
            <a:off x="8996470" y="2856155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2" name="任意多边形 571"/>
          <p:cNvSpPr/>
          <p:nvPr/>
        </p:nvSpPr>
        <p:spPr>
          <a:xfrm>
            <a:off x="11425390" y="2865515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3" name="任意多边形 572"/>
          <p:cNvSpPr/>
          <p:nvPr/>
        </p:nvSpPr>
        <p:spPr>
          <a:xfrm>
            <a:off x="738430" y="3818075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4" name="任意多边形 573"/>
          <p:cNvSpPr/>
          <p:nvPr/>
        </p:nvSpPr>
        <p:spPr>
          <a:xfrm>
            <a:off x="738430" y="3808715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5" name="任意多边形 574"/>
          <p:cNvSpPr/>
          <p:nvPr/>
        </p:nvSpPr>
        <p:spPr>
          <a:xfrm>
            <a:off x="1795750" y="3818075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6" name="任意多边形 575"/>
          <p:cNvSpPr/>
          <p:nvPr/>
        </p:nvSpPr>
        <p:spPr>
          <a:xfrm>
            <a:off x="1805110" y="3808715"/>
            <a:ext cx="7191720" cy="9720"/>
          </a:xfrm>
          <a:custGeom>
            <a:avLst/>
            <a:gdLst/>
            <a:ahLst/>
            <a:cxnLst/>
            <a:rect l="0" t="0" r="r" b="b"/>
            <a:pathLst>
              <a:path w="19977" h="27">
                <a:moveTo>
                  <a:pt x="0" y="0"/>
                </a:moveTo>
                <a:lnTo>
                  <a:pt x="19977" y="0"/>
                </a:lnTo>
                <a:lnTo>
                  <a:pt x="199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7" name="任意多边形 576"/>
          <p:cNvSpPr/>
          <p:nvPr/>
        </p:nvSpPr>
        <p:spPr>
          <a:xfrm>
            <a:off x="8987110" y="3818075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8" name="任意多边形 577"/>
          <p:cNvSpPr/>
          <p:nvPr/>
        </p:nvSpPr>
        <p:spPr>
          <a:xfrm>
            <a:off x="8996470" y="3808715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9" name="任意多边形 578"/>
          <p:cNvSpPr/>
          <p:nvPr/>
        </p:nvSpPr>
        <p:spPr>
          <a:xfrm>
            <a:off x="11425390" y="3818075"/>
            <a:ext cx="9720" cy="962280"/>
          </a:xfrm>
          <a:custGeom>
            <a:avLst/>
            <a:gdLst/>
            <a:ahLst/>
            <a:cxnLst/>
            <a:rect l="0" t="0" r="r" b="b"/>
            <a:pathLst>
              <a:path w="27" h="2673">
                <a:moveTo>
                  <a:pt x="0" y="0"/>
                </a:moveTo>
                <a:lnTo>
                  <a:pt x="27" y="0"/>
                </a:lnTo>
                <a:lnTo>
                  <a:pt x="27" y="2673"/>
                </a:lnTo>
                <a:lnTo>
                  <a:pt x="0" y="267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0" name="任意多边形 579"/>
          <p:cNvSpPr/>
          <p:nvPr/>
        </p:nvSpPr>
        <p:spPr>
          <a:xfrm>
            <a:off x="738430" y="4770635"/>
            <a:ext cx="1067040" cy="9720"/>
          </a:xfrm>
          <a:custGeom>
            <a:avLst/>
            <a:gdLst/>
            <a:ahLst/>
            <a:cxnLst/>
            <a:rect l="0" t="0" r="r" b="b"/>
            <a:pathLst>
              <a:path w="2964" h="27">
                <a:moveTo>
                  <a:pt x="0" y="0"/>
                </a:moveTo>
                <a:lnTo>
                  <a:pt x="2964" y="0"/>
                </a:lnTo>
                <a:lnTo>
                  <a:pt x="296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1" name="任意多边形 580"/>
          <p:cNvSpPr/>
          <p:nvPr/>
        </p:nvSpPr>
        <p:spPr>
          <a:xfrm>
            <a:off x="1805110" y="4770635"/>
            <a:ext cx="7191720" cy="9720"/>
          </a:xfrm>
          <a:custGeom>
            <a:avLst/>
            <a:gdLst/>
            <a:ahLst/>
            <a:cxnLst/>
            <a:rect l="0" t="0" r="r" b="b"/>
            <a:pathLst>
              <a:path w="19977" h="27">
                <a:moveTo>
                  <a:pt x="0" y="0"/>
                </a:moveTo>
                <a:lnTo>
                  <a:pt x="19977" y="0"/>
                </a:lnTo>
                <a:lnTo>
                  <a:pt x="1997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2" name="任意多边形 581"/>
          <p:cNvSpPr/>
          <p:nvPr/>
        </p:nvSpPr>
        <p:spPr>
          <a:xfrm>
            <a:off x="8996470" y="4770635"/>
            <a:ext cx="2438640" cy="9720"/>
          </a:xfrm>
          <a:custGeom>
            <a:avLst/>
            <a:gdLst/>
            <a:ahLst/>
            <a:cxnLst/>
            <a:rect l="0" t="0" r="r" b="b"/>
            <a:pathLst>
              <a:path w="6774" h="27">
                <a:moveTo>
                  <a:pt x="0" y="0"/>
                </a:moveTo>
                <a:lnTo>
                  <a:pt x="6774" y="0"/>
                </a:lnTo>
                <a:lnTo>
                  <a:pt x="67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3" name="任意多边形 582"/>
          <p:cNvSpPr/>
          <p:nvPr/>
        </p:nvSpPr>
        <p:spPr>
          <a:xfrm>
            <a:off x="734220" y="5240830"/>
            <a:ext cx="10687320" cy="1176480"/>
          </a:xfrm>
          <a:custGeom>
            <a:avLst/>
            <a:gdLst/>
            <a:ahLst/>
            <a:cxnLst/>
            <a:rect l="0" t="0" r="r" b="b"/>
            <a:pathLst>
              <a:path w="29687" h="3268">
                <a:moveTo>
                  <a:pt x="0" y="326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268"/>
                </a:lnTo>
                <a:lnTo>
                  <a:pt x="0" y="3268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4" name="任意多边形 583"/>
          <p:cNvSpPr/>
          <p:nvPr/>
        </p:nvSpPr>
        <p:spPr>
          <a:xfrm>
            <a:off x="734220" y="5240830"/>
            <a:ext cx="10687320" cy="1176480"/>
          </a:xfrm>
          <a:custGeom>
            <a:avLst/>
            <a:gdLst/>
            <a:ahLst/>
            <a:cxnLst/>
            <a:rect l="0" t="0" r="r" b="b"/>
            <a:pathLst>
              <a:path w="29687" h="3268">
                <a:moveTo>
                  <a:pt x="0" y="3268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4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3268"/>
                </a:lnTo>
                <a:lnTo>
                  <a:pt x="0" y="3268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5" name="文本框 584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6" name="文本框 585"/>
          <p:cNvSpPr txBox="1"/>
          <p:nvPr/>
        </p:nvSpPr>
        <p:spPr>
          <a:xfrm>
            <a:off x="1222560" y="158040"/>
            <a:ext cx="574632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并发控制⽅法（防超卖核⼼）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7" name="文本框 586"/>
          <p:cNvSpPr txBox="1"/>
          <p:nvPr/>
        </p:nvSpPr>
        <p:spPr>
          <a:xfrm>
            <a:off x="733750" y="836915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三层防护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8" name="文本框 587"/>
          <p:cNvSpPr txBox="1"/>
          <p:nvPr/>
        </p:nvSpPr>
        <p:spPr>
          <a:xfrm>
            <a:off x="1838590" y="814955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9" name="文本框 588"/>
          <p:cNvSpPr txBox="1"/>
          <p:nvPr/>
        </p:nvSpPr>
        <p:spPr>
          <a:xfrm>
            <a:off x="2182390" y="836915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具体参数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0" name="文本框 589"/>
          <p:cNvSpPr txBox="1"/>
          <p:nvPr/>
        </p:nvSpPr>
        <p:spPr>
          <a:xfrm>
            <a:off x="991150" y="14654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1" name="文本框 590"/>
          <p:cNvSpPr txBox="1"/>
          <p:nvPr/>
        </p:nvSpPr>
        <p:spPr>
          <a:xfrm>
            <a:off x="5117830" y="14654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参数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2" name="文本框 591"/>
          <p:cNvSpPr txBox="1"/>
          <p:nvPr/>
        </p:nvSpPr>
        <p:spPr>
          <a:xfrm>
            <a:off x="9932470" y="14654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防御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3" name="文本框 592"/>
          <p:cNvSpPr txBox="1"/>
          <p:nvPr/>
        </p:nvSpPr>
        <p:spPr>
          <a:xfrm>
            <a:off x="866950" y="22178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限流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4" name="文本框 593"/>
          <p:cNvSpPr txBox="1"/>
          <p:nvPr/>
        </p:nvSpPr>
        <p:spPr>
          <a:xfrm>
            <a:off x="1924990" y="2196275"/>
            <a:ext cx="1913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API:100/15min,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5" name="文本框 594"/>
          <p:cNvSpPr txBox="1"/>
          <p:nvPr/>
        </p:nvSpPr>
        <p:spPr>
          <a:xfrm>
            <a:off x="3840190" y="22178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登录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6" name="文本框 595"/>
          <p:cNvSpPr txBox="1"/>
          <p:nvPr/>
        </p:nvSpPr>
        <p:spPr>
          <a:xfrm>
            <a:off x="4392430" y="2196275"/>
            <a:ext cx="1209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:5/15min,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7" name="文本框 596"/>
          <p:cNvSpPr txBox="1"/>
          <p:nvPr/>
        </p:nvSpPr>
        <p:spPr>
          <a:xfrm>
            <a:off x="5603470" y="22178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8" name="文本框 597"/>
          <p:cNvSpPr txBox="1"/>
          <p:nvPr/>
        </p:nvSpPr>
        <p:spPr>
          <a:xfrm>
            <a:off x="6155710" y="2196275"/>
            <a:ext cx="1061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:5/1min,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9" name="文本框 598"/>
          <p:cNvSpPr txBox="1"/>
          <p:nvPr/>
        </p:nvSpPr>
        <p:spPr>
          <a:xfrm>
            <a:off x="7217710" y="22178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0" name="文本框 599"/>
          <p:cNvSpPr txBox="1"/>
          <p:nvPr/>
        </p:nvSpPr>
        <p:spPr>
          <a:xfrm>
            <a:off x="7770310" y="2196275"/>
            <a:ext cx="925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:3/1min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1" name="文本框 600"/>
          <p:cNvSpPr txBox="1"/>
          <p:nvPr/>
        </p:nvSpPr>
        <p:spPr>
          <a:xfrm>
            <a:off x="9120670" y="1986755"/>
            <a:ext cx="1035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DDoS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2" name="文本框 601"/>
          <p:cNvSpPr txBox="1"/>
          <p:nvPr/>
        </p:nvSpPr>
        <p:spPr>
          <a:xfrm>
            <a:off x="10156750" y="2008355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暴⼒破解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3" name="文本框 602"/>
          <p:cNvSpPr txBox="1"/>
          <p:nvPr/>
        </p:nvSpPr>
        <p:spPr>
          <a:xfrm>
            <a:off x="9120670" y="239643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4" name="文本框 603"/>
          <p:cNvSpPr txBox="1"/>
          <p:nvPr/>
        </p:nvSpPr>
        <p:spPr>
          <a:xfrm>
            <a:off x="9385270" y="241803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刷单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5" name="文本框 604"/>
          <p:cNvSpPr txBox="1"/>
          <p:nvPr/>
        </p:nvSpPr>
        <p:spPr>
          <a:xfrm>
            <a:off x="866950" y="296091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消息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6" name="文本框 605"/>
          <p:cNvSpPr txBox="1"/>
          <p:nvPr/>
        </p:nvSpPr>
        <p:spPr>
          <a:xfrm>
            <a:off x="866950" y="337059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队列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7" name="文本框 606"/>
          <p:cNvSpPr txBox="1"/>
          <p:nvPr/>
        </p:nvSpPr>
        <p:spPr>
          <a:xfrm>
            <a:off x="1924990" y="3148835"/>
            <a:ext cx="1672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Bull Queue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8" name="文本框 607"/>
          <p:cNvSpPr txBox="1"/>
          <p:nvPr/>
        </p:nvSpPr>
        <p:spPr>
          <a:xfrm>
            <a:off x="3599350" y="3170435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⾃动重试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9" name="文本框 608"/>
          <p:cNvSpPr txBox="1"/>
          <p:nvPr/>
        </p:nvSpPr>
        <p:spPr>
          <a:xfrm>
            <a:off x="4704190" y="314883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0" name="文本框 609"/>
          <p:cNvSpPr txBox="1"/>
          <p:nvPr/>
        </p:nvSpPr>
        <p:spPr>
          <a:xfrm>
            <a:off x="4852870" y="3170435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次（指数退避：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1" name="文本框 610"/>
          <p:cNvSpPr txBox="1"/>
          <p:nvPr/>
        </p:nvSpPr>
        <p:spPr>
          <a:xfrm>
            <a:off x="6786430" y="3148835"/>
            <a:ext cx="1274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2s→4s→8s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2" name="文本框 611"/>
          <p:cNvSpPr txBox="1"/>
          <p:nvPr/>
        </p:nvSpPr>
        <p:spPr>
          <a:xfrm>
            <a:off x="8061550" y="3170435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3" name="文本框 612"/>
          <p:cNvSpPr txBox="1"/>
          <p:nvPr/>
        </p:nvSpPr>
        <p:spPr>
          <a:xfrm>
            <a:off x="9120670" y="2960915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异步处理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4" name="文本框 613"/>
          <p:cNvSpPr txBox="1"/>
          <p:nvPr/>
        </p:nvSpPr>
        <p:spPr>
          <a:xfrm>
            <a:off x="10225510" y="2939315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5" name="文本框 614"/>
          <p:cNvSpPr txBox="1"/>
          <p:nvPr/>
        </p:nvSpPr>
        <p:spPr>
          <a:xfrm>
            <a:off x="10565710" y="296091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最终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6" name="文本框 615"/>
          <p:cNvSpPr txBox="1"/>
          <p:nvPr/>
        </p:nvSpPr>
        <p:spPr>
          <a:xfrm>
            <a:off x="9120670" y="3370595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⼀致性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7" name="文本框 616"/>
          <p:cNvSpPr txBox="1"/>
          <p:nvPr/>
        </p:nvSpPr>
        <p:spPr>
          <a:xfrm>
            <a:off x="866950" y="3913475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乐观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8" name="任意多边形 617"/>
          <p:cNvSpPr/>
          <p:nvPr/>
        </p:nvSpPr>
        <p:spPr>
          <a:xfrm>
            <a:off x="1928950" y="3922835"/>
            <a:ext cx="6125040" cy="371880"/>
          </a:xfrm>
          <a:custGeom>
            <a:avLst/>
            <a:gdLst/>
            <a:ahLst/>
            <a:cxnLst/>
            <a:rect l="0" t="0" r="r" b="b"/>
            <a:pathLst>
              <a:path w="17014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855" y="0"/>
                </a:lnTo>
                <a:cubicBezTo>
                  <a:pt x="16865" y="0"/>
                  <a:pt x="16876" y="1"/>
                  <a:pt x="16886" y="3"/>
                </a:cubicBezTo>
                <a:cubicBezTo>
                  <a:pt x="16896" y="5"/>
                  <a:pt x="16906" y="8"/>
                  <a:pt x="16916" y="12"/>
                </a:cubicBezTo>
                <a:cubicBezTo>
                  <a:pt x="16925" y="16"/>
                  <a:pt x="16934" y="21"/>
                  <a:pt x="16943" y="27"/>
                </a:cubicBezTo>
                <a:cubicBezTo>
                  <a:pt x="16952" y="33"/>
                  <a:pt x="16960" y="39"/>
                  <a:pt x="16967" y="47"/>
                </a:cubicBezTo>
                <a:cubicBezTo>
                  <a:pt x="16975" y="54"/>
                  <a:pt x="16981" y="62"/>
                  <a:pt x="16987" y="71"/>
                </a:cubicBezTo>
                <a:cubicBezTo>
                  <a:pt x="16993" y="79"/>
                  <a:pt x="16998" y="88"/>
                  <a:pt x="17002" y="98"/>
                </a:cubicBezTo>
                <a:cubicBezTo>
                  <a:pt x="17006" y="108"/>
                  <a:pt x="17009" y="118"/>
                  <a:pt x="17011" y="128"/>
                </a:cubicBezTo>
                <a:cubicBezTo>
                  <a:pt x="17013" y="138"/>
                  <a:pt x="17014" y="148"/>
                  <a:pt x="17014" y="159"/>
                </a:cubicBezTo>
                <a:lnTo>
                  <a:pt x="17014" y="874"/>
                </a:lnTo>
                <a:cubicBezTo>
                  <a:pt x="17014" y="885"/>
                  <a:pt x="17013" y="895"/>
                  <a:pt x="17011" y="905"/>
                </a:cubicBezTo>
                <a:cubicBezTo>
                  <a:pt x="17009" y="915"/>
                  <a:pt x="17006" y="925"/>
                  <a:pt x="17002" y="935"/>
                </a:cubicBezTo>
                <a:cubicBezTo>
                  <a:pt x="16998" y="945"/>
                  <a:pt x="16993" y="954"/>
                  <a:pt x="16987" y="962"/>
                </a:cubicBezTo>
                <a:cubicBezTo>
                  <a:pt x="16981" y="971"/>
                  <a:pt x="16975" y="979"/>
                  <a:pt x="16967" y="986"/>
                </a:cubicBezTo>
                <a:cubicBezTo>
                  <a:pt x="16960" y="994"/>
                  <a:pt x="16952" y="1000"/>
                  <a:pt x="16943" y="1006"/>
                </a:cubicBezTo>
                <a:cubicBezTo>
                  <a:pt x="16934" y="1012"/>
                  <a:pt x="16925" y="1017"/>
                  <a:pt x="16916" y="1021"/>
                </a:cubicBezTo>
                <a:cubicBezTo>
                  <a:pt x="16906" y="1025"/>
                  <a:pt x="16896" y="1028"/>
                  <a:pt x="16886" y="1030"/>
                </a:cubicBezTo>
                <a:cubicBezTo>
                  <a:pt x="16876" y="1032"/>
                  <a:pt x="16865" y="1033"/>
                  <a:pt x="16855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19" name="文本框 618"/>
          <p:cNvSpPr txBox="1"/>
          <p:nvPr/>
        </p:nvSpPr>
        <p:spPr>
          <a:xfrm>
            <a:off x="866950" y="4332515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0" name="文本框 619"/>
          <p:cNvSpPr txBox="1"/>
          <p:nvPr/>
        </p:nvSpPr>
        <p:spPr>
          <a:xfrm>
            <a:off x="2018950" y="4014635"/>
            <a:ext cx="59364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updateOne({rooms.quantity:{$gte:qty}}, {$inc})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1" name="文本框 620"/>
          <p:cNvSpPr txBox="1"/>
          <p:nvPr/>
        </p:nvSpPr>
        <p:spPr>
          <a:xfrm>
            <a:off x="8051110" y="3891515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2" name="文本框 621"/>
          <p:cNvSpPr txBox="1"/>
          <p:nvPr/>
        </p:nvSpPr>
        <p:spPr>
          <a:xfrm>
            <a:off x="8391310" y="3913475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检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3" name="文本框 622"/>
          <p:cNvSpPr txBox="1"/>
          <p:nvPr/>
        </p:nvSpPr>
        <p:spPr>
          <a:xfrm>
            <a:off x="1924990" y="4332515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4" name="任意多边形 623"/>
          <p:cNvSpPr/>
          <p:nvPr/>
        </p:nvSpPr>
        <p:spPr>
          <a:xfrm>
            <a:off x="2281390" y="4341875"/>
            <a:ext cx="1857600" cy="371880"/>
          </a:xfrm>
          <a:custGeom>
            <a:avLst/>
            <a:gdLst/>
            <a:ahLst/>
            <a:cxnLst/>
            <a:rect l="0" t="0" r="r" b="b"/>
            <a:pathLst>
              <a:path w="5160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6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5002" y="0"/>
                </a:lnTo>
                <a:cubicBezTo>
                  <a:pt x="5012" y="0"/>
                  <a:pt x="5022" y="1"/>
                  <a:pt x="5033" y="3"/>
                </a:cubicBezTo>
                <a:cubicBezTo>
                  <a:pt x="5043" y="5"/>
                  <a:pt x="5053" y="8"/>
                  <a:pt x="5062" y="12"/>
                </a:cubicBezTo>
                <a:cubicBezTo>
                  <a:pt x="5072" y="16"/>
                  <a:pt x="5081" y="21"/>
                  <a:pt x="5090" y="27"/>
                </a:cubicBezTo>
                <a:cubicBezTo>
                  <a:pt x="5098" y="33"/>
                  <a:pt x="5106" y="39"/>
                  <a:pt x="5114" y="47"/>
                </a:cubicBezTo>
                <a:cubicBezTo>
                  <a:pt x="5121" y="54"/>
                  <a:pt x="5128" y="62"/>
                  <a:pt x="5134" y="71"/>
                </a:cubicBezTo>
                <a:cubicBezTo>
                  <a:pt x="5139" y="79"/>
                  <a:pt x="5144" y="89"/>
                  <a:pt x="5148" y="98"/>
                </a:cubicBezTo>
                <a:cubicBezTo>
                  <a:pt x="5152" y="108"/>
                  <a:pt x="5155" y="118"/>
                  <a:pt x="5157" y="128"/>
                </a:cubicBezTo>
                <a:cubicBezTo>
                  <a:pt x="5159" y="138"/>
                  <a:pt x="5160" y="149"/>
                  <a:pt x="5160" y="159"/>
                </a:cubicBezTo>
                <a:lnTo>
                  <a:pt x="5160" y="874"/>
                </a:lnTo>
                <a:cubicBezTo>
                  <a:pt x="5160" y="885"/>
                  <a:pt x="5159" y="895"/>
                  <a:pt x="5157" y="905"/>
                </a:cubicBezTo>
                <a:cubicBezTo>
                  <a:pt x="5155" y="916"/>
                  <a:pt x="5152" y="925"/>
                  <a:pt x="5148" y="935"/>
                </a:cubicBezTo>
                <a:cubicBezTo>
                  <a:pt x="5144" y="945"/>
                  <a:pt x="5139" y="954"/>
                  <a:pt x="5134" y="963"/>
                </a:cubicBezTo>
                <a:cubicBezTo>
                  <a:pt x="5128" y="971"/>
                  <a:pt x="5121" y="979"/>
                  <a:pt x="5114" y="987"/>
                </a:cubicBezTo>
                <a:cubicBezTo>
                  <a:pt x="5106" y="994"/>
                  <a:pt x="5098" y="1001"/>
                  <a:pt x="5090" y="1006"/>
                </a:cubicBezTo>
                <a:cubicBezTo>
                  <a:pt x="5081" y="1012"/>
                  <a:pt x="5072" y="1017"/>
                  <a:pt x="5062" y="1021"/>
                </a:cubicBezTo>
                <a:cubicBezTo>
                  <a:pt x="5053" y="1025"/>
                  <a:pt x="5043" y="1028"/>
                  <a:pt x="5033" y="1030"/>
                </a:cubicBezTo>
                <a:cubicBezTo>
                  <a:pt x="5022" y="1032"/>
                  <a:pt x="5012" y="1033"/>
                  <a:pt x="5002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1"/>
                  <a:pt x="54" y="994"/>
                  <a:pt x="46" y="987"/>
                </a:cubicBezTo>
                <a:cubicBezTo>
                  <a:pt x="39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5" name="文本框 624"/>
          <p:cNvSpPr txBox="1"/>
          <p:nvPr/>
        </p:nvSpPr>
        <p:spPr>
          <a:xfrm>
            <a:off x="2201110" y="4310915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6" name="文本框 625"/>
          <p:cNvSpPr txBox="1"/>
          <p:nvPr/>
        </p:nvSpPr>
        <p:spPr>
          <a:xfrm>
            <a:off x="2371030" y="4433675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modifiedCount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7" name="文本框 626"/>
          <p:cNvSpPr txBox="1"/>
          <p:nvPr/>
        </p:nvSpPr>
        <p:spPr>
          <a:xfrm>
            <a:off x="9120670" y="4122995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并发扣减冲突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8" name="文本框 627"/>
          <p:cNvSpPr txBox="1"/>
          <p:nvPr/>
        </p:nvSpPr>
        <p:spPr>
          <a:xfrm>
            <a:off x="733750" y="4869195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核⼼架构（异步最终⼀致性）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9" name="文本框 628"/>
          <p:cNvSpPr txBox="1"/>
          <p:nvPr/>
        </p:nvSpPr>
        <p:spPr>
          <a:xfrm>
            <a:off x="891540" y="5420110"/>
            <a:ext cx="2419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0" name="文本框 629"/>
          <p:cNvSpPr txBox="1"/>
          <p:nvPr/>
        </p:nvSpPr>
        <p:spPr>
          <a:xfrm>
            <a:off x="1132380" y="5403190"/>
            <a:ext cx="131760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支付流程：快速响应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1" name="文本框 630"/>
          <p:cNvSpPr txBox="1"/>
          <p:nvPr/>
        </p:nvSpPr>
        <p:spPr>
          <a:xfrm>
            <a:off x="2445660" y="5420110"/>
            <a:ext cx="24192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+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2" name="文本框 631"/>
          <p:cNvSpPr txBox="1"/>
          <p:nvPr/>
        </p:nvSpPr>
        <p:spPr>
          <a:xfrm>
            <a:off x="2686500" y="5403190"/>
            <a:ext cx="5860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异步处理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3" name="文本框 632"/>
          <p:cNvSpPr txBox="1"/>
          <p:nvPr/>
        </p:nvSpPr>
        <p:spPr>
          <a:xfrm>
            <a:off x="891540" y="5585710"/>
            <a:ext cx="378108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953800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exports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.completePayment = </a:t>
            </a:r>
            <a:r>
              <a:rPr lang="en-US" sz="11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async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(req, res) =&gt; {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4" name="文本框 633"/>
          <p:cNvSpPr txBox="1"/>
          <p:nvPr/>
        </p:nvSpPr>
        <p:spPr>
          <a:xfrm>
            <a:off x="891540" y="5757430"/>
            <a:ext cx="56376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1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1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5" name="文本框 634"/>
          <p:cNvSpPr txBox="1"/>
          <p:nvPr/>
        </p:nvSpPr>
        <p:spPr>
          <a:xfrm>
            <a:off x="1453140" y="5740510"/>
            <a:ext cx="16099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快速标记订单为已支付（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6" name="文本框 635"/>
          <p:cNvSpPr txBox="1"/>
          <p:nvPr/>
        </p:nvSpPr>
        <p:spPr>
          <a:xfrm>
            <a:off x="3058740" y="5757430"/>
            <a:ext cx="4028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&lt;50ms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7" name="文本框 636"/>
          <p:cNvSpPr txBox="1"/>
          <p:nvPr/>
        </p:nvSpPr>
        <p:spPr>
          <a:xfrm>
            <a:off x="3460140" y="5740510"/>
            <a:ext cx="14688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1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）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8" name="文本框 637"/>
          <p:cNvSpPr txBox="1"/>
          <p:nvPr/>
        </p:nvSpPr>
        <p:spPr>
          <a:xfrm>
            <a:off x="891540" y="5923390"/>
            <a:ext cx="19310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order.status = </a:t>
            </a:r>
            <a:r>
              <a:rPr lang="en-US" sz="11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'paid'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39" name="文本框 638"/>
          <p:cNvSpPr txBox="1"/>
          <p:nvPr/>
        </p:nvSpPr>
        <p:spPr>
          <a:xfrm>
            <a:off x="891540" y="6088990"/>
            <a:ext cx="24944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order.paymentStatus = </a:t>
            </a:r>
            <a:r>
              <a:rPr lang="en-US" sz="11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'paid'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0" name="文本框 639"/>
          <p:cNvSpPr txBox="1"/>
          <p:nvPr/>
        </p:nvSpPr>
        <p:spPr>
          <a:xfrm>
            <a:off x="891540" y="6260710"/>
            <a:ext cx="1689840" cy="14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1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await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order.</a:t>
            </a:r>
            <a:r>
              <a:rPr lang="en-US" sz="11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save</a:t>
            </a:r>
            <a:r>
              <a:rPr lang="en-US" sz="11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();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1" name="文本框 640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任意多边形 6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3" name="任意多边形 64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4" name="任意多边形 64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5" name="文本框 644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6.5.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6" name="文本框 645"/>
          <p:cNvSpPr txBox="1"/>
          <p:nvPr/>
        </p:nvSpPr>
        <p:spPr>
          <a:xfrm>
            <a:off x="1574280" y="1580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并发防护流程图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7" name="任意多边形 646"/>
          <p:cNvSpPr/>
          <p:nvPr/>
        </p:nvSpPr>
        <p:spPr>
          <a:xfrm>
            <a:off x="4928400" y="199800"/>
            <a:ext cx="249120" cy="249120"/>
          </a:xfrm>
          <a:custGeom>
            <a:avLst/>
            <a:gdLst/>
            <a:ahLst/>
            <a:cxnLst/>
            <a:rect l="0" t="0" r="r" b="b"/>
            <a:pathLst>
              <a:path w="692" h="692">
                <a:moveTo>
                  <a:pt x="346" y="0"/>
                </a:moveTo>
                <a:cubicBezTo>
                  <a:pt x="155" y="0"/>
                  <a:pt x="0" y="155"/>
                  <a:pt x="0" y="346"/>
                </a:cubicBezTo>
                <a:lnTo>
                  <a:pt x="0" y="692"/>
                </a:lnTo>
                <a:lnTo>
                  <a:pt x="138" y="692"/>
                </a:lnTo>
                <a:lnTo>
                  <a:pt x="138" y="346"/>
                </a:lnTo>
                <a:cubicBezTo>
                  <a:pt x="138" y="332"/>
                  <a:pt x="140" y="318"/>
                  <a:pt x="142" y="305"/>
                </a:cubicBezTo>
                <a:cubicBezTo>
                  <a:pt x="145" y="292"/>
                  <a:pt x="149" y="279"/>
                  <a:pt x="154" y="266"/>
                </a:cubicBezTo>
                <a:cubicBezTo>
                  <a:pt x="159" y="254"/>
                  <a:pt x="166" y="242"/>
                  <a:pt x="173" y="230"/>
                </a:cubicBezTo>
                <a:cubicBezTo>
                  <a:pt x="181" y="219"/>
                  <a:pt x="189" y="209"/>
                  <a:pt x="199" y="199"/>
                </a:cubicBezTo>
                <a:cubicBezTo>
                  <a:pt x="209" y="189"/>
                  <a:pt x="219" y="181"/>
                  <a:pt x="230" y="173"/>
                </a:cubicBezTo>
                <a:cubicBezTo>
                  <a:pt x="242" y="166"/>
                  <a:pt x="254" y="159"/>
                  <a:pt x="266" y="154"/>
                </a:cubicBezTo>
                <a:cubicBezTo>
                  <a:pt x="279" y="149"/>
                  <a:pt x="292" y="145"/>
                  <a:pt x="305" y="142"/>
                </a:cubicBezTo>
                <a:cubicBezTo>
                  <a:pt x="319" y="140"/>
                  <a:pt x="332" y="138"/>
                  <a:pt x="346" y="138"/>
                </a:cubicBezTo>
                <a:cubicBezTo>
                  <a:pt x="359" y="138"/>
                  <a:pt x="373" y="140"/>
                  <a:pt x="386" y="142"/>
                </a:cubicBezTo>
                <a:cubicBezTo>
                  <a:pt x="399" y="145"/>
                  <a:pt x="412" y="149"/>
                  <a:pt x="425" y="154"/>
                </a:cubicBezTo>
                <a:cubicBezTo>
                  <a:pt x="438" y="159"/>
                  <a:pt x="449" y="166"/>
                  <a:pt x="462" y="173"/>
                </a:cubicBezTo>
                <a:cubicBezTo>
                  <a:pt x="473" y="181"/>
                  <a:pt x="484" y="189"/>
                  <a:pt x="493" y="199"/>
                </a:cubicBezTo>
                <a:cubicBezTo>
                  <a:pt x="503" y="209"/>
                  <a:pt x="511" y="219"/>
                  <a:pt x="519" y="230"/>
                </a:cubicBezTo>
                <a:cubicBezTo>
                  <a:pt x="527" y="242"/>
                  <a:pt x="533" y="254"/>
                  <a:pt x="538" y="266"/>
                </a:cubicBezTo>
                <a:cubicBezTo>
                  <a:pt x="543" y="279"/>
                  <a:pt x="547" y="292"/>
                  <a:pt x="550" y="305"/>
                </a:cubicBezTo>
                <a:cubicBezTo>
                  <a:pt x="553" y="318"/>
                  <a:pt x="554" y="332"/>
                  <a:pt x="554" y="346"/>
                </a:cubicBezTo>
                <a:lnTo>
                  <a:pt x="554" y="692"/>
                </a:lnTo>
                <a:lnTo>
                  <a:pt x="692" y="692"/>
                </a:lnTo>
                <a:lnTo>
                  <a:pt x="692" y="346"/>
                </a:lnTo>
                <a:cubicBezTo>
                  <a:pt x="692" y="155"/>
                  <a:pt x="537" y="0"/>
                  <a:pt x="346" y="0"/>
                </a:cubicBezTo>
                <a:close/>
              </a:path>
            </a:pathLst>
          </a:custGeom>
          <a:solidFill>
            <a:srgbClr val="AAB8C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8" name="任意多边形 647"/>
          <p:cNvSpPr/>
          <p:nvPr/>
        </p:nvSpPr>
        <p:spPr>
          <a:xfrm>
            <a:off x="4878720" y="374040"/>
            <a:ext cx="348480" cy="273960"/>
          </a:xfrm>
          <a:custGeom>
            <a:avLst/>
            <a:gdLst/>
            <a:ahLst/>
            <a:cxnLst/>
            <a:rect l="0" t="0" r="r" b="b"/>
            <a:pathLst>
              <a:path w="968" h="761">
                <a:moveTo>
                  <a:pt x="968" y="622"/>
                </a:moveTo>
                <a:cubicBezTo>
                  <a:pt x="968" y="641"/>
                  <a:pt x="965" y="658"/>
                  <a:pt x="958" y="675"/>
                </a:cubicBezTo>
                <a:cubicBezTo>
                  <a:pt x="951" y="692"/>
                  <a:pt x="941" y="707"/>
                  <a:pt x="928" y="720"/>
                </a:cubicBezTo>
                <a:cubicBezTo>
                  <a:pt x="915" y="733"/>
                  <a:pt x="900" y="743"/>
                  <a:pt x="883" y="750"/>
                </a:cubicBezTo>
                <a:cubicBezTo>
                  <a:pt x="866" y="757"/>
                  <a:pt x="848" y="761"/>
                  <a:pt x="830" y="761"/>
                </a:cubicBezTo>
                <a:lnTo>
                  <a:pt x="138" y="761"/>
                </a:lnTo>
                <a:cubicBezTo>
                  <a:pt x="120" y="761"/>
                  <a:pt x="102" y="757"/>
                  <a:pt x="85" y="750"/>
                </a:cubicBezTo>
                <a:cubicBezTo>
                  <a:pt x="68" y="743"/>
                  <a:pt x="53" y="733"/>
                  <a:pt x="41" y="720"/>
                </a:cubicBezTo>
                <a:cubicBezTo>
                  <a:pt x="28" y="707"/>
                  <a:pt x="18" y="692"/>
                  <a:pt x="11" y="675"/>
                </a:cubicBezTo>
                <a:cubicBezTo>
                  <a:pt x="4" y="658"/>
                  <a:pt x="0" y="641"/>
                  <a:pt x="0" y="622"/>
                </a:cubicBezTo>
                <a:lnTo>
                  <a:pt x="0" y="139"/>
                </a:lnTo>
                <a:cubicBezTo>
                  <a:pt x="0" y="121"/>
                  <a:pt x="4" y="103"/>
                  <a:pt x="11" y="85"/>
                </a:cubicBezTo>
                <a:cubicBezTo>
                  <a:pt x="18" y="68"/>
                  <a:pt x="28" y="53"/>
                  <a:pt x="41" y="40"/>
                </a:cubicBezTo>
                <a:cubicBezTo>
                  <a:pt x="53" y="27"/>
                  <a:pt x="68" y="17"/>
                  <a:pt x="85" y="10"/>
                </a:cubicBezTo>
                <a:cubicBezTo>
                  <a:pt x="102" y="3"/>
                  <a:pt x="120" y="0"/>
                  <a:pt x="138" y="0"/>
                </a:cubicBezTo>
                <a:lnTo>
                  <a:pt x="830" y="0"/>
                </a:lnTo>
                <a:cubicBezTo>
                  <a:pt x="848" y="0"/>
                  <a:pt x="866" y="3"/>
                  <a:pt x="883" y="10"/>
                </a:cubicBezTo>
                <a:cubicBezTo>
                  <a:pt x="900" y="17"/>
                  <a:pt x="915" y="27"/>
                  <a:pt x="928" y="40"/>
                </a:cubicBezTo>
                <a:cubicBezTo>
                  <a:pt x="941" y="53"/>
                  <a:pt x="951" y="68"/>
                  <a:pt x="958" y="85"/>
                </a:cubicBezTo>
                <a:cubicBezTo>
                  <a:pt x="965" y="103"/>
                  <a:pt x="968" y="121"/>
                  <a:pt x="968" y="139"/>
                </a:cubicBezTo>
                <a:lnTo>
                  <a:pt x="968" y="622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49" name="文本框 648"/>
          <p:cNvSpPr txBox="1"/>
          <p:nvPr/>
        </p:nvSpPr>
        <p:spPr>
          <a:xfrm>
            <a:off x="466812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50" name="图片 649"/>
          <p:cNvPicPr/>
          <p:nvPr/>
        </p:nvPicPr>
        <p:blipFill>
          <a:blip r:embed="rId1"/>
          <a:stretch>
            <a:fillRect/>
          </a:stretch>
        </p:blipFill>
        <p:spPr>
          <a:xfrm>
            <a:off x="752400" y="1542960"/>
            <a:ext cx="10696320" cy="457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文本框 650"/>
          <p:cNvSpPr txBox="1"/>
          <p:nvPr/>
        </p:nvSpPr>
        <p:spPr>
          <a:xfrm>
            <a:off x="747720" y="10191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下单时的完整防护链路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2" name="文本框 651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任意多边形 65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4" name="任意多边形 6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5" name="任意多边形 6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6" name="任意多边形 655"/>
          <p:cNvSpPr/>
          <p:nvPr/>
        </p:nvSpPr>
        <p:spPr>
          <a:xfrm>
            <a:off x="757080" y="2452680"/>
            <a:ext cx="10687320" cy="2752920"/>
          </a:xfrm>
          <a:custGeom>
            <a:avLst/>
            <a:gdLst/>
            <a:ahLst/>
            <a:cxnLst/>
            <a:rect l="0" t="0" r="r" b="b"/>
            <a:pathLst>
              <a:path w="29687" h="7647">
                <a:moveTo>
                  <a:pt x="0" y="7501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7501"/>
                </a:lnTo>
                <a:cubicBezTo>
                  <a:pt x="29687" y="7511"/>
                  <a:pt x="29686" y="7520"/>
                  <a:pt x="29684" y="7530"/>
                </a:cubicBezTo>
                <a:cubicBezTo>
                  <a:pt x="29683" y="7539"/>
                  <a:pt x="29680" y="7548"/>
                  <a:pt x="29676" y="7557"/>
                </a:cubicBezTo>
                <a:cubicBezTo>
                  <a:pt x="29672" y="7566"/>
                  <a:pt x="29668" y="7574"/>
                  <a:pt x="29663" y="7582"/>
                </a:cubicBezTo>
                <a:cubicBezTo>
                  <a:pt x="29657" y="7590"/>
                  <a:pt x="29651" y="7598"/>
                  <a:pt x="29645" y="7604"/>
                </a:cubicBezTo>
                <a:cubicBezTo>
                  <a:pt x="29638" y="7611"/>
                  <a:pt x="29630" y="7617"/>
                  <a:pt x="29623" y="7622"/>
                </a:cubicBezTo>
                <a:cubicBezTo>
                  <a:pt x="29615" y="7628"/>
                  <a:pt x="29606" y="7632"/>
                  <a:pt x="29597" y="7636"/>
                </a:cubicBezTo>
                <a:cubicBezTo>
                  <a:pt x="29589" y="7640"/>
                  <a:pt x="29579" y="7642"/>
                  <a:pt x="29570" y="7644"/>
                </a:cubicBezTo>
                <a:cubicBezTo>
                  <a:pt x="29561" y="7646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6"/>
                  <a:pt x="117" y="7644"/>
                </a:cubicBezTo>
                <a:cubicBezTo>
                  <a:pt x="108" y="7642"/>
                  <a:pt x="99" y="7640"/>
                  <a:pt x="90" y="7636"/>
                </a:cubicBezTo>
                <a:cubicBezTo>
                  <a:pt x="81" y="7632"/>
                  <a:pt x="73" y="7628"/>
                  <a:pt x="65" y="7622"/>
                </a:cubicBezTo>
                <a:cubicBezTo>
                  <a:pt x="57" y="7617"/>
                  <a:pt x="49" y="7611"/>
                  <a:pt x="43" y="7604"/>
                </a:cubicBezTo>
                <a:cubicBezTo>
                  <a:pt x="36" y="7598"/>
                  <a:pt x="30" y="7590"/>
                  <a:pt x="24" y="7582"/>
                </a:cubicBezTo>
                <a:cubicBezTo>
                  <a:pt x="19" y="7574"/>
                  <a:pt x="15" y="7566"/>
                  <a:pt x="11" y="7557"/>
                </a:cubicBezTo>
                <a:cubicBezTo>
                  <a:pt x="7" y="7548"/>
                  <a:pt x="5" y="7539"/>
                  <a:pt x="3" y="7530"/>
                </a:cubicBezTo>
                <a:cubicBezTo>
                  <a:pt x="1" y="7520"/>
                  <a:pt x="0" y="7511"/>
                  <a:pt x="0" y="75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7" name="任意多边形 656"/>
          <p:cNvSpPr/>
          <p:nvPr/>
        </p:nvSpPr>
        <p:spPr>
          <a:xfrm>
            <a:off x="757080" y="2452680"/>
            <a:ext cx="10687320" cy="2752920"/>
          </a:xfrm>
          <a:custGeom>
            <a:avLst/>
            <a:gdLst/>
            <a:ahLst/>
            <a:cxnLst/>
            <a:rect l="0" t="0" r="r" b="b"/>
            <a:pathLst>
              <a:path w="29687" h="7647">
                <a:moveTo>
                  <a:pt x="0" y="7501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7501"/>
                </a:lnTo>
                <a:cubicBezTo>
                  <a:pt x="29687" y="7511"/>
                  <a:pt x="29686" y="7520"/>
                  <a:pt x="29684" y="7530"/>
                </a:cubicBezTo>
                <a:cubicBezTo>
                  <a:pt x="29683" y="7539"/>
                  <a:pt x="29680" y="7548"/>
                  <a:pt x="29676" y="7557"/>
                </a:cubicBezTo>
                <a:cubicBezTo>
                  <a:pt x="29672" y="7566"/>
                  <a:pt x="29668" y="7574"/>
                  <a:pt x="29663" y="7582"/>
                </a:cubicBezTo>
                <a:cubicBezTo>
                  <a:pt x="29657" y="7590"/>
                  <a:pt x="29651" y="7598"/>
                  <a:pt x="29645" y="7604"/>
                </a:cubicBezTo>
                <a:cubicBezTo>
                  <a:pt x="29638" y="7611"/>
                  <a:pt x="29630" y="7617"/>
                  <a:pt x="29623" y="7622"/>
                </a:cubicBezTo>
                <a:cubicBezTo>
                  <a:pt x="29615" y="7628"/>
                  <a:pt x="29606" y="7632"/>
                  <a:pt x="29597" y="7636"/>
                </a:cubicBezTo>
                <a:cubicBezTo>
                  <a:pt x="29589" y="7640"/>
                  <a:pt x="29579" y="7642"/>
                  <a:pt x="29570" y="7644"/>
                </a:cubicBezTo>
                <a:cubicBezTo>
                  <a:pt x="29561" y="7646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6"/>
                  <a:pt x="117" y="7644"/>
                </a:cubicBezTo>
                <a:cubicBezTo>
                  <a:pt x="108" y="7642"/>
                  <a:pt x="99" y="7640"/>
                  <a:pt x="90" y="7636"/>
                </a:cubicBezTo>
                <a:cubicBezTo>
                  <a:pt x="81" y="7632"/>
                  <a:pt x="73" y="7628"/>
                  <a:pt x="65" y="7622"/>
                </a:cubicBezTo>
                <a:cubicBezTo>
                  <a:pt x="57" y="7617"/>
                  <a:pt x="49" y="7611"/>
                  <a:pt x="43" y="7604"/>
                </a:cubicBezTo>
                <a:cubicBezTo>
                  <a:pt x="36" y="7598"/>
                  <a:pt x="30" y="7590"/>
                  <a:pt x="24" y="7582"/>
                </a:cubicBezTo>
                <a:cubicBezTo>
                  <a:pt x="19" y="7574"/>
                  <a:pt x="15" y="7566"/>
                  <a:pt x="11" y="7557"/>
                </a:cubicBezTo>
                <a:cubicBezTo>
                  <a:pt x="7" y="7548"/>
                  <a:pt x="5" y="7539"/>
                  <a:pt x="3" y="7530"/>
                </a:cubicBezTo>
                <a:cubicBezTo>
                  <a:pt x="1" y="7520"/>
                  <a:pt x="0" y="7511"/>
                  <a:pt x="0" y="750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8" name="文本框 657"/>
          <p:cNvSpPr txBox="1"/>
          <p:nvPr/>
        </p:nvSpPr>
        <p:spPr>
          <a:xfrm>
            <a:off x="747720" y="102816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6.6.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9" name="文本框 658"/>
          <p:cNvSpPr txBox="1"/>
          <p:nvPr/>
        </p:nvSpPr>
        <p:spPr>
          <a:xfrm>
            <a:off x="1575720" y="1063080"/>
            <a:ext cx="35362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并发防护效果验证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0" name="任意多边形 659"/>
          <p:cNvSpPr/>
          <p:nvPr/>
        </p:nvSpPr>
        <p:spPr>
          <a:xfrm>
            <a:off x="5301000" y="1128960"/>
            <a:ext cx="389880" cy="389880"/>
          </a:xfrm>
          <a:custGeom>
            <a:avLst/>
            <a:gdLst/>
            <a:ahLst/>
            <a:cxnLst/>
            <a:rect l="0" t="0" r="r" b="b"/>
            <a:pathLst>
              <a:path w="1083" h="1083">
                <a:moveTo>
                  <a:pt x="981" y="0"/>
                </a:moveTo>
                <a:lnTo>
                  <a:pt x="101" y="0"/>
                </a:lnTo>
                <a:cubicBezTo>
                  <a:pt x="45" y="0"/>
                  <a:pt x="0" y="46"/>
                  <a:pt x="0" y="102"/>
                </a:cubicBezTo>
                <a:lnTo>
                  <a:pt x="0" y="982"/>
                </a:lnTo>
                <a:cubicBezTo>
                  <a:pt x="0" y="1038"/>
                  <a:pt x="45" y="1083"/>
                  <a:pt x="101" y="1083"/>
                </a:cubicBezTo>
                <a:lnTo>
                  <a:pt x="981" y="1083"/>
                </a:lnTo>
                <a:cubicBezTo>
                  <a:pt x="1037" y="1083"/>
                  <a:pt x="1083" y="1038"/>
                  <a:pt x="1083" y="982"/>
                </a:cubicBezTo>
                <a:lnTo>
                  <a:pt x="1083" y="102"/>
                </a:lnTo>
                <a:cubicBezTo>
                  <a:pt x="1083" y="46"/>
                  <a:pt x="1037" y="0"/>
                  <a:pt x="981" y="0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1" name="任意多边形 660"/>
          <p:cNvSpPr/>
          <p:nvPr/>
        </p:nvSpPr>
        <p:spPr>
          <a:xfrm>
            <a:off x="5288760" y="1116720"/>
            <a:ext cx="414360" cy="414360"/>
          </a:xfrm>
          <a:custGeom>
            <a:avLst/>
            <a:gdLst/>
            <a:ahLst/>
            <a:cxnLst/>
            <a:rect l="0" t="0" r="r" b="b"/>
            <a:pathLst>
              <a:path w="1151" h="1151">
                <a:moveTo>
                  <a:pt x="1015" y="0"/>
                </a:moveTo>
                <a:lnTo>
                  <a:pt x="135" y="0"/>
                </a:lnTo>
                <a:cubicBezTo>
                  <a:pt x="61" y="0"/>
                  <a:pt x="0" y="61"/>
                  <a:pt x="0" y="136"/>
                </a:cubicBezTo>
                <a:lnTo>
                  <a:pt x="0" y="1016"/>
                </a:lnTo>
                <a:cubicBezTo>
                  <a:pt x="0" y="1090"/>
                  <a:pt x="61" y="1151"/>
                  <a:pt x="135" y="1151"/>
                </a:cubicBezTo>
                <a:lnTo>
                  <a:pt x="1015" y="1151"/>
                </a:lnTo>
                <a:cubicBezTo>
                  <a:pt x="1090" y="1151"/>
                  <a:pt x="1151" y="1090"/>
                  <a:pt x="1151" y="1016"/>
                </a:cubicBezTo>
                <a:lnTo>
                  <a:pt x="1151" y="136"/>
                </a:lnTo>
                <a:cubicBezTo>
                  <a:pt x="1151" y="61"/>
                  <a:pt x="1090" y="0"/>
                  <a:pt x="1015" y="0"/>
                </a:cubicBezTo>
                <a:moveTo>
                  <a:pt x="1015" y="68"/>
                </a:moveTo>
                <a:cubicBezTo>
                  <a:pt x="1053" y="68"/>
                  <a:pt x="1083" y="98"/>
                  <a:pt x="1083" y="136"/>
                </a:cubicBezTo>
                <a:lnTo>
                  <a:pt x="1083" y="271"/>
                </a:lnTo>
                <a:lnTo>
                  <a:pt x="880" y="271"/>
                </a:lnTo>
                <a:lnTo>
                  <a:pt x="880" y="68"/>
                </a:lnTo>
                <a:lnTo>
                  <a:pt x="1015" y="68"/>
                </a:lnTo>
                <a:moveTo>
                  <a:pt x="880" y="609"/>
                </a:moveTo>
                <a:lnTo>
                  <a:pt x="1083" y="609"/>
                </a:lnTo>
                <a:lnTo>
                  <a:pt x="1083" y="812"/>
                </a:lnTo>
                <a:lnTo>
                  <a:pt x="880" y="812"/>
                </a:lnTo>
                <a:lnTo>
                  <a:pt x="880" y="609"/>
                </a:lnTo>
                <a:moveTo>
                  <a:pt x="880" y="541"/>
                </a:moveTo>
                <a:lnTo>
                  <a:pt x="880" y="339"/>
                </a:lnTo>
                <a:lnTo>
                  <a:pt x="1083" y="339"/>
                </a:lnTo>
                <a:lnTo>
                  <a:pt x="1083" y="541"/>
                </a:lnTo>
                <a:lnTo>
                  <a:pt x="880" y="541"/>
                </a:lnTo>
                <a:moveTo>
                  <a:pt x="812" y="68"/>
                </a:moveTo>
                <a:lnTo>
                  <a:pt x="812" y="271"/>
                </a:lnTo>
                <a:lnTo>
                  <a:pt x="609" y="271"/>
                </a:lnTo>
                <a:lnTo>
                  <a:pt x="609" y="68"/>
                </a:lnTo>
                <a:lnTo>
                  <a:pt x="812" y="68"/>
                </a:lnTo>
                <a:moveTo>
                  <a:pt x="609" y="339"/>
                </a:moveTo>
                <a:lnTo>
                  <a:pt x="812" y="339"/>
                </a:lnTo>
                <a:lnTo>
                  <a:pt x="812" y="541"/>
                </a:lnTo>
                <a:lnTo>
                  <a:pt x="609" y="541"/>
                </a:lnTo>
                <a:lnTo>
                  <a:pt x="609" y="339"/>
                </a:lnTo>
                <a:moveTo>
                  <a:pt x="609" y="609"/>
                </a:moveTo>
                <a:lnTo>
                  <a:pt x="812" y="609"/>
                </a:lnTo>
                <a:lnTo>
                  <a:pt x="812" y="812"/>
                </a:lnTo>
                <a:lnTo>
                  <a:pt x="609" y="812"/>
                </a:lnTo>
                <a:lnTo>
                  <a:pt x="609" y="609"/>
                </a:lnTo>
                <a:moveTo>
                  <a:pt x="541" y="68"/>
                </a:moveTo>
                <a:lnTo>
                  <a:pt x="541" y="271"/>
                </a:lnTo>
                <a:lnTo>
                  <a:pt x="338" y="271"/>
                </a:lnTo>
                <a:lnTo>
                  <a:pt x="338" y="68"/>
                </a:lnTo>
                <a:lnTo>
                  <a:pt x="541" y="68"/>
                </a:lnTo>
                <a:moveTo>
                  <a:pt x="338" y="339"/>
                </a:moveTo>
                <a:lnTo>
                  <a:pt x="541" y="339"/>
                </a:lnTo>
                <a:lnTo>
                  <a:pt x="541" y="541"/>
                </a:lnTo>
                <a:lnTo>
                  <a:pt x="338" y="541"/>
                </a:lnTo>
                <a:lnTo>
                  <a:pt x="338" y="339"/>
                </a:lnTo>
                <a:moveTo>
                  <a:pt x="338" y="609"/>
                </a:moveTo>
                <a:lnTo>
                  <a:pt x="541" y="609"/>
                </a:lnTo>
                <a:lnTo>
                  <a:pt x="541" y="812"/>
                </a:lnTo>
                <a:lnTo>
                  <a:pt x="338" y="812"/>
                </a:lnTo>
                <a:lnTo>
                  <a:pt x="338" y="609"/>
                </a:lnTo>
                <a:moveTo>
                  <a:pt x="68" y="136"/>
                </a:moveTo>
                <a:cubicBezTo>
                  <a:pt x="68" y="98"/>
                  <a:pt x="98" y="68"/>
                  <a:pt x="135" y="68"/>
                </a:cubicBezTo>
                <a:lnTo>
                  <a:pt x="271" y="68"/>
                </a:lnTo>
                <a:lnTo>
                  <a:pt x="271" y="271"/>
                </a:lnTo>
                <a:lnTo>
                  <a:pt x="68" y="271"/>
                </a:lnTo>
                <a:lnTo>
                  <a:pt x="68" y="136"/>
                </a:lnTo>
                <a:moveTo>
                  <a:pt x="68" y="339"/>
                </a:moveTo>
                <a:lnTo>
                  <a:pt x="271" y="339"/>
                </a:lnTo>
                <a:lnTo>
                  <a:pt x="271" y="541"/>
                </a:lnTo>
                <a:lnTo>
                  <a:pt x="68" y="541"/>
                </a:lnTo>
                <a:lnTo>
                  <a:pt x="68" y="339"/>
                </a:lnTo>
                <a:moveTo>
                  <a:pt x="68" y="609"/>
                </a:moveTo>
                <a:lnTo>
                  <a:pt x="271" y="609"/>
                </a:lnTo>
                <a:lnTo>
                  <a:pt x="271" y="812"/>
                </a:lnTo>
                <a:lnTo>
                  <a:pt x="68" y="812"/>
                </a:lnTo>
                <a:lnTo>
                  <a:pt x="68" y="609"/>
                </a:lnTo>
                <a:moveTo>
                  <a:pt x="135" y="1083"/>
                </a:moveTo>
                <a:cubicBezTo>
                  <a:pt x="98" y="1083"/>
                  <a:pt x="68" y="1053"/>
                  <a:pt x="68" y="1016"/>
                </a:cubicBezTo>
                <a:lnTo>
                  <a:pt x="68" y="879"/>
                </a:lnTo>
                <a:lnTo>
                  <a:pt x="271" y="879"/>
                </a:lnTo>
                <a:lnTo>
                  <a:pt x="271" y="1083"/>
                </a:lnTo>
                <a:lnTo>
                  <a:pt x="135" y="1083"/>
                </a:lnTo>
                <a:moveTo>
                  <a:pt x="338" y="1083"/>
                </a:moveTo>
                <a:lnTo>
                  <a:pt x="338" y="879"/>
                </a:lnTo>
                <a:lnTo>
                  <a:pt x="541" y="879"/>
                </a:lnTo>
                <a:lnTo>
                  <a:pt x="541" y="1083"/>
                </a:lnTo>
                <a:lnTo>
                  <a:pt x="338" y="1083"/>
                </a:lnTo>
                <a:moveTo>
                  <a:pt x="609" y="1083"/>
                </a:moveTo>
                <a:lnTo>
                  <a:pt x="609" y="879"/>
                </a:lnTo>
                <a:lnTo>
                  <a:pt x="812" y="879"/>
                </a:lnTo>
                <a:lnTo>
                  <a:pt x="812" y="1083"/>
                </a:lnTo>
                <a:lnTo>
                  <a:pt x="609" y="1083"/>
                </a:lnTo>
                <a:moveTo>
                  <a:pt x="1015" y="1083"/>
                </a:moveTo>
                <a:lnTo>
                  <a:pt x="880" y="1083"/>
                </a:lnTo>
                <a:lnTo>
                  <a:pt x="880" y="879"/>
                </a:lnTo>
                <a:lnTo>
                  <a:pt x="1083" y="879"/>
                </a:lnTo>
                <a:lnTo>
                  <a:pt x="1083" y="1016"/>
                </a:lnTo>
                <a:cubicBezTo>
                  <a:pt x="1083" y="1053"/>
                  <a:pt x="1053" y="1083"/>
                  <a:pt x="1015" y="1083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2" name="任意多边形 661"/>
          <p:cNvSpPr/>
          <p:nvPr/>
        </p:nvSpPr>
        <p:spPr>
          <a:xfrm>
            <a:off x="5361840" y="1275120"/>
            <a:ext cx="73440" cy="231480"/>
          </a:xfrm>
          <a:custGeom>
            <a:avLst/>
            <a:gdLst/>
            <a:ahLst/>
            <a:cxnLst/>
            <a:rect l="0" t="0" r="r" b="b"/>
            <a:pathLst>
              <a:path w="204" h="643">
                <a:moveTo>
                  <a:pt x="204" y="643"/>
                </a:moveTo>
                <a:lnTo>
                  <a:pt x="0" y="643"/>
                </a:lnTo>
                <a:lnTo>
                  <a:pt x="0" y="68"/>
                </a:lnTo>
                <a:cubicBezTo>
                  <a:pt x="0" y="30"/>
                  <a:pt x="30" y="0"/>
                  <a:pt x="68" y="0"/>
                </a:cubicBezTo>
                <a:lnTo>
                  <a:pt x="135" y="0"/>
                </a:lnTo>
                <a:cubicBezTo>
                  <a:pt x="174" y="0"/>
                  <a:pt x="204" y="30"/>
                  <a:pt x="204" y="68"/>
                </a:cubicBezTo>
                <a:lnTo>
                  <a:pt x="204" y="643"/>
                </a:lnTo>
                <a:close/>
              </a:path>
            </a:pathLst>
          </a:custGeom>
          <a:solidFill>
            <a:srgbClr val="5C91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3" name="任意多边形 662"/>
          <p:cNvSpPr/>
          <p:nvPr/>
        </p:nvSpPr>
        <p:spPr>
          <a:xfrm>
            <a:off x="5556600" y="1189800"/>
            <a:ext cx="73440" cy="316800"/>
          </a:xfrm>
          <a:custGeom>
            <a:avLst/>
            <a:gdLst/>
            <a:ahLst/>
            <a:cxnLst/>
            <a:rect l="0" t="0" r="r" b="b"/>
            <a:pathLst>
              <a:path w="204" h="880">
                <a:moveTo>
                  <a:pt x="204" y="880"/>
                </a:moveTo>
                <a:lnTo>
                  <a:pt x="0" y="880"/>
                </a:lnTo>
                <a:lnTo>
                  <a:pt x="0" y="68"/>
                </a:lnTo>
                <a:cubicBezTo>
                  <a:pt x="0" y="31"/>
                  <a:pt x="31" y="0"/>
                  <a:pt x="69" y="0"/>
                </a:cubicBezTo>
                <a:lnTo>
                  <a:pt x="136" y="0"/>
                </a:lnTo>
                <a:cubicBezTo>
                  <a:pt x="174" y="0"/>
                  <a:pt x="204" y="31"/>
                  <a:pt x="204" y="68"/>
                </a:cubicBezTo>
                <a:lnTo>
                  <a:pt x="204" y="880"/>
                </a:lnTo>
                <a:close/>
              </a:path>
            </a:pathLst>
          </a:custGeom>
          <a:solidFill>
            <a:srgbClr val="3B94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4" name="任意多边形 663"/>
          <p:cNvSpPr/>
          <p:nvPr/>
        </p:nvSpPr>
        <p:spPr>
          <a:xfrm>
            <a:off x="5459400" y="1360440"/>
            <a:ext cx="73080" cy="146160"/>
          </a:xfrm>
          <a:custGeom>
            <a:avLst/>
            <a:gdLst/>
            <a:ahLst/>
            <a:cxnLst/>
            <a:rect l="0" t="0" r="r" b="b"/>
            <a:pathLst>
              <a:path w="203" h="406">
                <a:moveTo>
                  <a:pt x="203" y="406"/>
                </a:moveTo>
                <a:lnTo>
                  <a:pt x="0" y="406"/>
                </a:lnTo>
                <a:lnTo>
                  <a:pt x="0" y="67"/>
                </a:lnTo>
                <a:cubicBezTo>
                  <a:pt x="0" y="30"/>
                  <a:pt x="30" y="0"/>
                  <a:pt x="67" y="0"/>
                </a:cubicBezTo>
                <a:lnTo>
                  <a:pt x="136" y="0"/>
                </a:lnTo>
                <a:cubicBezTo>
                  <a:pt x="173" y="0"/>
                  <a:pt x="203" y="30"/>
                  <a:pt x="203" y="67"/>
                </a:cubicBezTo>
                <a:lnTo>
                  <a:pt x="203" y="406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5" name="文本框 664"/>
          <p:cNvSpPr txBox="1"/>
          <p:nvPr/>
        </p:nvSpPr>
        <p:spPr>
          <a:xfrm>
            <a:off x="5111280" y="102816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6" name="文本框 665"/>
          <p:cNvSpPr txBox="1"/>
          <p:nvPr/>
        </p:nvSpPr>
        <p:spPr>
          <a:xfrm>
            <a:off x="747720" y="191448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关键数据：竞争失败率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7" name="文本框 666"/>
          <p:cNvSpPr txBox="1"/>
          <p:nvPr/>
        </p:nvSpPr>
        <p:spPr>
          <a:xfrm>
            <a:off x="3510000" y="1892880"/>
            <a:ext cx="423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vs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8" name="文本框 667"/>
          <p:cNvSpPr txBox="1"/>
          <p:nvPr/>
        </p:nvSpPr>
        <p:spPr>
          <a:xfrm>
            <a:off x="3921120" y="191448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⽤⼾数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9" name="文本框 668"/>
          <p:cNvSpPr txBox="1"/>
          <p:nvPr/>
        </p:nvSpPr>
        <p:spPr>
          <a:xfrm>
            <a:off x="914400" y="261756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场景：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0" name="文本框 669"/>
          <p:cNvSpPr txBox="1"/>
          <p:nvPr/>
        </p:nvSpPr>
        <p:spPr>
          <a:xfrm>
            <a:off x="1618920" y="26449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1" name="文本框 670"/>
          <p:cNvSpPr txBox="1"/>
          <p:nvPr/>
        </p:nvSpPr>
        <p:spPr>
          <a:xfrm>
            <a:off x="1747800" y="261756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间房，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2" name="文本框 671"/>
          <p:cNvSpPr txBox="1"/>
          <p:nvPr/>
        </p:nvSpPr>
        <p:spPr>
          <a:xfrm>
            <a:off x="2452320" y="264492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N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3" name="文本框 672"/>
          <p:cNvSpPr txBox="1"/>
          <p:nvPr/>
        </p:nvSpPr>
        <p:spPr>
          <a:xfrm>
            <a:off x="2581200" y="261756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个用户同时下单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4" name="文本框 673"/>
          <p:cNvSpPr txBox="1"/>
          <p:nvPr/>
        </p:nvSpPr>
        <p:spPr>
          <a:xfrm>
            <a:off x="914400" y="3160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用户数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5" name="文本框 674"/>
          <p:cNvSpPr txBox="1"/>
          <p:nvPr/>
        </p:nvSpPr>
        <p:spPr>
          <a:xfrm>
            <a:off x="1618920" y="31878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6" name="文本框 675"/>
          <p:cNvSpPr txBox="1"/>
          <p:nvPr/>
        </p:nvSpPr>
        <p:spPr>
          <a:xfrm>
            <a:off x="2005920" y="31608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成功单数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7" name="文本框 676"/>
          <p:cNvSpPr txBox="1"/>
          <p:nvPr/>
        </p:nvSpPr>
        <p:spPr>
          <a:xfrm>
            <a:off x="2945160" y="31878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8" name="文本框 677"/>
          <p:cNvSpPr txBox="1"/>
          <p:nvPr/>
        </p:nvSpPr>
        <p:spPr>
          <a:xfrm>
            <a:off x="3332520" y="316080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失败单数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9" name="文本框 678"/>
          <p:cNvSpPr txBox="1"/>
          <p:nvPr/>
        </p:nvSpPr>
        <p:spPr>
          <a:xfrm>
            <a:off x="4271760" y="318780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0" name="文本框 679"/>
          <p:cNvSpPr txBox="1"/>
          <p:nvPr/>
        </p:nvSpPr>
        <p:spPr>
          <a:xfrm>
            <a:off x="4658760" y="316080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超卖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1" name="文本框 680"/>
          <p:cNvSpPr txBox="1"/>
          <p:nvPr/>
        </p:nvSpPr>
        <p:spPr>
          <a:xfrm>
            <a:off x="5128560" y="31878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?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2" name="文本框 681"/>
          <p:cNvSpPr txBox="1"/>
          <p:nvPr/>
        </p:nvSpPr>
        <p:spPr>
          <a:xfrm>
            <a:off x="914400" y="3454560"/>
            <a:ext cx="42588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------|---------|---------|------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3" name="任意多边形 682"/>
          <p:cNvSpPr/>
          <p:nvPr/>
        </p:nvSpPr>
        <p:spPr>
          <a:xfrm>
            <a:off x="4562640" y="3695760"/>
            <a:ext cx="218880" cy="218880"/>
          </a:xfrm>
          <a:custGeom>
            <a:avLst/>
            <a:gdLst/>
            <a:ahLst/>
            <a:cxnLst/>
            <a:rect l="0" t="0" r="r" b="b"/>
            <a:pathLst>
              <a:path w="608" h="608">
                <a:moveTo>
                  <a:pt x="370" y="304"/>
                </a:moveTo>
                <a:lnTo>
                  <a:pt x="595" y="79"/>
                </a:lnTo>
                <a:cubicBezTo>
                  <a:pt x="613" y="61"/>
                  <a:pt x="613" y="32"/>
                  <a:pt x="595" y="14"/>
                </a:cubicBezTo>
                <a:cubicBezTo>
                  <a:pt x="577" y="-4"/>
                  <a:pt x="548" y="-4"/>
                  <a:pt x="530" y="14"/>
                </a:cubicBezTo>
                <a:lnTo>
                  <a:pt x="304" y="239"/>
                </a:lnTo>
                <a:lnTo>
                  <a:pt x="79" y="14"/>
                </a:lnTo>
                <a:cubicBezTo>
                  <a:pt x="62" y="-4"/>
                  <a:pt x="32" y="-4"/>
                  <a:pt x="15" y="14"/>
                </a:cubicBezTo>
                <a:cubicBezTo>
                  <a:pt x="-3" y="32"/>
                  <a:pt x="-3" y="61"/>
                  <a:pt x="15" y="79"/>
                </a:cubicBezTo>
                <a:lnTo>
                  <a:pt x="239" y="304"/>
                </a:lnTo>
                <a:lnTo>
                  <a:pt x="14" y="530"/>
                </a:lnTo>
                <a:cubicBezTo>
                  <a:pt x="-4" y="548"/>
                  <a:pt x="-4" y="577"/>
                  <a:pt x="14" y="595"/>
                </a:cubicBezTo>
                <a:cubicBezTo>
                  <a:pt x="23" y="604"/>
                  <a:pt x="35" y="608"/>
                  <a:pt x="47" y="608"/>
                </a:cubicBezTo>
                <a:cubicBezTo>
                  <a:pt x="58" y="608"/>
                  <a:pt x="70" y="604"/>
                  <a:pt x="79" y="595"/>
                </a:cubicBezTo>
                <a:lnTo>
                  <a:pt x="304" y="370"/>
                </a:lnTo>
                <a:lnTo>
                  <a:pt x="530" y="594"/>
                </a:lnTo>
                <a:cubicBezTo>
                  <a:pt x="539" y="603"/>
                  <a:pt x="551" y="608"/>
                  <a:pt x="563" y="608"/>
                </a:cubicBezTo>
                <a:cubicBezTo>
                  <a:pt x="574" y="608"/>
                  <a:pt x="586" y="603"/>
                  <a:pt x="595" y="594"/>
                </a:cubicBezTo>
                <a:cubicBezTo>
                  <a:pt x="613" y="576"/>
                  <a:pt x="613" y="547"/>
                  <a:pt x="595" y="529"/>
                </a:cubicBezTo>
                <a:lnTo>
                  <a:pt x="370" y="304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4" name="文本框 683"/>
          <p:cNvSpPr txBox="1"/>
          <p:nvPr/>
        </p:nvSpPr>
        <p:spPr>
          <a:xfrm>
            <a:off x="914400" y="3730680"/>
            <a:ext cx="3613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     | 5       | 0      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5" name="文本框 684"/>
          <p:cNvSpPr txBox="1"/>
          <p:nvPr/>
        </p:nvSpPr>
        <p:spPr>
          <a:xfrm>
            <a:off x="4798800" y="37306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6" name="文本框 685"/>
          <p:cNvSpPr txBox="1"/>
          <p:nvPr/>
        </p:nvSpPr>
        <p:spPr>
          <a:xfrm>
            <a:off x="4927680" y="37036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否（无超卖）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7" name="任意多边形 686"/>
          <p:cNvSpPr/>
          <p:nvPr/>
        </p:nvSpPr>
        <p:spPr>
          <a:xfrm>
            <a:off x="4562640" y="3972240"/>
            <a:ext cx="218880" cy="219240"/>
          </a:xfrm>
          <a:custGeom>
            <a:avLst/>
            <a:gdLst/>
            <a:ahLst/>
            <a:cxnLst/>
            <a:rect l="0" t="0" r="r" b="b"/>
            <a:pathLst>
              <a:path w="608" h="609">
                <a:moveTo>
                  <a:pt x="370" y="305"/>
                </a:moveTo>
                <a:lnTo>
                  <a:pt x="595" y="79"/>
                </a:lnTo>
                <a:cubicBezTo>
                  <a:pt x="613" y="61"/>
                  <a:pt x="613" y="32"/>
                  <a:pt x="595" y="14"/>
                </a:cubicBezTo>
                <a:cubicBezTo>
                  <a:pt x="577" y="-4"/>
                  <a:pt x="548" y="-4"/>
                  <a:pt x="530" y="14"/>
                </a:cubicBezTo>
                <a:lnTo>
                  <a:pt x="304" y="240"/>
                </a:lnTo>
                <a:lnTo>
                  <a:pt x="79" y="14"/>
                </a:lnTo>
                <a:cubicBezTo>
                  <a:pt x="62" y="-4"/>
                  <a:pt x="32" y="-4"/>
                  <a:pt x="15" y="14"/>
                </a:cubicBezTo>
                <a:cubicBezTo>
                  <a:pt x="-3" y="32"/>
                  <a:pt x="-3" y="61"/>
                  <a:pt x="15" y="79"/>
                </a:cubicBezTo>
                <a:lnTo>
                  <a:pt x="239" y="305"/>
                </a:lnTo>
                <a:lnTo>
                  <a:pt x="14" y="530"/>
                </a:lnTo>
                <a:cubicBezTo>
                  <a:pt x="-4" y="548"/>
                  <a:pt x="-4" y="577"/>
                  <a:pt x="14" y="595"/>
                </a:cubicBezTo>
                <a:cubicBezTo>
                  <a:pt x="23" y="604"/>
                  <a:pt x="35" y="609"/>
                  <a:pt x="47" y="609"/>
                </a:cubicBezTo>
                <a:cubicBezTo>
                  <a:pt x="58" y="609"/>
                  <a:pt x="70" y="604"/>
                  <a:pt x="79" y="595"/>
                </a:cubicBezTo>
                <a:lnTo>
                  <a:pt x="304" y="370"/>
                </a:lnTo>
                <a:lnTo>
                  <a:pt x="530" y="595"/>
                </a:lnTo>
                <a:cubicBezTo>
                  <a:pt x="539" y="604"/>
                  <a:pt x="551" y="608"/>
                  <a:pt x="563" y="608"/>
                </a:cubicBezTo>
                <a:cubicBezTo>
                  <a:pt x="574" y="608"/>
                  <a:pt x="586" y="604"/>
                  <a:pt x="595" y="595"/>
                </a:cubicBezTo>
                <a:cubicBezTo>
                  <a:pt x="613" y="577"/>
                  <a:pt x="613" y="548"/>
                  <a:pt x="595" y="530"/>
                </a:cubicBezTo>
                <a:lnTo>
                  <a:pt x="370" y="30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8" name="文本框 687"/>
          <p:cNvSpPr txBox="1"/>
          <p:nvPr/>
        </p:nvSpPr>
        <p:spPr>
          <a:xfrm>
            <a:off x="914400" y="3997440"/>
            <a:ext cx="3613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50    | 5       | 45     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9" name="文本框 688"/>
          <p:cNvSpPr txBox="1"/>
          <p:nvPr/>
        </p:nvSpPr>
        <p:spPr>
          <a:xfrm>
            <a:off x="4798800" y="39974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0" name="文本框 689"/>
          <p:cNvSpPr txBox="1"/>
          <p:nvPr/>
        </p:nvSpPr>
        <p:spPr>
          <a:xfrm>
            <a:off x="4927680" y="397044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否（乐观锁生效）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1" name="任意多边形 690"/>
          <p:cNvSpPr/>
          <p:nvPr/>
        </p:nvSpPr>
        <p:spPr>
          <a:xfrm>
            <a:off x="4562640" y="4239000"/>
            <a:ext cx="218880" cy="218880"/>
          </a:xfrm>
          <a:custGeom>
            <a:avLst/>
            <a:gdLst/>
            <a:ahLst/>
            <a:cxnLst/>
            <a:rect l="0" t="0" r="r" b="b"/>
            <a:pathLst>
              <a:path w="608" h="608">
                <a:moveTo>
                  <a:pt x="370" y="305"/>
                </a:moveTo>
                <a:lnTo>
                  <a:pt x="595" y="80"/>
                </a:lnTo>
                <a:cubicBezTo>
                  <a:pt x="613" y="62"/>
                  <a:pt x="613" y="32"/>
                  <a:pt x="595" y="14"/>
                </a:cubicBezTo>
                <a:cubicBezTo>
                  <a:pt x="577" y="-4"/>
                  <a:pt x="548" y="-4"/>
                  <a:pt x="530" y="14"/>
                </a:cubicBezTo>
                <a:lnTo>
                  <a:pt x="304" y="240"/>
                </a:lnTo>
                <a:lnTo>
                  <a:pt x="79" y="14"/>
                </a:lnTo>
                <a:cubicBezTo>
                  <a:pt x="62" y="-4"/>
                  <a:pt x="32" y="-4"/>
                  <a:pt x="15" y="14"/>
                </a:cubicBezTo>
                <a:cubicBezTo>
                  <a:pt x="-3" y="32"/>
                  <a:pt x="-3" y="62"/>
                  <a:pt x="15" y="80"/>
                </a:cubicBezTo>
                <a:lnTo>
                  <a:pt x="239" y="305"/>
                </a:lnTo>
                <a:lnTo>
                  <a:pt x="14" y="530"/>
                </a:lnTo>
                <a:cubicBezTo>
                  <a:pt x="-4" y="548"/>
                  <a:pt x="-4" y="577"/>
                  <a:pt x="14" y="595"/>
                </a:cubicBezTo>
                <a:cubicBezTo>
                  <a:pt x="23" y="604"/>
                  <a:pt x="35" y="608"/>
                  <a:pt x="47" y="608"/>
                </a:cubicBezTo>
                <a:cubicBezTo>
                  <a:pt x="58" y="608"/>
                  <a:pt x="70" y="604"/>
                  <a:pt x="79" y="595"/>
                </a:cubicBezTo>
                <a:lnTo>
                  <a:pt x="304" y="370"/>
                </a:lnTo>
                <a:lnTo>
                  <a:pt x="530" y="595"/>
                </a:lnTo>
                <a:cubicBezTo>
                  <a:pt x="539" y="603"/>
                  <a:pt x="551" y="608"/>
                  <a:pt x="563" y="608"/>
                </a:cubicBezTo>
                <a:cubicBezTo>
                  <a:pt x="574" y="608"/>
                  <a:pt x="586" y="603"/>
                  <a:pt x="595" y="595"/>
                </a:cubicBezTo>
                <a:cubicBezTo>
                  <a:pt x="613" y="577"/>
                  <a:pt x="613" y="547"/>
                  <a:pt x="595" y="530"/>
                </a:cubicBezTo>
                <a:lnTo>
                  <a:pt x="370" y="305"/>
                </a:ln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2" name="文本框 691"/>
          <p:cNvSpPr txBox="1"/>
          <p:nvPr/>
        </p:nvSpPr>
        <p:spPr>
          <a:xfrm>
            <a:off x="914400" y="4273560"/>
            <a:ext cx="3613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500   | 5       | 495     |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3" name="文本框 692"/>
          <p:cNvSpPr txBox="1"/>
          <p:nvPr/>
        </p:nvSpPr>
        <p:spPr>
          <a:xfrm>
            <a:off x="4798800" y="42735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4927680" y="424656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否（即使高并发）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5" name="文本框 694"/>
          <p:cNvSpPr txBox="1"/>
          <p:nvPr/>
        </p:nvSpPr>
        <p:spPr>
          <a:xfrm>
            <a:off x="914400" y="4779720"/>
            <a:ext cx="4460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结论：乐观锁对并发扣库存是有效的，因为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6" name="文本框 695"/>
          <p:cNvSpPr txBox="1"/>
          <p:nvPr/>
        </p:nvSpPr>
        <p:spPr>
          <a:xfrm>
            <a:off x="5375520" y="480708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MongoDB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7" name="文本框 696"/>
          <p:cNvSpPr txBox="1"/>
          <p:nvPr/>
        </p:nvSpPr>
        <p:spPr>
          <a:xfrm>
            <a:off x="6279120" y="477972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的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8" name="文本框 697"/>
          <p:cNvSpPr txBox="1"/>
          <p:nvPr/>
        </p:nvSpPr>
        <p:spPr>
          <a:xfrm>
            <a:off x="6513840" y="480708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\$inc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9" name="文本框 698"/>
          <p:cNvSpPr txBox="1"/>
          <p:nvPr/>
        </p:nvSpPr>
        <p:spPr>
          <a:xfrm>
            <a:off x="7159320" y="477972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是原子操作。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0" name="文本框 699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任意多边形 70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2" name="任意多边形 7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3" name="任意多边形 7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4" name="任意多边形 703"/>
          <p:cNvSpPr/>
          <p:nvPr/>
        </p:nvSpPr>
        <p:spPr>
          <a:xfrm>
            <a:off x="752400" y="1552320"/>
            <a:ext cx="1343160" cy="533880"/>
          </a:xfrm>
          <a:custGeom>
            <a:avLst/>
            <a:gdLst/>
            <a:ahLst/>
            <a:cxnLst/>
            <a:rect l="0" t="0" r="r" b="b"/>
            <a:pathLst>
              <a:path w="3731" h="1483">
                <a:moveTo>
                  <a:pt x="0" y="0"/>
                </a:moveTo>
                <a:lnTo>
                  <a:pt x="3731" y="0"/>
                </a:lnTo>
                <a:lnTo>
                  <a:pt x="373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5" name="任意多边形 704"/>
          <p:cNvSpPr/>
          <p:nvPr/>
        </p:nvSpPr>
        <p:spPr>
          <a:xfrm>
            <a:off x="2095200" y="1552320"/>
            <a:ext cx="4848840" cy="533880"/>
          </a:xfrm>
          <a:custGeom>
            <a:avLst/>
            <a:gdLst/>
            <a:ahLst/>
            <a:cxnLst/>
            <a:rect l="0" t="0" r="r" b="b"/>
            <a:pathLst>
              <a:path w="13469" h="1483">
                <a:moveTo>
                  <a:pt x="0" y="0"/>
                </a:moveTo>
                <a:lnTo>
                  <a:pt x="13469" y="0"/>
                </a:lnTo>
                <a:lnTo>
                  <a:pt x="1346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6" name="任意多边形 705"/>
          <p:cNvSpPr/>
          <p:nvPr/>
        </p:nvSpPr>
        <p:spPr>
          <a:xfrm>
            <a:off x="6943680" y="1552320"/>
            <a:ext cx="4496040" cy="533880"/>
          </a:xfrm>
          <a:custGeom>
            <a:avLst/>
            <a:gdLst/>
            <a:ahLst/>
            <a:cxnLst/>
            <a:rect l="0" t="0" r="r" b="b"/>
            <a:pathLst>
              <a:path w="12489" h="1483">
                <a:moveTo>
                  <a:pt x="0" y="0"/>
                </a:moveTo>
                <a:lnTo>
                  <a:pt x="12489" y="0"/>
                </a:lnTo>
                <a:lnTo>
                  <a:pt x="1248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7" name="任意多边形 706"/>
          <p:cNvSpPr/>
          <p:nvPr/>
        </p:nvSpPr>
        <p:spPr>
          <a:xfrm>
            <a:off x="752400" y="2085840"/>
            <a:ext cx="1343160" cy="952920"/>
          </a:xfrm>
          <a:custGeom>
            <a:avLst/>
            <a:gdLst/>
            <a:ahLst/>
            <a:cxnLst/>
            <a:rect l="0" t="0" r="r" b="b"/>
            <a:pathLst>
              <a:path w="3731" h="2647">
                <a:moveTo>
                  <a:pt x="0" y="0"/>
                </a:moveTo>
                <a:lnTo>
                  <a:pt x="3731" y="0"/>
                </a:lnTo>
                <a:lnTo>
                  <a:pt x="373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8" name="任意多边形 707"/>
          <p:cNvSpPr/>
          <p:nvPr/>
        </p:nvSpPr>
        <p:spPr>
          <a:xfrm>
            <a:off x="2095200" y="2085840"/>
            <a:ext cx="4848840" cy="952920"/>
          </a:xfrm>
          <a:custGeom>
            <a:avLst/>
            <a:gdLst/>
            <a:ahLst/>
            <a:cxnLst/>
            <a:rect l="0" t="0" r="r" b="b"/>
            <a:pathLst>
              <a:path w="13469" h="2647">
                <a:moveTo>
                  <a:pt x="0" y="0"/>
                </a:moveTo>
                <a:lnTo>
                  <a:pt x="13469" y="0"/>
                </a:lnTo>
                <a:lnTo>
                  <a:pt x="1346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9" name="任意多边形 708"/>
          <p:cNvSpPr/>
          <p:nvPr/>
        </p:nvSpPr>
        <p:spPr>
          <a:xfrm>
            <a:off x="6943680" y="2085840"/>
            <a:ext cx="4496040" cy="952920"/>
          </a:xfrm>
          <a:custGeom>
            <a:avLst/>
            <a:gdLst/>
            <a:ahLst/>
            <a:cxnLst/>
            <a:rect l="0" t="0" r="r" b="b"/>
            <a:pathLst>
              <a:path w="12489" h="2647">
                <a:moveTo>
                  <a:pt x="0" y="0"/>
                </a:moveTo>
                <a:lnTo>
                  <a:pt x="12489" y="0"/>
                </a:lnTo>
                <a:lnTo>
                  <a:pt x="1248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0" name="任意多边形 709"/>
          <p:cNvSpPr/>
          <p:nvPr/>
        </p:nvSpPr>
        <p:spPr>
          <a:xfrm>
            <a:off x="752400" y="3038400"/>
            <a:ext cx="1343160" cy="952920"/>
          </a:xfrm>
          <a:custGeom>
            <a:avLst/>
            <a:gdLst/>
            <a:ahLst/>
            <a:cxnLst/>
            <a:rect l="0" t="0" r="r" b="b"/>
            <a:pathLst>
              <a:path w="3731" h="2647">
                <a:moveTo>
                  <a:pt x="0" y="0"/>
                </a:moveTo>
                <a:lnTo>
                  <a:pt x="3731" y="0"/>
                </a:lnTo>
                <a:lnTo>
                  <a:pt x="373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1" name="任意多边形 710"/>
          <p:cNvSpPr/>
          <p:nvPr/>
        </p:nvSpPr>
        <p:spPr>
          <a:xfrm>
            <a:off x="2095200" y="3038400"/>
            <a:ext cx="4848840" cy="952920"/>
          </a:xfrm>
          <a:custGeom>
            <a:avLst/>
            <a:gdLst/>
            <a:ahLst/>
            <a:cxnLst/>
            <a:rect l="0" t="0" r="r" b="b"/>
            <a:pathLst>
              <a:path w="13469" h="2647">
                <a:moveTo>
                  <a:pt x="0" y="0"/>
                </a:moveTo>
                <a:lnTo>
                  <a:pt x="13469" y="0"/>
                </a:lnTo>
                <a:lnTo>
                  <a:pt x="1346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2" name="任意多边形 711"/>
          <p:cNvSpPr/>
          <p:nvPr/>
        </p:nvSpPr>
        <p:spPr>
          <a:xfrm>
            <a:off x="6943680" y="3038400"/>
            <a:ext cx="4496040" cy="952920"/>
          </a:xfrm>
          <a:custGeom>
            <a:avLst/>
            <a:gdLst/>
            <a:ahLst/>
            <a:cxnLst/>
            <a:rect l="0" t="0" r="r" b="b"/>
            <a:pathLst>
              <a:path w="12489" h="2647">
                <a:moveTo>
                  <a:pt x="0" y="0"/>
                </a:moveTo>
                <a:lnTo>
                  <a:pt x="12489" y="0"/>
                </a:lnTo>
                <a:lnTo>
                  <a:pt x="1248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3" name="任意多边形 712"/>
          <p:cNvSpPr/>
          <p:nvPr/>
        </p:nvSpPr>
        <p:spPr>
          <a:xfrm>
            <a:off x="752400" y="3990960"/>
            <a:ext cx="1343160" cy="952560"/>
          </a:xfrm>
          <a:custGeom>
            <a:avLst/>
            <a:gdLst/>
            <a:ahLst/>
            <a:cxnLst/>
            <a:rect l="0" t="0" r="r" b="b"/>
            <a:pathLst>
              <a:path w="3731" h="2646">
                <a:moveTo>
                  <a:pt x="0" y="0"/>
                </a:moveTo>
                <a:lnTo>
                  <a:pt x="3731" y="0"/>
                </a:lnTo>
                <a:lnTo>
                  <a:pt x="3731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4" name="任意多边形 713"/>
          <p:cNvSpPr/>
          <p:nvPr/>
        </p:nvSpPr>
        <p:spPr>
          <a:xfrm>
            <a:off x="2095200" y="3990960"/>
            <a:ext cx="4848840" cy="952560"/>
          </a:xfrm>
          <a:custGeom>
            <a:avLst/>
            <a:gdLst/>
            <a:ahLst/>
            <a:cxnLst/>
            <a:rect l="0" t="0" r="r" b="b"/>
            <a:pathLst>
              <a:path w="13469" h="2646">
                <a:moveTo>
                  <a:pt x="0" y="0"/>
                </a:moveTo>
                <a:lnTo>
                  <a:pt x="13469" y="0"/>
                </a:lnTo>
                <a:lnTo>
                  <a:pt x="1346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5" name="任意多边形 714"/>
          <p:cNvSpPr/>
          <p:nvPr/>
        </p:nvSpPr>
        <p:spPr>
          <a:xfrm>
            <a:off x="6943680" y="3990960"/>
            <a:ext cx="4496040" cy="952560"/>
          </a:xfrm>
          <a:custGeom>
            <a:avLst/>
            <a:gdLst/>
            <a:ahLst/>
            <a:cxnLst/>
            <a:rect l="0" t="0" r="r" b="b"/>
            <a:pathLst>
              <a:path w="12489" h="2646">
                <a:moveTo>
                  <a:pt x="0" y="0"/>
                </a:moveTo>
                <a:lnTo>
                  <a:pt x="12489" y="0"/>
                </a:lnTo>
                <a:lnTo>
                  <a:pt x="12489" y="2646"/>
                </a:lnTo>
                <a:lnTo>
                  <a:pt x="0" y="26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6" name="任意多边形 715"/>
          <p:cNvSpPr/>
          <p:nvPr/>
        </p:nvSpPr>
        <p:spPr>
          <a:xfrm>
            <a:off x="752400" y="4943160"/>
            <a:ext cx="1343160" cy="952920"/>
          </a:xfrm>
          <a:custGeom>
            <a:avLst/>
            <a:gdLst/>
            <a:ahLst/>
            <a:cxnLst/>
            <a:rect l="0" t="0" r="r" b="b"/>
            <a:pathLst>
              <a:path w="3731" h="2647">
                <a:moveTo>
                  <a:pt x="0" y="0"/>
                </a:moveTo>
                <a:lnTo>
                  <a:pt x="3731" y="0"/>
                </a:lnTo>
                <a:lnTo>
                  <a:pt x="3731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7" name="任意多边形 716"/>
          <p:cNvSpPr/>
          <p:nvPr/>
        </p:nvSpPr>
        <p:spPr>
          <a:xfrm>
            <a:off x="2095200" y="4943160"/>
            <a:ext cx="4848840" cy="952920"/>
          </a:xfrm>
          <a:custGeom>
            <a:avLst/>
            <a:gdLst/>
            <a:ahLst/>
            <a:cxnLst/>
            <a:rect l="0" t="0" r="r" b="b"/>
            <a:pathLst>
              <a:path w="13469" h="2647">
                <a:moveTo>
                  <a:pt x="0" y="0"/>
                </a:moveTo>
                <a:lnTo>
                  <a:pt x="13469" y="0"/>
                </a:lnTo>
                <a:lnTo>
                  <a:pt x="1346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8" name="任意多边形 717"/>
          <p:cNvSpPr/>
          <p:nvPr/>
        </p:nvSpPr>
        <p:spPr>
          <a:xfrm>
            <a:off x="6943680" y="4943160"/>
            <a:ext cx="4496040" cy="952920"/>
          </a:xfrm>
          <a:custGeom>
            <a:avLst/>
            <a:gdLst/>
            <a:ahLst/>
            <a:cxnLst/>
            <a:rect l="0" t="0" r="r" b="b"/>
            <a:pathLst>
              <a:path w="12489" h="2647">
                <a:moveTo>
                  <a:pt x="0" y="0"/>
                </a:moveTo>
                <a:lnTo>
                  <a:pt x="12489" y="0"/>
                </a:lnTo>
                <a:lnTo>
                  <a:pt x="12489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19" name="任意多边形 718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0" name="任意多边形 719"/>
          <p:cNvSpPr/>
          <p:nvPr/>
        </p:nvSpPr>
        <p:spPr>
          <a:xfrm>
            <a:off x="752400" y="154296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1" name="任意多边形 720"/>
          <p:cNvSpPr/>
          <p:nvPr/>
        </p:nvSpPr>
        <p:spPr>
          <a:xfrm>
            <a:off x="2095200" y="154296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2" name="任意多边形 721"/>
          <p:cNvSpPr/>
          <p:nvPr/>
        </p:nvSpPr>
        <p:spPr>
          <a:xfrm>
            <a:off x="2104920" y="154296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3" name="任意多边形 722"/>
          <p:cNvSpPr/>
          <p:nvPr/>
        </p:nvSpPr>
        <p:spPr>
          <a:xfrm>
            <a:off x="694368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4" name="任意多边形 723"/>
          <p:cNvSpPr/>
          <p:nvPr/>
        </p:nvSpPr>
        <p:spPr>
          <a:xfrm>
            <a:off x="6953040" y="154296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5" name="任意多边形 724"/>
          <p:cNvSpPr/>
          <p:nvPr/>
        </p:nvSpPr>
        <p:spPr>
          <a:xfrm>
            <a:off x="1143936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6" name="任意多边形 725"/>
          <p:cNvSpPr/>
          <p:nvPr/>
        </p:nvSpPr>
        <p:spPr>
          <a:xfrm>
            <a:off x="752400" y="208584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7" name="任意多边形 726"/>
          <p:cNvSpPr/>
          <p:nvPr/>
        </p:nvSpPr>
        <p:spPr>
          <a:xfrm>
            <a:off x="2104920" y="208584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8" name="任意多边形 727"/>
          <p:cNvSpPr/>
          <p:nvPr/>
        </p:nvSpPr>
        <p:spPr>
          <a:xfrm>
            <a:off x="6953040" y="208584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9" name="任意多边形 728"/>
          <p:cNvSpPr/>
          <p:nvPr/>
        </p:nvSpPr>
        <p:spPr>
          <a:xfrm>
            <a:off x="752400" y="2095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0" name="任意多边形 729"/>
          <p:cNvSpPr/>
          <p:nvPr/>
        </p:nvSpPr>
        <p:spPr>
          <a:xfrm>
            <a:off x="2095200" y="209520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1" name="任意多边形 730"/>
          <p:cNvSpPr/>
          <p:nvPr/>
        </p:nvSpPr>
        <p:spPr>
          <a:xfrm>
            <a:off x="6943680" y="2095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2" name="任意多边形 731"/>
          <p:cNvSpPr/>
          <p:nvPr/>
        </p:nvSpPr>
        <p:spPr>
          <a:xfrm>
            <a:off x="11439360" y="209520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3" name="任意多边形 732"/>
          <p:cNvSpPr/>
          <p:nvPr/>
        </p:nvSpPr>
        <p:spPr>
          <a:xfrm>
            <a:off x="752400" y="3047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4" name="任意多边形 733"/>
          <p:cNvSpPr/>
          <p:nvPr/>
        </p:nvSpPr>
        <p:spPr>
          <a:xfrm>
            <a:off x="752400" y="303840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5" name="任意多边形 734"/>
          <p:cNvSpPr/>
          <p:nvPr/>
        </p:nvSpPr>
        <p:spPr>
          <a:xfrm>
            <a:off x="2095200" y="304776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6" name="任意多边形 735"/>
          <p:cNvSpPr/>
          <p:nvPr/>
        </p:nvSpPr>
        <p:spPr>
          <a:xfrm>
            <a:off x="2104920" y="303840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7" name="任意多边形 736"/>
          <p:cNvSpPr/>
          <p:nvPr/>
        </p:nvSpPr>
        <p:spPr>
          <a:xfrm>
            <a:off x="6943680" y="3047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8" name="任意多边形 737"/>
          <p:cNvSpPr/>
          <p:nvPr/>
        </p:nvSpPr>
        <p:spPr>
          <a:xfrm>
            <a:off x="6953040" y="303840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39" name="任意多边形 738"/>
          <p:cNvSpPr/>
          <p:nvPr/>
        </p:nvSpPr>
        <p:spPr>
          <a:xfrm>
            <a:off x="11439360" y="304776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0" name="任意多边形 739"/>
          <p:cNvSpPr/>
          <p:nvPr/>
        </p:nvSpPr>
        <p:spPr>
          <a:xfrm>
            <a:off x="752400" y="40003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1" name="任意多边形 740"/>
          <p:cNvSpPr/>
          <p:nvPr/>
        </p:nvSpPr>
        <p:spPr>
          <a:xfrm>
            <a:off x="752400" y="3990960"/>
            <a:ext cx="1352880" cy="9720"/>
          </a:xfrm>
          <a:custGeom>
            <a:avLst/>
            <a:gdLst/>
            <a:ahLst/>
            <a:cxnLst/>
            <a:rect l="0" t="0" r="r" b="b"/>
            <a:pathLst>
              <a:path w="3758" h="27">
                <a:moveTo>
                  <a:pt x="0" y="0"/>
                </a:moveTo>
                <a:lnTo>
                  <a:pt x="3758" y="0"/>
                </a:lnTo>
                <a:lnTo>
                  <a:pt x="37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2" name="任意多边形 741"/>
          <p:cNvSpPr/>
          <p:nvPr/>
        </p:nvSpPr>
        <p:spPr>
          <a:xfrm>
            <a:off x="2095200" y="400032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3" name="任意多边形 742"/>
          <p:cNvSpPr/>
          <p:nvPr/>
        </p:nvSpPr>
        <p:spPr>
          <a:xfrm>
            <a:off x="2104920" y="3990960"/>
            <a:ext cx="4848480" cy="9720"/>
          </a:xfrm>
          <a:custGeom>
            <a:avLst/>
            <a:gdLst/>
            <a:ahLst/>
            <a:cxnLst/>
            <a:rect l="0" t="0" r="r" b="b"/>
            <a:pathLst>
              <a:path w="13468" h="27">
                <a:moveTo>
                  <a:pt x="0" y="0"/>
                </a:moveTo>
                <a:lnTo>
                  <a:pt x="13468" y="0"/>
                </a:lnTo>
                <a:lnTo>
                  <a:pt x="134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4" name="任意多边形 743"/>
          <p:cNvSpPr/>
          <p:nvPr/>
        </p:nvSpPr>
        <p:spPr>
          <a:xfrm>
            <a:off x="6943680" y="40003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5" name="任意多边形 744"/>
          <p:cNvSpPr/>
          <p:nvPr/>
        </p:nvSpPr>
        <p:spPr>
          <a:xfrm>
            <a:off x="6953040" y="3990960"/>
            <a:ext cx="4496040" cy="9720"/>
          </a:xfrm>
          <a:custGeom>
            <a:avLst/>
            <a:gdLst/>
            <a:ahLst/>
            <a:cxnLst/>
            <a:rect l="0" t="0" r="r" b="b"/>
            <a:pathLst>
              <a:path w="12489" h="27">
                <a:moveTo>
                  <a:pt x="0" y="0"/>
                </a:moveTo>
                <a:lnTo>
                  <a:pt x="12489" y="0"/>
                </a:lnTo>
                <a:lnTo>
                  <a:pt x="124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6" name="任意多边形 745"/>
          <p:cNvSpPr/>
          <p:nvPr/>
        </p:nvSpPr>
        <p:spPr>
          <a:xfrm>
            <a:off x="11439360" y="400032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7" name="任意多边形 746"/>
          <p:cNvSpPr/>
          <p:nvPr/>
        </p:nvSpPr>
        <p:spPr>
          <a:xfrm>
            <a:off x="752400" y="495288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8" name="任意多边形 747"/>
          <p:cNvSpPr/>
          <p:nvPr/>
        </p:nvSpPr>
        <p:spPr>
          <a:xfrm>
            <a:off x="752400" y="4943160"/>
            <a:ext cx="1352880" cy="10080"/>
          </a:xfrm>
          <a:custGeom>
            <a:avLst/>
            <a:gdLst/>
            <a:ahLst/>
            <a:cxn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9" name="任意多边形 748"/>
          <p:cNvSpPr/>
          <p:nvPr/>
        </p:nvSpPr>
        <p:spPr>
          <a:xfrm>
            <a:off x="2095200" y="4952880"/>
            <a:ext cx="10080" cy="952920"/>
          </a:xfrm>
          <a:custGeom>
            <a:avLst/>
            <a:gdLst/>
            <a:ahLst/>
            <a:cxnLst/>
            <a:rect l="0" t="0" r="r" b="b"/>
            <a:pathLst>
              <a:path w="28" h="2647">
                <a:moveTo>
                  <a:pt x="0" y="0"/>
                </a:moveTo>
                <a:lnTo>
                  <a:pt x="28" y="0"/>
                </a:lnTo>
                <a:lnTo>
                  <a:pt x="28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0" name="任意多边形 749"/>
          <p:cNvSpPr/>
          <p:nvPr/>
        </p:nvSpPr>
        <p:spPr>
          <a:xfrm>
            <a:off x="2104920" y="4943160"/>
            <a:ext cx="4848480" cy="10080"/>
          </a:xfrm>
          <a:custGeom>
            <a:avLst/>
            <a:gdLst/>
            <a:ahLst/>
            <a:cxnLst/>
            <a:rect l="0" t="0" r="r" b="b"/>
            <a:pathLst>
              <a:path w="13468" h="28">
                <a:moveTo>
                  <a:pt x="0" y="0"/>
                </a:moveTo>
                <a:lnTo>
                  <a:pt x="13468" y="0"/>
                </a:lnTo>
                <a:lnTo>
                  <a:pt x="13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1" name="任意多边形 750"/>
          <p:cNvSpPr/>
          <p:nvPr/>
        </p:nvSpPr>
        <p:spPr>
          <a:xfrm>
            <a:off x="6943680" y="495288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2" name="任意多边形 751"/>
          <p:cNvSpPr/>
          <p:nvPr/>
        </p:nvSpPr>
        <p:spPr>
          <a:xfrm>
            <a:off x="6953040" y="4943160"/>
            <a:ext cx="4496040" cy="10080"/>
          </a:xfrm>
          <a:custGeom>
            <a:avLst/>
            <a:gdLst/>
            <a:ahLst/>
            <a:cxn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3" name="任意多边形 752"/>
          <p:cNvSpPr/>
          <p:nvPr/>
        </p:nvSpPr>
        <p:spPr>
          <a:xfrm>
            <a:off x="11439360" y="4952880"/>
            <a:ext cx="9720" cy="952920"/>
          </a:xfrm>
          <a:custGeom>
            <a:avLst/>
            <a:gdLst/>
            <a:ahLst/>
            <a:cxnLst/>
            <a:rect l="0" t="0" r="r" b="b"/>
            <a:pathLst>
              <a:path w="27" h="2647">
                <a:moveTo>
                  <a:pt x="0" y="0"/>
                </a:moveTo>
                <a:lnTo>
                  <a:pt x="27" y="0"/>
                </a:lnTo>
                <a:lnTo>
                  <a:pt x="27" y="2647"/>
                </a:lnTo>
                <a:lnTo>
                  <a:pt x="0" y="26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4" name="任意多边形 753"/>
          <p:cNvSpPr/>
          <p:nvPr/>
        </p:nvSpPr>
        <p:spPr>
          <a:xfrm>
            <a:off x="752400" y="5895720"/>
            <a:ext cx="1352880" cy="10080"/>
          </a:xfrm>
          <a:custGeom>
            <a:avLst/>
            <a:gdLst/>
            <a:ahLst/>
            <a:cxnLst/>
            <a:rect l="0" t="0" r="r" b="b"/>
            <a:pathLst>
              <a:path w="3758" h="28">
                <a:moveTo>
                  <a:pt x="0" y="0"/>
                </a:moveTo>
                <a:lnTo>
                  <a:pt x="3758" y="0"/>
                </a:lnTo>
                <a:lnTo>
                  <a:pt x="37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5" name="任意多边形 754"/>
          <p:cNvSpPr/>
          <p:nvPr/>
        </p:nvSpPr>
        <p:spPr>
          <a:xfrm>
            <a:off x="2104920" y="5895720"/>
            <a:ext cx="4848480" cy="10080"/>
          </a:xfrm>
          <a:custGeom>
            <a:avLst/>
            <a:gdLst/>
            <a:ahLst/>
            <a:cxnLst/>
            <a:rect l="0" t="0" r="r" b="b"/>
            <a:pathLst>
              <a:path w="13468" h="28">
                <a:moveTo>
                  <a:pt x="0" y="0"/>
                </a:moveTo>
                <a:lnTo>
                  <a:pt x="13468" y="0"/>
                </a:lnTo>
                <a:lnTo>
                  <a:pt x="134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6" name="任意多边形 755"/>
          <p:cNvSpPr/>
          <p:nvPr/>
        </p:nvSpPr>
        <p:spPr>
          <a:xfrm>
            <a:off x="6953040" y="5895720"/>
            <a:ext cx="4496040" cy="10080"/>
          </a:xfrm>
          <a:custGeom>
            <a:avLst/>
            <a:gdLst/>
            <a:ahLst/>
            <a:cxnLst/>
            <a:rect l="0" t="0" r="r" b="b"/>
            <a:pathLst>
              <a:path w="12489" h="28">
                <a:moveTo>
                  <a:pt x="0" y="0"/>
                </a:moveTo>
                <a:lnTo>
                  <a:pt x="12489" y="0"/>
                </a:lnTo>
                <a:lnTo>
                  <a:pt x="124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7" name="任意多边形 756"/>
          <p:cNvSpPr/>
          <p:nvPr/>
        </p:nvSpPr>
        <p:spPr>
          <a:xfrm>
            <a:off x="757080" y="6624360"/>
            <a:ext cx="10687320" cy="233640"/>
          </a:xfrm>
          <a:custGeom>
            <a:avLst/>
            <a:gdLst/>
            <a:ahLst/>
            <a:cxnLst/>
            <a:rect l="0" t="0" r="r" b="b"/>
            <a:pathLst>
              <a:path w="29687" h="649">
                <a:moveTo>
                  <a:pt x="0" y="64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4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649"/>
                </a:lnTo>
                <a:lnTo>
                  <a:pt x="0" y="649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8" name="任意多边形 757"/>
          <p:cNvSpPr/>
          <p:nvPr/>
        </p:nvSpPr>
        <p:spPr>
          <a:xfrm>
            <a:off x="757080" y="6624360"/>
            <a:ext cx="10687320" cy="233640"/>
          </a:xfrm>
          <a:custGeom>
            <a:avLst/>
            <a:gdLst/>
            <a:ahLst/>
            <a:cxnLst/>
            <a:rect l="0" t="0" r="r" b="b"/>
            <a:pathLst>
              <a:path w="29687" h="649">
                <a:moveTo>
                  <a:pt x="0" y="649"/>
                </a:moveTo>
                <a:lnTo>
                  <a:pt x="0" y="147"/>
                </a:ln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7" y="100"/>
                  <a:pt x="11" y="91"/>
                </a:cubicBezTo>
                <a:cubicBezTo>
                  <a:pt x="15" y="82"/>
                  <a:pt x="19" y="74"/>
                  <a:pt x="24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8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50"/>
                  <a:pt x="29657" y="57"/>
                  <a:pt x="29663" y="65"/>
                </a:cubicBezTo>
                <a:cubicBezTo>
                  <a:pt x="29668" y="74"/>
                  <a:pt x="29672" y="82"/>
                  <a:pt x="29676" y="91"/>
                </a:cubicBezTo>
                <a:cubicBezTo>
                  <a:pt x="29680" y="100"/>
                  <a:pt x="29683" y="109"/>
                  <a:pt x="29684" y="118"/>
                </a:cubicBezTo>
                <a:cubicBezTo>
                  <a:pt x="29686" y="128"/>
                  <a:pt x="29687" y="137"/>
                  <a:pt x="29687" y="147"/>
                </a:cubicBezTo>
                <a:lnTo>
                  <a:pt x="29687" y="649"/>
                </a:lnTo>
                <a:lnTo>
                  <a:pt x="0" y="649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59" name="文本框 758"/>
          <p:cNvSpPr txBox="1"/>
          <p:nvPr/>
        </p:nvSpPr>
        <p:spPr>
          <a:xfrm>
            <a:off x="747720" y="123120"/>
            <a:ext cx="8704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6.7.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0" name="文本框 759"/>
          <p:cNvSpPr txBox="1"/>
          <p:nvPr/>
        </p:nvSpPr>
        <p:spPr>
          <a:xfrm>
            <a:off x="1566000" y="158040"/>
            <a:ext cx="442044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消息队列异步处理架构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1" name="任意多边形 760"/>
          <p:cNvSpPr/>
          <p:nvPr/>
        </p:nvSpPr>
        <p:spPr>
          <a:xfrm>
            <a:off x="6153120" y="448560"/>
            <a:ext cx="438480" cy="199440"/>
          </a:xfrm>
          <a:custGeom>
            <a:avLst/>
            <a:gdLst/>
            <a:ahLst/>
            <a:cxnLst/>
            <a:rect l="0" t="0" r="r" b="b"/>
            <a:pathLst>
              <a:path w="1218" h="554">
                <a:moveTo>
                  <a:pt x="1218" y="415"/>
                </a:moveTo>
                <a:cubicBezTo>
                  <a:pt x="1218" y="492"/>
                  <a:pt x="1157" y="554"/>
                  <a:pt x="1082" y="554"/>
                </a:cubicBezTo>
                <a:lnTo>
                  <a:pt x="135" y="554"/>
                </a:lnTo>
                <a:cubicBezTo>
                  <a:pt x="60" y="554"/>
                  <a:pt x="0" y="492"/>
                  <a:pt x="0" y="415"/>
                </a:cubicBezTo>
                <a:lnTo>
                  <a:pt x="0" y="104"/>
                </a:lnTo>
                <a:cubicBezTo>
                  <a:pt x="0" y="27"/>
                  <a:pt x="26" y="0"/>
                  <a:pt x="101" y="0"/>
                </a:cubicBezTo>
                <a:lnTo>
                  <a:pt x="1116" y="0"/>
                </a:lnTo>
                <a:cubicBezTo>
                  <a:pt x="1191" y="0"/>
                  <a:pt x="1218" y="27"/>
                  <a:pt x="1218" y="104"/>
                </a:cubicBezTo>
                <a:lnTo>
                  <a:pt x="1218" y="415"/>
                </a:ln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2" name="任意多边形 761"/>
          <p:cNvSpPr/>
          <p:nvPr/>
        </p:nvSpPr>
        <p:spPr>
          <a:xfrm>
            <a:off x="6286680" y="448560"/>
            <a:ext cx="171000" cy="87480"/>
          </a:xfrm>
          <a:custGeom>
            <a:avLst/>
            <a:gdLst/>
            <a:ahLst/>
            <a:cxnLst/>
            <a:rect l="0" t="0" r="r" b="b"/>
            <a:pathLst>
              <a:path w="475" h="243">
                <a:moveTo>
                  <a:pt x="475" y="0"/>
                </a:moveTo>
                <a:cubicBezTo>
                  <a:pt x="475" y="135"/>
                  <a:pt x="369" y="243"/>
                  <a:pt x="237" y="243"/>
                </a:cubicBezTo>
                <a:cubicBezTo>
                  <a:pt x="106" y="243"/>
                  <a:pt x="0" y="135"/>
                  <a:pt x="0" y="0"/>
                </a:cubicBezTo>
                <a:lnTo>
                  <a:pt x="475" y="0"/>
                </a:lnTo>
                <a:close/>
              </a:path>
            </a:pathLst>
          </a:custGeom>
          <a:solidFill>
            <a:srgbClr val="66211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3" name="任意多边形 762"/>
          <p:cNvSpPr/>
          <p:nvPr/>
        </p:nvSpPr>
        <p:spPr>
          <a:xfrm>
            <a:off x="6153120" y="597600"/>
            <a:ext cx="438480" cy="50400"/>
          </a:xfrm>
          <a:custGeom>
            <a:avLst/>
            <a:gdLst/>
            <a:ahLst/>
            <a:cxnLst/>
            <a:rect l="0" t="0" r="r" b="b"/>
            <a:pathLst>
              <a:path w="1218" h="140">
                <a:moveTo>
                  <a:pt x="1082" y="140"/>
                </a:moveTo>
                <a:cubicBezTo>
                  <a:pt x="1157" y="140"/>
                  <a:pt x="1218" y="78"/>
                  <a:pt x="1218" y="0"/>
                </a:cubicBezTo>
                <a:lnTo>
                  <a:pt x="0" y="0"/>
                </a:lnTo>
                <a:cubicBezTo>
                  <a:pt x="0" y="78"/>
                  <a:pt x="60" y="140"/>
                  <a:pt x="135" y="140"/>
                </a:cubicBezTo>
                <a:lnTo>
                  <a:pt x="1082" y="140"/>
                </a:lnTo>
                <a:close/>
              </a:path>
            </a:pathLst>
          </a:custGeom>
          <a:solidFill>
            <a:srgbClr val="C169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4" name="任意多边形 763"/>
          <p:cNvSpPr/>
          <p:nvPr/>
        </p:nvSpPr>
        <p:spPr>
          <a:xfrm>
            <a:off x="6251040" y="199800"/>
            <a:ext cx="241920" cy="224280"/>
          </a:xfrm>
          <a:custGeom>
            <a:avLst/>
            <a:gdLst/>
            <a:ahLst/>
            <a:cxnLst/>
            <a:rect l="0" t="0" r="r" b="b"/>
            <a:pathLst>
              <a:path w="672" h="623">
                <a:moveTo>
                  <a:pt x="656" y="294"/>
                </a:moveTo>
                <a:lnTo>
                  <a:pt x="389" y="23"/>
                </a:lnTo>
                <a:cubicBezTo>
                  <a:pt x="375" y="8"/>
                  <a:pt x="357" y="1"/>
                  <a:pt x="338" y="0"/>
                </a:cubicBezTo>
                <a:lnTo>
                  <a:pt x="334" y="0"/>
                </a:lnTo>
                <a:cubicBezTo>
                  <a:pt x="316" y="1"/>
                  <a:pt x="297" y="8"/>
                  <a:pt x="283" y="23"/>
                </a:cubicBezTo>
                <a:lnTo>
                  <a:pt x="17" y="294"/>
                </a:lnTo>
                <a:cubicBezTo>
                  <a:pt x="-12" y="324"/>
                  <a:pt x="-2" y="346"/>
                  <a:pt x="39" y="346"/>
                </a:cubicBezTo>
                <a:lnTo>
                  <a:pt x="201" y="346"/>
                </a:lnTo>
                <a:lnTo>
                  <a:pt x="201" y="554"/>
                </a:lnTo>
                <a:cubicBezTo>
                  <a:pt x="201" y="592"/>
                  <a:pt x="231" y="623"/>
                  <a:pt x="269" y="623"/>
                </a:cubicBezTo>
                <a:lnTo>
                  <a:pt x="404" y="623"/>
                </a:lnTo>
                <a:cubicBezTo>
                  <a:pt x="442" y="623"/>
                  <a:pt x="472" y="592"/>
                  <a:pt x="472" y="554"/>
                </a:cubicBezTo>
                <a:lnTo>
                  <a:pt x="472" y="346"/>
                </a:lnTo>
                <a:lnTo>
                  <a:pt x="634" y="346"/>
                </a:lnTo>
                <a:cubicBezTo>
                  <a:pt x="675" y="346"/>
                  <a:pt x="685" y="324"/>
                  <a:pt x="656" y="294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5" name="文本框 764"/>
          <p:cNvSpPr txBox="1"/>
          <p:nvPr/>
        </p:nvSpPr>
        <p:spPr>
          <a:xfrm>
            <a:off x="598572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6" name="文本框 765"/>
          <p:cNvSpPr txBox="1"/>
          <p:nvPr/>
        </p:nvSpPr>
        <p:spPr>
          <a:xfrm>
            <a:off x="747720" y="10191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为什么引⼊消息队列？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7" name="文本框 766"/>
          <p:cNvSpPr txBox="1"/>
          <p:nvPr/>
        </p:nvSpPr>
        <p:spPr>
          <a:xfrm>
            <a:off x="114804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问题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8" name="文本框 767"/>
          <p:cNvSpPr txBox="1"/>
          <p:nvPr/>
        </p:nvSpPr>
        <p:spPr>
          <a:xfrm>
            <a:off x="3555360" y="16477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同步⽀付的痛点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69" name="文本框 768"/>
          <p:cNvSpPr txBox="1"/>
          <p:nvPr/>
        </p:nvSpPr>
        <p:spPr>
          <a:xfrm>
            <a:off x="7950960" y="164772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消息队列的解决⽅案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0" name="文本框 769"/>
          <p:cNvSpPr txBox="1"/>
          <p:nvPr/>
        </p:nvSpPr>
        <p:spPr>
          <a:xfrm>
            <a:off x="880920" y="24001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响应慢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1" name="文本框 770"/>
          <p:cNvSpPr txBox="1"/>
          <p:nvPr/>
        </p:nvSpPr>
        <p:spPr>
          <a:xfrm>
            <a:off x="2224800" y="240012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⽤⼾等待库存扣减完成（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2" name="文本框 771"/>
          <p:cNvSpPr txBox="1"/>
          <p:nvPr/>
        </p:nvSpPr>
        <p:spPr>
          <a:xfrm>
            <a:off x="5263200" y="2378520"/>
            <a:ext cx="13579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300-500ms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3" name="文本框 772"/>
          <p:cNvSpPr txBox="1"/>
          <p:nvPr/>
        </p:nvSpPr>
        <p:spPr>
          <a:xfrm>
            <a:off x="6622200" y="24001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4" name="文本框 773"/>
          <p:cNvSpPr txBox="1"/>
          <p:nvPr/>
        </p:nvSpPr>
        <p:spPr>
          <a:xfrm>
            <a:off x="7076880" y="21906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⽴即返回成功（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5" name="文本框 774"/>
          <p:cNvSpPr txBox="1"/>
          <p:nvPr/>
        </p:nvSpPr>
        <p:spPr>
          <a:xfrm>
            <a:off x="9010440" y="2169000"/>
            <a:ext cx="841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&lt;50ms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6" name="文本框 775"/>
          <p:cNvSpPr txBox="1"/>
          <p:nvPr/>
        </p:nvSpPr>
        <p:spPr>
          <a:xfrm>
            <a:off x="9852120" y="21906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），异步处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7" name="文本框 776"/>
          <p:cNvSpPr txBox="1"/>
          <p:nvPr/>
        </p:nvSpPr>
        <p:spPr>
          <a:xfrm>
            <a:off x="7076880" y="26002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8" name="文本框 777"/>
          <p:cNvSpPr txBox="1"/>
          <p:nvPr/>
        </p:nvSpPr>
        <p:spPr>
          <a:xfrm>
            <a:off x="880920" y="314316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峰值压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9" name="文本框 778"/>
          <p:cNvSpPr txBox="1"/>
          <p:nvPr/>
        </p:nvSpPr>
        <p:spPr>
          <a:xfrm>
            <a:off x="880920" y="35528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⼒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0" name="文本框 779"/>
          <p:cNvSpPr txBox="1"/>
          <p:nvPr/>
        </p:nvSpPr>
        <p:spPr>
          <a:xfrm>
            <a:off x="2224800" y="335268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⾼并发时数据库压⼒⼤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1" name="文本框 780"/>
          <p:cNvSpPr txBox="1"/>
          <p:nvPr/>
        </p:nvSpPr>
        <p:spPr>
          <a:xfrm>
            <a:off x="7076880" y="335268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削峰填⾕，平滑处理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2" name="文本框 781"/>
          <p:cNvSpPr txBox="1"/>
          <p:nvPr/>
        </p:nvSpPr>
        <p:spPr>
          <a:xfrm>
            <a:off x="880920" y="40957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失败处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3" name="文本框 782"/>
          <p:cNvSpPr txBox="1"/>
          <p:nvPr/>
        </p:nvSpPr>
        <p:spPr>
          <a:xfrm>
            <a:off x="880920" y="4505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理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4" name="文本框 783"/>
          <p:cNvSpPr txBox="1"/>
          <p:nvPr/>
        </p:nvSpPr>
        <p:spPr>
          <a:xfrm>
            <a:off x="2224800" y="430524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⼀次失败就返回错误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5" name="文本框 784"/>
          <p:cNvSpPr txBox="1"/>
          <p:nvPr/>
        </p:nvSpPr>
        <p:spPr>
          <a:xfrm>
            <a:off x="7076880" y="430524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⾃动重试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6" name="文本框 785"/>
          <p:cNvSpPr txBox="1"/>
          <p:nvPr/>
        </p:nvSpPr>
        <p:spPr>
          <a:xfrm>
            <a:off x="8181720" y="4283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7" name="文本框 786"/>
          <p:cNvSpPr txBox="1"/>
          <p:nvPr/>
        </p:nvSpPr>
        <p:spPr>
          <a:xfrm>
            <a:off x="8330400" y="430524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次（指数退避）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8" name="文本框 787"/>
          <p:cNvSpPr txBox="1"/>
          <p:nvPr/>
        </p:nvSpPr>
        <p:spPr>
          <a:xfrm>
            <a:off x="880920" y="504828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耦合度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89" name="文本框 788"/>
          <p:cNvSpPr txBox="1"/>
          <p:nvPr/>
        </p:nvSpPr>
        <p:spPr>
          <a:xfrm>
            <a:off x="880920" y="54579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⾼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0" name="文本框 789"/>
          <p:cNvSpPr txBox="1"/>
          <p:nvPr/>
        </p:nvSpPr>
        <p:spPr>
          <a:xfrm>
            <a:off x="2224800" y="525780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⽀付和库存扣减紧耦合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1" name="文本框 790"/>
          <p:cNvSpPr txBox="1"/>
          <p:nvPr/>
        </p:nvSpPr>
        <p:spPr>
          <a:xfrm>
            <a:off x="7076880" y="5257800"/>
            <a:ext cx="3862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解耦，⽀付不依赖库存处理完成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2" name="文本框 791"/>
          <p:cNvSpPr txBox="1"/>
          <p:nvPr/>
        </p:nvSpPr>
        <p:spPr>
          <a:xfrm>
            <a:off x="747720" y="609588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消息队列架构（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3" name="文本框 792"/>
          <p:cNvSpPr txBox="1"/>
          <p:nvPr/>
        </p:nvSpPr>
        <p:spPr>
          <a:xfrm>
            <a:off x="2681280" y="6074280"/>
            <a:ext cx="1548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Bull + Redis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4" name="文本框 793"/>
          <p:cNvSpPr txBox="1"/>
          <p:nvPr/>
        </p:nvSpPr>
        <p:spPr>
          <a:xfrm>
            <a:off x="4166280" y="60958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5" name="文本框 794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任意多边形 7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7" name="任意多边形 7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8" name="任意多边形 7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99" name="任意多边形 798"/>
          <p:cNvSpPr/>
          <p:nvPr/>
        </p:nvSpPr>
        <p:spPr>
          <a:xfrm>
            <a:off x="752400" y="1552320"/>
            <a:ext cx="4410360" cy="533880"/>
          </a:xfrm>
          <a:custGeom>
            <a:avLst/>
            <a:gdLst/>
            <a:ahLst/>
            <a:cxn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0" name="任意多边形 799"/>
          <p:cNvSpPr/>
          <p:nvPr/>
        </p:nvSpPr>
        <p:spPr>
          <a:xfrm>
            <a:off x="5162400" y="1552320"/>
            <a:ext cx="2381400" cy="533880"/>
          </a:xfrm>
          <a:custGeom>
            <a:avLst/>
            <a:gdLst/>
            <a:ahLst/>
            <a:cxnLst/>
            <a:rect l="0" t="0" r="r" b="b"/>
            <a:pathLst>
              <a:path w="6615" h="1483">
                <a:moveTo>
                  <a:pt x="0" y="0"/>
                </a:moveTo>
                <a:lnTo>
                  <a:pt x="6615" y="0"/>
                </a:lnTo>
                <a:lnTo>
                  <a:pt x="66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1" name="任意多边形 800"/>
          <p:cNvSpPr/>
          <p:nvPr/>
        </p:nvSpPr>
        <p:spPr>
          <a:xfrm>
            <a:off x="7543440" y="1552320"/>
            <a:ext cx="2439000" cy="533880"/>
          </a:xfrm>
          <a:custGeom>
            <a:avLst/>
            <a:gdLst/>
            <a:ahLst/>
            <a:cxnLst/>
            <a:rect l="0" t="0" r="r" b="b"/>
            <a:pathLst>
              <a:path w="6775" h="1483">
                <a:moveTo>
                  <a:pt x="0" y="0"/>
                </a:moveTo>
                <a:lnTo>
                  <a:pt x="6775" y="0"/>
                </a:lnTo>
                <a:lnTo>
                  <a:pt x="677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2" name="任意多边形 801"/>
          <p:cNvSpPr/>
          <p:nvPr/>
        </p:nvSpPr>
        <p:spPr>
          <a:xfrm>
            <a:off x="752400" y="2085840"/>
            <a:ext cx="4410360" cy="543240"/>
          </a:xfrm>
          <a:custGeom>
            <a:avLst/>
            <a:gdLst/>
            <a:ahLst/>
            <a:cxn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3" name="任意多边形 802"/>
          <p:cNvSpPr/>
          <p:nvPr/>
        </p:nvSpPr>
        <p:spPr>
          <a:xfrm>
            <a:off x="5162400" y="2085840"/>
            <a:ext cx="2381400" cy="543240"/>
          </a:xfrm>
          <a:custGeom>
            <a:avLst/>
            <a:gdLst/>
            <a:ahLst/>
            <a:cxnLst/>
            <a:rect l="0" t="0" r="r" b="b"/>
            <a:pathLst>
              <a:path w="6615" h="1509">
                <a:moveTo>
                  <a:pt x="0" y="0"/>
                </a:moveTo>
                <a:lnTo>
                  <a:pt x="6615" y="0"/>
                </a:lnTo>
                <a:lnTo>
                  <a:pt x="66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4" name="任意多边形 803"/>
          <p:cNvSpPr/>
          <p:nvPr/>
        </p:nvSpPr>
        <p:spPr>
          <a:xfrm>
            <a:off x="7543440" y="2085840"/>
            <a:ext cx="2439000" cy="543240"/>
          </a:xfrm>
          <a:custGeom>
            <a:avLst/>
            <a:gdLst/>
            <a:ahLst/>
            <a:cxnLst/>
            <a:rect l="0" t="0" r="r" b="b"/>
            <a:pathLst>
              <a:path w="6775" h="1509">
                <a:moveTo>
                  <a:pt x="0" y="0"/>
                </a:moveTo>
                <a:lnTo>
                  <a:pt x="6775" y="0"/>
                </a:lnTo>
                <a:lnTo>
                  <a:pt x="67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5" name="任意多边形 804"/>
          <p:cNvSpPr/>
          <p:nvPr/>
        </p:nvSpPr>
        <p:spPr>
          <a:xfrm>
            <a:off x="752400" y="2628720"/>
            <a:ext cx="4410360" cy="533880"/>
          </a:xfrm>
          <a:custGeom>
            <a:avLst/>
            <a:gdLst/>
            <a:ahLst/>
            <a:cxnLst/>
            <a:rect l="0" t="0" r="r" b="b"/>
            <a:pathLst>
              <a:path w="12251" h="1483">
                <a:moveTo>
                  <a:pt x="0" y="0"/>
                </a:moveTo>
                <a:lnTo>
                  <a:pt x="12251" y="0"/>
                </a:lnTo>
                <a:lnTo>
                  <a:pt x="12251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6" name="任意多边形 805"/>
          <p:cNvSpPr/>
          <p:nvPr/>
        </p:nvSpPr>
        <p:spPr>
          <a:xfrm>
            <a:off x="5162400" y="2628720"/>
            <a:ext cx="2381400" cy="533880"/>
          </a:xfrm>
          <a:custGeom>
            <a:avLst/>
            <a:gdLst/>
            <a:ahLst/>
            <a:cxnLst/>
            <a:rect l="0" t="0" r="r" b="b"/>
            <a:pathLst>
              <a:path w="6615" h="1483">
                <a:moveTo>
                  <a:pt x="0" y="0"/>
                </a:moveTo>
                <a:lnTo>
                  <a:pt x="6615" y="0"/>
                </a:lnTo>
                <a:lnTo>
                  <a:pt x="66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7" name="任意多边形 806"/>
          <p:cNvSpPr/>
          <p:nvPr/>
        </p:nvSpPr>
        <p:spPr>
          <a:xfrm>
            <a:off x="7543440" y="2628720"/>
            <a:ext cx="2439000" cy="533880"/>
          </a:xfrm>
          <a:custGeom>
            <a:avLst/>
            <a:gdLst/>
            <a:ahLst/>
            <a:cxnLst/>
            <a:rect l="0" t="0" r="r" b="b"/>
            <a:pathLst>
              <a:path w="6775" h="1483">
                <a:moveTo>
                  <a:pt x="0" y="0"/>
                </a:moveTo>
                <a:lnTo>
                  <a:pt x="6775" y="0"/>
                </a:lnTo>
                <a:lnTo>
                  <a:pt x="677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8" name="任意多边形 807"/>
          <p:cNvSpPr/>
          <p:nvPr/>
        </p:nvSpPr>
        <p:spPr>
          <a:xfrm>
            <a:off x="752400" y="3162240"/>
            <a:ext cx="4410360" cy="543240"/>
          </a:xfrm>
          <a:custGeom>
            <a:avLst/>
            <a:gdLst/>
            <a:ahLst/>
            <a:cxnLst/>
            <a:rect l="0" t="0" r="r" b="b"/>
            <a:pathLst>
              <a:path w="12251" h="1509">
                <a:moveTo>
                  <a:pt x="0" y="0"/>
                </a:moveTo>
                <a:lnTo>
                  <a:pt x="12251" y="0"/>
                </a:lnTo>
                <a:lnTo>
                  <a:pt x="12251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9" name="任意多边形 808"/>
          <p:cNvSpPr/>
          <p:nvPr/>
        </p:nvSpPr>
        <p:spPr>
          <a:xfrm>
            <a:off x="5162400" y="3162240"/>
            <a:ext cx="2381400" cy="543240"/>
          </a:xfrm>
          <a:custGeom>
            <a:avLst/>
            <a:gdLst/>
            <a:ahLst/>
            <a:cxnLst/>
            <a:rect l="0" t="0" r="r" b="b"/>
            <a:pathLst>
              <a:path w="6615" h="1509">
                <a:moveTo>
                  <a:pt x="0" y="0"/>
                </a:moveTo>
                <a:lnTo>
                  <a:pt x="6615" y="0"/>
                </a:lnTo>
                <a:lnTo>
                  <a:pt x="66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0" name="任意多边形 809"/>
          <p:cNvSpPr/>
          <p:nvPr/>
        </p:nvSpPr>
        <p:spPr>
          <a:xfrm>
            <a:off x="7543440" y="3162240"/>
            <a:ext cx="2439000" cy="543240"/>
          </a:xfrm>
          <a:custGeom>
            <a:avLst/>
            <a:gdLst/>
            <a:ahLst/>
            <a:cxnLst/>
            <a:rect l="0" t="0" r="r" b="b"/>
            <a:pathLst>
              <a:path w="6775" h="1509">
                <a:moveTo>
                  <a:pt x="0" y="0"/>
                </a:moveTo>
                <a:lnTo>
                  <a:pt x="6775" y="0"/>
                </a:lnTo>
                <a:lnTo>
                  <a:pt x="677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1" name="任意多边形 810"/>
          <p:cNvSpPr/>
          <p:nvPr/>
        </p:nvSpPr>
        <p:spPr>
          <a:xfrm>
            <a:off x="752400" y="3705120"/>
            <a:ext cx="4410360" cy="533520"/>
          </a:xfrm>
          <a:custGeom>
            <a:avLst/>
            <a:gdLst/>
            <a:ahLst/>
            <a:cxnLst/>
            <a:rect l="0" t="0" r="r" b="b"/>
            <a:pathLst>
              <a:path w="12251" h="1482">
                <a:moveTo>
                  <a:pt x="0" y="0"/>
                </a:moveTo>
                <a:lnTo>
                  <a:pt x="12251" y="0"/>
                </a:lnTo>
                <a:lnTo>
                  <a:pt x="12251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2" name="任意多边形 811"/>
          <p:cNvSpPr/>
          <p:nvPr/>
        </p:nvSpPr>
        <p:spPr>
          <a:xfrm>
            <a:off x="5162400" y="3705120"/>
            <a:ext cx="2381400" cy="533520"/>
          </a:xfrm>
          <a:custGeom>
            <a:avLst/>
            <a:gdLst/>
            <a:ahLst/>
            <a:cxnLst/>
            <a:rect l="0" t="0" r="r" b="b"/>
            <a:pathLst>
              <a:path w="6615" h="1482">
                <a:moveTo>
                  <a:pt x="0" y="0"/>
                </a:moveTo>
                <a:lnTo>
                  <a:pt x="6615" y="0"/>
                </a:lnTo>
                <a:lnTo>
                  <a:pt x="661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3" name="任意多边形 812"/>
          <p:cNvSpPr/>
          <p:nvPr/>
        </p:nvSpPr>
        <p:spPr>
          <a:xfrm>
            <a:off x="7543440" y="3705120"/>
            <a:ext cx="2439000" cy="533520"/>
          </a:xfrm>
          <a:custGeom>
            <a:avLst/>
            <a:gdLst/>
            <a:ahLst/>
            <a:cxnLst/>
            <a:rect l="0" t="0" r="r" b="b"/>
            <a:pathLst>
              <a:path w="6775" h="1482">
                <a:moveTo>
                  <a:pt x="0" y="0"/>
                </a:moveTo>
                <a:lnTo>
                  <a:pt x="6775" y="0"/>
                </a:lnTo>
                <a:lnTo>
                  <a:pt x="6775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4" name="任意多边形 813"/>
          <p:cNvSpPr/>
          <p:nvPr/>
        </p:nvSpPr>
        <p:spPr>
          <a:xfrm>
            <a:off x="752400" y="1542960"/>
            <a:ext cx="9720" cy="552600"/>
          </a:xfrm>
          <a:custGeom>
            <a:avLst/>
            <a:gdLst/>
            <a:ahLst/>
            <a:cxnLst/>
            <a:rect l="0" t="0" r="r" b="b"/>
            <a:pathLst>
              <a:path w="27" h="1535">
                <a:moveTo>
                  <a:pt x="0" y="0"/>
                </a:moveTo>
                <a:lnTo>
                  <a:pt x="27" y="0"/>
                </a:lnTo>
                <a:lnTo>
                  <a:pt x="27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5" name="任意多边形 814"/>
          <p:cNvSpPr/>
          <p:nvPr/>
        </p:nvSpPr>
        <p:spPr>
          <a:xfrm>
            <a:off x="752400" y="1542960"/>
            <a:ext cx="4410360" cy="9720"/>
          </a:xfrm>
          <a:custGeom>
            <a:avLst/>
            <a:gdLst/>
            <a:ahLst/>
            <a:cxn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6" name="任意多边形 815"/>
          <p:cNvSpPr/>
          <p:nvPr/>
        </p:nvSpPr>
        <p:spPr>
          <a:xfrm>
            <a:off x="5152680" y="154296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7" name="任意多边形 816"/>
          <p:cNvSpPr/>
          <p:nvPr/>
        </p:nvSpPr>
        <p:spPr>
          <a:xfrm>
            <a:off x="5162400" y="1542960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8" name="任意多边形 817"/>
          <p:cNvSpPr/>
          <p:nvPr/>
        </p:nvSpPr>
        <p:spPr>
          <a:xfrm>
            <a:off x="7543440" y="154296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9" name="任意多边形 818"/>
          <p:cNvSpPr/>
          <p:nvPr/>
        </p:nvSpPr>
        <p:spPr>
          <a:xfrm>
            <a:off x="7553160" y="1542960"/>
            <a:ext cx="2429280" cy="9720"/>
          </a:xfrm>
          <a:custGeom>
            <a:avLst/>
            <a:gdLst/>
            <a:ahLst/>
            <a:cxn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0" name="任意多边形 819"/>
          <p:cNvSpPr/>
          <p:nvPr/>
        </p:nvSpPr>
        <p:spPr>
          <a:xfrm>
            <a:off x="9972360" y="1542960"/>
            <a:ext cx="10080" cy="552600"/>
          </a:xfrm>
          <a:custGeom>
            <a:avLst/>
            <a:gdLst/>
            <a:ahLst/>
            <a:cxnLst/>
            <a:rect l="0" t="0" r="r" b="b"/>
            <a:pathLst>
              <a:path w="28" h="1535">
                <a:moveTo>
                  <a:pt x="0" y="0"/>
                </a:moveTo>
                <a:lnTo>
                  <a:pt x="28" y="0"/>
                </a:lnTo>
                <a:lnTo>
                  <a:pt x="28" y="1535"/>
                </a:lnTo>
                <a:lnTo>
                  <a:pt x="0" y="153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1" name="任意多边形 820"/>
          <p:cNvSpPr/>
          <p:nvPr/>
        </p:nvSpPr>
        <p:spPr>
          <a:xfrm>
            <a:off x="752400" y="2085840"/>
            <a:ext cx="4410360" cy="9720"/>
          </a:xfrm>
          <a:custGeom>
            <a:avLst/>
            <a:gdLst/>
            <a:ahLst/>
            <a:cxn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2" name="任意多边形 821"/>
          <p:cNvSpPr/>
          <p:nvPr/>
        </p:nvSpPr>
        <p:spPr>
          <a:xfrm>
            <a:off x="5162400" y="2085840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3" name="任意多边形 822"/>
          <p:cNvSpPr/>
          <p:nvPr/>
        </p:nvSpPr>
        <p:spPr>
          <a:xfrm>
            <a:off x="7553160" y="2085840"/>
            <a:ext cx="2429280" cy="9720"/>
          </a:xfrm>
          <a:custGeom>
            <a:avLst/>
            <a:gdLst/>
            <a:ahLst/>
            <a:cxn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4" name="任意多边形 823"/>
          <p:cNvSpPr/>
          <p:nvPr/>
        </p:nvSpPr>
        <p:spPr>
          <a:xfrm>
            <a:off x="752400" y="20952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5" name="任意多边形 824"/>
          <p:cNvSpPr/>
          <p:nvPr/>
        </p:nvSpPr>
        <p:spPr>
          <a:xfrm>
            <a:off x="5152680" y="20952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6" name="任意多边形 825"/>
          <p:cNvSpPr/>
          <p:nvPr/>
        </p:nvSpPr>
        <p:spPr>
          <a:xfrm>
            <a:off x="7543440" y="20952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7" name="任意多边形 826"/>
          <p:cNvSpPr/>
          <p:nvPr/>
        </p:nvSpPr>
        <p:spPr>
          <a:xfrm>
            <a:off x="9972360" y="20952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8" name="任意多边形 827"/>
          <p:cNvSpPr/>
          <p:nvPr/>
        </p:nvSpPr>
        <p:spPr>
          <a:xfrm>
            <a:off x="752400" y="26287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9" name="任意多边形 828"/>
          <p:cNvSpPr/>
          <p:nvPr/>
        </p:nvSpPr>
        <p:spPr>
          <a:xfrm>
            <a:off x="752400" y="2619360"/>
            <a:ext cx="4410360" cy="9720"/>
          </a:xfrm>
          <a:custGeom>
            <a:avLst/>
            <a:gdLst/>
            <a:ahLst/>
            <a:cxn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0" name="任意多边形 829"/>
          <p:cNvSpPr/>
          <p:nvPr/>
        </p:nvSpPr>
        <p:spPr>
          <a:xfrm>
            <a:off x="5152680" y="26287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1" name="任意多边形 830"/>
          <p:cNvSpPr/>
          <p:nvPr/>
        </p:nvSpPr>
        <p:spPr>
          <a:xfrm>
            <a:off x="5162400" y="2619360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2" name="任意多边形 831"/>
          <p:cNvSpPr/>
          <p:nvPr/>
        </p:nvSpPr>
        <p:spPr>
          <a:xfrm>
            <a:off x="7543440" y="26287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3" name="任意多边形 832"/>
          <p:cNvSpPr/>
          <p:nvPr/>
        </p:nvSpPr>
        <p:spPr>
          <a:xfrm>
            <a:off x="7553160" y="2619360"/>
            <a:ext cx="2429280" cy="9720"/>
          </a:xfrm>
          <a:custGeom>
            <a:avLst/>
            <a:gdLst/>
            <a:ahLst/>
            <a:cxn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4" name="任意多边形 833"/>
          <p:cNvSpPr/>
          <p:nvPr/>
        </p:nvSpPr>
        <p:spPr>
          <a:xfrm>
            <a:off x="9972360" y="26287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5" name="任意多边形 834"/>
          <p:cNvSpPr/>
          <p:nvPr/>
        </p:nvSpPr>
        <p:spPr>
          <a:xfrm>
            <a:off x="752400" y="317160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6" name="任意多边形 835"/>
          <p:cNvSpPr/>
          <p:nvPr/>
        </p:nvSpPr>
        <p:spPr>
          <a:xfrm>
            <a:off x="752400" y="3162240"/>
            <a:ext cx="4410360" cy="9720"/>
          </a:xfrm>
          <a:custGeom>
            <a:avLst/>
            <a:gdLst/>
            <a:ahLst/>
            <a:cxnLst/>
            <a:rect l="0" t="0" r="r" b="b"/>
            <a:pathLst>
              <a:path w="12251" h="27">
                <a:moveTo>
                  <a:pt x="0" y="0"/>
                </a:moveTo>
                <a:lnTo>
                  <a:pt x="12251" y="0"/>
                </a:lnTo>
                <a:lnTo>
                  <a:pt x="122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7" name="任意多边形 836"/>
          <p:cNvSpPr/>
          <p:nvPr/>
        </p:nvSpPr>
        <p:spPr>
          <a:xfrm>
            <a:off x="5152680" y="31716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8" name="任意多边形 837"/>
          <p:cNvSpPr/>
          <p:nvPr/>
        </p:nvSpPr>
        <p:spPr>
          <a:xfrm>
            <a:off x="5162400" y="3162240"/>
            <a:ext cx="2391120" cy="9720"/>
          </a:xfrm>
          <a:custGeom>
            <a:avLst/>
            <a:gdLst/>
            <a:ahLst/>
            <a:cxnLst/>
            <a:rect l="0" t="0" r="r" b="b"/>
            <a:pathLst>
              <a:path w="6642" h="27">
                <a:moveTo>
                  <a:pt x="0" y="0"/>
                </a:moveTo>
                <a:lnTo>
                  <a:pt x="6642" y="0"/>
                </a:lnTo>
                <a:lnTo>
                  <a:pt x="66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9" name="任意多边形 838"/>
          <p:cNvSpPr/>
          <p:nvPr/>
        </p:nvSpPr>
        <p:spPr>
          <a:xfrm>
            <a:off x="7543440" y="31716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0" name="任意多边形 839"/>
          <p:cNvSpPr/>
          <p:nvPr/>
        </p:nvSpPr>
        <p:spPr>
          <a:xfrm>
            <a:off x="7553160" y="3162240"/>
            <a:ext cx="2429280" cy="9720"/>
          </a:xfrm>
          <a:custGeom>
            <a:avLst/>
            <a:gdLst/>
            <a:ahLst/>
            <a:cxnLst/>
            <a:rect l="0" t="0" r="r" b="b"/>
            <a:pathLst>
              <a:path w="6748" h="27">
                <a:moveTo>
                  <a:pt x="0" y="0"/>
                </a:moveTo>
                <a:lnTo>
                  <a:pt x="6748" y="0"/>
                </a:lnTo>
                <a:lnTo>
                  <a:pt x="67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1" name="任意多边形 840"/>
          <p:cNvSpPr/>
          <p:nvPr/>
        </p:nvSpPr>
        <p:spPr>
          <a:xfrm>
            <a:off x="9972360" y="317160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2" name="任意多边形 841"/>
          <p:cNvSpPr/>
          <p:nvPr/>
        </p:nvSpPr>
        <p:spPr>
          <a:xfrm>
            <a:off x="752400" y="37051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3" name="任意多边形 842"/>
          <p:cNvSpPr/>
          <p:nvPr/>
        </p:nvSpPr>
        <p:spPr>
          <a:xfrm>
            <a:off x="752400" y="3695400"/>
            <a:ext cx="4410360" cy="10080"/>
          </a:xfrm>
          <a:custGeom>
            <a:avLst/>
            <a:gdLst/>
            <a:ahLst/>
            <a:cxnLst/>
            <a:rect l="0" t="0" r="r" b="b"/>
            <a:pathLst>
              <a:path w="12251" h="28">
                <a:moveTo>
                  <a:pt x="0" y="0"/>
                </a:moveTo>
                <a:lnTo>
                  <a:pt x="12251" y="0"/>
                </a:lnTo>
                <a:lnTo>
                  <a:pt x="12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4" name="任意多边形 843"/>
          <p:cNvSpPr/>
          <p:nvPr/>
        </p:nvSpPr>
        <p:spPr>
          <a:xfrm>
            <a:off x="5152680" y="37051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5" name="任意多边形 844"/>
          <p:cNvSpPr/>
          <p:nvPr/>
        </p:nvSpPr>
        <p:spPr>
          <a:xfrm>
            <a:off x="5162400" y="3695400"/>
            <a:ext cx="2391120" cy="10080"/>
          </a:xfrm>
          <a:custGeom>
            <a:avLst/>
            <a:gdLst/>
            <a:ahLst/>
            <a:cxn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6" name="任意多边形 845"/>
          <p:cNvSpPr/>
          <p:nvPr/>
        </p:nvSpPr>
        <p:spPr>
          <a:xfrm>
            <a:off x="7543440" y="37051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7" name="任意多边形 846"/>
          <p:cNvSpPr/>
          <p:nvPr/>
        </p:nvSpPr>
        <p:spPr>
          <a:xfrm>
            <a:off x="7553160" y="3695400"/>
            <a:ext cx="2429280" cy="10080"/>
          </a:xfrm>
          <a:custGeom>
            <a:avLst/>
            <a:gdLst/>
            <a:ahLst/>
            <a:cxnLst/>
            <a:rect l="0" t="0" r="r" b="b"/>
            <a:pathLst>
              <a:path w="6748" h="28">
                <a:moveTo>
                  <a:pt x="0" y="0"/>
                </a:moveTo>
                <a:lnTo>
                  <a:pt x="6748" y="0"/>
                </a:lnTo>
                <a:lnTo>
                  <a:pt x="6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8" name="任意多边形 847"/>
          <p:cNvSpPr/>
          <p:nvPr/>
        </p:nvSpPr>
        <p:spPr>
          <a:xfrm>
            <a:off x="9972360" y="37051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9" name="任意多边形 848"/>
          <p:cNvSpPr/>
          <p:nvPr/>
        </p:nvSpPr>
        <p:spPr>
          <a:xfrm>
            <a:off x="752400" y="4238280"/>
            <a:ext cx="4410360" cy="10080"/>
          </a:xfrm>
          <a:custGeom>
            <a:avLst/>
            <a:gdLst/>
            <a:ahLst/>
            <a:cxnLst/>
            <a:rect l="0" t="0" r="r" b="b"/>
            <a:pathLst>
              <a:path w="12251" h="28">
                <a:moveTo>
                  <a:pt x="0" y="0"/>
                </a:moveTo>
                <a:lnTo>
                  <a:pt x="12251" y="0"/>
                </a:lnTo>
                <a:lnTo>
                  <a:pt x="122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0" name="任意多边形 849"/>
          <p:cNvSpPr/>
          <p:nvPr/>
        </p:nvSpPr>
        <p:spPr>
          <a:xfrm>
            <a:off x="5162400" y="4238280"/>
            <a:ext cx="2391120" cy="10080"/>
          </a:xfrm>
          <a:custGeom>
            <a:avLst/>
            <a:gdLst/>
            <a:ahLst/>
            <a:cxnLst/>
            <a:rect l="0" t="0" r="r" b="b"/>
            <a:pathLst>
              <a:path w="6642" h="28">
                <a:moveTo>
                  <a:pt x="0" y="0"/>
                </a:moveTo>
                <a:lnTo>
                  <a:pt x="6642" y="0"/>
                </a:lnTo>
                <a:lnTo>
                  <a:pt x="66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1" name="任意多边形 850"/>
          <p:cNvSpPr/>
          <p:nvPr/>
        </p:nvSpPr>
        <p:spPr>
          <a:xfrm>
            <a:off x="7553160" y="4238280"/>
            <a:ext cx="2429280" cy="10080"/>
          </a:xfrm>
          <a:custGeom>
            <a:avLst/>
            <a:gdLst/>
            <a:ahLst/>
            <a:cxnLst/>
            <a:rect l="0" t="0" r="r" b="b"/>
            <a:pathLst>
              <a:path w="6748" h="28">
                <a:moveTo>
                  <a:pt x="0" y="0"/>
                </a:moveTo>
                <a:lnTo>
                  <a:pt x="6748" y="0"/>
                </a:lnTo>
                <a:lnTo>
                  <a:pt x="67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2" name="任意多边形 851"/>
          <p:cNvSpPr/>
          <p:nvPr/>
        </p:nvSpPr>
        <p:spPr>
          <a:xfrm>
            <a:off x="757080" y="496728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>
                <a:moveTo>
                  <a:pt x="0" y="4485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4485"/>
                </a:lnTo>
                <a:cubicBezTo>
                  <a:pt x="29687" y="4495"/>
                  <a:pt x="29686" y="4504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1"/>
                  <a:pt x="29645" y="4588"/>
                </a:cubicBezTo>
                <a:cubicBezTo>
                  <a:pt x="29638" y="4595"/>
                  <a:pt x="29630" y="4601"/>
                  <a:pt x="29623" y="4606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3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1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3" name="任意多边形 852"/>
          <p:cNvSpPr/>
          <p:nvPr/>
        </p:nvSpPr>
        <p:spPr>
          <a:xfrm>
            <a:off x="757080" y="4967280"/>
            <a:ext cx="10687320" cy="1667160"/>
          </a:xfrm>
          <a:custGeom>
            <a:avLst/>
            <a:gdLst/>
            <a:ahLst/>
            <a:cxnLst/>
            <a:rect l="0" t="0" r="r" b="b"/>
            <a:pathLst>
              <a:path w="29687" h="4631">
                <a:moveTo>
                  <a:pt x="0" y="4485"/>
                </a:moveTo>
                <a:lnTo>
                  <a:pt x="0" y="145"/>
                </a:lnTo>
                <a:cubicBezTo>
                  <a:pt x="0" y="135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4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0"/>
                  <a:pt x="29570" y="2"/>
                </a:cubicBezTo>
                <a:cubicBezTo>
                  <a:pt x="29579" y="4"/>
                  <a:pt x="29589" y="7"/>
                  <a:pt x="29597" y="11"/>
                </a:cubicBezTo>
                <a:cubicBezTo>
                  <a:pt x="29606" y="14"/>
                  <a:pt x="29615" y="19"/>
                  <a:pt x="29623" y="24"/>
                </a:cubicBezTo>
                <a:cubicBezTo>
                  <a:pt x="29630" y="29"/>
                  <a:pt x="29638" y="35"/>
                  <a:pt x="29645" y="42"/>
                </a:cubicBezTo>
                <a:cubicBezTo>
                  <a:pt x="29651" y="49"/>
                  <a:pt x="29657" y="56"/>
                  <a:pt x="29663" y="64"/>
                </a:cubicBezTo>
                <a:cubicBezTo>
                  <a:pt x="29668" y="72"/>
                  <a:pt x="29672" y="81"/>
                  <a:pt x="29676" y="89"/>
                </a:cubicBezTo>
                <a:cubicBezTo>
                  <a:pt x="29680" y="98"/>
                  <a:pt x="29683" y="107"/>
                  <a:pt x="29684" y="117"/>
                </a:cubicBezTo>
                <a:cubicBezTo>
                  <a:pt x="29686" y="126"/>
                  <a:pt x="29687" y="135"/>
                  <a:pt x="29687" y="145"/>
                </a:cubicBezTo>
                <a:lnTo>
                  <a:pt x="29687" y="4485"/>
                </a:lnTo>
                <a:cubicBezTo>
                  <a:pt x="29687" y="4495"/>
                  <a:pt x="29686" y="4504"/>
                  <a:pt x="29684" y="4514"/>
                </a:cubicBezTo>
                <a:cubicBezTo>
                  <a:pt x="29683" y="4523"/>
                  <a:pt x="29680" y="4532"/>
                  <a:pt x="29676" y="4541"/>
                </a:cubicBezTo>
                <a:cubicBezTo>
                  <a:pt x="29672" y="4550"/>
                  <a:pt x="29668" y="4558"/>
                  <a:pt x="29663" y="4566"/>
                </a:cubicBezTo>
                <a:cubicBezTo>
                  <a:pt x="29657" y="4574"/>
                  <a:pt x="29651" y="4581"/>
                  <a:pt x="29645" y="4588"/>
                </a:cubicBezTo>
                <a:cubicBezTo>
                  <a:pt x="29638" y="4595"/>
                  <a:pt x="29630" y="4601"/>
                  <a:pt x="29623" y="4606"/>
                </a:cubicBezTo>
                <a:cubicBezTo>
                  <a:pt x="29615" y="4612"/>
                  <a:pt x="29606" y="4616"/>
                  <a:pt x="29597" y="4620"/>
                </a:cubicBezTo>
                <a:cubicBezTo>
                  <a:pt x="29589" y="4623"/>
                  <a:pt x="29579" y="4626"/>
                  <a:pt x="29570" y="4628"/>
                </a:cubicBezTo>
                <a:cubicBezTo>
                  <a:pt x="29561" y="4630"/>
                  <a:pt x="29551" y="4631"/>
                  <a:pt x="29542" y="4631"/>
                </a:cubicBezTo>
                <a:lnTo>
                  <a:pt x="145" y="4631"/>
                </a:lnTo>
                <a:cubicBezTo>
                  <a:pt x="136" y="4631"/>
                  <a:pt x="126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1"/>
                  <a:pt x="30" y="4574"/>
                  <a:pt x="24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4" name="文本框 853"/>
          <p:cNvSpPr txBox="1"/>
          <p:nvPr/>
        </p:nvSpPr>
        <p:spPr>
          <a:xfrm>
            <a:off x="747720" y="123120"/>
            <a:ext cx="273204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7. MongoDB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5" name="文本框 854"/>
          <p:cNvSpPr txBox="1"/>
          <p:nvPr/>
        </p:nvSpPr>
        <p:spPr>
          <a:xfrm>
            <a:off x="3378600" y="158040"/>
            <a:ext cx="3094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数据建模与索引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6" name="文本框 855"/>
          <p:cNvSpPr txBox="1"/>
          <p:nvPr/>
        </p:nvSpPr>
        <p:spPr>
          <a:xfrm>
            <a:off x="747720" y="101916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为什么选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7" name="文本框 856"/>
          <p:cNvSpPr txBox="1"/>
          <p:nvPr/>
        </p:nvSpPr>
        <p:spPr>
          <a:xfrm>
            <a:off x="1852560" y="997200"/>
            <a:ext cx="1396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8" name="文本框 857"/>
          <p:cNvSpPr txBox="1"/>
          <p:nvPr/>
        </p:nvSpPr>
        <p:spPr>
          <a:xfrm>
            <a:off x="3206520" y="10191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？（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9" name="文本框 858"/>
          <p:cNvSpPr txBox="1"/>
          <p:nvPr/>
        </p:nvSpPr>
        <p:spPr>
          <a:xfrm>
            <a:off x="3758760" y="997200"/>
            <a:ext cx="852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vs SQL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0" name="文本框 859"/>
          <p:cNvSpPr txBox="1"/>
          <p:nvPr/>
        </p:nvSpPr>
        <p:spPr>
          <a:xfrm>
            <a:off x="4588200" y="10191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1" name="文本框 860"/>
          <p:cNvSpPr txBox="1"/>
          <p:nvPr/>
        </p:nvSpPr>
        <p:spPr>
          <a:xfrm>
            <a:off x="2681280" y="164772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需求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2" name="文本框 861"/>
          <p:cNvSpPr txBox="1"/>
          <p:nvPr/>
        </p:nvSpPr>
        <p:spPr>
          <a:xfrm>
            <a:off x="5715000" y="1626120"/>
            <a:ext cx="1319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MongoDB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3" name="文本框 862"/>
          <p:cNvSpPr txBox="1"/>
          <p:nvPr/>
        </p:nvSpPr>
        <p:spPr>
          <a:xfrm>
            <a:off x="8514000" y="1626120"/>
            <a:ext cx="505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SQL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4" name="文本框 863"/>
          <p:cNvSpPr txBox="1"/>
          <p:nvPr/>
        </p:nvSpPr>
        <p:spPr>
          <a:xfrm>
            <a:off x="880920" y="21906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嵌套数据（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5" name="文本框 864"/>
          <p:cNvSpPr txBox="1"/>
          <p:nvPr/>
        </p:nvSpPr>
        <p:spPr>
          <a:xfrm>
            <a:off x="2262240" y="2169000"/>
            <a:ext cx="8499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rooms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6" name="文本框 865"/>
          <p:cNvSpPr txBox="1"/>
          <p:nvPr/>
        </p:nvSpPr>
        <p:spPr>
          <a:xfrm>
            <a:off x="3112560" y="219060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数组在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7" name="文本框 866"/>
          <p:cNvSpPr txBox="1"/>
          <p:nvPr/>
        </p:nvSpPr>
        <p:spPr>
          <a:xfrm>
            <a:off x="3941280" y="2169000"/>
            <a:ext cx="81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hotels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8" name="文本框 867"/>
          <p:cNvSpPr txBox="1"/>
          <p:nvPr/>
        </p:nvSpPr>
        <p:spPr>
          <a:xfrm>
            <a:off x="4757400" y="2190600"/>
            <a:ext cx="1441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 直接存（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9" name="文本框 868"/>
          <p:cNvSpPr txBox="1"/>
          <p:nvPr/>
        </p:nvSpPr>
        <p:spPr>
          <a:xfrm>
            <a:off x="6395760" y="2169000"/>
            <a:ext cx="65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JSON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0" name="文本框 869"/>
          <p:cNvSpPr txBox="1"/>
          <p:nvPr/>
        </p:nvSpPr>
        <p:spPr>
          <a:xfrm>
            <a:off x="7056000" y="2190600"/>
            <a:ext cx="889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 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1" name="文本框 870"/>
          <p:cNvSpPr txBox="1"/>
          <p:nvPr/>
        </p:nvSpPr>
        <p:spPr>
          <a:xfrm>
            <a:off x="8226360" y="2169000"/>
            <a:ext cx="7380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JOIN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2" name="文本框 871"/>
          <p:cNvSpPr txBox="1"/>
          <p:nvPr/>
        </p:nvSpPr>
        <p:spPr>
          <a:xfrm>
            <a:off x="8964720" y="2190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查询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3" name="文本框 872"/>
          <p:cNvSpPr txBox="1"/>
          <p:nvPr/>
        </p:nvSpPr>
        <p:spPr>
          <a:xfrm>
            <a:off x="880920" y="272412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⽀持事务（⽀付原⼦性）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4" name="文本框 873"/>
          <p:cNvSpPr txBox="1"/>
          <p:nvPr/>
        </p:nvSpPr>
        <p:spPr>
          <a:xfrm>
            <a:off x="5290920" y="272412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5" name="文本框 874"/>
          <p:cNvSpPr txBox="1"/>
          <p:nvPr/>
        </p:nvSpPr>
        <p:spPr>
          <a:xfrm>
            <a:off x="5479560" y="2702160"/>
            <a:ext cx="1388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4.0+ ACID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6" name="文本框 875"/>
          <p:cNvSpPr txBox="1"/>
          <p:nvPr/>
        </p:nvSpPr>
        <p:spPr>
          <a:xfrm>
            <a:off x="6864120" y="2724120"/>
            <a:ext cx="802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事务 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7" name="文本框 876"/>
          <p:cNvSpPr txBox="1"/>
          <p:nvPr/>
        </p:nvSpPr>
        <p:spPr>
          <a:xfrm>
            <a:off x="880920" y="326700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灵活扩展（后续加字段）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8" name="文本框 877"/>
          <p:cNvSpPr txBox="1"/>
          <p:nvPr/>
        </p:nvSpPr>
        <p:spPr>
          <a:xfrm>
            <a:off x="5290920" y="32670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⽆需迁移表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9" name="文本框 878"/>
          <p:cNvSpPr txBox="1"/>
          <p:nvPr/>
        </p:nvSpPr>
        <p:spPr>
          <a:xfrm>
            <a:off x="7673760" y="3267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0" name="文本框 879"/>
          <p:cNvSpPr txBox="1"/>
          <p:nvPr/>
        </p:nvSpPr>
        <p:spPr>
          <a:xfrm>
            <a:off x="8226360" y="3245400"/>
            <a:ext cx="1658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ALTER TABLE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1" name="文本框 880"/>
          <p:cNvSpPr txBox="1"/>
          <p:nvPr/>
        </p:nvSpPr>
        <p:spPr>
          <a:xfrm>
            <a:off x="880920" y="38005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库存扣减乐观锁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2" name="文本框 881"/>
          <p:cNvSpPr txBox="1"/>
          <p:nvPr/>
        </p:nvSpPr>
        <p:spPr>
          <a:xfrm>
            <a:off x="5290920" y="3778560"/>
            <a:ext cx="575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$inc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3" name="文本框 882"/>
          <p:cNvSpPr txBox="1"/>
          <p:nvPr/>
        </p:nvSpPr>
        <p:spPr>
          <a:xfrm>
            <a:off x="5866200" y="38005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原⼦操作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4" name="文本框 883"/>
          <p:cNvSpPr txBox="1"/>
          <p:nvPr/>
        </p:nvSpPr>
        <p:spPr>
          <a:xfrm>
            <a:off x="7673760" y="380052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✓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5" name="文本框 884"/>
          <p:cNvSpPr txBox="1"/>
          <p:nvPr/>
        </p:nvSpPr>
        <p:spPr>
          <a:xfrm>
            <a:off x="747720" y="4438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三⼤集合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6" name="文本框 885"/>
          <p:cNvSpPr txBox="1"/>
          <p:nvPr/>
        </p:nvSpPr>
        <p:spPr>
          <a:xfrm>
            <a:off x="1852560" y="4416840"/>
            <a:ext cx="348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1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7" name="文本框 886"/>
          <p:cNvSpPr txBox="1"/>
          <p:nvPr/>
        </p:nvSpPr>
        <p:spPr>
          <a:xfrm>
            <a:off x="2196360" y="44388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字段设计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8" name="文本框 887"/>
          <p:cNvSpPr txBox="1"/>
          <p:nvPr/>
        </p:nvSpPr>
        <p:spPr>
          <a:xfrm>
            <a:off x="914400" y="5159520"/>
            <a:ext cx="85172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users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   { _id, username,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role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:[user/merchant/admin], createdAt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9" name="文本框 888"/>
          <p:cNvSpPr txBox="1"/>
          <p:nvPr/>
        </p:nvSpPr>
        <p:spPr>
          <a:xfrm>
            <a:off x="914400" y="5426280"/>
            <a:ext cx="7484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hotels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  { _id, nameCn,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rooms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:[{type, quantity, price}],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0" name="文本框 889"/>
          <p:cNvSpPr txBox="1"/>
          <p:nvPr/>
        </p:nvSpPr>
        <p:spPr>
          <a:xfrm>
            <a:off x="914400" y="5702400"/>
            <a:ext cx="9162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  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:[draft/published],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reviewStatus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:[pending/approved]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1" name="文本框 890"/>
          <p:cNvSpPr txBox="1"/>
          <p:nvPr/>
        </p:nvSpPr>
        <p:spPr>
          <a:xfrm>
            <a:off x="914400" y="5969160"/>
            <a:ext cx="632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orders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  { _id, userId, hotelId, items,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2" name="文本框 891"/>
          <p:cNvSpPr txBox="1"/>
          <p:nvPr/>
        </p:nvSpPr>
        <p:spPr>
          <a:xfrm>
            <a:off x="7239960" y="5941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待支付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3" name="文本框 892"/>
          <p:cNvSpPr txBox="1"/>
          <p:nvPr/>
        </p:nvSpPr>
        <p:spPr>
          <a:xfrm>
            <a:off x="7944480" y="59691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4" name="文本框 893"/>
          <p:cNvSpPr txBox="1"/>
          <p:nvPr/>
        </p:nvSpPr>
        <p:spPr>
          <a:xfrm>
            <a:off x="8073360" y="5941800"/>
            <a:ext cx="704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1F2328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已支付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5" name="文本框 894"/>
          <p:cNvSpPr txBox="1"/>
          <p:nvPr/>
        </p:nvSpPr>
        <p:spPr>
          <a:xfrm>
            <a:off x="8777880" y="59691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],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6" name="文本框 895"/>
          <p:cNvSpPr txBox="1"/>
          <p:nvPr/>
        </p:nvSpPr>
        <p:spPr>
          <a:xfrm>
            <a:off x="914400" y="623592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          createdAt }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7" name="文本框 896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任意多边形 8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9" name="任意多边形 8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0" name="任意多边形 89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1" name="任意多边形 900"/>
          <p:cNvSpPr/>
          <p:nvPr/>
        </p:nvSpPr>
        <p:spPr>
          <a:xfrm>
            <a:off x="757080" y="1547640"/>
            <a:ext cx="10687320" cy="2752920"/>
          </a:xfrm>
          <a:custGeom>
            <a:avLst/>
            <a:gdLst/>
            <a:ahLst/>
            <a:cxnLst/>
            <a:rect l="0" t="0" r="r" b="b"/>
            <a:pathLst>
              <a:path w="29687" h="7647">
                <a:moveTo>
                  <a:pt x="0" y="750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502"/>
                </a:lnTo>
                <a:cubicBezTo>
                  <a:pt x="29687" y="7511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6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6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1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2" name="任意多边形 901"/>
          <p:cNvSpPr/>
          <p:nvPr/>
        </p:nvSpPr>
        <p:spPr>
          <a:xfrm>
            <a:off x="757080" y="1547640"/>
            <a:ext cx="10687320" cy="2752920"/>
          </a:xfrm>
          <a:custGeom>
            <a:avLst/>
            <a:gdLst/>
            <a:ahLst/>
            <a:cxnLst/>
            <a:rect l="0" t="0" r="r" b="b"/>
            <a:pathLst>
              <a:path w="29687" h="7647">
                <a:moveTo>
                  <a:pt x="0" y="7502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4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9542" y="0"/>
                </a:lnTo>
                <a:cubicBezTo>
                  <a:pt x="29551" y="0"/>
                  <a:pt x="29561" y="1"/>
                  <a:pt x="29570" y="3"/>
                </a:cubicBezTo>
                <a:cubicBezTo>
                  <a:pt x="29579" y="5"/>
                  <a:pt x="29589" y="7"/>
                  <a:pt x="29597" y="11"/>
                </a:cubicBezTo>
                <a:cubicBezTo>
                  <a:pt x="29606" y="15"/>
                  <a:pt x="29615" y="19"/>
                  <a:pt x="29623" y="25"/>
                </a:cubicBezTo>
                <a:cubicBezTo>
                  <a:pt x="29630" y="30"/>
                  <a:pt x="29638" y="36"/>
                  <a:pt x="29645" y="43"/>
                </a:cubicBezTo>
                <a:cubicBezTo>
                  <a:pt x="29651" y="49"/>
                  <a:pt x="29657" y="57"/>
                  <a:pt x="29663" y="65"/>
                </a:cubicBezTo>
                <a:cubicBezTo>
                  <a:pt x="29668" y="73"/>
                  <a:pt x="29672" y="81"/>
                  <a:pt x="29676" y="90"/>
                </a:cubicBezTo>
                <a:cubicBezTo>
                  <a:pt x="29680" y="99"/>
                  <a:pt x="29683" y="108"/>
                  <a:pt x="29684" y="117"/>
                </a:cubicBezTo>
                <a:cubicBezTo>
                  <a:pt x="29686" y="126"/>
                  <a:pt x="29687" y="136"/>
                  <a:pt x="29687" y="145"/>
                </a:cubicBezTo>
                <a:lnTo>
                  <a:pt x="29687" y="7502"/>
                </a:lnTo>
                <a:cubicBezTo>
                  <a:pt x="29687" y="7511"/>
                  <a:pt x="29686" y="7521"/>
                  <a:pt x="29684" y="7530"/>
                </a:cubicBezTo>
                <a:cubicBezTo>
                  <a:pt x="29683" y="7540"/>
                  <a:pt x="29680" y="7549"/>
                  <a:pt x="29676" y="7558"/>
                </a:cubicBezTo>
                <a:cubicBezTo>
                  <a:pt x="29672" y="7566"/>
                  <a:pt x="29668" y="7575"/>
                  <a:pt x="29663" y="7583"/>
                </a:cubicBezTo>
                <a:cubicBezTo>
                  <a:pt x="29657" y="7591"/>
                  <a:pt x="29651" y="7598"/>
                  <a:pt x="29645" y="7605"/>
                </a:cubicBezTo>
                <a:cubicBezTo>
                  <a:pt x="29638" y="7612"/>
                  <a:pt x="29630" y="7618"/>
                  <a:pt x="29623" y="7623"/>
                </a:cubicBezTo>
                <a:cubicBezTo>
                  <a:pt x="29615" y="7628"/>
                  <a:pt x="29606" y="7633"/>
                  <a:pt x="29597" y="7636"/>
                </a:cubicBezTo>
                <a:cubicBezTo>
                  <a:pt x="29589" y="7640"/>
                  <a:pt x="29579" y="7643"/>
                  <a:pt x="29570" y="7645"/>
                </a:cubicBezTo>
                <a:cubicBezTo>
                  <a:pt x="29561" y="7647"/>
                  <a:pt x="29551" y="7647"/>
                  <a:pt x="29542" y="7647"/>
                </a:cubicBezTo>
                <a:lnTo>
                  <a:pt x="145" y="7647"/>
                </a:lnTo>
                <a:cubicBezTo>
                  <a:pt x="136" y="7647"/>
                  <a:pt x="126" y="7647"/>
                  <a:pt x="117" y="7645"/>
                </a:cubicBezTo>
                <a:cubicBezTo>
                  <a:pt x="108" y="7643"/>
                  <a:pt x="99" y="7640"/>
                  <a:pt x="90" y="7636"/>
                </a:cubicBezTo>
                <a:cubicBezTo>
                  <a:pt x="81" y="7633"/>
                  <a:pt x="73" y="7628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4" y="7583"/>
                </a:cubicBezTo>
                <a:cubicBezTo>
                  <a:pt x="19" y="7575"/>
                  <a:pt x="15" y="7566"/>
                  <a:pt x="11" y="7558"/>
                </a:cubicBezTo>
                <a:cubicBezTo>
                  <a:pt x="7" y="7549"/>
                  <a:pt x="5" y="7540"/>
                  <a:pt x="3" y="7530"/>
                </a:cubicBezTo>
                <a:cubicBezTo>
                  <a:pt x="1" y="7521"/>
                  <a:pt x="0" y="7511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3" name="文本框 902"/>
          <p:cNvSpPr txBox="1"/>
          <p:nvPr/>
        </p:nvSpPr>
        <p:spPr>
          <a:xfrm>
            <a:off x="747720" y="123120"/>
            <a:ext cx="49680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8.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4" name="文本框 903"/>
          <p:cNvSpPr txBox="1"/>
          <p:nvPr/>
        </p:nvSpPr>
        <p:spPr>
          <a:xfrm>
            <a:off x="1221120" y="158040"/>
            <a:ext cx="353628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稳定性与安全设计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5" name="文本框 904"/>
          <p:cNvSpPr txBox="1"/>
          <p:nvPr/>
        </p:nvSpPr>
        <p:spPr>
          <a:xfrm>
            <a:off x="747720" y="10191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稳定性机制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6" name="文本框 905"/>
          <p:cNvSpPr txBox="1"/>
          <p:nvPr/>
        </p:nvSpPr>
        <p:spPr>
          <a:xfrm>
            <a:off x="914400" y="174024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7" name="文本框 906"/>
          <p:cNvSpPr txBox="1"/>
          <p:nvPr/>
        </p:nvSpPr>
        <p:spPr>
          <a:xfrm>
            <a:off x="1301760" y="17128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全局错误处理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8" name="文本框 907"/>
          <p:cNvSpPr txBox="1"/>
          <p:nvPr/>
        </p:nvSpPr>
        <p:spPr>
          <a:xfrm>
            <a:off x="914400" y="2006640"/>
            <a:ext cx="4388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app.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use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((err, req, res, next) =&gt; {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9" name="文本框 908"/>
          <p:cNvSpPr txBox="1"/>
          <p:nvPr/>
        </p:nvSpPr>
        <p:spPr>
          <a:xfrm>
            <a:off x="914400" y="2283120"/>
            <a:ext cx="4258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error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`[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</a:t>
            </a:r>
            <a:r>
              <a:rPr lang="en-US" sz="1850" b="0" u="none" strike="noStrike">
                <a:solidFill>
                  <a:srgbClr val="CF222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new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850" b="0" u="none" strike="noStrike">
                <a:solidFill>
                  <a:srgbClr val="953800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Date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()}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0" name="文本框 909"/>
          <p:cNvSpPr txBox="1"/>
          <p:nvPr/>
        </p:nvSpPr>
        <p:spPr>
          <a:xfrm>
            <a:off x="5175000" y="225576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错误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1" name="文本框 910"/>
          <p:cNvSpPr txBox="1"/>
          <p:nvPr/>
        </p:nvSpPr>
        <p:spPr>
          <a:xfrm>
            <a:off x="5644800" y="228312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${err.message}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2" name="文本框 911"/>
          <p:cNvSpPr txBox="1"/>
          <p:nvPr/>
        </p:nvSpPr>
        <p:spPr>
          <a:xfrm>
            <a:off x="914400" y="2549520"/>
            <a:ext cx="722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 res.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status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500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json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({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code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500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, </a:t>
            </a:r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message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:err.message});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3" name="文本框 912"/>
          <p:cNvSpPr txBox="1"/>
          <p:nvPr/>
        </p:nvSpPr>
        <p:spPr>
          <a:xfrm>
            <a:off x="914400" y="281628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});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4" name="文本框 913"/>
          <p:cNvSpPr txBox="1"/>
          <p:nvPr/>
        </p:nvSpPr>
        <p:spPr>
          <a:xfrm>
            <a:off x="914400" y="33591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59636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//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5" name="文本框 914"/>
          <p:cNvSpPr txBox="1"/>
          <p:nvPr/>
        </p:nvSpPr>
        <p:spPr>
          <a:xfrm>
            <a:off x="1301760" y="33321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59636E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关键链路日志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6" name="文本框 915"/>
          <p:cNvSpPr txBox="1"/>
          <p:nvPr/>
        </p:nvSpPr>
        <p:spPr>
          <a:xfrm>
            <a:off x="914400" y="362592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log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7" name="文本框 916"/>
          <p:cNvSpPr txBox="1"/>
          <p:nvPr/>
        </p:nvSpPr>
        <p:spPr>
          <a:xfrm>
            <a:off x="2721960" y="3598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8" name="文本框 917"/>
          <p:cNvSpPr txBox="1"/>
          <p:nvPr/>
        </p:nvSpPr>
        <p:spPr>
          <a:xfrm>
            <a:off x="3191760" y="36259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9" name="文本框 918"/>
          <p:cNvSpPr txBox="1"/>
          <p:nvPr/>
        </p:nvSpPr>
        <p:spPr>
          <a:xfrm>
            <a:off x="3449880" y="359892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用户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0" name="文本框 919"/>
          <p:cNvSpPr txBox="1"/>
          <p:nvPr/>
        </p:nvSpPr>
        <p:spPr>
          <a:xfrm>
            <a:off x="3919320" y="3625920"/>
            <a:ext cx="1419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${userId}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1" name="文本框 920"/>
          <p:cNvSpPr txBox="1"/>
          <p:nvPr/>
        </p:nvSpPr>
        <p:spPr>
          <a:xfrm>
            <a:off x="5339520" y="35989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支付订单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2" name="文本框 921"/>
          <p:cNvSpPr txBox="1"/>
          <p:nvPr/>
        </p:nvSpPr>
        <p:spPr>
          <a:xfrm>
            <a:off x="6278760" y="362592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${orderId}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3" name="文本框 922"/>
          <p:cNvSpPr txBox="1"/>
          <p:nvPr/>
        </p:nvSpPr>
        <p:spPr>
          <a:xfrm>
            <a:off x="914400" y="3902400"/>
            <a:ext cx="1806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550AE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console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.</a:t>
            </a:r>
            <a:r>
              <a:rPr lang="en-US" sz="1850" b="0" u="none" strike="noStrike">
                <a:solidFill>
                  <a:srgbClr val="6639BA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log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(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`[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4" name="文本框 923"/>
          <p:cNvSpPr txBox="1"/>
          <p:nvPr/>
        </p:nvSpPr>
        <p:spPr>
          <a:xfrm>
            <a:off x="2721960" y="387504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支付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5" name="文本框 924"/>
          <p:cNvSpPr txBox="1"/>
          <p:nvPr/>
        </p:nvSpPr>
        <p:spPr>
          <a:xfrm>
            <a:off x="3191760" y="39024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]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6" name="文本框 925"/>
          <p:cNvSpPr txBox="1"/>
          <p:nvPr/>
        </p:nvSpPr>
        <p:spPr>
          <a:xfrm>
            <a:off x="3449880" y="387504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库存扣减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7" name="文本框 926"/>
          <p:cNvSpPr txBox="1"/>
          <p:nvPr/>
        </p:nvSpPr>
        <p:spPr>
          <a:xfrm>
            <a:off x="4389120" y="3902400"/>
            <a:ext cx="193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${roomType}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, 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8" name="文本框 927"/>
          <p:cNvSpPr txBox="1"/>
          <p:nvPr/>
        </p:nvSpPr>
        <p:spPr>
          <a:xfrm>
            <a:off x="6325560" y="3875040"/>
            <a:ext cx="470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50" b="0" u="none" strike="noStrike">
                <a:solidFill>
                  <a:srgbClr val="0A3069"/>
                </a:solidFill>
                <a:effectLst/>
                <a:uFillTx/>
                <a:latin typeface="新宋体" panose="02010609030101010101" charset="-122"/>
                <a:ea typeface="新宋体" panose="02010609030101010101" charset="-122"/>
              </a:rPr>
              <a:t>数量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9" name="文本框 928"/>
          <p:cNvSpPr txBox="1"/>
          <p:nvPr/>
        </p:nvSpPr>
        <p:spPr>
          <a:xfrm>
            <a:off x="6795000" y="390240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: 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${qty}</a:t>
            </a:r>
            <a:r>
              <a:rPr lang="en-US" sz="1850" b="0" u="none" strike="noStrike">
                <a:solidFill>
                  <a:srgbClr val="0A3069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`</a:t>
            </a:r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);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0" name="任意多边形 929"/>
          <p:cNvSpPr/>
          <p:nvPr/>
        </p:nvSpPr>
        <p:spPr>
          <a:xfrm>
            <a:off x="1047600" y="520056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1" name="文本框 930"/>
          <p:cNvSpPr txBox="1"/>
          <p:nvPr/>
        </p:nvSpPr>
        <p:spPr>
          <a:xfrm>
            <a:off x="747720" y="4495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安全防线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2" name="文本框 931"/>
          <p:cNvSpPr txBox="1"/>
          <p:nvPr/>
        </p:nvSpPr>
        <p:spPr>
          <a:xfrm>
            <a:off x="1300320" y="5067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登录限流：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3" name="文本框 932"/>
          <p:cNvSpPr txBox="1"/>
          <p:nvPr/>
        </p:nvSpPr>
        <p:spPr>
          <a:xfrm>
            <a:off x="2681280" y="504540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4" name="文本框 933"/>
          <p:cNvSpPr txBox="1"/>
          <p:nvPr/>
        </p:nvSpPr>
        <p:spPr>
          <a:xfrm>
            <a:off x="2979000" y="50673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分钟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5" name="文本框 934"/>
          <p:cNvSpPr txBox="1"/>
          <p:nvPr/>
        </p:nvSpPr>
        <p:spPr>
          <a:xfrm>
            <a:off x="3531600" y="5045400"/>
            <a:ext cx="3380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×5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6" name="文本框 935"/>
          <p:cNvSpPr txBox="1"/>
          <p:nvPr/>
        </p:nvSpPr>
        <p:spPr>
          <a:xfrm>
            <a:off x="3869280" y="5067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次（防暴⼒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7" name="任意多边形 936"/>
          <p:cNvSpPr/>
          <p:nvPr/>
        </p:nvSpPr>
        <p:spPr>
          <a:xfrm>
            <a:off x="1047600" y="56862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8" name="文本框 937"/>
          <p:cNvSpPr txBox="1"/>
          <p:nvPr/>
        </p:nvSpPr>
        <p:spPr>
          <a:xfrm>
            <a:off x="5250600" y="50454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)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39" name="文本框 938"/>
          <p:cNvSpPr txBox="1"/>
          <p:nvPr/>
        </p:nvSpPr>
        <p:spPr>
          <a:xfrm>
            <a:off x="1300320" y="5531400"/>
            <a:ext cx="16743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Bearer Token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0" name="文本框 939"/>
          <p:cNvSpPr txBox="1"/>
          <p:nvPr/>
        </p:nvSpPr>
        <p:spPr>
          <a:xfrm>
            <a:off x="2949120" y="55530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过期时间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1" name="文本框 940"/>
          <p:cNvSpPr txBox="1"/>
          <p:nvPr/>
        </p:nvSpPr>
        <p:spPr>
          <a:xfrm>
            <a:off x="4053960" y="5531400"/>
            <a:ext cx="13251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Refresh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2" name="任意多边形 941"/>
          <p:cNvSpPr/>
          <p:nvPr/>
        </p:nvSpPr>
        <p:spPr>
          <a:xfrm>
            <a:off x="1047600" y="61624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3" name="文本框 942"/>
          <p:cNvSpPr txBox="1"/>
          <p:nvPr/>
        </p:nvSpPr>
        <p:spPr>
          <a:xfrm>
            <a:off x="5371920" y="55530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轮换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4" name="任意多边形 943"/>
          <p:cNvSpPr/>
          <p:nvPr/>
        </p:nvSpPr>
        <p:spPr>
          <a:xfrm>
            <a:off x="3238200" y="6038640"/>
            <a:ext cx="2248200" cy="371880"/>
          </a:xfrm>
          <a:custGeom>
            <a:avLst/>
            <a:gdLst/>
            <a:ahLst/>
            <a:cxnLst/>
            <a:rect l="0" t="0" r="r" b="b"/>
            <a:pathLst>
              <a:path w="6245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6087" y="0"/>
                </a:lnTo>
                <a:cubicBezTo>
                  <a:pt x="6097" y="0"/>
                  <a:pt x="6107" y="1"/>
                  <a:pt x="6118" y="3"/>
                </a:cubicBezTo>
                <a:cubicBezTo>
                  <a:pt x="6128" y="5"/>
                  <a:pt x="6138" y="8"/>
                  <a:pt x="6147" y="12"/>
                </a:cubicBezTo>
                <a:cubicBezTo>
                  <a:pt x="6157" y="16"/>
                  <a:pt x="6166" y="21"/>
                  <a:pt x="6175" y="27"/>
                </a:cubicBezTo>
                <a:cubicBezTo>
                  <a:pt x="6184" y="33"/>
                  <a:pt x="6192" y="39"/>
                  <a:pt x="6199" y="47"/>
                </a:cubicBezTo>
                <a:cubicBezTo>
                  <a:pt x="6206" y="54"/>
                  <a:pt x="6213" y="62"/>
                  <a:pt x="6219" y="71"/>
                </a:cubicBezTo>
                <a:cubicBezTo>
                  <a:pt x="6225" y="79"/>
                  <a:pt x="6229" y="88"/>
                  <a:pt x="6233" y="98"/>
                </a:cubicBezTo>
                <a:cubicBezTo>
                  <a:pt x="6237" y="108"/>
                  <a:pt x="6240" y="118"/>
                  <a:pt x="6242" y="128"/>
                </a:cubicBezTo>
                <a:cubicBezTo>
                  <a:pt x="6244" y="138"/>
                  <a:pt x="6245" y="148"/>
                  <a:pt x="6245" y="159"/>
                </a:cubicBezTo>
                <a:lnTo>
                  <a:pt x="6245" y="874"/>
                </a:lnTo>
                <a:cubicBezTo>
                  <a:pt x="6245" y="885"/>
                  <a:pt x="6244" y="895"/>
                  <a:pt x="6242" y="905"/>
                </a:cubicBezTo>
                <a:cubicBezTo>
                  <a:pt x="6240" y="915"/>
                  <a:pt x="6237" y="925"/>
                  <a:pt x="6233" y="935"/>
                </a:cubicBezTo>
                <a:cubicBezTo>
                  <a:pt x="6229" y="945"/>
                  <a:pt x="6225" y="954"/>
                  <a:pt x="6219" y="962"/>
                </a:cubicBezTo>
                <a:cubicBezTo>
                  <a:pt x="6213" y="971"/>
                  <a:pt x="6206" y="979"/>
                  <a:pt x="6199" y="986"/>
                </a:cubicBezTo>
                <a:cubicBezTo>
                  <a:pt x="6192" y="994"/>
                  <a:pt x="6184" y="1000"/>
                  <a:pt x="6175" y="1006"/>
                </a:cubicBezTo>
                <a:cubicBezTo>
                  <a:pt x="6166" y="1012"/>
                  <a:pt x="6157" y="1017"/>
                  <a:pt x="6147" y="1021"/>
                </a:cubicBezTo>
                <a:cubicBezTo>
                  <a:pt x="6138" y="1025"/>
                  <a:pt x="6128" y="1028"/>
                  <a:pt x="6118" y="1030"/>
                </a:cubicBezTo>
                <a:cubicBezTo>
                  <a:pt x="6107" y="1032"/>
                  <a:pt x="6097" y="1033"/>
                  <a:pt x="6087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5" name="文本框 944"/>
          <p:cNvSpPr txBox="1"/>
          <p:nvPr/>
        </p:nvSpPr>
        <p:spPr>
          <a:xfrm>
            <a:off x="1300320" y="602928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权限检查前置（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6" name="文本框 945"/>
          <p:cNvSpPr txBox="1"/>
          <p:nvPr/>
        </p:nvSpPr>
        <p:spPr>
          <a:xfrm>
            <a:off x="3327480" y="613044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50" b="0" u="none" strike="noStrike">
                <a:solidFill>
                  <a:srgbClr val="1F2328"/>
                </a:solidFill>
                <a:effectLst/>
                <a:uFillTx/>
                <a:latin typeface="Consolas" panose="020B0609020204030204"/>
                <a:ea typeface="Consolas" panose="020B0609020204030204"/>
              </a:rPr>
              <a:t>router.use(auth)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7" name="任意多边形 946"/>
          <p:cNvSpPr/>
          <p:nvPr/>
        </p:nvSpPr>
        <p:spPr>
          <a:xfrm>
            <a:off x="1047600" y="665784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8" name="文本框 947"/>
          <p:cNvSpPr txBox="1"/>
          <p:nvPr/>
        </p:nvSpPr>
        <p:spPr>
          <a:xfrm>
            <a:off x="5487120" y="602928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9" name="文本框 948"/>
          <p:cNvSpPr txBox="1"/>
          <p:nvPr/>
        </p:nvSpPr>
        <p:spPr>
          <a:xfrm>
            <a:off x="1300320" y="6524640"/>
            <a:ext cx="4965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字段级访问控制（⽤⼾只查⾃⼰的订单）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50" name="文本框 949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任意多边形 15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4" name="任意多边形 15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5" name="任意多边形 15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6" name="文本框 1515"/>
          <p:cNvSpPr txBox="1"/>
          <p:nvPr/>
        </p:nvSpPr>
        <p:spPr>
          <a:xfrm>
            <a:off x="747720" y="158040"/>
            <a:ext cx="88452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480" b="0" u="none" strike="noStrike">
                <a:solidFill>
                  <a:srgbClr val="224466"/>
                </a:solidFill>
                <a:effectLst/>
                <a:uFillTx/>
                <a:latin typeface="NotoSansSC"/>
                <a:ea typeface="NotoSansSC"/>
              </a:rPr>
              <a:t>总结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7" name="任意多边形 1516"/>
          <p:cNvSpPr/>
          <p:nvPr/>
        </p:nvSpPr>
        <p:spPr>
          <a:xfrm>
            <a:off x="1800000" y="199800"/>
            <a:ext cx="438480" cy="448200"/>
          </a:xfrm>
          <a:custGeom>
            <a:avLst/>
            <a:gdLst/>
            <a:ahLst/>
            <a:cxnLst/>
            <a:rect l="0" t="0" r="r" b="b"/>
            <a:pathLst>
              <a:path w="1218" h="1245">
                <a:moveTo>
                  <a:pt x="1218" y="1106"/>
                </a:moveTo>
                <a:cubicBezTo>
                  <a:pt x="1218" y="1183"/>
                  <a:pt x="1158" y="1245"/>
                  <a:pt x="1083" y="1245"/>
                </a:cubicBezTo>
                <a:lnTo>
                  <a:pt x="135" y="1245"/>
                </a:lnTo>
                <a:cubicBezTo>
                  <a:pt x="61" y="1245"/>
                  <a:pt x="0" y="1183"/>
                  <a:pt x="0" y="1106"/>
                </a:cubicBezTo>
                <a:lnTo>
                  <a:pt x="0" y="139"/>
                </a:lnTo>
                <a:cubicBezTo>
                  <a:pt x="0" y="62"/>
                  <a:pt x="61" y="0"/>
                  <a:pt x="135" y="0"/>
                </a:cubicBezTo>
                <a:lnTo>
                  <a:pt x="1083" y="0"/>
                </a:lnTo>
                <a:cubicBezTo>
                  <a:pt x="1158" y="0"/>
                  <a:pt x="1218" y="62"/>
                  <a:pt x="1218" y="139"/>
                </a:cubicBezTo>
                <a:lnTo>
                  <a:pt x="1218" y="1106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8" name="任意多边形 1517"/>
          <p:cNvSpPr/>
          <p:nvPr/>
        </p:nvSpPr>
        <p:spPr>
          <a:xfrm>
            <a:off x="1869480" y="273960"/>
            <a:ext cx="300960" cy="302040"/>
          </a:xfrm>
          <a:custGeom>
            <a:avLst/>
            <a:gdLst/>
            <a:ahLst/>
            <a:cxnLst/>
            <a:rect l="0" t="0" r="r" b="b"/>
            <a:pathLst>
              <a:path w="836" h="839">
                <a:moveTo>
                  <a:pt x="798" y="14"/>
                </a:moveTo>
                <a:cubicBezTo>
                  <a:pt x="759" y="-12"/>
                  <a:pt x="707" y="-1"/>
                  <a:pt x="681" y="39"/>
                </a:cubicBezTo>
                <a:lnTo>
                  <a:pt x="313" y="620"/>
                </a:lnTo>
                <a:lnTo>
                  <a:pt x="142" y="458"/>
                </a:lnTo>
                <a:cubicBezTo>
                  <a:pt x="108" y="426"/>
                  <a:pt x="54" y="428"/>
                  <a:pt x="23" y="463"/>
                </a:cubicBezTo>
                <a:cubicBezTo>
                  <a:pt x="-9" y="499"/>
                  <a:pt x="-7" y="554"/>
                  <a:pt x="27" y="586"/>
                </a:cubicBezTo>
                <a:lnTo>
                  <a:pt x="272" y="816"/>
                </a:lnTo>
                <a:cubicBezTo>
                  <a:pt x="288" y="832"/>
                  <a:pt x="309" y="839"/>
                  <a:pt x="329" y="839"/>
                </a:cubicBezTo>
                <a:cubicBezTo>
                  <a:pt x="352" y="839"/>
                  <a:pt x="381" y="830"/>
                  <a:pt x="400" y="800"/>
                </a:cubicBezTo>
                <a:cubicBezTo>
                  <a:pt x="412" y="782"/>
                  <a:pt x="823" y="133"/>
                  <a:pt x="823" y="133"/>
                </a:cubicBezTo>
                <a:cubicBezTo>
                  <a:pt x="848" y="93"/>
                  <a:pt x="837" y="40"/>
                  <a:pt x="798" y="1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9" name="文本框 1518"/>
          <p:cNvSpPr txBox="1"/>
          <p:nvPr/>
        </p:nvSpPr>
        <p:spPr>
          <a:xfrm>
            <a:off x="1631520" y="123120"/>
            <a:ext cx="44172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480" b="1" u="none" strike="noStrik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348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0" name="文本框 1519"/>
          <p:cNvSpPr txBox="1"/>
          <p:nvPr/>
        </p:nvSpPr>
        <p:spPr>
          <a:xfrm>
            <a:off x="747720" y="1069560"/>
            <a:ext cx="14392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83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适⽤场景</a:t>
            </a:r>
            <a:endParaRPr lang="en-US" sz="283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1" name="任意多边形 1520"/>
          <p:cNvSpPr/>
          <p:nvPr/>
        </p:nvSpPr>
        <p:spPr>
          <a:xfrm>
            <a:off x="1047600" y="25048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6" y="52"/>
                  <a:pt x="39" y="40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40"/>
                </a:cubicBezTo>
                <a:cubicBezTo>
                  <a:pt x="239" y="52"/>
                  <a:pt x="249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2" name="任意多边形 1521"/>
          <p:cNvSpPr/>
          <p:nvPr/>
        </p:nvSpPr>
        <p:spPr>
          <a:xfrm>
            <a:off x="1323720" y="240012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3" name="任意多边形 1522"/>
          <p:cNvSpPr/>
          <p:nvPr/>
        </p:nvSpPr>
        <p:spPr>
          <a:xfrm>
            <a:off x="1367640" y="244584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9" y="-7"/>
                  <a:pt x="446" y="0"/>
                  <a:pt x="430" y="24"/>
                </a:cubicBezTo>
                <a:lnTo>
                  <a:pt x="198" y="383"/>
                </a:lnTo>
                <a:lnTo>
                  <a:pt x="89" y="284"/>
                </a:lnTo>
                <a:cubicBezTo>
                  <a:pt x="68" y="264"/>
                  <a:pt x="34" y="265"/>
                  <a:pt x="14" y="287"/>
                </a:cubicBezTo>
                <a:cubicBezTo>
                  <a:pt x="-6" y="308"/>
                  <a:pt x="-5" y="342"/>
                  <a:pt x="17" y="362"/>
                </a:cubicBezTo>
                <a:lnTo>
                  <a:pt x="172" y="504"/>
                </a:lnTo>
                <a:cubicBezTo>
                  <a:pt x="182" y="514"/>
                  <a:pt x="195" y="518"/>
                  <a:pt x="208" y="518"/>
                </a:cubicBezTo>
                <a:cubicBezTo>
                  <a:pt x="222" y="518"/>
                  <a:pt x="241" y="512"/>
                  <a:pt x="253" y="494"/>
                </a:cubicBezTo>
                <a:cubicBezTo>
                  <a:pt x="260" y="483"/>
                  <a:pt x="519" y="82"/>
                  <a:pt x="519" y="82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4" name="文本框 1523"/>
          <p:cNvSpPr txBox="1"/>
          <p:nvPr/>
        </p:nvSpPr>
        <p:spPr>
          <a:xfrm>
            <a:off x="747720" y="1800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完全适合：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5" name="文本框 1524"/>
          <p:cNvSpPr txBox="1"/>
          <p:nvPr/>
        </p:nvSpPr>
        <p:spPr>
          <a:xfrm>
            <a:off x="1617480" y="23500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6" name="任意多边形 1525"/>
          <p:cNvSpPr/>
          <p:nvPr/>
        </p:nvSpPr>
        <p:spPr>
          <a:xfrm>
            <a:off x="1047600" y="29905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1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1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3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3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7" name="任意多边形 1526"/>
          <p:cNvSpPr/>
          <p:nvPr/>
        </p:nvSpPr>
        <p:spPr>
          <a:xfrm>
            <a:off x="1323720" y="287640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6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8" name="任意多边形 1527"/>
          <p:cNvSpPr/>
          <p:nvPr/>
        </p:nvSpPr>
        <p:spPr>
          <a:xfrm>
            <a:off x="1367640" y="2922120"/>
            <a:ext cx="190080" cy="186480"/>
          </a:xfrm>
          <a:custGeom>
            <a:avLst/>
            <a:gdLst/>
            <a:ahLst/>
            <a:cxnLst/>
            <a:rect l="0" t="0" r="r" b="b"/>
            <a:pathLst>
              <a:path w="528" h="518">
                <a:moveTo>
                  <a:pt x="503" y="9"/>
                </a:moveTo>
                <a:cubicBezTo>
                  <a:pt x="479" y="-7"/>
                  <a:pt x="446" y="0"/>
                  <a:pt x="430" y="24"/>
                </a:cubicBezTo>
                <a:lnTo>
                  <a:pt x="198" y="382"/>
                </a:lnTo>
                <a:lnTo>
                  <a:pt x="89" y="283"/>
                </a:lnTo>
                <a:cubicBezTo>
                  <a:pt x="68" y="263"/>
                  <a:pt x="34" y="264"/>
                  <a:pt x="14" y="286"/>
                </a:cubicBezTo>
                <a:cubicBezTo>
                  <a:pt x="-6" y="307"/>
                  <a:pt x="-5" y="341"/>
                  <a:pt x="17" y="361"/>
                </a:cubicBezTo>
                <a:lnTo>
                  <a:pt x="172" y="504"/>
                </a:lnTo>
                <a:cubicBezTo>
                  <a:pt x="182" y="514"/>
                  <a:pt x="195" y="518"/>
                  <a:pt x="208" y="518"/>
                </a:cubicBezTo>
                <a:cubicBezTo>
                  <a:pt x="222" y="518"/>
                  <a:pt x="241" y="512"/>
                  <a:pt x="253" y="494"/>
                </a:cubicBezTo>
                <a:cubicBezTo>
                  <a:pt x="260" y="483"/>
                  <a:pt x="519" y="82"/>
                  <a:pt x="519" y="82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29" name="文本框 1528"/>
          <p:cNvSpPr txBox="1"/>
          <p:nvPr/>
        </p:nvSpPr>
        <p:spPr>
          <a:xfrm>
            <a:off x="1693440" y="2371680"/>
            <a:ext cx="6069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库存敏感型交易系统（酒店、机票、演唱会票务）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0" name="文本框 1529"/>
          <p:cNvSpPr txBox="1"/>
          <p:nvPr/>
        </p:nvSpPr>
        <p:spPr>
          <a:xfrm>
            <a:off x="1617480" y="28357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1" name="文本框 1530"/>
          <p:cNvSpPr txBox="1"/>
          <p:nvPr/>
        </p:nvSpPr>
        <p:spPr>
          <a:xfrm>
            <a:off x="1693440" y="285732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中⼩规模业务（⽇均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2" name="文本框 1531"/>
          <p:cNvSpPr txBox="1"/>
          <p:nvPr/>
        </p:nvSpPr>
        <p:spPr>
          <a:xfrm>
            <a:off x="4179240" y="2835720"/>
            <a:ext cx="1358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10k~100k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3" name="任意多边形 1532"/>
          <p:cNvSpPr/>
          <p:nvPr/>
        </p:nvSpPr>
        <p:spPr>
          <a:xfrm>
            <a:off x="1047600" y="346680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9" y="200"/>
                  <a:pt x="239" y="215"/>
                  <a:pt x="227" y="227"/>
                </a:cubicBezTo>
                <a:cubicBezTo>
                  <a:pt x="214" y="240"/>
                  <a:pt x="200" y="249"/>
                  <a:pt x="184" y="256"/>
                </a:cubicBezTo>
                <a:cubicBezTo>
                  <a:pt x="168" y="263"/>
                  <a:pt x="151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5" y="249"/>
                  <a:pt x="51" y="240"/>
                  <a:pt x="39" y="227"/>
                </a:cubicBezTo>
                <a:cubicBezTo>
                  <a:pt x="26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7"/>
                  <a:pt x="26" y="52"/>
                  <a:pt x="39" y="40"/>
                </a:cubicBezTo>
                <a:cubicBezTo>
                  <a:pt x="51" y="28"/>
                  <a:pt x="65" y="18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1"/>
                </a:cubicBezTo>
                <a:cubicBezTo>
                  <a:pt x="200" y="18"/>
                  <a:pt x="214" y="28"/>
                  <a:pt x="227" y="40"/>
                </a:cubicBezTo>
                <a:cubicBezTo>
                  <a:pt x="239" y="52"/>
                  <a:pt x="249" y="67"/>
                  <a:pt x="255" y="83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4" name="任意多边形 1533"/>
          <p:cNvSpPr/>
          <p:nvPr/>
        </p:nvSpPr>
        <p:spPr>
          <a:xfrm>
            <a:off x="1323720" y="3362040"/>
            <a:ext cx="276480" cy="276840"/>
          </a:xfrm>
          <a:custGeom>
            <a:avLst/>
            <a:gdLst/>
            <a:ahLst/>
            <a:cxnLst/>
            <a:rect l="0" t="0" r="r" b="b"/>
            <a:pathLst>
              <a:path w="768" h="769">
                <a:moveTo>
                  <a:pt x="768" y="683"/>
                </a:moveTo>
                <a:cubicBezTo>
                  <a:pt x="768" y="730"/>
                  <a:pt x="730" y="769"/>
                  <a:pt x="683" y="769"/>
                </a:cubicBezTo>
                <a:lnTo>
                  <a:pt x="85" y="769"/>
                </a:lnTo>
                <a:cubicBezTo>
                  <a:pt x="38" y="769"/>
                  <a:pt x="0" y="730"/>
                  <a:pt x="0" y="683"/>
                </a:cubicBezTo>
                <a:lnTo>
                  <a:pt x="0" y="86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6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5" name="任意多边形 1534"/>
          <p:cNvSpPr/>
          <p:nvPr/>
        </p:nvSpPr>
        <p:spPr>
          <a:xfrm>
            <a:off x="1367640" y="340776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3"/>
                </a:lnTo>
                <a:lnTo>
                  <a:pt x="89" y="284"/>
                </a:lnTo>
                <a:cubicBezTo>
                  <a:pt x="68" y="264"/>
                  <a:pt x="34" y="265"/>
                  <a:pt x="14" y="287"/>
                </a:cubicBezTo>
                <a:cubicBezTo>
                  <a:pt x="-6" y="309"/>
                  <a:pt x="-5" y="342"/>
                  <a:pt x="17" y="362"/>
                </a:cubicBezTo>
                <a:lnTo>
                  <a:pt x="172" y="504"/>
                </a:lnTo>
                <a:cubicBezTo>
                  <a:pt x="182" y="514"/>
                  <a:pt x="195" y="519"/>
                  <a:pt x="208" y="519"/>
                </a:cubicBezTo>
                <a:cubicBezTo>
                  <a:pt x="222" y="519"/>
                  <a:pt x="241" y="513"/>
                  <a:pt x="253" y="494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6" name="文本框 1535"/>
          <p:cNvSpPr txBox="1"/>
          <p:nvPr/>
        </p:nvSpPr>
        <p:spPr>
          <a:xfrm>
            <a:off x="5538600" y="285732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7" name="文本框 1536"/>
          <p:cNvSpPr txBox="1"/>
          <p:nvPr/>
        </p:nvSpPr>
        <p:spPr>
          <a:xfrm>
            <a:off x="1617480" y="33120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8" name="任意多边形 1537"/>
          <p:cNvSpPr/>
          <p:nvPr/>
        </p:nvSpPr>
        <p:spPr>
          <a:xfrm>
            <a:off x="1047600" y="395280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9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9" name="任意多边形 1538"/>
          <p:cNvSpPr/>
          <p:nvPr/>
        </p:nvSpPr>
        <p:spPr>
          <a:xfrm>
            <a:off x="1323720" y="3848040"/>
            <a:ext cx="276480" cy="276480"/>
          </a:xfrm>
          <a:custGeom>
            <a:avLst/>
            <a:gdLst/>
            <a:ahLst/>
            <a:cxnLst/>
            <a:rect l="0" t="0" r="r" b="b"/>
            <a:pathLst>
              <a:path w="768" h="768">
                <a:moveTo>
                  <a:pt x="768" y="683"/>
                </a:moveTo>
                <a:cubicBezTo>
                  <a:pt x="768" y="730"/>
                  <a:pt x="730" y="768"/>
                  <a:pt x="683" y="768"/>
                </a:cubicBezTo>
                <a:lnTo>
                  <a:pt x="85" y="768"/>
                </a:lnTo>
                <a:cubicBezTo>
                  <a:pt x="38" y="768"/>
                  <a:pt x="0" y="730"/>
                  <a:pt x="0" y="683"/>
                </a:cubicBezTo>
                <a:lnTo>
                  <a:pt x="0" y="85"/>
                </a:lnTo>
                <a:cubicBezTo>
                  <a:pt x="0" y="38"/>
                  <a:pt x="38" y="0"/>
                  <a:pt x="85" y="0"/>
                </a:cubicBezTo>
                <a:lnTo>
                  <a:pt x="683" y="0"/>
                </a:lnTo>
                <a:cubicBezTo>
                  <a:pt x="730" y="0"/>
                  <a:pt x="768" y="38"/>
                  <a:pt x="768" y="85"/>
                </a:cubicBezTo>
                <a:lnTo>
                  <a:pt x="768" y="683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0" name="任意多边形 1539"/>
          <p:cNvSpPr/>
          <p:nvPr/>
        </p:nvSpPr>
        <p:spPr>
          <a:xfrm>
            <a:off x="1367640" y="3893760"/>
            <a:ext cx="190080" cy="186840"/>
          </a:xfrm>
          <a:custGeom>
            <a:avLst/>
            <a:gdLst/>
            <a:ahLst/>
            <a:cxnLst/>
            <a:rect l="0" t="0" r="r" b="b"/>
            <a:pathLst>
              <a:path w="528" h="519">
                <a:moveTo>
                  <a:pt x="503" y="9"/>
                </a:moveTo>
                <a:cubicBezTo>
                  <a:pt x="479" y="-7"/>
                  <a:pt x="446" y="0"/>
                  <a:pt x="430" y="25"/>
                </a:cubicBezTo>
                <a:lnTo>
                  <a:pt x="198" y="384"/>
                </a:lnTo>
                <a:lnTo>
                  <a:pt x="89" y="283"/>
                </a:lnTo>
                <a:cubicBezTo>
                  <a:pt x="68" y="263"/>
                  <a:pt x="34" y="265"/>
                  <a:pt x="14" y="286"/>
                </a:cubicBezTo>
                <a:cubicBezTo>
                  <a:pt x="-6" y="309"/>
                  <a:pt x="-5" y="343"/>
                  <a:pt x="17" y="363"/>
                </a:cubicBezTo>
                <a:lnTo>
                  <a:pt x="172" y="505"/>
                </a:lnTo>
                <a:cubicBezTo>
                  <a:pt x="182" y="514"/>
                  <a:pt x="195" y="519"/>
                  <a:pt x="208" y="519"/>
                </a:cubicBezTo>
                <a:cubicBezTo>
                  <a:pt x="222" y="519"/>
                  <a:pt x="241" y="513"/>
                  <a:pt x="253" y="495"/>
                </a:cubicBezTo>
                <a:cubicBezTo>
                  <a:pt x="260" y="484"/>
                  <a:pt x="519" y="83"/>
                  <a:pt x="519" y="83"/>
                </a:cubicBezTo>
                <a:cubicBezTo>
                  <a:pt x="535" y="58"/>
                  <a:pt x="528" y="25"/>
                  <a:pt x="503" y="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1" name="文本框 1540"/>
          <p:cNvSpPr txBox="1"/>
          <p:nvPr/>
        </p:nvSpPr>
        <p:spPr>
          <a:xfrm>
            <a:off x="1693440" y="3333600"/>
            <a:ext cx="4414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快速迭代阶段（需要灵活扩展字段）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2" name="文本框 1541"/>
          <p:cNvSpPr txBox="1"/>
          <p:nvPr/>
        </p:nvSpPr>
        <p:spPr>
          <a:xfrm>
            <a:off x="1617480" y="379764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3" name="文本框 1542"/>
          <p:cNvSpPr txBox="1"/>
          <p:nvPr/>
        </p:nvSpPr>
        <p:spPr>
          <a:xfrm>
            <a:off x="1693440" y="3819600"/>
            <a:ext cx="5793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对响应速度敏感的业务（消息队列让⽀付响应快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4" name="文本框 1543"/>
          <p:cNvSpPr txBox="1"/>
          <p:nvPr/>
        </p:nvSpPr>
        <p:spPr>
          <a:xfrm>
            <a:off x="7494120" y="3797640"/>
            <a:ext cx="298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5" name="文本框 1544"/>
          <p:cNvSpPr txBox="1"/>
          <p:nvPr/>
        </p:nvSpPr>
        <p:spPr>
          <a:xfrm>
            <a:off x="7791840" y="3819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倍）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6" name="任意多边形 1545"/>
          <p:cNvSpPr/>
          <p:nvPr/>
        </p:nvSpPr>
        <p:spPr>
          <a:xfrm>
            <a:off x="1047600" y="508608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6"/>
                </a:cubicBezTo>
                <a:cubicBezTo>
                  <a:pt x="214" y="238"/>
                  <a:pt x="200" y="248"/>
                  <a:pt x="184" y="255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9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7" name="任意多边形 1546"/>
          <p:cNvSpPr/>
          <p:nvPr/>
        </p:nvSpPr>
        <p:spPr>
          <a:xfrm>
            <a:off x="1327680" y="4987080"/>
            <a:ext cx="268920" cy="263160"/>
          </a:xfrm>
          <a:custGeom>
            <a:avLst/>
            <a:gdLst/>
            <a:ahLst/>
            <a:cxnLst/>
            <a:rect l="0" t="0" r="r" b="b"/>
            <a:pathLst>
              <a:path w="747" h="731">
                <a:moveTo>
                  <a:pt x="46" y="731"/>
                </a:moveTo>
                <a:cubicBezTo>
                  <a:pt x="6" y="731"/>
                  <a:pt x="-11" y="703"/>
                  <a:pt x="7" y="668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39" y="668"/>
                </a:lnTo>
                <a:cubicBezTo>
                  <a:pt x="758" y="703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8" name="任意多边形 1547"/>
          <p:cNvSpPr/>
          <p:nvPr/>
        </p:nvSpPr>
        <p:spPr>
          <a:xfrm>
            <a:off x="1443240" y="5046840"/>
            <a:ext cx="37440" cy="175680"/>
          </a:xfrm>
          <a:custGeom>
            <a:avLst/>
            <a:gdLst/>
            <a:ahLst/>
            <a:cxnLst/>
            <a:rect l="0" t="0" r="r" b="b"/>
            <a:pathLst>
              <a:path w="104" h="488">
                <a:moveTo>
                  <a:pt x="0" y="436"/>
                </a:moveTo>
                <a:cubicBezTo>
                  <a:pt x="0" y="408"/>
                  <a:pt x="23" y="385"/>
                  <a:pt x="52" y="385"/>
                </a:cubicBezTo>
                <a:cubicBezTo>
                  <a:pt x="81" y="385"/>
                  <a:pt x="104" y="408"/>
                  <a:pt x="104" y="436"/>
                </a:cubicBezTo>
                <a:cubicBezTo>
                  <a:pt x="104" y="465"/>
                  <a:pt x="81" y="488"/>
                  <a:pt x="52" y="488"/>
                </a:cubicBezTo>
                <a:cubicBezTo>
                  <a:pt x="23" y="488"/>
                  <a:pt x="0" y="465"/>
                  <a:pt x="0" y="436"/>
                </a:cubicBezTo>
                <a:moveTo>
                  <a:pt x="4" y="45"/>
                </a:moveTo>
                <a:cubicBezTo>
                  <a:pt x="4" y="18"/>
                  <a:pt x="25" y="0"/>
                  <a:pt x="52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300"/>
                </a:lnTo>
                <a:cubicBezTo>
                  <a:pt x="100" y="328"/>
                  <a:pt x="79" y="346"/>
                  <a:pt x="52" y="346"/>
                </a:cubicBezTo>
                <a:cubicBezTo>
                  <a:pt x="25" y="346"/>
                  <a:pt x="4" y="329"/>
                  <a:pt x="4" y="300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9" name="文本框 1548"/>
          <p:cNvSpPr txBox="1"/>
          <p:nvPr/>
        </p:nvSpPr>
        <p:spPr>
          <a:xfrm>
            <a:off x="747720" y="43909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需要改造的场景：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0" name="文本框 1549"/>
          <p:cNvSpPr txBox="1"/>
          <p:nvPr/>
        </p:nvSpPr>
        <p:spPr>
          <a:xfrm>
            <a:off x="1617480" y="493128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1" name="文本框 1550"/>
          <p:cNvSpPr txBox="1"/>
          <p:nvPr/>
        </p:nvSpPr>
        <p:spPr>
          <a:xfrm>
            <a:off x="1693440" y="495288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超⼤规模（⽇均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2" name="文本框 1551"/>
          <p:cNvSpPr txBox="1"/>
          <p:nvPr/>
        </p:nvSpPr>
        <p:spPr>
          <a:xfrm>
            <a:off x="3627000" y="4931280"/>
            <a:ext cx="1134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1000w+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3" name="文本框 1552"/>
          <p:cNvSpPr txBox="1"/>
          <p:nvPr/>
        </p:nvSpPr>
        <p:spPr>
          <a:xfrm>
            <a:off x="4762440" y="4952880"/>
            <a:ext cx="82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订单）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4" name="文本框 1553"/>
          <p:cNvSpPr txBox="1"/>
          <p:nvPr/>
        </p:nvSpPr>
        <p:spPr>
          <a:xfrm>
            <a:off x="5591160" y="4931280"/>
            <a:ext cx="314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5" name="文本框 1554"/>
          <p:cNvSpPr txBox="1"/>
          <p:nvPr/>
        </p:nvSpPr>
        <p:spPr>
          <a:xfrm>
            <a:off x="5905080" y="495288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需要多消费者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6" name="文本框 1555"/>
          <p:cNvSpPr txBox="1"/>
          <p:nvPr/>
        </p:nvSpPr>
        <p:spPr>
          <a:xfrm>
            <a:off x="7562520" y="4931280"/>
            <a:ext cx="340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+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7" name="任意多边形 1556"/>
          <p:cNvSpPr/>
          <p:nvPr/>
        </p:nvSpPr>
        <p:spPr>
          <a:xfrm>
            <a:off x="1047600" y="5572080"/>
            <a:ext cx="95400" cy="95400"/>
          </a:xfrm>
          <a:custGeom>
            <a:avLst/>
            <a:gdLst/>
            <a:ahLst/>
            <a:cxn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3"/>
                </a:cubicBezTo>
                <a:cubicBezTo>
                  <a:pt x="249" y="199"/>
                  <a:pt x="239" y="213"/>
                  <a:pt x="227" y="225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8" y="262"/>
                  <a:pt x="151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5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8" name="任意多边形 1557"/>
          <p:cNvSpPr/>
          <p:nvPr/>
        </p:nvSpPr>
        <p:spPr>
          <a:xfrm>
            <a:off x="1327680" y="5472720"/>
            <a:ext cx="268920" cy="263160"/>
          </a:xfrm>
          <a:custGeom>
            <a:avLst/>
            <a:gdLst/>
            <a:ahLst/>
            <a:cxnLst/>
            <a:rect l="0" t="0" r="r" b="b"/>
            <a:pathLst>
              <a:path w="747" h="731">
                <a:moveTo>
                  <a:pt x="46" y="731"/>
                </a:moveTo>
                <a:cubicBezTo>
                  <a:pt x="6" y="731"/>
                  <a:pt x="-11" y="702"/>
                  <a:pt x="7" y="667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39" y="667"/>
                </a:lnTo>
                <a:cubicBezTo>
                  <a:pt x="758" y="702"/>
                  <a:pt x="740" y="731"/>
                  <a:pt x="701" y="731"/>
                </a:cubicBezTo>
                <a:lnTo>
                  <a:pt x="46" y="731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9" name="任意多边形 1558"/>
          <p:cNvSpPr/>
          <p:nvPr/>
        </p:nvSpPr>
        <p:spPr>
          <a:xfrm>
            <a:off x="1443240" y="5532840"/>
            <a:ext cx="37440" cy="175320"/>
          </a:xfrm>
          <a:custGeom>
            <a:avLst/>
            <a:gdLst/>
            <a:ahLst/>
            <a:cxnLst/>
            <a:rect l="0" t="0" r="r" b="b"/>
            <a:pathLst>
              <a:path w="104" h="487">
                <a:moveTo>
                  <a:pt x="0" y="436"/>
                </a:moveTo>
                <a:cubicBezTo>
                  <a:pt x="0" y="406"/>
                  <a:pt x="23" y="383"/>
                  <a:pt x="52" y="383"/>
                </a:cubicBezTo>
                <a:cubicBezTo>
                  <a:pt x="81" y="383"/>
                  <a:pt x="104" y="406"/>
                  <a:pt x="104" y="436"/>
                </a:cubicBezTo>
                <a:cubicBezTo>
                  <a:pt x="104" y="464"/>
                  <a:pt x="81" y="487"/>
                  <a:pt x="52" y="487"/>
                </a:cubicBezTo>
                <a:cubicBezTo>
                  <a:pt x="23" y="487"/>
                  <a:pt x="0" y="464"/>
                  <a:pt x="0" y="436"/>
                </a:cubicBezTo>
                <a:moveTo>
                  <a:pt x="4" y="45"/>
                </a:moveTo>
                <a:cubicBezTo>
                  <a:pt x="4" y="17"/>
                  <a:pt x="25" y="0"/>
                  <a:pt x="52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299"/>
                </a:lnTo>
                <a:cubicBezTo>
                  <a:pt x="100" y="326"/>
                  <a:pt x="79" y="344"/>
                  <a:pt x="52" y="344"/>
                </a:cubicBezTo>
                <a:cubicBezTo>
                  <a:pt x="25" y="344"/>
                  <a:pt x="4" y="327"/>
                  <a:pt x="4" y="299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0" name="文本框 1559"/>
          <p:cNvSpPr txBox="1"/>
          <p:nvPr/>
        </p:nvSpPr>
        <p:spPr>
          <a:xfrm>
            <a:off x="7902720" y="49528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分库分表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1" name="文本框 1560"/>
          <p:cNvSpPr txBox="1"/>
          <p:nvPr/>
        </p:nvSpPr>
        <p:spPr>
          <a:xfrm>
            <a:off x="1617480" y="541692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2" name="文本框 1561"/>
          <p:cNvSpPr txBox="1"/>
          <p:nvPr/>
        </p:nvSpPr>
        <p:spPr>
          <a:xfrm>
            <a:off x="1693440" y="543888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⾦融级交易（需要精确到分）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3" name="文本框 1562"/>
          <p:cNvSpPr txBox="1"/>
          <p:nvPr/>
        </p:nvSpPr>
        <p:spPr>
          <a:xfrm>
            <a:off x="5284080" y="541692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4" name="任意多边形 1563"/>
          <p:cNvSpPr/>
          <p:nvPr/>
        </p:nvSpPr>
        <p:spPr>
          <a:xfrm>
            <a:off x="1047600" y="6057720"/>
            <a:ext cx="95400" cy="95760"/>
          </a:xfrm>
          <a:custGeom>
            <a:avLst/>
            <a:gdLst/>
            <a:ahLst/>
            <a:cxn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9" y="199"/>
                  <a:pt x="239" y="214"/>
                  <a:pt x="227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8" y="262"/>
                  <a:pt x="151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5" y="249"/>
                  <a:pt x="51" y="239"/>
                  <a:pt x="39" y="227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1" y="0"/>
                  <a:pt x="168" y="3"/>
                  <a:pt x="184" y="10"/>
                </a:cubicBezTo>
                <a:cubicBezTo>
                  <a:pt x="200" y="17"/>
                  <a:pt x="214" y="26"/>
                  <a:pt x="227" y="39"/>
                </a:cubicBezTo>
                <a:cubicBezTo>
                  <a:pt x="239" y="51"/>
                  <a:pt x="249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5" name="任意多边形 1564"/>
          <p:cNvSpPr/>
          <p:nvPr/>
        </p:nvSpPr>
        <p:spPr>
          <a:xfrm>
            <a:off x="1327680" y="5949000"/>
            <a:ext cx="268920" cy="262800"/>
          </a:xfrm>
          <a:custGeom>
            <a:avLst/>
            <a:gdLst/>
            <a:ahLst/>
            <a:cxnLst/>
            <a:rect l="0" t="0" r="r" b="b"/>
            <a:pathLst>
              <a:path w="747" h="730">
                <a:moveTo>
                  <a:pt x="46" y="730"/>
                </a:moveTo>
                <a:cubicBezTo>
                  <a:pt x="6" y="730"/>
                  <a:pt x="-11" y="702"/>
                  <a:pt x="7" y="667"/>
                </a:cubicBezTo>
                <a:lnTo>
                  <a:pt x="340" y="26"/>
                </a:lnTo>
                <a:cubicBezTo>
                  <a:pt x="358" y="-9"/>
                  <a:pt x="388" y="-9"/>
                  <a:pt x="406" y="26"/>
                </a:cubicBezTo>
                <a:lnTo>
                  <a:pt x="739" y="667"/>
                </a:lnTo>
                <a:cubicBezTo>
                  <a:pt x="758" y="702"/>
                  <a:pt x="740" y="730"/>
                  <a:pt x="701" y="730"/>
                </a:cubicBezTo>
                <a:lnTo>
                  <a:pt x="46" y="730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6" name="任意多边形 1565"/>
          <p:cNvSpPr/>
          <p:nvPr/>
        </p:nvSpPr>
        <p:spPr>
          <a:xfrm>
            <a:off x="1443240" y="6009120"/>
            <a:ext cx="37440" cy="175320"/>
          </a:xfrm>
          <a:custGeom>
            <a:avLst/>
            <a:gdLst/>
            <a:ahLst/>
            <a:cxnLst/>
            <a:rect l="0" t="0" r="r" b="b"/>
            <a:pathLst>
              <a:path w="104" h="487">
                <a:moveTo>
                  <a:pt x="0" y="436"/>
                </a:moveTo>
                <a:cubicBezTo>
                  <a:pt x="0" y="407"/>
                  <a:pt x="23" y="384"/>
                  <a:pt x="52" y="384"/>
                </a:cubicBezTo>
                <a:cubicBezTo>
                  <a:pt x="81" y="384"/>
                  <a:pt x="104" y="407"/>
                  <a:pt x="104" y="436"/>
                </a:cubicBezTo>
                <a:cubicBezTo>
                  <a:pt x="104" y="464"/>
                  <a:pt x="81" y="487"/>
                  <a:pt x="52" y="487"/>
                </a:cubicBezTo>
                <a:cubicBezTo>
                  <a:pt x="23" y="487"/>
                  <a:pt x="0" y="464"/>
                  <a:pt x="0" y="436"/>
                </a:cubicBezTo>
                <a:moveTo>
                  <a:pt x="4" y="45"/>
                </a:moveTo>
                <a:cubicBezTo>
                  <a:pt x="4" y="17"/>
                  <a:pt x="25" y="0"/>
                  <a:pt x="52" y="0"/>
                </a:cubicBezTo>
                <a:cubicBezTo>
                  <a:pt x="79" y="0"/>
                  <a:pt x="100" y="18"/>
                  <a:pt x="100" y="45"/>
                </a:cubicBezTo>
                <a:lnTo>
                  <a:pt x="100" y="300"/>
                </a:lnTo>
                <a:cubicBezTo>
                  <a:pt x="100" y="327"/>
                  <a:pt x="79" y="345"/>
                  <a:pt x="52" y="345"/>
                </a:cubicBezTo>
                <a:cubicBezTo>
                  <a:pt x="25" y="345"/>
                  <a:pt x="4" y="328"/>
                  <a:pt x="4" y="300"/>
                </a:cubicBezTo>
                <a:lnTo>
                  <a:pt x="4" y="45"/>
                </a:lnTo>
                <a:close/>
              </a:path>
            </a:pathLst>
          </a:custGeom>
          <a:solidFill>
            <a:srgbClr val="231F2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7" name="文本框 1566"/>
          <p:cNvSpPr txBox="1"/>
          <p:nvPr/>
        </p:nvSpPr>
        <p:spPr>
          <a:xfrm>
            <a:off x="5673960" y="543888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需要补充审计⽇志和补偿机制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8" name="文本框 1567"/>
          <p:cNvSpPr txBox="1"/>
          <p:nvPr/>
        </p:nvSpPr>
        <p:spPr>
          <a:xfrm>
            <a:off x="1617480" y="590256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9" name="文本框 1568"/>
          <p:cNvSpPr txBox="1"/>
          <p:nvPr/>
        </p:nvSpPr>
        <p:spPr>
          <a:xfrm>
            <a:off x="1693440" y="59245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实时计费（秒级）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0" name="文本框 1569"/>
          <p:cNvSpPr txBox="1"/>
          <p:nvPr/>
        </p:nvSpPr>
        <p:spPr>
          <a:xfrm>
            <a:off x="3903120" y="5902560"/>
            <a:ext cx="389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170" b="0" u="none" strike="noStrik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→ 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1" name="文本框 1570"/>
          <p:cNvSpPr txBox="1"/>
          <p:nvPr/>
        </p:nvSpPr>
        <p:spPr>
          <a:xfrm>
            <a:off x="4292640" y="592452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需要引⼊流式处理和实时监控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2" name="文本框 1571"/>
          <p:cNvSpPr txBox="1"/>
          <p:nvPr/>
        </p:nvSpPr>
        <p:spPr>
          <a:xfrm>
            <a:off x="747720" y="648648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170" b="0" u="none" strike="noStrike">
                <a:solidFill>
                  <a:srgbClr val="1F2328"/>
                </a:solidFill>
                <a:effectLst/>
                <a:uFillTx/>
                <a:latin typeface="NotoSansSC"/>
                <a:ea typeface="NotoSansSC"/>
              </a:rPr>
              <a:t>关键亮点：</a:t>
            </a:r>
            <a:endParaRPr lang="en-US" sz="217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3" name="文本框 1572"/>
          <p:cNvSpPr txBox="1"/>
          <p:nvPr/>
        </p:nvSpPr>
        <p:spPr>
          <a:xfrm>
            <a:off x="1165968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4253</Words>
  <Application>WPS 演示</Application>
  <PresentationFormat/>
  <Paragraphs>1110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1" baseType="lpstr">
      <vt:lpstr>Arial</vt:lpstr>
      <vt:lpstr>宋体</vt:lpstr>
      <vt:lpstr>Wingdings</vt:lpstr>
      <vt:lpstr>Arial</vt:lpstr>
      <vt:lpstr>Symbol</vt:lpstr>
      <vt:lpstr>Times New Roman</vt:lpstr>
      <vt:lpstr>NotoSansSC</vt:lpstr>
      <vt:lpstr>Liberation Mono</vt:lpstr>
      <vt:lpstr>SegoeUI</vt:lpstr>
      <vt:lpstr>Consolas</vt:lpstr>
      <vt:lpstr>新宋体</vt:lpstr>
      <vt:lpstr>微软雅黑</vt:lpstr>
      <vt:lpstr>Arial Unicode MS</vt:lpstr>
      <vt:lpstr>Calibri</vt:lpstr>
      <vt:lpstr>DejaVu Sans</vt:lpstr>
      <vt:lpstr>Consolas</vt:lpstr>
      <vt:lpstr>NotoSansSC</vt:lpstr>
      <vt:lpstr>SegoeUI</vt:lpstr>
      <vt:lpstr>Symbol</vt:lpstr>
      <vt:lpstr>Times New Roman</vt:lpstr>
      <vt:lpstr>Wingdings</vt:lpstr>
      <vt:lpstr>Saturday Sans Regular</vt:lpstr>
      <vt:lpstr>SJBesse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启程</cp:lastModifiedBy>
  <cp:revision>2</cp:revision>
  <dcterms:created xsi:type="dcterms:W3CDTF">2026-03-02T06:04:08Z</dcterms:created>
  <dcterms:modified xsi:type="dcterms:W3CDTF">2026-03-02T06:07:57Z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4F516A3DBBCC44A88E5109A27D767F79_12</vt:lpwstr>
  </property>
</Properties>
</file>